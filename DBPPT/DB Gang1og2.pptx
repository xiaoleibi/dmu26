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media/image14.jpg" ContentType="image/jpeg"/>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4"/>
  </p:sldMasterIdLst>
  <p:notesMasterIdLst>
    <p:notesMasterId r:id="rId54"/>
  </p:notesMasterIdLst>
  <p:sldIdLst>
    <p:sldId id="256" r:id="rId5"/>
    <p:sldId id="257" r:id="rId6"/>
    <p:sldId id="2590" r:id="rId7"/>
    <p:sldId id="2592" r:id="rId8"/>
    <p:sldId id="2591" r:id="rId9"/>
    <p:sldId id="326" r:id="rId10"/>
    <p:sldId id="329" r:id="rId11"/>
    <p:sldId id="321" r:id="rId12"/>
    <p:sldId id="2587" r:id="rId13"/>
    <p:sldId id="2593" r:id="rId14"/>
    <p:sldId id="2594" r:id="rId15"/>
    <p:sldId id="2579" r:id="rId16"/>
    <p:sldId id="2584" r:id="rId17"/>
    <p:sldId id="2585" r:id="rId18"/>
    <p:sldId id="2605" r:id="rId19"/>
    <p:sldId id="2606" r:id="rId20"/>
    <p:sldId id="2607" r:id="rId21"/>
    <p:sldId id="2573" r:id="rId22"/>
    <p:sldId id="333" r:id="rId23"/>
    <p:sldId id="2595" r:id="rId24"/>
    <p:sldId id="2596" r:id="rId25"/>
    <p:sldId id="2570" r:id="rId26"/>
    <p:sldId id="320" r:id="rId27"/>
    <p:sldId id="365" r:id="rId28"/>
    <p:sldId id="259" r:id="rId29"/>
    <p:sldId id="2597" r:id="rId30"/>
    <p:sldId id="272" r:id="rId31"/>
    <p:sldId id="261" r:id="rId32"/>
    <p:sldId id="2601" r:id="rId33"/>
    <p:sldId id="2602" r:id="rId34"/>
    <p:sldId id="2603" r:id="rId35"/>
    <p:sldId id="366" r:id="rId36"/>
    <p:sldId id="2588" r:id="rId37"/>
    <p:sldId id="2589" r:id="rId38"/>
    <p:sldId id="2604" r:id="rId39"/>
    <p:sldId id="298" r:id="rId40"/>
    <p:sldId id="299" r:id="rId41"/>
    <p:sldId id="300" r:id="rId42"/>
    <p:sldId id="301" r:id="rId43"/>
    <p:sldId id="304" r:id="rId44"/>
    <p:sldId id="262" r:id="rId45"/>
    <p:sldId id="2608" r:id="rId46"/>
    <p:sldId id="2586" r:id="rId47"/>
    <p:sldId id="2574" r:id="rId48"/>
    <p:sldId id="2577" r:id="rId49"/>
    <p:sldId id="2576" r:id="rId50"/>
    <p:sldId id="305" r:id="rId51"/>
    <p:sldId id="307" r:id="rId52"/>
    <p:sldId id="308" r:id="rId53"/>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C9AB45-D581-E0DB-1964-B8BD9E541724}" v="13" dt="2026-05-08T12:41:01.988"/>
    <p1510:client id="{E0D9DB8B-32B2-312C-08EF-E2B1B4A5F5E8}" v="42" dt="2026-05-08T07:32:43.49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69"/>
    <p:restoredTop sz="94657"/>
  </p:normalViewPr>
  <p:slideViewPr>
    <p:cSldViewPr snapToGrid="0">
      <p:cViewPr varScale="1">
        <p:scale>
          <a:sx n="99" d="100"/>
          <a:sy n="99" d="100"/>
        </p:scale>
        <p:origin x="168" y="77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lei Bi" userId="S::xbi@eamv.dk::4defdd0b-eb6b-464a-acc0-49fc44ef47a7" providerId="AD" clId="Web-{B8C9AB45-D581-E0DB-1964-B8BD9E541724}"/>
    <pc:docChg chg="modSld">
      <pc:chgData name="Xiaolei Bi" userId="S::xbi@eamv.dk::4defdd0b-eb6b-464a-acc0-49fc44ef47a7" providerId="AD" clId="Web-{B8C9AB45-D581-E0DB-1964-B8BD9E541724}" dt="2026-05-08T12:41:01.988" v="12" actId="20577"/>
      <pc:docMkLst>
        <pc:docMk/>
      </pc:docMkLst>
      <pc:sldChg chg="modSp">
        <pc:chgData name="Xiaolei Bi" userId="S::xbi@eamv.dk::4defdd0b-eb6b-464a-acc0-49fc44ef47a7" providerId="AD" clId="Web-{B8C9AB45-D581-E0DB-1964-B8BD9E541724}" dt="2026-05-08T12:41:01.988" v="12" actId="20577"/>
        <pc:sldMkLst>
          <pc:docMk/>
          <pc:sldMk cId="4241216235" sldId="2585"/>
        </pc:sldMkLst>
        <pc:spChg chg="mod">
          <ac:chgData name="Xiaolei Bi" userId="S::xbi@eamv.dk::4defdd0b-eb6b-464a-acc0-49fc44ef47a7" providerId="AD" clId="Web-{B8C9AB45-D581-E0DB-1964-B8BD9E541724}" dt="2026-05-08T12:41:01.988" v="12" actId="20577"/>
          <ac:spMkLst>
            <pc:docMk/>
            <pc:sldMk cId="4241216235" sldId="2585"/>
            <ac:spMk id="2" creationId="{25D3C086-307A-9D9B-4370-5C9AC66FBF81}"/>
          </ac:spMkLst>
        </pc:spChg>
      </pc:sldChg>
    </pc:docChg>
  </pc:docChgLst>
  <pc:docChgLst>
    <pc:chgData name="Xiaolei Bi" userId="S::xbi@eamv.dk::4defdd0b-eb6b-464a-acc0-49fc44ef47a7" providerId="AD" clId="Web-{E0D9DB8B-32B2-312C-08EF-E2B1B4A5F5E8}"/>
    <pc:docChg chg="addSld delSld modSld">
      <pc:chgData name="Xiaolei Bi" userId="S::xbi@eamv.dk::4defdd0b-eb6b-464a-acc0-49fc44ef47a7" providerId="AD" clId="Web-{E0D9DB8B-32B2-312C-08EF-E2B1B4A5F5E8}" dt="2026-05-08T07:32:43.495" v="37" actId="1076"/>
      <pc:docMkLst>
        <pc:docMk/>
      </pc:docMkLst>
      <pc:sldChg chg="addSp modSp">
        <pc:chgData name="Xiaolei Bi" userId="S::xbi@eamv.dk::4defdd0b-eb6b-464a-acc0-49fc44ef47a7" providerId="AD" clId="Web-{E0D9DB8B-32B2-312C-08EF-E2B1B4A5F5E8}" dt="2026-05-08T07:32:43.495" v="37" actId="1076"/>
        <pc:sldMkLst>
          <pc:docMk/>
          <pc:sldMk cId="2417146422" sldId="333"/>
        </pc:sldMkLst>
        <pc:picChg chg="add mod modCrop">
          <ac:chgData name="Xiaolei Bi" userId="S::xbi@eamv.dk::4defdd0b-eb6b-464a-acc0-49fc44ef47a7" providerId="AD" clId="Web-{E0D9DB8B-32B2-312C-08EF-E2B1B4A5F5E8}" dt="2026-05-08T07:32:43.495" v="37" actId="1076"/>
          <ac:picMkLst>
            <pc:docMk/>
            <pc:sldMk cId="2417146422" sldId="333"/>
            <ac:picMk id="5" creationId="{AA37D0CC-53F2-3FC0-BCB2-8EAA67392CDF}"/>
          </ac:picMkLst>
        </pc:picChg>
      </pc:sldChg>
      <pc:sldChg chg="addSp delSp modSp">
        <pc:chgData name="Xiaolei Bi" userId="S::xbi@eamv.dk::4defdd0b-eb6b-464a-acc0-49fc44ef47a7" providerId="AD" clId="Web-{E0D9DB8B-32B2-312C-08EF-E2B1B4A5F5E8}" dt="2026-05-08T07:32:21.760" v="33"/>
        <pc:sldMkLst>
          <pc:docMk/>
          <pc:sldMk cId="4151100925" sldId="2573"/>
        </pc:sldMkLst>
        <pc:picChg chg="add del mod">
          <ac:chgData name="Xiaolei Bi" userId="S::xbi@eamv.dk::4defdd0b-eb6b-464a-acc0-49fc44ef47a7" providerId="AD" clId="Web-{E0D9DB8B-32B2-312C-08EF-E2B1B4A5F5E8}" dt="2026-05-08T07:32:21.760" v="33"/>
          <ac:picMkLst>
            <pc:docMk/>
            <pc:sldMk cId="4151100925" sldId="2573"/>
            <ac:picMk id="4" creationId="{E4DC49B0-8505-4222-9EDC-513E57304A77}"/>
          </ac:picMkLst>
        </pc:picChg>
      </pc:sldChg>
      <pc:sldChg chg="del">
        <pc:chgData name="Xiaolei Bi" userId="S::xbi@eamv.dk::4defdd0b-eb6b-464a-acc0-49fc44ef47a7" providerId="AD" clId="Web-{E0D9DB8B-32B2-312C-08EF-E2B1B4A5F5E8}" dt="2026-05-08T07:26:15.621" v="19"/>
        <pc:sldMkLst>
          <pc:docMk/>
          <pc:sldMk cId="1386416426" sldId="2580"/>
        </pc:sldMkLst>
      </pc:sldChg>
      <pc:sldChg chg="addSp delSp modSp new">
        <pc:chgData name="Xiaolei Bi" userId="S::xbi@eamv.dk::4defdd0b-eb6b-464a-acc0-49fc44ef47a7" providerId="AD" clId="Web-{E0D9DB8B-32B2-312C-08EF-E2B1B4A5F5E8}" dt="2026-05-08T07:25:26.306" v="6"/>
        <pc:sldMkLst>
          <pc:docMk/>
          <pc:sldMk cId="3869308135" sldId="2583"/>
        </pc:sldMkLst>
        <pc:spChg chg="del">
          <ac:chgData name="Xiaolei Bi" userId="S::xbi@eamv.dk::4defdd0b-eb6b-464a-acc0-49fc44ef47a7" providerId="AD" clId="Web-{E0D9DB8B-32B2-312C-08EF-E2B1B4A5F5E8}" dt="2026-05-08T07:22:14.120" v="1"/>
          <ac:spMkLst>
            <pc:docMk/>
            <pc:sldMk cId="3869308135" sldId="2583"/>
            <ac:spMk id="2" creationId="{B25A8609-A5DA-3D99-6423-A0365B087B07}"/>
          </ac:spMkLst>
        </pc:spChg>
        <pc:spChg chg="del">
          <ac:chgData name="Xiaolei Bi" userId="S::xbi@eamv.dk::4defdd0b-eb6b-464a-acc0-49fc44ef47a7" providerId="AD" clId="Web-{E0D9DB8B-32B2-312C-08EF-E2B1B4A5F5E8}" dt="2026-05-08T07:22:41.810" v="3"/>
          <ac:spMkLst>
            <pc:docMk/>
            <pc:sldMk cId="3869308135" sldId="2583"/>
            <ac:spMk id="3" creationId="{73CFABF5-F8FD-2620-936A-A847D1FF7B0A}"/>
          </ac:spMkLst>
        </pc:spChg>
        <pc:spChg chg="del">
          <ac:chgData name="Xiaolei Bi" userId="S::xbi@eamv.dk::4defdd0b-eb6b-464a-acc0-49fc44ef47a7" providerId="AD" clId="Web-{E0D9DB8B-32B2-312C-08EF-E2B1B4A5F5E8}" dt="2026-05-08T07:22:34.997" v="2"/>
          <ac:spMkLst>
            <pc:docMk/>
            <pc:sldMk cId="3869308135" sldId="2583"/>
            <ac:spMk id="4" creationId="{1F11FB12-661B-2D2A-8198-F9F28D7E6563}"/>
          </ac:spMkLst>
        </pc:spChg>
        <pc:picChg chg="add mod ord">
          <ac:chgData name="Xiaolei Bi" userId="S::xbi@eamv.dk::4defdd0b-eb6b-464a-acc0-49fc44ef47a7" providerId="AD" clId="Web-{E0D9DB8B-32B2-312C-08EF-E2B1B4A5F5E8}" dt="2026-05-08T07:22:14.120" v="1"/>
          <ac:picMkLst>
            <pc:docMk/>
            <pc:sldMk cId="3869308135" sldId="2583"/>
            <ac:picMk id="5" creationId="{C84F9ED8-226E-528E-43D3-2800EA359199}"/>
          </ac:picMkLst>
        </pc:picChg>
        <pc:picChg chg="add del mod">
          <ac:chgData name="Xiaolei Bi" userId="S::xbi@eamv.dk::4defdd0b-eb6b-464a-acc0-49fc44ef47a7" providerId="AD" clId="Web-{E0D9DB8B-32B2-312C-08EF-E2B1B4A5F5E8}" dt="2026-05-08T07:25:26.306" v="6"/>
          <ac:picMkLst>
            <pc:docMk/>
            <pc:sldMk cId="3869308135" sldId="2583"/>
            <ac:picMk id="6" creationId="{58C5A8AB-56F5-B851-C74D-A2F6D513AD9D}"/>
          </ac:picMkLst>
        </pc:picChg>
      </pc:sldChg>
      <pc:sldChg chg="addSp delSp modSp new mod modTransition modClrScheme chgLayout">
        <pc:chgData name="Xiaolei Bi" userId="S::xbi@eamv.dk::4defdd0b-eb6b-464a-acc0-49fc44ef47a7" providerId="AD" clId="Web-{E0D9DB8B-32B2-312C-08EF-E2B1B4A5F5E8}" dt="2026-05-08T07:26:01.417" v="18"/>
        <pc:sldMkLst>
          <pc:docMk/>
          <pc:sldMk cId="773413288" sldId="2584"/>
        </pc:sldMkLst>
        <pc:spChg chg="del">
          <ac:chgData name="Xiaolei Bi" userId="S::xbi@eamv.dk::4defdd0b-eb6b-464a-acc0-49fc44ef47a7" providerId="AD" clId="Web-{E0D9DB8B-32B2-312C-08EF-E2B1B4A5F5E8}" dt="2026-05-08T07:25:29.181" v="7"/>
          <ac:spMkLst>
            <pc:docMk/>
            <pc:sldMk cId="773413288" sldId="2584"/>
            <ac:spMk id="2" creationId="{7BF71180-6245-2250-B3C4-023879775B88}"/>
          </ac:spMkLst>
        </pc:spChg>
        <pc:spChg chg="del">
          <ac:chgData name="Xiaolei Bi" userId="S::xbi@eamv.dk::4defdd0b-eb6b-464a-acc0-49fc44ef47a7" providerId="AD" clId="Web-{E0D9DB8B-32B2-312C-08EF-E2B1B4A5F5E8}" dt="2026-05-08T07:25:49.198" v="15"/>
          <ac:spMkLst>
            <pc:docMk/>
            <pc:sldMk cId="773413288" sldId="2584"/>
            <ac:spMk id="3" creationId="{ACB1DDF1-D7FA-08E4-8828-8D20656AAAA0}"/>
          </ac:spMkLst>
        </pc:spChg>
        <pc:spChg chg="del">
          <ac:chgData name="Xiaolei Bi" userId="S::xbi@eamv.dk::4defdd0b-eb6b-464a-acc0-49fc44ef47a7" providerId="AD" clId="Web-{E0D9DB8B-32B2-312C-08EF-E2B1B4A5F5E8}" dt="2026-05-08T07:25:56.182" v="16"/>
          <ac:spMkLst>
            <pc:docMk/>
            <pc:sldMk cId="773413288" sldId="2584"/>
            <ac:spMk id="4" creationId="{F1F2E751-237E-2B9A-A5B8-A369D5E6ACE4}"/>
          </ac:spMkLst>
        </pc:spChg>
        <pc:picChg chg="add mod ord modCrop">
          <ac:chgData name="Xiaolei Bi" userId="S::xbi@eamv.dk::4defdd0b-eb6b-464a-acc0-49fc44ef47a7" providerId="AD" clId="Web-{E0D9DB8B-32B2-312C-08EF-E2B1B4A5F5E8}" dt="2026-05-08T07:26:01.417" v="18"/>
          <ac:picMkLst>
            <pc:docMk/>
            <pc:sldMk cId="773413288" sldId="2584"/>
            <ac:picMk id="5" creationId="{4A8BF141-1003-C723-D849-5858AFB96454}"/>
          </ac:picMkLst>
        </pc:picChg>
        <pc:picChg chg="add del mod modCrop">
          <ac:chgData name="Xiaolei Bi" userId="S::xbi@eamv.dk::4defdd0b-eb6b-464a-acc0-49fc44ef47a7" providerId="AD" clId="Web-{E0D9DB8B-32B2-312C-08EF-E2B1B4A5F5E8}" dt="2026-05-08T07:25:39.916" v="13"/>
          <ac:picMkLst>
            <pc:docMk/>
            <pc:sldMk cId="773413288" sldId="2584"/>
            <ac:picMk id="6" creationId="{BCC587CD-8C7F-E9CD-8715-731A99A96098}"/>
          </ac:picMkLst>
        </pc:picChg>
      </pc:sldChg>
      <pc:sldChg chg="addSp delSp modSp new">
        <pc:chgData name="Xiaolei Bi" userId="S::xbi@eamv.dk::4defdd0b-eb6b-464a-acc0-49fc44ef47a7" providerId="AD" clId="Web-{E0D9DB8B-32B2-312C-08EF-E2B1B4A5F5E8}" dt="2026-05-08T07:31:28.149" v="31" actId="20577"/>
        <pc:sldMkLst>
          <pc:docMk/>
          <pc:sldMk cId="4241216235" sldId="2585"/>
        </pc:sldMkLst>
        <pc:spChg chg="mod">
          <ac:chgData name="Xiaolei Bi" userId="S::xbi@eamv.dk::4defdd0b-eb6b-464a-acc0-49fc44ef47a7" providerId="AD" clId="Web-{E0D9DB8B-32B2-312C-08EF-E2B1B4A5F5E8}" dt="2026-05-08T07:31:28.149" v="31" actId="20577"/>
          <ac:spMkLst>
            <pc:docMk/>
            <pc:sldMk cId="4241216235" sldId="2585"/>
            <ac:spMk id="2" creationId="{25D3C086-307A-9D9B-4370-5C9AC66FBF81}"/>
          </ac:spMkLst>
        </pc:spChg>
        <pc:spChg chg="del">
          <ac:chgData name="Xiaolei Bi" userId="S::xbi@eamv.dk::4defdd0b-eb6b-464a-acc0-49fc44ef47a7" providerId="AD" clId="Web-{E0D9DB8B-32B2-312C-08EF-E2B1B4A5F5E8}" dt="2026-05-08T07:29:46.614" v="23"/>
          <ac:spMkLst>
            <pc:docMk/>
            <pc:sldMk cId="4241216235" sldId="2585"/>
            <ac:spMk id="3" creationId="{C661A802-257F-C422-8368-1C4F4CB6A7BD}"/>
          </ac:spMkLst>
        </pc:spChg>
        <pc:picChg chg="add mod ord">
          <ac:chgData name="Xiaolei Bi" userId="S::xbi@eamv.dk::4defdd0b-eb6b-464a-acc0-49fc44ef47a7" providerId="AD" clId="Web-{E0D9DB8B-32B2-312C-08EF-E2B1B4A5F5E8}" dt="2026-05-08T07:29:49.396" v="24" actId="1076"/>
          <ac:picMkLst>
            <pc:docMk/>
            <pc:sldMk cId="4241216235" sldId="2585"/>
            <ac:picMk id="7" creationId="{8127A8C2-F71B-E3D8-58C4-0231C190AD25}"/>
          </ac:picMkLst>
        </pc:picChg>
        <pc:picChg chg="add mod">
          <ac:chgData name="Xiaolei Bi" userId="S::xbi@eamv.dk::4defdd0b-eb6b-464a-acc0-49fc44ef47a7" providerId="AD" clId="Web-{E0D9DB8B-32B2-312C-08EF-E2B1B4A5F5E8}" dt="2026-05-08T07:29:58.427" v="26" actId="14100"/>
          <ac:picMkLst>
            <pc:docMk/>
            <pc:sldMk cId="4241216235" sldId="2585"/>
            <ac:picMk id="8" creationId="{4E0F170C-1E28-8505-190B-F696EAA4836F}"/>
          </ac:picMkLst>
        </pc:picChg>
      </pc:sldChg>
      <pc:sldChg chg="addSp modSp new">
        <pc:chgData name="Xiaolei Bi" userId="S::xbi@eamv.dk::4defdd0b-eb6b-464a-acc0-49fc44ef47a7" providerId="AD" clId="Web-{E0D9DB8B-32B2-312C-08EF-E2B1B4A5F5E8}" dt="2026-05-08T07:27:48.563" v="22"/>
        <pc:sldMkLst>
          <pc:docMk/>
          <pc:sldMk cId="590912446" sldId="2586"/>
        </pc:sldMkLst>
        <pc:picChg chg="add mod">
          <ac:chgData name="Xiaolei Bi" userId="S::xbi@eamv.dk::4defdd0b-eb6b-464a-acc0-49fc44ef47a7" providerId="AD" clId="Web-{E0D9DB8B-32B2-312C-08EF-E2B1B4A5F5E8}" dt="2026-05-08T07:27:48.563" v="22"/>
          <ac:picMkLst>
            <pc:docMk/>
            <pc:sldMk cId="590912446" sldId="2586"/>
            <ac:picMk id="5" creationId="{6BF3F514-F6FD-6EDC-4285-C519E87B077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C76F2D-D29A-403F-BC3F-2962E2A84A9C}"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497128EE-4813-438C-BE4C-B61C7000D819}">
      <dgm:prSet/>
      <dgm:spPr/>
      <dgm:t>
        <a:bodyPr/>
        <a:lstStyle/>
        <a:p>
          <a:r>
            <a:rPr lang="en-US"/>
            <a:t>CREATE TABLE elev (</a:t>
          </a:r>
        </a:p>
      </dgm:t>
    </dgm:pt>
    <dgm:pt modelId="{0FA3167A-4FEC-4EF2-933B-03ADA2342794}" type="parTrans" cxnId="{B25A324E-533F-4B5A-A501-0D8428E52D01}">
      <dgm:prSet/>
      <dgm:spPr/>
      <dgm:t>
        <a:bodyPr/>
        <a:lstStyle/>
        <a:p>
          <a:endParaRPr lang="en-US"/>
        </a:p>
      </dgm:t>
    </dgm:pt>
    <dgm:pt modelId="{6AE4FE9A-1FB6-4A83-ADCB-174A5B9300C9}" type="sibTrans" cxnId="{B25A324E-533F-4B5A-A501-0D8428E52D01}">
      <dgm:prSet/>
      <dgm:spPr/>
      <dgm:t>
        <a:bodyPr/>
        <a:lstStyle/>
        <a:p>
          <a:endParaRPr lang="en-US"/>
        </a:p>
      </dgm:t>
    </dgm:pt>
    <dgm:pt modelId="{6C131F4A-708E-403D-8FAD-C4D4C2C41CD1}">
      <dgm:prSet/>
      <dgm:spPr/>
      <dgm:t>
        <a:bodyPr/>
        <a:lstStyle/>
        <a:p>
          <a:r>
            <a:rPr lang="en-US" dirty="0" err="1"/>
            <a:t>elev_id</a:t>
          </a:r>
          <a:r>
            <a:rPr lang="en-US" dirty="0"/>
            <a:t> INT </a:t>
          </a:r>
          <a:r>
            <a:rPr lang="en-US" b="1" dirty="0"/>
            <a:t>PRIMARY</a:t>
          </a:r>
          <a:r>
            <a:rPr lang="en-US" dirty="0"/>
            <a:t> KEY AUTO_INCREMENT,</a:t>
          </a:r>
        </a:p>
      </dgm:t>
    </dgm:pt>
    <dgm:pt modelId="{FBC8ED02-483B-4E69-8CB2-16F17216DB33}" type="parTrans" cxnId="{3A929696-E3B4-4816-847E-25C3E3C276E5}">
      <dgm:prSet/>
      <dgm:spPr/>
      <dgm:t>
        <a:bodyPr/>
        <a:lstStyle/>
        <a:p>
          <a:endParaRPr lang="en-US"/>
        </a:p>
      </dgm:t>
    </dgm:pt>
    <dgm:pt modelId="{C5D395F9-0D52-419A-AA08-D82E87AD3B7C}" type="sibTrans" cxnId="{3A929696-E3B4-4816-847E-25C3E3C276E5}">
      <dgm:prSet/>
      <dgm:spPr/>
      <dgm:t>
        <a:bodyPr/>
        <a:lstStyle/>
        <a:p>
          <a:endParaRPr lang="en-US"/>
        </a:p>
      </dgm:t>
    </dgm:pt>
    <dgm:pt modelId="{16E30728-06A6-46FF-A656-8F73BD3635B4}">
      <dgm:prSet/>
      <dgm:spPr/>
      <dgm:t>
        <a:bodyPr/>
        <a:lstStyle/>
        <a:p>
          <a:r>
            <a:rPr lang="en-US"/>
            <a:t>navn VARCHAR(100) NOT NULL</a:t>
          </a:r>
        </a:p>
      </dgm:t>
    </dgm:pt>
    <dgm:pt modelId="{245CF981-2924-458B-8A39-5EAB5D9DF640}" type="parTrans" cxnId="{BF458A19-0148-4716-8A00-C43FE745B4D5}">
      <dgm:prSet/>
      <dgm:spPr/>
      <dgm:t>
        <a:bodyPr/>
        <a:lstStyle/>
        <a:p>
          <a:endParaRPr lang="en-US"/>
        </a:p>
      </dgm:t>
    </dgm:pt>
    <dgm:pt modelId="{B0629DC8-0266-4BDD-9827-87AA0E916EF7}" type="sibTrans" cxnId="{BF458A19-0148-4716-8A00-C43FE745B4D5}">
      <dgm:prSet/>
      <dgm:spPr/>
      <dgm:t>
        <a:bodyPr/>
        <a:lstStyle/>
        <a:p>
          <a:endParaRPr lang="en-US"/>
        </a:p>
      </dgm:t>
    </dgm:pt>
    <dgm:pt modelId="{6BD926D6-57D5-479C-9C68-46E15B6C0DC2}">
      <dgm:prSet/>
      <dgm:spPr/>
      <dgm:t>
        <a:bodyPr/>
        <a:lstStyle/>
        <a:p>
          <a:r>
            <a:rPr lang="en-US"/>
            <a:t>);</a:t>
          </a:r>
        </a:p>
      </dgm:t>
    </dgm:pt>
    <dgm:pt modelId="{D1EFC59A-C7EC-44E7-9BAF-4993AC5A451F}" type="parTrans" cxnId="{012F5FF5-0346-4683-81CF-CA0D91AB978D}">
      <dgm:prSet/>
      <dgm:spPr/>
      <dgm:t>
        <a:bodyPr/>
        <a:lstStyle/>
        <a:p>
          <a:endParaRPr lang="en-US"/>
        </a:p>
      </dgm:t>
    </dgm:pt>
    <dgm:pt modelId="{44BEBBAA-8C7A-4880-98E2-F2FA0F332D02}" type="sibTrans" cxnId="{012F5FF5-0346-4683-81CF-CA0D91AB978D}">
      <dgm:prSet/>
      <dgm:spPr/>
      <dgm:t>
        <a:bodyPr/>
        <a:lstStyle/>
        <a:p>
          <a:endParaRPr lang="en-US"/>
        </a:p>
      </dgm:t>
    </dgm:pt>
    <dgm:pt modelId="{8B4919E5-3F62-4669-980D-806B7F98D5F4}">
      <dgm:prSet/>
      <dgm:spPr/>
      <dgm:t>
        <a:bodyPr/>
        <a:lstStyle/>
        <a:p>
          <a:r>
            <a:rPr lang="en-US"/>
            <a:t>CREATE TABLE kursus (</a:t>
          </a:r>
        </a:p>
      </dgm:t>
    </dgm:pt>
    <dgm:pt modelId="{F34E9938-3E5F-4D2C-BF44-80DE06D39141}" type="parTrans" cxnId="{84E2B979-A512-4188-A1BC-34B3801E1B1A}">
      <dgm:prSet/>
      <dgm:spPr/>
      <dgm:t>
        <a:bodyPr/>
        <a:lstStyle/>
        <a:p>
          <a:endParaRPr lang="en-US"/>
        </a:p>
      </dgm:t>
    </dgm:pt>
    <dgm:pt modelId="{8D26433C-872C-4F20-B7E0-B3B4AE94B6CF}" type="sibTrans" cxnId="{84E2B979-A512-4188-A1BC-34B3801E1B1A}">
      <dgm:prSet/>
      <dgm:spPr/>
      <dgm:t>
        <a:bodyPr/>
        <a:lstStyle/>
        <a:p>
          <a:endParaRPr lang="en-US"/>
        </a:p>
      </dgm:t>
    </dgm:pt>
    <dgm:pt modelId="{EB1516EA-BEB9-434B-804C-9A64CEA2A6D3}">
      <dgm:prSet/>
      <dgm:spPr/>
      <dgm:t>
        <a:bodyPr/>
        <a:lstStyle/>
        <a:p>
          <a:r>
            <a:rPr lang="en-US" dirty="0" err="1"/>
            <a:t>kursus_id</a:t>
          </a:r>
          <a:r>
            <a:rPr lang="en-US" dirty="0"/>
            <a:t> INT </a:t>
          </a:r>
          <a:r>
            <a:rPr lang="en-US" b="1" dirty="0"/>
            <a:t>PRIMARY</a:t>
          </a:r>
          <a:r>
            <a:rPr lang="en-US" dirty="0"/>
            <a:t> KEY AUTO_INCREMENT,</a:t>
          </a:r>
        </a:p>
      </dgm:t>
    </dgm:pt>
    <dgm:pt modelId="{B53B17E5-2B6C-470A-8690-9B49CE2FDA08}" type="parTrans" cxnId="{BF025499-987A-4838-A3D7-8889D3F63B7E}">
      <dgm:prSet/>
      <dgm:spPr/>
      <dgm:t>
        <a:bodyPr/>
        <a:lstStyle/>
        <a:p>
          <a:endParaRPr lang="en-US"/>
        </a:p>
      </dgm:t>
    </dgm:pt>
    <dgm:pt modelId="{7CFA719C-04EA-4685-9FBA-B24CCAD6AF0F}" type="sibTrans" cxnId="{BF025499-987A-4838-A3D7-8889D3F63B7E}">
      <dgm:prSet/>
      <dgm:spPr/>
      <dgm:t>
        <a:bodyPr/>
        <a:lstStyle/>
        <a:p>
          <a:endParaRPr lang="en-US"/>
        </a:p>
      </dgm:t>
    </dgm:pt>
    <dgm:pt modelId="{1F9B2253-44E0-454F-99D0-5217ADF39CC1}">
      <dgm:prSet/>
      <dgm:spPr/>
      <dgm:t>
        <a:bodyPr/>
        <a:lstStyle/>
        <a:p>
          <a:r>
            <a:rPr lang="en-US"/>
            <a:t>titel VARCHAR(100) NOT NULL</a:t>
          </a:r>
        </a:p>
      </dgm:t>
    </dgm:pt>
    <dgm:pt modelId="{DD39A380-EAED-4B62-967D-5BF3B43B78A1}" type="parTrans" cxnId="{4DDAD090-5AA0-4532-BC40-F42CE8F844CD}">
      <dgm:prSet/>
      <dgm:spPr/>
      <dgm:t>
        <a:bodyPr/>
        <a:lstStyle/>
        <a:p>
          <a:endParaRPr lang="en-US"/>
        </a:p>
      </dgm:t>
    </dgm:pt>
    <dgm:pt modelId="{416DCE53-E76B-4828-A930-B99F8CE89C08}" type="sibTrans" cxnId="{4DDAD090-5AA0-4532-BC40-F42CE8F844CD}">
      <dgm:prSet/>
      <dgm:spPr/>
      <dgm:t>
        <a:bodyPr/>
        <a:lstStyle/>
        <a:p>
          <a:endParaRPr lang="en-US"/>
        </a:p>
      </dgm:t>
    </dgm:pt>
    <dgm:pt modelId="{71E07089-0366-4341-9602-FD7004795771}">
      <dgm:prSet/>
      <dgm:spPr/>
      <dgm:t>
        <a:bodyPr/>
        <a:lstStyle/>
        <a:p>
          <a:r>
            <a:rPr lang="en-US"/>
            <a:t>);</a:t>
          </a:r>
        </a:p>
      </dgm:t>
    </dgm:pt>
    <dgm:pt modelId="{BC4C98B7-38BC-4168-9200-17B1B828206F}" type="parTrans" cxnId="{41ABEE96-D734-4BCA-AB31-EF0E2926FEC0}">
      <dgm:prSet/>
      <dgm:spPr/>
      <dgm:t>
        <a:bodyPr/>
        <a:lstStyle/>
        <a:p>
          <a:endParaRPr lang="en-US"/>
        </a:p>
      </dgm:t>
    </dgm:pt>
    <dgm:pt modelId="{561DE667-BD64-4071-815A-D3CBB2BECE19}" type="sibTrans" cxnId="{41ABEE96-D734-4BCA-AB31-EF0E2926FEC0}">
      <dgm:prSet/>
      <dgm:spPr/>
      <dgm:t>
        <a:bodyPr/>
        <a:lstStyle/>
        <a:p>
          <a:endParaRPr lang="en-US"/>
        </a:p>
      </dgm:t>
    </dgm:pt>
    <dgm:pt modelId="{771433BC-E8F9-44B7-B704-C22E098A2EAC}">
      <dgm:prSet/>
      <dgm:spPr/>
      <dgm:t>
        <a:bodyPr/>
        <a:lstStyle/>
        <a:p>
          <a:r>
            <a:rPr lang="en-US"/>
            <a:t>CREATE TABLE tilmelding (</a:t>
          </a:r>
        </a:p>
      </dgm:t>
    </dgm:pt>
    <dgm:pt modelId="{51D56D84-C2A7-4438-896C-F1F591D28853}" type="parTrans" cxnId="{3F99FABA-3CAB-4B90-97B5-3387A7C289A8}">
      <dgm:prSet/>
      <dgm:spPr/>
      <dgm:t>
        <a:bodyPr/>
        <a:lstStyle/>
        <a:p>
          <a:endParaRPr lang="en-US"/>
        </a:p>
      </dgm:t>
    </dgm:pt>
    <dgm:pt modelId="{90137108-300A-4826-B16E-541EAAF1EE32}" type="sibTrans" cxnId="{3F99FABA-3CAB-4B90-97B5-3387A7C289A8}">
      <dgm:prSet/>
      <dgm:spPr/>
      <dgm:t>
        <a:bodyPr/>
        <a:lstStyle/>
        <a:p>
          <a:endParaRPr lang="en-US"/>
        </a:p>
      </dgm:t>
    </dgm:pt>
    <dgm:pt modelId="{5659B00C-FDFC-4D14-B0C5-4A41FA5ACE42}">
      <dgm:prSet/>
      <dgm:spPr/>
      <dgm:t>
        <a:bodyPr/>
        <a:lstStyle/>
        <a:p>
          <a:r>
            <a:rPr lang="en-US" dirty="0" err="1"/>
            <a:t>tilmelding_id</a:t>
          </a:r>
          <a:r>
            <a:rPr lang="en-US" dirty="0"/>
            <a:t> INT </a:t>
          </a:r>
          <a:r>
            <a:rPr lang="en-US" b="1" dirty="0"/>
            <a:t>PRIMARY </a:t>
          </a:r>
          <a:r>
            <a:rPr lang="en-US" dirty="0"/>
            <a:t>KEY AUTO_INCREMENT,</a:t>
          </a:r>
        </a:p>
      </dgm:t>
    </dgm:pt>
    <dgm:pt modelId="{2603E2FE-A8F1-4BB5-94CD-0FF8B8B0C722}" type="parTrans" cxnId="{8326849F-C135-48FC-B6E0-4CAF7A9729A6}">
      <dgm:prSet/>
      <dgm:spPr/>
      <dgm:t>
        <a:bodyPr/>
        <a:lstStyle/>
        <a:p>
          <a:endParaRPr lang="en-US"/>
        </a:p>
      </dgm:t>
    </dgm:pt>
    <dgm:pt modelId="{D2A17AA8-9EAD-4A26-A1A8-B93A1D80AD4B}" type="sibTrans" cxnId="{8326849F-C135-48FC-B6E0-4CAF7A9729A6}">
      <dgm:prSet/>
      <dgm:spPr/>
      <dgm:t>
        <a:bodyPr/>
        <a:lstStyle/>
        <a:p>
          <a:endParaRPr lang="en-US"/>
        </a:p>
      </dgm:t>
    </dgm:pt>
    <dgm:pt modelId="{E742A280-EF16-4691-9EDC-9DD4D95CD583}">
      <dgm:prSet/>
      <dgm:spPr/>
      <dgm:t>
        <a:bodyPr/>
        <a:lstStyle/>
        <a:p>
          <a:r>
            <a:rPr lang="en-US"/>
            <a:t>elev_id INT NOT NULL,</a:t>
          </a:r>
        </a:p>
      </dgm:t>
    </dgm:pt>
    <dgm:pt modelId="{F0432766-7B0F-4AAF-A096-1322D8394348}" type="parTrans" cxnId="{7547B81E-4152-43D5-9176-B474C241DF21}">
      <dgm:prSet/>
      <dgm:spPr/>
      <dgm:t>
        <a:bodyPr/>
        <a:lstStyle/>
        <a:p>
          <a:endParaRPr lang="en-US"/>
        </a:p>
      </dgm:t>
    </dgm:pt>
    <dgm:pt modelId="{DDD4D8E9-8EA7-468B-8076-5C3578F6A719}" type="sibTrans" cxnId="{7547B81E-4152-43D5-9176-B474C241DF21}">
      <dgm:prSet/>
      <dgm:spPr/>
      <dgm:t>
        <a:bodyPr/>
        <a:lstStyle/>
        <a:p>
          <a:endParaRPr lang="en-US"/>
        </a:p>
      </dgm:t>
    </dgm:pt>
    <dgm:pt modelId="{A7927BAB-690B-4050-A437-CE5ADCD46D46}">
      <dgm:prSet/>
      <dgm:spPr/>
      <dgm:t>
        <a:bodyPr/>
        <a:lstStyle/>
        <a:p>
          <a:r>
            <a:rPr lang="en-US"/>
            <a:t>kursus_id INT NOT NULL,</a:t>
          </a:r>
        </a:p>
      </dgm:t>
    </dgm:pt>
    <dgm:pt modelId="{60ABF00F-42B1-4073-A888-AB8F345ACE62}" type="parTrans" cxnId="{14A3CD04-DB71-4AD6-8034-3192CD8513C5}">
      <dgm:prSet/>
      <dgm:spPr/>
      <dgm:t>
        <a:bodyPr/>
        <a:lstStyle/>
        <a:p>
          <a:endParaRPr lang="en-US"/>
        </a:p>
      </dgm:t>
    </dgm:pt>
    <dgm:pt modelId="{DBB3D499-2195-4809-AC90-A3C317262E4E}" type="sibTrans" cxnId="{14A3CD04-DB71-4AD6-8034-3192CD8513C5}">
      <dgm:prSet/>
      <dgm:spPr/>
      <dgm:t>
        <a:bodyPr/>
        <a:lstStyle/>
        <a:p>
          <a:endParaRPr lang="en-US"/>
        </a:p>
      </dgm:t>
    </dgm:pt>
    <dgm:pt modelId="{6E974311-8503-4D1E-B286-D9357314CBC1}">
      <dgm:prSet/>
      <dgm:spPr/>
      <dgm:t>
        <a:bodyPr/>
        <a:lstStyle/>
        <a:p>
          <a:r>
            <a:rPr lang="en-US" b="1" dirty="0"/>
            <a:t>FOREIGN </a:t>
          </a:r>
          <a:r>
            <a:rPr lang="en-US" dirty="0"/>
            <a:t>KEY (</a:t>
          </a:r>
          <a:r>
            <a:rPr lang="en-US" dirty="0" err="1"/>
            <a:t>elev_id</a:t>
          </a:r>
          <a:r>
            <a:rPr lang="en-US" dirty="0"/>
            <a:t>) REFERENCES </a:t>
          </a:r>
          <a:r>
            <a:rPr lang="en-US" dirty="0" err="1"/>
            <a:t>elev</a:t>
          </a:r>
          <a:r>
            <a:rPr lang="en-US" dirty="0"/>
            <a:t>(</a:t>
          </a:r>
          <a:r>
            <a:rPr lang="en-US" dirty="0" err="1"/>
            <a:t>elev_id</a:t>
          </a:r>
          <a:r>
            <a:rPr lang="en-US" dirty="0"/>
            <a:t>),</a:t>
          </a:r>
        </a:p>
      </dgm:t>
    </dgm:pt>
    <dgm:pt modelId="{BF30DECF-311D-4286-B421-2DFFFA02EFD6}" type="parTrans" cxnId="{A02210C7-5AA2-4B58-8C19-2A1343C2CD98}">
      <dgm:prSet/>
      <dgm:spPr/>
      <dgm:t>
        <a:bodyPr/>
        <a:lstStyle/>
        <a:p>
          <a:endParaRPr lang="en-US"/>
        </a:p>
      </dgm:t>
    </dgm:pt>
    <dgm:pt modelId="{2D1991ED-59DF-47CA-819D-C2F1835909F9}" type="sibTrans" cxnId="{A02210C7-5AA2-4B58-8C19-2A1343C2CD98}">
      <dgm:prSet/>
      <dgm:spPr/>
      <dgm:t>
        <a:bodyPr/>
        <a:lstStyle/>
        <a:p>
          <a:endParaRPr lang="en-US"/>
        </a:p>
      </dgm:t>
    </dgm:pt>
    <dgm:pt modelId="{08C5B8E5-0332-4F7D-99B0-27C9288CB110}">
      <dgm:prSet/>
      <dgm:spPr/>
      <dgm:t>
        <a:bodyPr/>
        <a:lstStyle/>
        <a:p>
          <a:r>
            <a:rPr lang="en-US" b="1" dirty="0"/>
            <a:t>FOREIGN</a:t>
          </a:r>
          <a:r>
            <a:rPr lang="en-US" dirty="0"/>
            <a:t> KEY (</a:t>
          </a:r>
          <a:r>
            <a:rPr lang="en-US" dirty="0" err="1"/>
            <a:t>kursus_id</a:t>
          </a:r>
          <a:r>
            <a:rPr lang="en-US" dirty="0"/>
            <a:t>) REFERENCES </a:t>
          </a:r>
          <a:r>
            <a:rPr lang="en-US" dirty="0" err="1"/>
            <a:t>kursus</a:t>
          </a:r>
          <a:r>
            <a:rPr lang="en-US" dirty="0"/>
            <a:t>(</a:t>
          </a:r>
          <a:r>
            <a:rPr lang="en-US" dirty="0" err="1"/>
            <a:t>kursus_id</a:t>
          </a:r>
          <a:r>
            <a:rPr lang="en-US" dirty="0"/>
            <a:t>)</a:t>
          </a:r>
        </a:p>
      </dgm:t>
    </dgm:pt>
    <dgm:pt modelId="{2987C31D-83A7-4583-8569-CA747892E983}" type="parTrans" cxnId="{59589929-1A87-487C-B2B1-E36AF6065272}">
      <dgm:prSet/>
      <dgm:spPr/>
      <dgm:t>
        <a:bodyPr/>
        <a:lstStyle/>
        <a:p>
          <a:endParaRPr lang="en-US"/>
        </a:p>
      </dgm:t>
    </dgm:pt>
    <dgm:pt modelId="{77097F14-7CC8-450A-AA9A-4617E09B05DA}" type="sibTrans" cxnId="{59589929-1A87-487C-B2B1-E36AF6065272}">
      <dgm:prSet/>
      <dgm:spPr/>
      <dgm:t>
        <a:bodyPr/>
        <a:lstStyle/>
        <a:p>
          <a:endParaRPr lang="en-US"/>
        </a:p>
      </dgm:t>
    </dgm:pt>
    <dgm:pt modelId="{B55F4139-44EC-4FAD-ACC9-341924A01771}">
      <dgm:prSet/>
      <dgm:spPr/>
      <dgm:t>
        <a:bodyPr/>
        <a:lstStyle/>
        <a:p>
          <a:r>
            <a:rPr lang="en-US"/>
            <a:t>);</a:t>
          </a:r>
        </a:p>
      </dgm:t>
    </dgm:pt>
    <dgm:pt modelId="{E65F9A41-DD7C-4781-B4F0-0B78A4B3A70F}" type="parTrans" cxnId="{DDD72AEB-D2EA-4E3B-B01F-4D53FC049759}">
      <dgm:prSet/>
      <dgm:spPr/>
      <dgm:t>
        <a:bodyPr/>
        <a:lstStyle/>
        <a:p>
          <a:endParaRPr lang="en-US"/>
        </a:p>
      </dgm:t>
    </dgm:pt>
    <dgm:pt modelId="{B9339FF2-DF08-4D47-A36F-84BB1641D339}" type="sibTrans" cxnId="{DDD72AEB-D2EA-4E3B-B01F-4D53FC049759}">
      <dgm:prSet/>
      <dgm:spPr/>
      <dgm:t>
        <a:bodyPr/>
        <a:lstStyle/>
        <a:p>
          <a:endParaRPr lang="en-US"/>
        </a:p>
      </dgm:t>
    </dgm:pt>
    <dgm:pt modelId="{B6E0AD97-9664-9B43-994E-F88A1E21EDB7}" type="pres">
      <dgm:prSet presAssocID="{3FC76F2D-D29A-403F-BC3F-2962E2A84A9C}" presName="vert0" presStyleCnt="0">
        <dgm:presLayoutVars>
          <dgm:dir/>
          <dgm:animOne val="branch"/>
          <dgm:animLvl val="lvl"/>
        </dgm:presLayoutVars>
      </dgm:prSet>
      <dgm:spPr/>
    </dgm:pt>
    <dgm:pt modelId="{8ABA0BBF-89B9-7749-B4B7-2E1C531584F8}" type="pres">
      <dgm:prSet presAssocID="{497128EE-4813-438C-BE4C-B61C7000D819}" presName="thickLine" presStyleLbl="alignNode1" presStyleIdx="0" presStyleCnt="15"/>
      <dgm:spPr/>
    </dgm:pt>
    <dgm:pt modelId="{E96FF5B7-DCA0-EF41-9DFF-A411FD149AAF}" type="pres">
      <dgm:prSet presAssocID="{497128EE-4813-438C-BE4C-B61C7000D819}" presName="horz1" presStyleCnt="0"/>
      <dgm:spPr/>
    </dgm:pt>
    <dgm:pt modelId="{184FAB08-B6A0-3E41-BA65-53EAA2135FF3}" type="pres">
      <dgm:prSet presAssocID="{497128EE-4813-438C-BE4C-B61C7000D819}" presName="tx1" presStyleLbl="revTx" presStyleIdx="0" presStyleCnt="15"/>
      <dgm:spPr/>
    </dgm:pt>
    <dgm:pt modelId="{0F121920-4025-EE46-B5D0-9281BD77B5E5}" type="pres">
      <dgm:prSet presAssocID="{497128EE-4813-438C-BE4C-B61C7000D819}" presName="vert1" presStyleCnt="0"/>
      <dgm:spPr/>
    </dgm:pt>
    <dgm:pt modelId="{24AE75A8-FD08-1449-BF75-6B05BDA09E75}" type="pres">
      <dgm:prSet presAssocID="{6C131F4A-708E-403D-8FAD-C4D4C2C41CD1}" presName="thickLine" presStyleLbl="alignNode1" presStyleIdx="1" presStyleCnt="15"/>
      <dgm:spPr/>
    </dgm:pt>
    <dgm:pt modelId="{B8057C0B-F71F-A140-A2C0-40FEC613060F}" type="pres">
      <dgm:prSet presAssocID="{6C131F4A-708E-403D-8FAD-C4D4C2C41CD1}" presName="horz1" presStyleCnt="0"/>
      <dgm:spPr/>
    </dgm:pt>
    <dgm:pt modelId="{C39B998E-EEED-154A-A88E-13BCE49502FF}" type="pres">
      <dgm:prSet presAssocID="{6C131F4A-708E-403D-8FAD-C4D4C2C41CD1}" presName="tx1" presStyleLbl="revTx" presStyleIdx="1" presStyleCnt="15"/>
      <dgm:spPr/>
    </dgm:pt>
    <dgm:pt modelId="{31B2C7DB-4EA6-8A4A-BEF1-7F6B46D960E9}" type="pres">
      <dgm:prSet presAssocID="{6C131F4A-708E-403D-8FAD-C4D4C2C41CD1}" presName="vert1" presStyleCnt="0"/>
      <dgm:spPr/>
    </dgm:pt>
    <dgm:pt modelId="{86B3619A-FA9D-2345-B21A-96D60FF30F55}" type="pres">
      <dgm:prSet presAssocID="{16E30728-06A6-46FF-A656-8F73BD3635B4}" presName="thickLine" presStyleLbl="alignNode1" presStyleIdx="2" presStyleCnt="15"/>
      <dgm:spPr/>
    </dgm:pt>
    <dgm:pt modelId="{7B78F0A7-4F8F-C24D-9AFB-9C46A8F93F19}" type="pres">
      <dgm:prSet presAssocID="{16E30728-06A6-46FF-A656-8F73BD3635B4}" presName="horz1" presStyleCnt="0"/>
      <dgm:spPr/>
    </dgm:pt>
    <dgm:pt modelId="{52FA8591-CD8B-AF46-8D65-A27449C0CDA7}" type="pres">
      <dgm:prSet presAssocID="{16E30728-06A6-46FF-A656-8F73BD3635B4}" presName="tx1" presStyleLbl="revTx" presStyleIdx="2" presStyleCnt="15"/>
      <dgm:spPr/>
    </dgm:pt>
    <dgm:pt modelId="{556AB84F-5E2A-7A48-9E09-AE7374197AE8}" type="pres">
      <dgm:prSet presAssocID="{16E30728-06A6-46FF-A656-8F73BD3635B4}" presName="vert1" presStyleCnt="0"/>
      <dgm:spPr/>
    </dgm:pt>
    <dgm:pt modelId="{482CB088-D2A2-7E4D-B7C6-CB9F207C913C}" type="pres">
      <dgm:prSet presAssocID="{6BD926D6-57D5-479C-9C68-46E15B6C0DC2}" presName="thickLine" presStyleLbl="alignNode1" presStyleIdx="3" presStyleCnt="15"/>
      <dgm:spPr/>
    </dgm:pt>
    <dgm:pt modelId="{D635EEE8-FE84-9B4B-A5C6-CCB9CE8AFC73}" type="pres">
      <dgm:prSet presAssocID="{6BD926D6-57D5-479C-9C68-46E15B6C0DC2}" presName="horz1" presStyleCnt="0"/>
      <dgm:spPr/>
    </dgm:pt>
    <dgm:pt modelId="{0AE0E435-FFE9-DB45-933F-1BC734853023}" type="pres">
      <dgm:prSet presAssocID="{6BD926D6-57D5-479C-9C68-46E15B6C0DC2}" presName="tx1" presStyleLbl="revTx" presStyleIdx="3" presStyleCnt="15"/>
      <dgm:spPr/>
    </dgm:pt>
    <dgm:pt modelId="{DE7D61F8-6D5D-2E47-B5C4-E3CC14E0ADBB}" type="pres">
      <dgm:prSet presAssocID="{6BD926D6-57D5-479C-9C68-46E15B6C0DC2}" presName="vert1" presStyleCnt="0"/>
      <dgm:spPr/>
    </dgm:pt>
    <dgm:pt modelId="{6FB12B8C-69EB-D747-885A-19C7A8D63207}" type="pres">
      <dgm:prSet presAssocID="{8B4919E5-3F62-4669-980D-806B7F98D5F4}" presName="thickLine" presStyleLbl="alignNode1" presStyleIdx="4" presStyleCnt="15"/>
      <dgm:spPr/>
    </dgm:pt>
    <dgm:pt modelId="{8E903081-8BA7-FA40-BFD6-A00C3316CFF3}" type="pres">
      <dgm:prSet presAssocID="{8B4919E5-3F62-4669-980D-806B7F98D5F4}" presName="horz1" presStyleCnt="0"/>
      <dgm:spPr/>
    </dgm:pt>
    <dgm:pt modelId="{A19CA3DB-3F81-0C42-B82C-5894C34F1DFB}" type="pres">
      <dgm:prSet presAssocID="{8B4919E5-3F62-4669-980D-806B7F98D5F4}" presName="tx1" presStyleLbl="revTx" presStyleIdx="4" presStyleCnt="15"/>
      <dgm:spPr/>
    </dgm:pt>
    <dgm:pt modelId="{08AC427B-3811-1E4F-8530-8C45DCF53E0F}" type="pres">
      <dgm:prSet presAssocID="{8B4919E5-3F62-4669-980D-806B7F98D5F4}" presName="vert1" presStyleCnt="0"/>
      <dgm:spPr/>
    </dgm:pt>
    <dgm:pt modelId="{76CD185C-C698-F043-BCEF-A854452CB9D0}" type="pres">
      <dgm:prSet presAssocID="{EB1516EA-BEB9-434B-804C-9A64CEA2A6D3}" presName="thickLine" presStyleLbl="alignNode1" presStyleIdx="5" presStyleCnt="15"/>
      <dgm:spPr/>
    </dgm:pt>
    <dgm:pt modelId="{AFF12C23-8467-274C-865E-DEEFEFAF4A5F}" type="pres">
      <dgm:prSet presAssocID="{EB1516EA-BEB9-434B-804C-9A64CEA2A6D3}" presName="horz1" presStyleCnt="0"/>
      <dgm:spPr/>
    </dgm:pt>
    <dgm:pt modelId="{2DB2CC49-DCCF-1540-9685-E8A695EC2E53}" type="pres">
      <dgm:prSet presAssocID="{EB1516EA-BEB9-434B-804C-9A64CEA2A6D3}" presName="tx1" presStyleLbl="revTx" presStyleIdx="5" presStyleCnt="15"/>
      <dgm:spPr/>
    </dgm:pt>
    <dgm:pt modelId="{A5A81120-4684-284B-8CFC-C83B7F3E948D}" type="pres">
      <dgm:prSet presAssocID="{EB1516EA-BEB9-434B-804C-9A64CEA2A6D3}" presName="vert1" presStyleCnt="0"/>
      <dgm:spPr/>
    </dgm:pt>
    <dgm:pt modelId="{B3E42CD8-364C-8C43-A0D2-93C1D3AAF7C4}" type="pres">
      <dgm:prSet presAssocID="{1F9B2253-44E0-454F-99D0-5217ADF39CC1}" presName="thickLine" presStyleLbl="alignNode1" presStyleIdx="6" presStyleCnt="15"/>
      <dgm:spPr/>
    </dgm:pt>
    <dgm:pt modelId="{1BF89D85-159E-1C43-A9F7-5C61E5CF5031}" type="pres">
      <dgm:prSet presAssocID="{1F9B2253-44E0-454F-99D0-5217ADF39CC1}" presName="horz1" presStyleCnt="0"/>
      <dgm:spPr/>
    </dgm:pt>
    <dgm:pt modelId="{3DF7828E-6FD5-5943-A9B4-DF685E8F935F}" type="pres">
      <dgm:prSet presAssocID="{1F9B2253-44E0-454F-99D0-5217ADF39CC1}" presName="tx1" presStyleLbl="revTx" presStyleIdx="6" presStyleCnt="15"/>
      <dgm:spPr/>
    </dgm:pt>
    <dgm:pt modelId="{01D579C6-09C5-7149-AEBA-4C424DF0767E}" type="pres">
      <dgm:prSet presAssocID="{1F9B2253-44E0-454F-99D0-5217ADF39CC1}" presName="vert1" presStyleCnt="0"/>
      <dgm:spPr/>
    </dgm:pt>
    <dgm:pt modelId="{6BCE153B-ED95-9743-930F-9A67336A0818}" type="pres">
      <dgm:prSet presAssocID="{71E07089-0366-4341-9602-FD7004795771}" presName="thickLine" presStyleLbl="alignNode1" presStyleIdx="7" presStyleCnt="15"/>
      <dgm:spPr/>
    </dgm:pt>
    <dgm:pt modelId="{04BA3F54-79BD-FC4F-A699-F566BD64BAA7}" type="pres">
      <dgm:prSet presAssocID="{71E07089-0366-4341-9602-FD7004795771}" presName="horz1" presStyleCnt="0"/>
      <dgm:spPr/>
    </dgm:pt>
    <dgm:pt modelId="{136AE042-61AC-E44B-A2FC-8C10B80E7BA1}" type="pres">
      <dgm:prSet presAssocID="{71E07089-0366-4341-9602-FD7004795771}" presName="tx1" presStyleLbl="revTx" presStyleIdx="7" presStyleCnt="15"/>
      <dgm:spPr/>
    </dgm:pt>
    <dgm:pt modelId="{ED3D9628-882E-E546-96CC-621574824819}" type="pres">
      <dgm:prSet presAssocID="{71E07089-0366-4341-9602-FD7004795771}" presName="vert1" presStyleCnt="0"/>
      <dgm:spPr/>
    </dgm:pt>
    <dgm:pt modelId="{6908FF78-A0F5-4C41-A1D9-4A16470C5F31}" type="pres">
      <dgm:prSet presAssocID="{771433BC-E8F9-44B7-B704-C22E098A2EAC}" presName="thickLine" presStyleLbl="alignNode1" presStyleIdx="8" presStyleCnt="15"/>
      <dgm:spPr/>
    </dgm:pt>
    <dgm:pt modelId="{20B31603-85BF-974B-8E84-C85CDECAEA6B}" type="pres">
      <dgm:prSet presAssocID="{771433BC-E8F9-44B7-B704-C22E098A2EAC}" presName="horz1" presStyleCnt="0"/>
      <dgm:spPr/>
    </dgm:pt>
    <dgm:pt modelId="{1DF6DC78-FB05-724F-8324-D2E794F7387F}" type="pres">
      <dgm:prSet presAssocID="{771433BC-E8F9-44B7-B704-C22E098A2EAC}" presName="tx1" presStyleLbl="revTx" presStyleIdx="8" presStyleCnt="15"/>
      <dgm:spPr/>
    </dgm:pt>
    <dgm:pt modelId="{476F03EF-B4AC-FC44-82FD-A4307B47EDD7}" type="pres">
      <dgm:prSet presAssocID="{771433BC-E8F9-44B7-B704-C22E098A2EAC}" presName="vert1" presStyleCnt="0"/>
      <dgm:spPr/>
    </dgm:pt>
    <dgm:pt modelId="{7CE2EFD3-B364-0A4D-9DA5-F474DAE48E9F}" type="pres">
      <dgm:prSet presAssocID="{5659B00C-FDFC-4D14-B0C5-4A41FA5ACE42}" presName="thickLine" presStyleLbl="alignNode1" presStyleIdx="9" presStyleCnt="15"/>
      <dgm:spPr/>
    </dgm:pt>
    <dgm:pt modelId="{73BD667F-E11B-C447-B762-7B1D0067F228}" type="pres">
      <dgm:prSet presAssocID="{5659B00C-FDFC-4D14-B0C5-4A41FA5ACE42}" presName="horz1" presStyleCnt="0"/>
      <dgm:spPr/>
    </dgm:pt>
    <dgm:pt modelId="{C920AE95-2BE1-B245-AA4F-62F7E229E0E2}" type="pres">
      <dgm:prSet presAssocID="{5659B00C-FDFC-4D14-B0C5-4A41FA5ACE42}" presName="tx1" presStyleLbl="revTx" presStyleIdx="9" presStyleCnt="15"/>
      <dgm:spPr/>
    </dgm:pt>
    <dgm:pt modelId="{E44620CD-486F-DE4A-ACC0-6E51985A7A75}" type="pres">
      <dgm:prSet presAssocID="{5659B00C-FDFC-4D14-B0C5-4A41FA5ACE42}" presName="vert1" presStyleCnt="0"/>
      <dgm:spPr/>
    </dgm:pt>
    <dgm:pt modelId="{732B39E9-A70B-9446-9B85-12867AE02DA0}" type="pres">
      <dgm:prSet presAssocID="{E742A280-EF16-4691-9EDC-9DD4D95CD583}" presName="thickLine" presStyleLbl="alignNode1" presStyleIdx="10" presStyleCnt="15"/>
      <dgm:spPr/>
    </dgm:pt>
    <dgm:pt modelId="{45AE75AE-37EE-C841-BC77-CD17536C14F2}" type="pres">
      <dgm:prSet presAssocID="{E742A280-EF16-4691-9EDC-9DD4D95CD583}" presName="horz1" presStyleCnt="0"/>
      <dgm:spPr/>
    </dgm:pt>
    <dgm:pt modelId="{CD3DCBDE-4528-AA4B-8882-393920D532F7}" type="pres">
      <dgm:prSet presAssocID="{E742A280-EF16-4691-9EDC-9DD4D95CD583}" presName="tx1" presStyleLbl="revTx" presStyleIdx="10" presStyleCnt="15"/>
      <dgm:spPr/>
    </dgm:pt>
    <dgm:pt modelId="{4A1231EC-BEAD-CE40-8A00-1E8E788131ED}" type="pres">
      <dgm:prSet presAssocID="{E742A280-EF16-4691-9EDC-9DD4D95CD583}" presName="vert1" presStyleCnt="0"/>
      <dgm:spPr/>
    </dgm:pt>
    <dgm:pt modelId="{86600386-E4F4-474C-A101-76601A75A0C2}" type="pres">
      <dgm:prSet presAssocID="{A7927BAB-690B-4050-A437-CE5ADCD46D46}" presName="thickLine" presStyleLbl="alignNode1" presStyleIdx="11" presStyleCnt="15"/>
      <dgm:spPr/>
    </dgm:pt>
    <dgm:pt modelId="{75124A4A-E865-8143-8DFA-91E5A5AFF4C9}" type="pres">
      <dgm:prSet presAssocID="{A7927BAB-690B-4050-A437-CE5ADCD46D46}" presName="horz1" presStyleCnt="0"/>
      <dgm:spPr/>
    </dgm:pt>
    <dgm:pt modelId="{72A51E0A-A63D-D94D-84A2-B2EE6DCE1B5D}" type="pres">
      <dgm:prSet presAssocID="{A7927BAB-690B-4050-A437-CE5ADCD46D46}" presName="tx1" presStyleLbl="revTx" presStyleIdx="11" presStyleCnt="15"/>
      <dgm:spPr/>
    </dgm:pt>
    <dgm:pt modelId="{3B5D7C8A-F708-984C-9828-2CAF5BD74FA5}" type="pres">
      <dgm:prSet presAssocID="{A7927BAB-690B-4050-A437-CE5ADCD46D46}" presName="vert1" presStyleCnt="0"/>
      <dgm:spPr/>
    </dgm:pt>
    <dgm:pt modelId="{14235EAE-42B4-F943-8F2A-74A8B656CAFC}" type="pres">
      <dgm:prSet presAssocID="{6E974311-8503-4D1E-B286-D9357314CBC1}" presName="thickLine" presStyleLbl="alignNode1" presStyleIdx="12" presStyleCnt="15"/>
      <dgm:spPr/>
    </dgm:pt>
    <dgm:pt modelId="{7AF884DE-88DE-FE4A-AD87-82BD87587277}" type="pres">
      <dgm:prSet presAssocID="{6E974311-8503-4D1E-B286-D9357314CBC1}" presName="horz1" presStyleCnt="0"/>
      <dgm:spPr/>
    </dgm:pt>
    <dgm:pt modelId="{DEE2C00D-DCFD-5D44-9AFF-1C1BEE31F858}" type="pres">
      <dgm:prSet presAssocID="{6E974311-8503-4D1E-B286-D9357314CBC1}" presName="tx1" presStyleLbl="revTx" presStyleIdx="12" presStyleCnt="15"/>
      <dgm:spPr/>
    </dgm:pt>
    <dgm:pt modelId="{BB129734-C7CA-1B48-8ACA-C832BCD65D31}" type="pres">
      <dgm:prSet presAssocID="{6E974311-8503-4D1E-B286-D9357314CBC1}" presName="vert1" presStyleCnt="0"/>
      <dgm:spPr/>
    </dgm:pt>
    <dgm:pt modelId="{2602518B-B99D-A44B-8109-9EEF15C5D034}" type="pres">
      <dgm:prSet presAssocID="{08C5B8E5-0332-4F7D-99B0-27C9288CB110}" presName="thickLine" presStyleLbl="alignNode1" presStyleIdx="13" presStyleCnt="15"/>
      <dgm:spPr/>
    </dgm:pt>
    <dgm:pt modelId="{548F87EC-C28C-0E49-8845-8D1AD770ED9E}" type="pres">
      <dgm:prSet presAssocID="{08C5B8E5-0332-4F7D-99B0-27C9288CB110}" presName="horz1" presStyleCnt="0"/>
      <dgm:spPr/>
    </dgm:pt>
    <dgm:pt modelId="{C7BD4895-3C7D-394D-A9B7-C06608268850}" type="pres">
      <dgm:prSet presAssocID="{08C5B8E5-0332-4F7D-99B0-27C9288CB110}" presName="tx1" presStyleLbl="revTx" presStyleIdx="13" presStyleCnt="15"/>
      <dgm:spPr/>
    </dgm:pt>
    <dgm:pt modelId="{FB02FBC2-BFC2-B84B-B42E-B1FD484B8AC5}" type="pres">
      <dgm:prSet presAssocID="{08C5B8E5-0332-4F7D-99B0-27C9288CB110}" presName="vert1" presStyleCnt="0"/>
      <dgm:spPr/>
    </dgm:pt>
    <dgm:pt modelId="{585A58AA-212C-9246-BC02-62B60135778D}" type="pres">
      <dgm:prSet presAssocID="{B55F4139-44EC-4FAD-ACC9-341924A01771}" presName="thickLine" presStyleLbl="alignNode1" presStyleIdx="14" presStyleCnt="15"/>
      <dgm:spPr/>
    </dgm:pt>
    <dgm:pt modelId="{9C34F0A1-548E-004C-A11B-148ED7A97B41}" type="pres">
      <dgm:prSet presAssocID="{B55F4139-44EC-4FAD-ACC9-341924A01771}" presName="horz1" presStyleCnt="0"/>
      <dgm:spPr/>
    </dgm:pt>
    <dgm:pt modelId="{BC4507BE-0644-1948-AE6A-10868740D258}" type="pres">
      <dgm:prSet presAssocID="{B55F4139-44EC-4FAD-ACC9-341924A01771}" presName="tx1" presStyleLbl="revTx" presStyleIdx="14" presStyleCnt="15"/>
      <dgm:spPr/>
    </dgm:pt>
    <dgm:pt modelId="{F9C2E31E-3CE4-AB4E-B782-6A7E122DFD8C}" type="pres">
      <dgm:prSet presAssocID="{B55F4139-44EC-4FAD-ACC9-341924A01771}" presName="vert1" presStyleCnt="0"/>
      <dgm:spPr/>
    </dgm:pt>
  </dgm:ptLst>
  <dgm:cxnLst>
    <dgm:cxn modelId="{14A3CD04-DB71-4AD6-8034-3192CD8513C5}" srcId="{3FC76F2D-D29A-403F-BC3F-2962E2A84A9C}" destId="{A7927BAB-690B-4050-A437-CE5ADCD46D46}" srcOrd="11" destOrd="0" parTransId="{60ABF00F-42B1-4073-A888-AB8F345ACE62}" sibTransId="{DBB3D499-2195-4809-AC90-A3C317262E4E}"/>
    <dgm:cxn modelId="{9511A508-346E-E543-9B13-E278DFB06356}" type="presOf" srcId="{771433BC-E8F9-44B7-B704-C22E098A2EAC}" destId="{1DF6DC78-FB05-724F-8324-D2E794F7387F}" srcOrd="0" destOrd="0" presId="urn:microsoft.com/office/officeart/2008/layout/LinedList"/>
    <dgm:cxn modelId="{DD85C918-1177-5D42-A4CC-A6C17C322777}" type="presOf" srcId="{8B4919E5-3F62-4669-980D-806B7F98D5F4}" destId="{A19CA3DB-3F81-0C42-B82C-5894C34F1DFB}" srcOrd="0" destOrd="0" presId="urn:microsoft.com/office/officeart/2008/layout/LinedList"/>
    <dgm:cxn modelId="{BF458A19-0148-4716-8A00-C43FE745B4D5}" srcId="{3FC76F2D-D29A-403F-BC3F-2962E2A84A9C}" destId="{16E30728-06A6-46FF-A656-8F73BD3635B4}" srcOrd="2" destOrd="0" parTransId="{245CF981-2924-458B-8A39-5EAB5D9DF640}" sibTransId="{B0629DC8-0266-4BDD-9827-87AA0E916EF7}"/>
    <dgm:cxn modelId="{7547B81E-4152-43D5-9176-B474C241DF21}" srcId="{3FC76F2D-D29A-403F-BC3F-2962E2A84A9C}" destId="{E742A280-EF16-4691-9EDC-9DD4D95CD583}" srcOrd="10" destOrd="0" parTransId="{F0432766-7B0F-4AAF-A096-1322D8394348}" sibTransId="{DDD4D8E9-8EA7-468B-8076-5C3578F6A719}"/>
    <dgm:cxn modelId="{59589929-1A87-487C-B2B1-E36AF6065272}" srcId="{3FC76F2D-D29A-403F-BC3F-2962E2A84A9C}" destId="{08C5B8E5-0332-4F7D-99B0-27C9288CB110}" srcOrd="13" destOrd="0" parTransId="{2987C31D-83A7-4583-8569-CA747892E983}" sibTransId="{77097F14-7CC8-450A-AA9A-4617E09B05DA}"/>
    <dgm:cxn modelId="{5761A12C-434D-A640-BC7C-E923001A2243}" type="presOf" srcId="{1F9B2253-44E0-454F-99D0-5217ADF39CC1}" destId="{3DF7828E-6FD5-5943-A9B4-DF685E8F935F}" srcOrd="0" destOrd="0" presId="urn:microsoft.com/office/officeart/2008/layout/LinedList"/>
    <dgm:cxn modelId="{E45FFC2F-742E-554E-AD7F-29DCD0301546}" type="presOf" srcId="{EB1516EA-BEB9-434B-804C-9A64CEA2A6D3}" destId="{2DB2CC49-DCCF-1540-9685-E8A695EC2E53}" srcOrd="0" destOrd="0" presId="urn:microsoft.com/office/officeart/2008/layout/LinedList"/>
    <dgm:cxn modelId="{E1503A33-A551-CC47-8933-CCECA33ADF14}" type="presOf" srcId="{08C5B8E5-0332-4F7D-99B0-27C9288CB110}" destId="{C7BD4895-3C7D-394D-A9B7-C06608268850}" srcOrd="0" destOrd="0" presId="urn:microsoft.com/office/officeart/2008/layout/LinedList"/>
    <dgm:cxn modelId="{E183F745-9968-7E4D-B394-C9B8C0919F69}" type="presOf" srcId="{71E07089-0366-4341-9602-FD7004795771}" destId="{136AE042-61AC-E44B-A2FC-8C10B80E7BA1}" srcOrd="0" destOrd="0" presId="urn:microsoft.com/office/officeart/2008/layout/LinedList"/>
    <dgm:cxn modelId="{B25A324E-533F-4B5A-A501-0D8428E52D01}" srcId="{3FC76F2D-D29A-403F-BC3F-2962E2A84A9C}" destId="{497128EE-4813-438C-BE4C-B61C7000D819}" srcOrd="0" destOrd="0" parTransId="{0FA3167A-4FEC-4EF2-933B-03ADA2342794}" sibTransId="{6AE4FE9A-1FB6-4A83-ADCB-174A5B9300C9}"/>
    <dgm:cxn modelId="{A36A1154-BC4B-014F-933C-DDEC56FAAC10}" type="presOf" srcId="{A7927BAB-690B-4050-A437-CE5ADCD46D46}" destId="{72A51E0A-A63D-D94D-84A2-B2EE6DCE1B5D}" srcOrd="0" destOrd="0" presId="urn:microsoft.com/office/officeart/2008/layout/LinedList"/>
    <dgm:cxn modelId="{1CB19361-8CD1-084D-85EB-30B7E59C090B}" type="presOf" srcId="{6BD926D6-57D5-479C-9C68-46E15B6C0DC2}" destId="{0AE0E435-FFE9-DB45-933F-1BC734853023}" srcOrd="0" destOrd="0" presId="urn:microsoft.com/office/officeart/2008/layout/LinedList"/>
    <dgm:cxn modelId="{45F4DC72-5CCF-8D42-ABFF-B6D9F3D2063B}" type="presOf" srcId="{5659B00C-FDFC-4D14-B0C5-4A41FA5ACE42}" destId="{C920AE95-2BE1-B245-AA4F-62F7E229E0E2}" srcOrd="0" destOrd="0" presId="urn:microsoft.com/office/officeart/2008/layout/LinedList"/>
    <dgm:cxn modelId="{84E2B979-A512-4188-A1BC-34B3801E1B1A}" srcId="{3FC76F2D-D29A-403F-BC3F-2962E2A84A9C}" destId="{8B4919E5-3F62-4669-980D-806B7F98D5F4}" srcOrd="4" destOrd="0" parTransId="{F34E9938-3E5F-4D2C-BF44-80DE06D39141}" sibTransId="{8D26433C-872C-4F20-B7E0-B3B4AE94B6CF}"/>
    <dgm:cxn modelId="{3213D87B-386F-B140-8AE6-122831C8BDB6}" type="presOf" srcId="{497128EE-4813-438C-BE4C-B61C7000D819}" destId="{184FAB08-B6A0-3E41-BA65-53EAA2135FF3}" srcOrd="0" destOrd="0" presId="urn:microsoft.com/office/officeart/2008/layout/LinedList"/>
    <dgm:cxn modelId="{4DDAD090-5AA0-4532-BC40-F42CE8F844CD}" srcId="{3FC76F2D-D29A-403F-BC3F-2962E2A84A9C}" destId="{1F9B2253-44E0-454F-99D0-5217ADF39CC1}" srcOrd="6" destOrd="0" parTransId="{DD39A380-EAED-4B62-967D-5BF3B43B78A1}" sibTransId="{416DCE53-E76B-4828-A930-B99F8CE89C08}"/>
    <dgm:cxn modelId="{3A929696-E3B4-4816-847E-25C3E3C276E5}" srcId="{3FC76F2D-D29A-403F-BC3F-2962E2A84A9C}" destId="{6C131F4A-708E-403D-8FAD-C4D4C2C41CD1}" srcOrd="1" destOrd="0" parTransId="{FBC8ED02-483B-4E69-8CB2-16F17216DB33}" sibTransId="{C5D395F9-0D52-419A-AA08-D82E87AD3B7C}"/>
    <dgm:cxn modelId="{41ABEE96-D734-4BCA-AB31-EF0E2926FEC0}" srcId="{3FC76F2D-D29A-403F-BC3F-2962E2A84A9C}" destId="{71E07089-0366-4341-9602-FD7004795771}" srcOrd="7" destOrd="0" parTransId="{BC4C98B7-38BC-4168-9200-17B1B828206F}" sibTransId="{561DE667-BD64-4071-815A-D3CBB2BECE19}"/>
    <dgm:cxn modelId="{BF025499-987A-4838-A3D7-8889D3F63B7E}" srcId="{3FC76F2D-D29A-403F-BC3F-2962E2A84A9C}" destId="{EB1516EA-BEB9-434B-804C-9A64CEA2A6D3}" srcOrd="5" destOrd="0" parTransId="{B53B17E5-2B6C-470A-8690-9B49CE2FDA08}" sibTransId="{7CFA719C-04EA-4685-9FBA-B24CCAD6AF0F}"/>
    <dgm:cxn modelId="{D62D689E-95D7-F64C-8E8F-E22A0AEAB22E}" type="presOf" srcId="{16E30728-06A6-46FF-A656-8F73BD3635B4}" destId="{52FA8591-CD8B-AF46-8D65-A27449C0CDA7}" srcOrd="0" destOrd="0" presId="urn:microsoft.com/office/officeart/2008/layout/LinedList"/>
    <dgm:cxn modelId="{8326849F-C135-48FC-B6E0-4CAF7A9729A6}" srcId="{3FC76F2D-D29A-403F-BC3F-2962E2A84A9C}" destId="{5659B00C-FDFC-4D14-B0C5-4A41FA5ACE42}" srcOrd="9" destOrd="0" parTransId="{2603E2FE-A8F1-4BB5-94CD-0FF8B8B0C722}" sibTransId="{D2A17AA8-9EAD-4A26-A1A8-B93A1D80AD4B}"/>
    <dgm:cxn modelId="{2DCAA8A5-4E21-204C-AD1A-378BDC204B65}" type="presOf" srcId="{B55F4139-44EC-4FAD-ACC9-341924A01771}" destId="{BC4507BE-0644-1948-AE6A-10868740D258}" srcOrd="0" destOrd="0" presId="urn:microsoft.com/office/officeart/2008/layout/LinedList"/>
    <dgm:cxn modelId="{3F99FABA-3CAB-4B90-97B5-3387A7C289A8}" srcId="{3FC76F2D-D29A-403F-BC3F-2962E2A84A9C}" destId="{771433BC-E8F9-44B7-B704-C22E098A2EAC}" srcOrd="8" destOrd="0" parTransId="{51D56D84-C2A7-4438-896C-F1F591D28853}" sibTransId="{90137108-300A-4826-B16E-541EAAF1EE32}"/>
    <dgm:cxn modelId="{A02210C7-5AA2-4B58-8C19-2A1343C2CD98}" srcId="{3FC76F2D-D29A-403F-BC3F-2962E2A84A9C}" destId="{6E974311-8503-4D1E-B286-D9357314CBC1}" srcOrd="12" destOrd="0" parTransId="{BF30DECF-311D-4286-B421-2DFFFA02EFD6}" sibTransId="{2D1991ED-59DF-47CA-819D-C2F1835909F9}"/>
    <dgm:cxn modelId="{F04D4BD1-DAF0-D548-B06C-B6D8C9625762}" type="presOf" srcId="{3FC76F2D-D29A-403F-BC3F-2962E2A84A9C}" destId="{B6E0AD97-9664-9B43-994E-F88A1E21EDB7}" srcOrd="0" destOrd="0" presId="urn:microsoft.com/office/officeart/2008/layout/LinedList"/>
    <dgm:cxn modelId="{69FB93E0-B9CD-9643-BB13-65F6F9309039}" type="presOf" srcId="{6E974311-8503-4D1E-B286-D9357314CBC1}" destId="{DEE2C00D-DCFD-5D44-9AFF-1C1BEE31F858}" srcOrd="0" destOrd="0" presId="urn:microsoft.com/office/officeart/2008/layout/LinedList"/>
    <dgm:cxn modelId="{0ADE3FE3-3E94-C048-BA52-2301ED4D676E}" type="presOf" srcId="{E742A280-EF16-4691-9EDC-9DD4D95CD583}" destId="{CD3DCBDE-4528-AA4B-8882-393920D532F7}" srcOrd="0" destOrd="0" presId="urn:microsoft.com/office/officeart/2008/layout/LinedList"/>
    <dgm:cxn modelId="{DDD72AEB-D2EA-4E3B-B01F-4D53FC049759}" srcId="{3FC76F2D-D29A-403F-BC3F-2962E2A84A9C}" destId="{B55F4139-44EC-4FAD-ACC9-341924A01771}" srcOrd="14" destOrd="0" parTransId="{E65F9A41-DD7C-4781-B4F0-0B78A4B3A70F}" sibTransId="{B9339FF2-DF08-4D47-A36F-84BB1641D339}"/>
    <dgm:cxn modelId="{BD4FCDEB-10E0-C84C-94F8-FA8754D45651}" type="presOf" srcId="{6C131F4A-708E-403D-8FAD-C4D4C2C41CD1}" destId="{C39B998E-EEED-154A-A88E-13BCE49502FF}" srcOrd="0" destOrd="0" presId="urn:microsoft.com/office/officeart/2008/layout/LinedList"/>
    <dgm:cxn modelId="{012F5FF5-0346-4683-81CF-CA0D91AB978D}" srcId="{3FC76F2D-D29A-403F-BC3F-2962E2A84A9C}" destId="{6BD926D6-57D5-479C-9C68-46E15B6C0DC2}" srcOrd="3" destOrd="0" parTransId="{D1EFC59A-C7EC-44E7-9BAF-4993AC5A451F}" sibTransId="{44BEBBAA-8C7A-4880-98E2-F2FA0F332D02}"/>
    <dgm:cxn modelId="{0791146E-B3CC-5448-950D-AAF5DCF5E45D}" type="presParOf" srcId="{B6E0AD97-9664-9B43-994E-F88A1E21EDB7}" destId="{8ABA0BBF-89B9-7749-B4B7-2E1C531584F8}" srcOrd="0" destOrd="0" presId="urn:microsoft.com/office/officeart/2008/layout/LinedList"/>
    <dgm:cxn modelId="{DF9CD0CC-C261-694E-8006-E26A3BEEF1D0}" type="presParOf" srcId="{B6E0AD97-9664-9B43-994E-F88A1E21EDB7}" destId="{E96FF5B7-DCA0-EF41-9DFF-A411FD149AAF}" srcOrd="1" destOrd="0" presId="urn:microsoft.com/office/officeart/2008/layout/LinedList"/>
    <dgm:cxn modelId="{9ABBAAF2-25AC-6D4A-9CFA-EA51B50503A3}" type="presParOf" srcId="{E96FF5B7-DCA0-EF41-9DFF-A411FD149AAF}" destId="{184FAB08-B6A0-3E41-BA65-53EAA2135FF3}" srcOrd="0" destOrd="0" presId="urn:microsoft.com/office/officeart/2008/layout/LinedList"/>
    <dgm:cxn modelId="{1DE606D3-F15B-CC4C-832A-0E503B924EF8}" type="presParOf" srcId="{E96FF5B7-DCA0-EF41-9DFF-A411FD149AAF}" destId="{0F121920-4025-EE46-B5D0-9281BD77B5E5}" srcOrd="1" destOrd="0" presId="urn:microsoft.com/office/officeart/2008/layout/LinedList"/>
    <dgm:cxn modelId="{FF574840-20EE-D741-B5FF-B3FB8C8185AD}" type="presParOf" srcId="{B6E0AD97-9664-9B43-994E-F88A1E21EDB7}" destId="{24AE75A8-FD08-1449-BF75-6B05BDA09E75}" srcOrd="2" destOrd="0" presId="urn:microsoft.com/office/officeart/2008/layout/LinedList"/>
    <dgm:cxn modelId="{2D3DB0FF-D8D7-3C4A-BE9A-E723243DECB1}" type="presParOf" srcId="{B6E0AD97-9664-9B43-994E-F88A1E21EDB7}" destId="{B8057C0B-F71F-A140-A2C0-40FEC613060F}" srcOrd="3" destOrd="0" presId="urn:microsoft.com/office/officeart/2008/layout/LinedList"/>
    <dgm:cxn modelId="{C567E663-3CA0-F54B-9B4D-1DA171DFC4C1}" type="presParOf" srcId="{B8057C0B-F71F-A140-A2C0-40FEC613060F}" destId="{C39B998E-EEED-154A-A88E-13BCE49502FF}" srcOrd="0" destOrd="0" presId="urn:microsoft.com/office/officeart/2008/layout/LinedList"/>
    <dgm:cxn modelId="{7C880E8F-A421-4442-A80F-54A815F8F13D}" type="presParOf" srcId="{B8057C0B-F71F-A140-A2C0-40FEC613060F}" destId="{31B2C7DB-4EA6-8A4A-BEF1-7F6B46D960E9}" srcOrd="1" destOrd="0" presId="urn:microsoft.com/office/officeart/2008/layout/LinedList"/>
    <dgm:cxn modelId="{F45416A6-A5BD-894B-9228-8F464160F71F}" type="presParOf" srcId="{B6E0AD97-9664-9B43-994E-F88A1E21EDB7}" destId="{86B3619A-FA9D-2345-B21A-96D60FF30F55}" srcOrd="4" destOrd="0" presId="urn:microsoft.com/office/officeart/2008/layout/LinedList"/>
    <dgm:cxn modelId="{19949379-BCEF-5140-B62B-16D6EFC7F5D3}" type="presParOf" srcId="{B6E0AD97-9664-9B43-994E-F88A1E21EDB7}" destId="{7B78F0A7-4F8F-C24D-9AFB-9C46A8F93F19}" srcOrd="5" destOrd="0" presId="urn:microsoft.com/office/officeart/2008/layout/LinedList"/>
    <dgm:cxn modelId="{38593842-B518-3F45-BC74-20AC55B6C85D}" type="presParOf" srcId="{7B78F0A7-4F8F-C24D-9AFB-9C46A8F93F19}" destId="{52FA8591-CD8B-AF46-8D65-A27449C0CDA7}" srcOrd="0" destOrd="0" presId="urn:microsoft.com/office/officeart/2008/layout/LinedList"/>
    <dgm:cxn modelId="{6C3D2EB6-02DF-2C47-A1C2-03C828F3F6C6}" type="presParOf" srcId="{7B78F0A7-4F8F-C24D-9AFB-9C46A8F93F19}" destId="{556AB84F-5E2A-7A48-9E09-AE7374197AE8}" srcOrd="1" destOrd="0" presId="urn:microsoft.com/office/officeart/2008/layout/LinedList"/>
    <dgm:cxn modelId="{14CAEF7F-1F0E-8347-9976-EAED1A862B1E}" type="presParOf" srcId="{B6E0AD97-9664-9B43-994E-F88A1E21EDB7}" destId="{482CB088-D2A2-7E4D-B7C6-CB9F207C913C}" srcOrd="6" destOrd="0" presId="urn:microsoft.com/office/officeart/2008/layout/LinedList"/>
    <dgm:cxn modelId="{8496D7D0-9568-A849-9B3D-7B6A82A52B95}" type="presParOf" srcId="{B6E0AD97-9664-9B43-994E-F88A1E21EDB7}" destId="{D635EEE8-FE84-9B4B-A5C6-CCB9CE8AFC73}" srcOrd="7" destOrd="0" presId="urn:microsoft.com/office/officeart/2008/layout/LinedList"/>
    <dgm:cxn modelId="{DB1BA9B1-E68C-444D-A421-C7F1F614706B}" type="presParOf" srcId="{D635EEE8-FE84-9B4B-A5C6-CCB9CE8AFC73}" destId="{0AE0E435-FFE9-DB45-933F-1BC734853023}" srcOrd="0" destOrd="0" presId="urn:microsoft.com/office/officeart/2008/layout/LinedList"/>
    <dgm:cxn modelId="{C830C473-80C1-3F40-9AD0-92009E7C3941}" type="presParOf" srcId="{D635EEE8-FE84-9B4B-A5C6-CCB9CE8AFC73}" destId="{DE7D61F8-6D5D-2E47-B5C4-E3CC14E0ADBB}" srcOrd="1" destOrd="0" presId="urn:microsoft.com/office/officeart/2008/layout/LinedList"/>
    <dgm:cxn modelId="{79F8ADCC-E7B6-AB41-9E38-2746BF3F3E20}" type="presParOf" srcId="{B6E0AD97-9664-9B43-994E-F88A1E21EDB7}" destId="{6FB12B8C-69EB-D747-885A-19C7A8D63207}" srcOrd="8" destOrd="0" presId="urn:microsoft.com/office/officeart/2008/layout/LinedList"/>
    <dgm:cxn modelId="{A100A6ED-FB17-294E-A3D5-8B6017935F2B}" type="presParOf" srcId="{B6E0AD97-9664-9B43-994E-F88A1E21EDB7}" destId="{8E903081-8BA7-FA40-BFD6-A00C3316CFF3}" srcOrd="9" destOrd="0" presId="urn:microsoft.com/office/officeart/2008/layout/LinedList"/>
    <dgm:cxn modelId="{CF2DB451-78BB-9B48-A7C4-C7DAD53898D9}" type="presParOf" srcId="{8E903081-8BA7-FA40-BFD6-A00C3316CFF3}" destId="{A19CA3DB-3F81-0C42-B82C-5894C34F1DFB}" srcOrd="0" destOrd="0" presId="urn:microsoft.com/office/officeart/2008/layout/LinedList"/>
    <dgm:cxn modelId="{0CDB1586-292A-8F44-8281-E66EDD7A4741}" type="presParOf" srcId="{8E903081-8BA7-FA40-BFD6-A00C3316CFF3}" destId="{08AC427B-3811-1E4F-8530-8C45DCF53E0F}" srcOrd="1" destOrd="0" presId="urn:microsoft.com/office/officeart/2008/layout/LinedList"/>
    <dgm:cxn modelId="{A330B852-06C4-524D-BEFC-B0BA453DDF4F}" type="presParOf" srcId="{B6E0AD97-9664-9B43-994E-F88A1E21EDB7}" destId="{76CD185C-C698-F043-BCEF-A854452CB9D0}" srcOrd="10" destOrd="0" presId="urn:microsoft.com/office/officeart/2008/layout/LinedList"/>
    <dgm:cxn modelId="{0A1A298B-EB0E-B946-AA94-3F0819FAE72C}" type="presParOf" srcId="{B6E0AD97-9664-9B43-994E-F88A1E21EDB7}" destId="{AFF12C23-8467-274C-865E-DEEFEFAF4A5F}" srcOrd="11" destOrd="0" presId="urn:microsoft.com/office/officeart/2008/layout/LinedList"/>
    <dgm:cxn modelId="{ADC64474-02FC-7A48-BC6F-8A8A8A465BF6}" type="presParOf" srcId="{AFF12C23-8467-274C-865E-DEEFEFAF4A5F}" destId="{2DB2CC49-DCCF-1540-9685-E8A695EC2E53}" srcOrd="0" destOrd="0" presId="urn:microsoft.com/office/officeart/2008/layout/LinedList"/>
    <dgm:cxn modelId="{94EF5E8E-A693-8042-959D-EE8F9A43DAA6}" type="presParOf" srcId="{AFF12C23-8467-274C-865E-DEEFEFAF4A5F}" destId="{A5A81120-4684-284B-8CFC-C83B7F3E948D}" srcOrd="1" destOrd="0" presId="urn:microsoft.com/office/officeart/2008/layout/LinedList"/>
    <dgm:cxn modelId="{3AB8E82A-3BBC-C84A-B95A-0098C2AEE37A}" type="presParOf" srcId="{B6E0AD97-9664-9B43-994E-F88A1E21EDB7}" destId="{B3E42CD8-364C-8C43-A0D2-93C1D3AAF7C4}" srcOrd="12" destOrd="0" presId="urn:microsoft.com/office/officeart/2008/layout/LinedList"/>
    <dgm:cxn modelId="{5F727D3C-67FC-4A41-BC69-5D9CE87C9041}" type="presParOf" srcId="{B6E0AD97-9664-9B43-994E-F88A1E21EDB7}" destId="{1BF89D85-159E-1C43-A9F7-5C61E5CF5031}" srcOrd="13" destOrd="0" presId="urn:microsoft.com/office/officeart/2008/layout/LinedList"/>
    <dgm:cxn modelId="{B9968FE6-5C9E-5544-A12D-A20D492C7EAC}" type="presParOf" srcId="{1BF89D85-159E-1C43-A9F7-5C61E5CF5031}" destId="{3DF7828E-6FD5-5943-A9B4-DF685E8F935F}" srcOrd="0" destOrd="0" presId="urn:microsoft.com/office/officeart/2008/layout/LinedList"/>
    <dgm:cxn modelId="{A8738100-3215-264D-8EB2-A69D8A01C08C}" type="presParOf" srcId="{1BF89D85-159E-1C43-A9F7-5C61E5CF5031}" destId="{01D579C6-09C5-7149-AEBA-4C424DF0767E}" srcOrd="1" destOrd="0" presId="urn:microsoft.com/office/officeart/2008/layout/LinedList"/>
    <dgm:cxn modelId="{5F133E7B-8A33-304C-92FB-BCDF63094B4D}" type="presParOf" srcId="{B6E0AD97-9664-9B43-994E-F88A1E21EDB7}" destId="{6BCE153B-ED95-9743-930F-9A67336A0818}" srcOrd="14" destOrd="0" presId="urn:microsoft.com/office/officeart/2008/layout/LinedList"/>
    <dgm:cxn modelId="{93F8773A-E3B6-3241-ADEC-34BCB2B3B248}" type="presParOf" srcId="{B6E0AD97-9664-9B43-994E-F88A1E21EDB7}" destId="{04BA3F54-79BD-FC4F-A699-F566BD64BAA7}" srcOrd="15" destOrd="0" presId="urn:microsoft.com/office/officeart/2008/layout/LinedList"/>
    <dgm:cxn modelId="{B0FAC089-8317-B841-BA19-9FF34CB56E1E}" type="presParOf" srcId="{04BA3F54-79BD-FC4F-A699-F566BD64BAA7}" destId="{136AE042-61AC-E44B-A2FC-8C10B80E7BA1}" srcOrd="0" destOrd="0" presId="urn:microsoft.com/office/officeart/2008/layout/LinedList"/>
    <dgm:cxn modelId="{909D87A3-DA3B-2843-94A8-D9E0442F330E}" type="presParOf" srcId="{04BA3F54-79BD-FC4F-A699-F566BD64BAA7}" destId="{ED3D9628-882E-E546-96CC-621574824819}" srcOrd="1" destOrd="0" presId="urn:microsoft.com/office/officeart/2008/layout/LinedList"/>
    <dgm:cxn modelId="{913BD7BF-F3D0-884F-B46A-B3862988C0C3}" type="presParOf" srcId="{B6E0AD97-9664-9B43-994E-F88A1E21EDB7}" destId="{6908FF78-A0F5-4C41-A1D9-4A16470C5F31}" srcOrd="16" destOrd="0" presId="urn:microsoft.com/office/officeart/2008/layout/LinedList"/>
    <dgm:cxn modelId="{996B6B63-1895-2845-B575-4FE0180F0FA9}" type="presParOf" srcId="{B6E0AD97-9664-9B43-994E-F88A1E21EDB7}" destId="{20B31603-85BF-974B-8E84-C85CDECAEA6B}" srcOrd="17" destOrd="0" presId="urn:microsoft.com/office/officeart/2008/layout/LinedList"/>
    <dgm:cxn modelId="{445E9EAD-1A9E-0F43-BAD3-E4A8B6DDC690}" type="presParOf" srcId="{20B31603-85BF-974B-8E84-C85CDECAEA6B}" destId="{1DF6DC78-FB05-724F-8324-D2E794F7387F}" srcOrd="0" destOrd="0" presId="urn:microsoft.com/office/officeart/2008/layout/LinedList"/>
    <dgm:cxn modelId="{55C2A57F-19B1-A44D-8EEF-F9B3140867F4}" type="presParOf" srcId="{20B31603-85BF-974B-8E84-C85CDECAEA6B}" destId="{476F03EF-B4AC-FC44-82FD-A4307B47EDD7}" srcOrd="1" destOrd="0" presId="urn:microsoft.com/office/officeart/2008/layout/LinedList"/>
    <dgm:cxn modelId="{8FD60B44-DE97-964F-B6C3-D49B61FAA296}" type="presParOf" srcId="{B6E0AD97-9664-9B43-994E-F88A1E21EDB7}" destId="{7CE2EFD3-B364-0A4D-9DA5-F474DAE48E9F}" srcOrd="18" destOrd="0" presId="urn:microsoft.com/office/officeart/2008/layout/LinedList"/>
    <dgm:cxn modelId="{0202F87D-7F30-004E-BE22-EADAC019A82D}" type="presParOf" srcId="{B6E0AD97-9664-9B43-994E-F88A1E21EDB7}" destId="{73BD667F-E11B-C447-B762-7B1D0067F228}" srcOrd="19" destOrd="0" presId="urn:microsoft.com/office/officeart/2008/layout/LinedList"/>
    <dgm:cxn modelId="{D577215D-6BC5-7A4E-9983-480118C6B477}" type="presParOf" srcId="{73BD667F-E11B-C447-B762-7B1D0067F228}" destId="{C920AE95-2BE1-B245-AA4F-62F7E229E0E2}" srcOrd="0" destOrd="0" presId="urn:microsoft.com/office/officeart/2008/layout/LinedList"/>
    <dgm:cxn modelId="{E3FE4265-C493-E34F-B7D2-D748E84EE120}" type="presParOf" srcId="{73BD667F-E11B-C447-B762-7B1D0067F228}" destId="{E44620CD-486F-DE4A-ACC0-6E51985A7A75}" srcOrd="1" destOrd="0" presId="urn:microsoft.com/office/officeart/2008/layout/LinedList"/>
    <dgm:cxn modelId="{6EB06114-C080-FD4A-A843-1562523638A3}" type="presParOf" srcId="{B6E0AD97-9664-9B43-994E-F88A1E21EDB7}" destId="{732B39E9-A70B-9446-9B85-12867AE02DA0}" srcOrd="20" destOrd="0" presId="urn:microsoft.com/office/officeart/2008/layout/LinedList"/>
    <dgm:cxn modelId="{30EED629-27AB-5C48-B901-AAA2BECA1E51}" type="presParOf" srcId="{B6E0AD97-9664-9B43-994E-F88A1E21EDB7}" destId="{45AE75AE-37EE-C841-BC77-CD17536C14F2}" srcOrd="21" destOrd="0" presId="urn:microsoft.com/office/officeart/2008/layout/LinedList"/>
    <dgm:cxn modelId="{DC363A8C-EAAD-A246-853E-A7255A6B9723}" type="presParOf" srcId="{45AE75AE-37EE-C841-BC77-CD17536C14F2}" destId="{CD3DCBDE-4528-AA4B-8882-393920D532F7}" srcOrd="0" destOrd="0" presId="urn:microsoft.com/office/officeart/2008/layout/LinedList"/>
    <dgm:cxn modelId="{74E2C797-17C8-CE43-A306-140FD0ADDC68}" type="presParOf" srcId="{45AE75AE-37EE-C841-BC77-CD17536C14F2}" destId="{4A1231EC-BEAD-CE40-8A00-1E8E788131ED}" srcOrd="1" destOrd="0" presId="urn:microsoft.com/office/officeart/2008/layout/LinedList"/>
    <dgm:cxn modelId="{867E1582-B9E3-A04C-8F85-7CC59B343B7E}" type="presParOf" srcId="{B6E0AD97-9664-9B43-994E-F88A1E21EDB7}" destId="{86600386-E4F4-474C-A101-76601A75A0C2}" srcOrd="22" destOrd="0" presId="urn:microsoft.com/office/officeart/2008/layout/LinedList"/>
    <dgm:cxn modelId="{DA1E7B4F-C7C3-2E4D-925A-ECBE0AC53775}" type="presParOf" srcId="{B6E0AD97-9664-9B43-994E-F88A1E21EDB7}" destId="{75124A4A-E865-8143-8DFA-91E5A5AFF4C9}" srcOrd="23" destOrd="0" presId="urn:microsoft.com/office/officeart/2008/layout/LinedList"/>
    <dgm:cxn modelId="{E656C8E6-FDC0-5A44-8E70-BC62ADEA49DE}" type="presParOf" srcId="{75124A4A-E865-8143-8DFA-91E5A5AFF4C9}" destId="{72A51E0A-A63D-D94D-84A2-B2EE6DCE1B5D}" srcOrd="0" destOrd="0" presId="urn:microsoft.com/office/officeart/2008/layout/LinedList"/>
    <dgm:cxn modelId="{1EC8A6FC-E766-174C-940E-975085227200}" type="presParOf" srcId="{75124A4A-E865-8143-8DFA-91E5A5AFF4C9}" destId="{3B5D7C8A-F708-984C-9828-2CAF5BD74FA5}" srcOrd="1" destOrd="0" presId="urn:microsoft.com/office/officeart/2008/layout/LinedList"/>
    <dgm:cxn modelId="{E14098F0-38C7-FA4C-A943-9D808C5E8582}" type="presParOf" srcId="{B6E0AD97-9664-9B43-994E-F88A1E21EDB7}" destId="{14235EAE-42B4-F943-8F2A-74A8B656CAFC}" srcOrd="24" destOrd="0" presId="urn:microsoft.com/office/officeart/2008/layout/LinedList"/>
    <dgm:cxn modelId="{712C63ED-F217-F246-A482-D9B15EA70A3E}" type="presParOf" srcId="{B6E0AD97-9664-9B43-994E-F88A1E21EDB7}" destId="{7AF884DE-88DE-FE4A-AD87-82BD87587277}" srcOrd="25" destOrd="0" presId="urn:microsoft.com/office/officeart/2008/layout/LinedList"/>
    <dgm:cxn modelId="{C4A1D2A5-8047-FC4D-8324-A466CC66BB97}" type="presParOf" srcId="{7AF884DE-88DE-FE4A-AD87-82BD87587277}" destId="{DEE2C00D-DCFD-5D44-9AFF-1C1BEE31F858}" srcOrd="0" destOrd="0" presId="urn:microsoft.com/office/officeart/2008/layout/LinedList"/>
    <dgm:cxn modelId="{E80670B2-BC42-B347-A3C3-FFD58F5D1A3D}" type="presParOf" srcId="{7AF884DE-88DE-FE4A-AD87-82BD87587277}" destId="{BB129734-C7CA-1B48-8ACA-C832BCD65D31}" srcOrd="1" destOrd="0" presId="urn:microsoft.com/office/officeart/2008/layout/LinedList"/>
    <dgm:cxn modelId="{290EFD67-33EB-2D4C-A87B-EA98812DFECD}" type="presParOf" srcId="{B6E0AD97-9664-9B43-994E-F88A1E21EDB7}" destId="{2602518B-B99D-A44B-8109-9EEF15C5D034}" srcOrd="26" destOrd="0" presId="urn:microsoft.com/office/officeart/2008/layout/LinedList"/>
    <dgm:cxn modelId="{9AB74C88-D696-3949-B80D-18A22A6BFF63}" type="presParOf" srcId="{B6E0AD97-9664-9B43-994E-F88A1E21EDB7}" destId="{548F87EC-C28C-0E49-8845-8D1AD770ED9E}" srcOrd="27" destOrd="0" presId="urn:microsoft.com/office/officeart/2008/layout/LinedList"/>
    <dgm:cxn modelId="{E127236D-6CCE-F44B-8E71-D4496D194B08}" type="presParOf" srcId="{548F87EC-C28C-0E49-8845-8D1AD770ED9E}" destId="{C7BD4895-3C7D-394D-A9B7-C06608268850}" srcOrd="0" destOrd="0" presId="urn:microsoft.com/office/officeart/2008/layout/LinedList"/>
    <dgm:cxn modelId="{61C0EF83-86A5-844F-8B1B-E5157F69193E}" type="presParOf" srcId="{548F87EC-C28C-0E49-8845-8D1AD770ED9E}" destId="{FB02FBC2-BFC2-B84B-B42E-B1FD484B8AC5}" srcOrd="1" destOrd="0" presId="urn:microsoft.com/office/officeart/2008/layout/LinedList"/>
    <dgm:cxn modelId="{EFE7D098-0DA7-9C4B-816E-3146C9131321}" type="presParOf" srcId="{B6E0AD97-9664-9B43-994E-F88A1E21EDB7}" destId="{585A58AA-212C-9246-BC02-62B60135778D}" srcOrd="28" destOrd="0" presId="urn:microsoft.com/office/officeart/2008/layout/LinedList"/>
    <dgm:cxn modelId="{4C39D238-A824-F845-9D75-6636431160E2}" type="presParOf" srcId="{B6E0AD97-9664-9B43-994E-F88A1E21EDB7}" destId="{9C34F0A1-548E-004C-A11B-148ED7A97B41}" srcOrd="29" destOrd="0" presId="urn:microsoft.com/office/officeart/2008/layout/LinedList"/>
    <dgm:cxn modelId="{6C10EA63-3CD3-6E41-8AB3-454B7941DCE7}" type="presParOf" srcId="{9C34F0A1-548E-004C-A11B-148ED7A97B41}" destId="{BC4507BE-0644-1948-AE6A-10868740D258}" srcOrd="0" destOrd="0" presId="urn:microsoft.com/office/officeart/2008/layout/LinedList"/>
    <dgm:cxn modelId="{6544A97C-88FA-8649-AAE1-41E6AFCC719C}" type="presParOf" srcId="{9C34F0A1-548E-004C-A11B-148ED7A97B41}" destId="{F9C2E31E-3CE4-AB4E-B782-6A7E122DFD8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A0BBF-89B9-7749-B4B7-2E1C531584F8}">
      <dsp:nvSpPr>
        <dsp:cNvPr id="0" name=""/>
        <dsp:cNvSpPr/>
      </dsp:nvSpPr>
      <dsp:spPr>
        <a:xfrm>
          <a:off x="0" y="420"/>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FAB08-B6A0-3E41-BA65-53EAA2135FF3}">
      <dsp:nvSpPr>
        <dsp:cNvPr id="0" name=""/>
        <dsp:cNvSpPr/>
      </dsp:nvSpPr>
      <dsp:spPr>
        <a:xfrm>
          <a:off x="0" y="420"/>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CREATE TABLE elev (</a:t>
          </a:r>
        </a:p>
      </dsp:txBody>
      <dsp:txXfrm>
        <a:off x="0" y="420"/>
        <a:ext cx="7990184" cy="229635"/>
      </dsp:txXfrm>
    </dsp:sp>
    <dsp:sp modelId="{24AE75A8-FD08-1449-BF75-6B05BDA09E75}">
      <dsp:nvSpPr>
        <dsp:cNvPr id="0" name=""/>
        <dsp:cNvSpPr/>
      </dsp:nvSpPr>
      <dsp:spPr>
        <a:xfrm>
          <a:off x="0" y="230055"/>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9B998E-EEED-154A-A88E-13BCE49502FF}">
      <dsp:nvSpPr>
        <dsp:cNvPr id="0" name=""/>
        <dsp:cNvSpPr/>
      </dsp:nvSpPr>
      <dsp:spPr>
        <a:xfrm>
          <a:off x="0" y="230055"/>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err="1"/>
            <a:t>elev_id</a:t>
          </a:r>
          <a:r>
            <a:rPr lang="en-US" sz="1000" kern="1200" dirty="0"/>
            <a:t> INT </a:t>
          </a:r>
          <a:r>
            <a:rPr lang="en-US" sz="1000" b="1" kern="1200" dirty="0"/>
            <a:t>PRIMARY</a:t>
          </a:r>
          <a:r>
            <a:rPr lang="en-US" sz="1000" kern="1200" dirty="0"/>
            <a:t> KEY AUTO_INCREMENT,</a:t>
          </a:r>
        </a:p>
      </dsp:txBody>
      <dsp:txXfrm>
        <a:off x="0" y="230055"/>
        <a:ext cx="7990184" cy="229635"/>
      </dsp:txXfrm>
    </dsp:sp>
    <dsp:sp modelId="{86B3619A-FA9D-2345-B21A-96D60FF30F55}">
      <dsp:nvSpPr>
        <dsp:cNvPr id="0" name=""/>
        <dsp:cNvSpPr/>
      </dsp:nvSpPr>
      <dsp:spPr>
        <a:xfrm>
          <a:off x="0" y="459691"/>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FA8591-CD8B-AF46-8D65-A27449C0CDA7}">
      <dsp:nvSpPr>
        <dsp:cNvPr id="0" name=""/>
        <dsp:cNvSpPr/>
      </dsp:nvSpPr>
      <dsp:spPr>
        <a:xfrm>
          <a:off x="0" y="459691"/>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navn VARCHAR(100) NOT NULL</a:t>
          </a:r>
        </a:p>
      </dsp:txBody>
      <dsp:txXfrm>
        <a:off x="0" y="459691"/>
        <a:ext cx="7990184" cy="229635"/>
      </dsp:txXfrm>
    </dsp:sp>
    <dsp:sp modelId="{482CB088-D2A2-7E4D-B7C6-CB9F207C913C}">
      <dsp:nvSpPr>
        <dsp:cNvPr id="0" name=""/>
        <dsp:cNvSpPr/>
      </dsp:nvSpPr>
      <dsp:spPr>
        <a:xfrm>
          <a:off x="0" y="689326"/>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E0E435-FFE9-DB45-933F-1BC734853023}">
      <dsp:nvSpPr>
        <dsp:cNvPr id="0" name=""/>
        <dsp:cNvSpPr/>
      </dsp:nvSpPr>
      <dsp:spPr>
        <a:xfrm>
          <a:off x="0" y="689326"/>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a:t>
          </a:r>
        </a:p>
      </dsp:txBody>
      <dsp:txXfrm>
        <a:off x="0" y="689326"/>
        <a:ext cx="7990184" cy="229635"/>
      </dsp:txXfrm>
    </dsp:sp>
    <dsp:sp modelId="{6FB12B8C-69EB-D747-885A-19C7A8D63207}">
      <dsp:nvSpPr>
        <dsp:cNvPr id="0" name=""/>
        <dsp:cNvSpPr/>
      </dsp:nvSpPr>
      <dsp:spPr>
        <a:xfrm>
          <a:off x="0" y="918961"/>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9CA3DB-3F81-0C42-B82C-5894C34F1DFB}">
      <dsp:nvSpPr>
        <dsp:cNvPr id="0" name=""/>
        <dsp:cNvSpPr/>
      </dsp:nvSpPr>
      <dsp:spPr>
        <a:xfrm>
          <a:off x="0" y="918961"/>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CREATE TABLE kursus (</a:t>
          </a:r>
        </a:p>
      </dsp:txBody>
      <dsp:txXfrm>
        <a:off x="0" y="918961"/>
        <a:ext cx="7990184" cy="229635"/>
      </dsp:txXfrm>
    </dsp:sp>
    <dsp:sp modelId="{76CD185C-C698-F043-BCEF-A854452CB9D0}">
      <dsp:nvSpPr>
        <dsp:cNvPr id="0" name=""/>
        <dsp:cNvSpPr/>
      </dsp:nvSpPr>
      <dsp:spPr>
        <a:xfrm>
          <a:off x="0" y="1148597"/>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B2CC49-DCCF-1540-9685-E8A695EC2E53}">
      <dsp:nvSpPr>
        <dsp:cNvPr id="0" name=""/>
        <dsp:cNvSpPr/>
      </dsp:nvSpPr>
      <dsp:spPr>
        <a:xfrm>
          <a:off x="0" y="1148597"/>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err="1"/>
            <a:t>kursus_id</a:t>
          </a:r>
          <a:r>
            <a:rPr lang="en-US" sz="1000" kern="1200" dirty="0"/>
            <a:t> INT </a:t>
          </a:r>
          <a:r>
            <a:rPr lang="en-US" sz="1000" b="1" kern="1200" dirty="0"/>
            <a:t>PRIMARY</a:t>
          </a:r>
          <a:r>
            <a:rPr lang="en-US" sz="1000" kern="1200" dirty="0"/>
            <a:t> KEY AUTO_INCREMENT,</a:t>
          </a:r>
        </a:p>
      </dsp:txBody>
      <dsp:txXfrm>
        <a:off x="0" y="1148597"/>
        <a:ext cx="7990184" cy="229635"/>
      </dsp:txXfrm>
    </dsp:sp>
    <dsp:sp modelId="{B3E42CD8-364C-8C43-A0D2-93C1D3AAF7C4}">
      <dsp:nvSpPr>
        <dsp:cNvPr id="0" name=""/>
        <dsp:cNvSpPr/>
      </dsp:nvSpPr>
      <dsp:spPr>
        <a:xfrm>
          <a:off x="0" y="1378232"/>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F7828E-6FD5-5943-A9B4-DF685E8F935F}">
      <dsp:nvSpPr>
        <dsp:cNvPr id="0" name=""/>
        <dsp:cNvSpPr/>
      </dsp:nvSpPr>
      <dsp:spPr>
        <a:xfrm>
          <a:off x="0" y="1378232"/>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titel VARCHAR(100) NOT NULL</a:t>
          </a:r>
        </a:p>
      </dsp:txBody>
      <dsp:txXfrm>
        <a:off x="0" y="1378232"/>
        <a:ext cx="7990184" cy="229635"/>
      </dsp:txXfrm>
    </dsp:sp>
    <dsp:sp modelId="{6BCE153B-ED95-9743-930F-9A67336A0818}">
      <dsp:nvSpPr>
        <dsp:cNvPr id="0" name=""/>
        <dsp:cNvSpPr/>
      </dsp:nvSpPr>
      <dsp:spPr>
        <a:xfrm>
          <a:off x="0" y="1607867"/>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6AE042-61AC-E44B-A2FC-8C10B80E7BA1}">
      <dsp:nvSpPr>
        <dsp:cNvPr id="0" name=""/>
        <dsp:cNvSpPr/>
      </dsp:nvSpPr>
      <dsp:spPr>
        <a:xfrm>
          <a:off x="0" y="1607867"/>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a:t>
          </a:r>
        </a:p>
      </dsp:txBody>
      <dsp:txXfrm>
        <a:off x="0" y="1607867"/>
        <a:ext cx="7990184" cy="229635"/>
      </dsp:txXfrm>
    </dsp:sp>
    <dsp:sp modelId="{6908FF78-A0F5-4C41-A1D9-4A16470C5F31}">
      <dsp:nvSpPr>
        <dsp:cNvPr id="0" name=""/>
        <dsp:cNvSpPr/>
      </dsp:nvSpPr>
      <dsp:spPr>
        <a:xfrm>
          <a:off x="0" y="1837503"/>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F6DC78-FB05-724F-8324-D2E794F7387F}">
      <dsp:nvSpPr>
        <dsp:cNvPr id="0" name=""/>
        <dsp:cNvSpPr/>
      </dsp:nvSpPr>
      <dsp:spPr>
        <a:xfrm>
          <a:off x="0" y="1837503"/>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CREATE TABLE tilmelding (</a:t>
          </a:r>
        </a:p>
      </dsp:txBody>
      <dsp:txXfrm>
        <a:off x="0" y="1837503"/>
        <a:ext cx="7990184" cy="229635"/>
      </dsp:txXfrm>
    </dsp:sp>
    <dsp:sp modelId="{7CE2EFD3-B364-0A4D-9DA5-F474DAE48E9F}">
      <dsp:nvSpPr>
        <dsp:cNvPr id="0" name=""/>
        <dsp:cNvSpPr/>
      </dsp:nvSpPr>
      <dsp:spPr>
        <a:xfrm>
          <a:off x="0" y="2067138"/>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20AE95-2BE1-B245-AA4F-62F7E229E0E2}">
      <dsp:nvSpPr>
        <dsp:cNvPr id="0" name=""/>
        <dsp:cNvSpPr/>
      </dsp:nvSpPr>
      <dsp:spPr>
        <a:xfrm>
          <a:off x="0" y="2067138"/>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err="1"/>
            <a:t>tilmelding_id</a:t>
          </a:r>
          <a:r>
            <a:rPr lang="en-US" sz="1000" kern="1200" dirty="0"/>
            <a:t> INT </a:t>
          </a:r>
          <a:r>
            <a:rPr lang="en-US" sz="1000" b="1" kern="1200" dirty="0"/>
            <a:t>PRIMARY </a:t>
          </a:r>
          <a:r>
            <a:rPr lang="en-US" sz="1000" kern="1200" dirty="0"/>
            <a:t>KEY AUTO_INCREMENT,</a:t>
          </a:r>
        </a:p>
      </dsp:txBody>
      <dsp:txXfrm>
        <a:off x="0" y="2067138"/>
        <a:ext cx="7990184" cy="229635"/>
      </dsp:txXfrm>
    </dsp:sp>
    <dsp:sp modelId="{732B39E9-A70B-9446-9B85-12867AE02DA0}">
      <dsp:nvSpPr>
        <dsp:cNvPr id="0" name=""/>
        <dsp:cNvSpPr/>
      </dsp:nvSpPr>
      <dsp:spPr>
        <a:xfrm>
          <a:off x="0" y="2296773"/>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3DCBDE-4528-AA4B-8882-393920D532F7}">
      <dsp:nvSpPr>
        <dsp:cNvPr id="0" name=""/>
        <dsp:cNvSpPr/>
      </dsp:nvSpPr>
      <dsp:spPr>
        <a:xfrm>
          <a:off x="0" y="2296773"/>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elev_id INT NOT NULL,</a:t>
          </a:r>
        </a:p>
      </dsp:txBody>
      <dsp:txXfrm>
        <a:off x="0" y="2296773"/>
        <a:ext cx="7990184" cy="229635"/>
      </dsp:txXfrm>
    </dsp:sp>
    <dsp:sp modelId="{86600386-E4F4-474C-A101-76601A75A0C2}">
      <dsp:nvSpPr>
        <dsp:cNvPr id="0" name=""/>
        <dsp:cNvSpPr/>
      </dsp:nvSpPr>
      <dsp:spPr>
        <a:xfrm>
          <a:off x="0" y="2526409"/>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A51E0A-A63D-D94D-84A2-B2EE6DCE1B5D}">
      <dsp:nvSpPr>
        <dsp:cNvPr id="0" name=""/>
        <dsp:cNvSpPr/>
      </dsp:nvSpPr>
      <dsp:spPr>
        <a:xfrm>
          <a:off x="0" y="2526409"/>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kursus_id INT NOT NULL,</a:t>
          </a:r>
        </a:p>
      </dsp:txBody>
      <dsp:txXfrm>
        <a:off x="0" y="2526409"/>
        <a:ext cx="7990184" cy="229635"/>
      </dsp:txXfrm>
    </dsp:sp>
    <dsp:sp modelId="{14235EAE-42B4-F943-8F2A-74A8B656CAFC}">
      <dsp:nvSpPr>
        <dsp:cNvPr id="0" name=""/>
        <dsp:cNvSpPr/>
      </dsp:nvSpPr>
      <dsp:spPr>
        <a:xfrm>
          <a:off x="0" y="2756044"/>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E2C00D-DCFD-5D44-9AFF-1C1BEE31F858}">
      <dsp:nvSpPr>
        <dsp:cNvPr id="0" name=""/>
        <dsp:cNvSpPr/>
      </dsp:nvSpPr>
      <dsp:spPr>
        <a:xfrm>
          <a:off x="0" y="2756044"/>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FOREIGN </a:t>
          </a:r>
          <a:r>
            <a:rPr lang="en-US" sz="1000" kern="1200" dirty="0"/>
            <a:t>KEY (</a:t>
          </a:r>
          <a:r>
            <a:rPr lang="en-US" sz="1000" kern="1200" dirty="0" err="1"/>
            <a:t>elev_id</a:t>
          </a:r>
          <a:r>
            <a:rPr lang="en-US" sz="1000" kern="1200" dirty="0"/>
            <a:t>) REFERENCES </a:t>
          </a:r>
          <a:r>
            <a:rPr lang="en-US" sz="1000" kern="1200" dirty="0" err="1"/>
            <a:t>elev</a:t>
          </a:r>
          <a:r>
            <a:rPr lang="en-US" sz="1000" kern="1200" dirty="0"/>
            <a:t>(</a:t>
          </a:r>
          <a:r>
            <a:rPr lang="en-US" sz="1000" kern="1200" dirty="0" err="1"/>
            <a:t>elev_id</a:t>
          </a:r>
          <a:r>
            <a:rPr lang="en-US" sz="1000" kern="1200" dirty="0"/>
            <a:t>),</a:t>
          </a:r>
        </a:p>
      </dsp:txBody>
      <dsp:txXfrm>
        <a:off x="0" y="2756044"/>
        <a:ext cx="7990184" cy="229635"/>
      </dsp:txXfrm>
    </dsp:sp>
    <dsp:sp modelId="{2602518B-B99D-A44B-8109-9EEF15C5D034}">
      <dsp:nvSpPr>
        <dsp:cNvPr id="0" name=""/>
        <dsp:cNvSpPr/>
      </dsp:nvSpPr>
      <dsp:spPr>
        <a:xfrm>
          <a:off x="0" y="2985679"/>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BD4895-3C7D-394D-A9B7-C06608268850}">
      <dsp:nvSpPr>
        <dsp:cNvPr id="0" name=""/>
        <dsp:cNvSpPr/>
      </dsp:nvSpPr>
      <dsp:spPr>
        <a:xfrm>
          <a:off x="0" y="2985679"/>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FOREIGN</a:t>
          </a:r>
          <a:r>
            <a:rPr lang="en-US" sz="1000" kern="1200" dirty="0"/>
            <a:t> KEY (</a:t>
          </a:r>
          <a:r>
            <a:rPr lang="en-US" sz="1000" kern="1200" dirty="0" err="1"/>
            <a:t>kursus_id</a:t>
          </a:r>
          <a:r>
            <a:rPr lang="en-US" sz="1000" kern="1200" dirty="0"/>
            <a:t>) REFERENCES </a:t>
          </a:r>
          <a:r>
            <a:rPr lang="en-US" sz="1000" kern="1200" dirty="0" err="1"/>
            <a:t>kursus</a:t>
          </a:r>
          <a:r>
            <a:rPr lang="en-US" sz="1000" kern="1200" dirty="0"/>
            <a:t>(</a:t>
          </a:r>
          <a:r>
            <a:rPr lang="en-US" sz="1000" kern="1200" dirty="0" err="1"/>
            <a:t>kursus_id</a:t>
          </a:r>
          <a:r>
            <a:rPr lang="en-US" sz="1000" kern="1200" dirty="0"/>
            <a:t>)</a:t>
          </a:r>
        </a:p>
      </dsp:txBody>
      <dsp:txXfrm>
        <a:off x="0" y="2985679"/>
        <a:ext cx="7990184" cy="229635"/>
      </dsp:txXfrm>
    </dsp:sp>
    <dsp:sp modelId="{585A58AA-212C-9246-BC02-62B60135778D}">
      <dsp:nvSpPr>
        <dsp:cNvPr id="0" name=""/>
        <dsp:cNvSpPr/>
      </dsp:nvSpPr>
      <dsp:spPr>
        <a:xfrm>
          <a:off x="0" y="3215315"/>
          <a:ext cx="79901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4507BE-0644-1948-AE6A-10868740D258}">
      <dsp:nvSpPr>
        <dsp:cNvPr id="0" name=""/>
        <dsp:cNvSpPr/>
      </dsp:nvSpPr>
      <dsp:spPr>
        <a:xfrm>
          <a:off x="0" y="3215315"/>
          <a:ext cx="7990184" cy="229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t>);</a:t>
          </a:r>
        </a:p>
      </dsp:txBody>
      <dsp:txXfrm>
        <a:off x="0" y="3215315"/>
        <a:ext cx="7990184" cy="2296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1608A20B-5F9C-CA44-9513-F0825AC47325}" type="datetimeFigureOut">
              <a:rPr lang="en-DK" smtClean="0"/>
              <a:t>29/10/2026</a:t>
            </a:fld>
            <a:endParaRPr lang="en-DK"/>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BCC35371-ACE0-7C42-A59A-EDF234485393}" type="slidenum">
              <a:rPr lang="en-DK" smtClean="0"/>
              <a:t>‹#›</a:t>
            </a:fld>
            <a:endParaRPr lang="en-DK"/>
          </a:p>
        </p:txBody>
      </p:sp>
    </p:spTree>
    <p:extLst>
      <p:ext uri="{BB962C8B-B14F-4D97-AF65-F5344CB8AC3E}">
        <p14:creationId xmlns:p14="http://schemas.microsoft.com/office/powerpoint/2010/main" val="1568746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6</a:t>
            </a:fld>
            <a:endParaRPr lang="en-DK"/>
          </a:p>
        </p:txBody>
      </p:sp>
    </p:spTree>
    <p:extLst>
      <p:ext uri="{BB962C8B-B14F-4D97-AF65-F5344CB8AC3E}">
        <p14:creationId xmlns:p14="http://schemas.microsoft.com/office/powerpoint/2010/main" val="4024417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7</a:t>
            </a:fld>
            <a:endParaRPr lang="en-DK"/>
          </a:p>
        </p:txBody>
      </p:sp>
    </p:spTree>
    <p:extLst>
      <p:ext uri="{BB962C8B-B14F-4D97-AF65-F5344CB8AC3E}">
        <p14:creationId xmlns:p14="http://schemas.microsoft.com/office/powerpoint/2010/main" val="3487431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1. Cloud-</a:t>
            </a:r>
            <a:r>
              <a:rPr lang="en-GB" b="1" err="1"/>
              <a:t>tjenester</a:t>
            </a:r>
            <a:r>
              <a:rPr lang="en-GB" b="1"/>
              <a:t> </a:t>
            </a:r>
            <a:r>
              <a:rPr lang="en-GB" b="1" err="1"/>
              <a:t>og</a:t>
            </a:r>
            <a:r>
              <a:rPr lang="en-GB" b="1"/>
              <a:t> </a:t>
            </a:r>
            <a:r>
              <a:rPr lang="en-GB" b="1" err="1"/>
              <a:t>licensaftaler</a:t>
            </a:r>
            <a:r>
              <a:rPr lang="en-GB" b="1"/>
              <a:t> (</a:t>
            </a:r>
            <a:r>
              <a:rPr lang="en-GB" b="1" err="1"/>
              <a:t>største</a:t>
            </a:r>
            <a:r>
              <a:rPr lang="en-GB" b="1"/>
              <a:t> </a:t>
            </a:r>
            <a:r>
              <a:rPr lang="en-GB" b="1" err="1"/>
              <a:t>indtægtskilde</a:t>
            </a:r>
            <a:r>
              <a:rPr lang="en-GB" b="1"/>
              <a:t>)</a:t>
            </a:r>
          </a:p>
          <a:p>
            <a:br>
              <a:rPr lang="en-GB"/>
            </a:br>
            <a:endParaRPr lang="en-GB"/>
          </a:p>
          <a:p>
            <a:r>
              <a:rPr lang="en-GB"/>
              <a:t>Oracle </a:t>
            </a:r>
            <a:r>
              <a:rPr lang="en-GB" err="1"/>
              <a:t>tjener</a:t>
            </a:r>
            <a:r>
              <a:rPr lang="en-GB"/>
              <a:t> </a:t>
            </a:r>
            <a:r>
              <a:rPr lang="en-GB" err="1"/>
              <a:t>løbende</a:t>
            </a:r>
            <a:r>
              <a:rPr lang="en-GB"/>
              <a:t> </a:t>
            </a:r>
            <a:r>
              <a:rPr lang="en-GB" err="1"/>
              <a:t>på</a:t>
            </a:r>
            <a:r>
              <a:rPr lang="en-GB"/>
              <a:t>:</a:t>
            </a:r>
          </a:p>
          <a:p>
            <a:r>
              <a:rPr lang="en-GB" b="1"/>
              <a:t>Oracle Cloud Infrastructure (OCI)</a:t>
            </a:r>
            <a:r>
              <a:rPr lang="en-GB"/>
              <a:t> – public </a:t>
            </a:r>
            <a:r>
              <a:rPr lang="en-GB" err="1"/>
              <a:t>og</a:t>
            </a:r>
            <a:r>
              <a:rPr lang="en-GB"/>
              <a:t> private cloud-</a:t>
            </a:r>
            <a:r>
              <a:rPr lang="en-GB" err="1"/>
              <a:t>løsninger</a:t>
            </a:r>
            <a:r>
              <a:rPr lang="en-GB"/>
              <a:t>, </a:t>
            </a:r>
            <a:r>
              <a:rPr lang="en-GB" err="1"/>
              <a:t>konkurrent</a:t>
            </a:r>
            <a:r>
              <a:rPr lang="en-GB"/>
              <a:t> </a:t>
            </a:r>
            <a:r>
              <a:rPr lang="en-GB" err="1"/>
              <a:t>til</a:t>
            </a:r>
            <a:r>
              <a:rPr lang="en-GB"/>
              <a:t> AWS, Azure </a:t>
            </a:r>
            <a:r>
              <a:rPr lang="en-GB" err="1"/>
              <a:t>og</a:t>
            </a:r>
            <a:r>
              <a:rPr lang="en-GB"/>
              <a:t> Google Cloud.</a:t>
            </a:r>
          </a:p>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8</a:t>
            </a:fld>
            <a:endParaRPr lang="en-DK"/>
          </a:p>
        </p:txBody>
      </p:sp>
    </p:spTree>
    <p:extLst>
      <p:ext uri="{BB962C8B-B14F-4D97-AF65-F5344CB8AC3E}">
        <p14:creationId xmlns:p14="http://schemas.microsoft.com/office/powerpoint/2010/main" val="3961475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CB66ABE2-00A8-584E-92C7-CA70E1DF1536}" type="slidenum">
              <a:rPr lang="da-DK" smtClean="0"/>
              <a:t>12</a:t>
            </a:fld>
            <a:endParaRPr lang="da-DK"/>
          </a:p>
        </p:txBody>
      </p:sp>
    </p:spTree>
    <p:extLst>
      <p:ext uri="{BB962C8B-B14F-4D97-AF65-F5344CB8AC3E}">
        <p14:creationId xmlns:p14="http://schemas.microsoft.com/office/powerpoint/2010/main" val="3720688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r>
              <a:rPr lang="en-US" err="1"/>
              <a:t>usr</a:t>
            </a:r>
            <a:r>
              <a:rPr lang="en-US"/>
              <a:t>/local/</a:t>
            </a:r>
            <a:r>
              <a:rPr lang="en-US" err="1"/>
              <a:t>mysql</a:t>
            </a:r>
            <a:r>
              <a:rPr lang="en-US"/>
              <a:t>/bin/</a:t>
            </a:r>
            <a:r>
              <a:rPr lang="en-US" err="1"/>
              <a:t>mysql</a:t>
            </a:r>
            <a:r>
              <a:rPr lang="en-US"/>
              <a:t> -u root –p       </a:t>
            </a:r>
            <a:r>
              <a:rPr lang="en-US" err="1"/>
              <a:t>sudo</a:t>
            </a:r>
            <a:r>
              <a:rPr lang="en-US"/>
              <a:t> /</a:t>
            </a:r>
            <a:r>
              <a:rPr lang="en-US" err="1"/>
              <a:t>usr</a:t>
            </a:r>
            <a:r>
              <a:rPr lang="en-US"/>
              <a:t>/local/</a:t>
            </a:r>
            <a:r>
              <a:rPr lang="en-US" err="1"/>
              <a:t>mysql</a:t>
            </a:r>
            <a:r>
              <a:rPr lang="en-US"/>
              <a:t>/support-files/</a:t>
            </a:r>
            <a:r>
              <a:rPr lang="en-US" err="1"/>
              <a:t>mysql.server</a:t>
            </a:r>
            <a:r>
              <a:rPr lang="en-US"/>
              <a:t> start    mysql.server start</a:t>
            </a:r>
          </a:p>
          <a:p>
            <a:endParaRPr lang="en-US">
              <a:ea typeface="Calibri"/>
              <a:cs typeface="Calibri"/>
            </a:endParaRPr>
          </a:p>
          <a:p>
            <a:endParaRPr lang="en-US">
              <a:ea typeface="Calibri"/>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CC35371-ACE0-7C42-A59A-EDF234485393}" type="slidenum">
              <a:rPr lang="en-DK" smtClean="0"/>
              <a:t>19</a:t>
            </a:fld>
            <a:endParaRPr lang="en-DK"/>
          </a:p>
        </p:txBody>
      </p:sp>
    </p:spTree>
    <p:extLst>
      <p:ext uri="{BB962C8B-B14F-4D97-AF65-F5344CB8AC3E}">
        <p14:creationId xmlns:p14="http://schemas.microsoft.com/office/powerpoint/2010/main" val="3595298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Denne slide refererer til oplysninger fra følgende fil: https://eamvdk.sharepoint.com/sites/DMUHE25_GrundlggendeprogrammeringDatabase/_layouts/15/Doc.aspx?sourcedoc=%7B1AC9B8A7-5AA3-4C38-82E1-694A89524261%7D&amp;file=DB1mandag_Uge46.pptx&amp;action=edit&amp;mobileredirect=true
Det relationelle datamodel-koncept blev introduceret af E.F. Codd i 1970. Hans arbejde revolutionerede måden, hvorpå data blev organiseret og behandlet, og lagde grundlaget for moderne databaser. Codd beskrev også teoretiske forespørgselssprog, som senere udviklede sig til SQL. Spørgsmålet tester om brugeren kender til den historiske baggrund og betydningen af Codd's bidrag.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22</a:t>
            </a:fld>
            <a:endParaRPr lang="en-US"/>
          </a:p>
        </p:txBody>
      </p:sp>
    </p:spTree>
    <p:extLst>
      <p:ext uri="{BB962C8B-B14F-4D97-AF65-F5344CB8AC3E}">
        <p14:creationId xmlns:p14="http://schemas.microsoft.com/office/powerpoint/2010/main" val="3231771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23</a:t>
            </a:fld>
            <a:endParaRPr lang="en-DK"/>
          </a:p>
        </p:txBody>
      </p:sp>
    </p:spTree>
    <p:extLst>
      <p:ext uri="{BB962C8B-B14F-4D97-AF65-F5344CB8AC3E}">
        <p14:creationId xmlns:p14="http://schemas.microsoft.com/office/powerpoint/2010/main" val="262188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65F01911-DDC4-74D2-E4E6-6165409A5424}"/>
              </a:ext>
            </a:extLst>
          </p:cNvPr>
          <p:cNvSpPr>
            <a:spLocks noGrp="1" noRot="1" noChangeAspect="1" noChangeArrowheads="1" noTextEdit="1"/>
          </p:cNvSpPr>
          <p:nvPr>
            <p:ph type="sldImg"/>
          </p:nvPr>
        </p:nvSpPr>
        <p:spPr bwMode="auto">
          <a:xfrm>
            <a:off x="393700" y="857250"/>
            <a:ext cx="6070600" cy="34163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794" name="Rectangle 3">
            <a:extLst>
              <a:ext uri="{FF2B5EF4-FFF2-40B4-BE49-F238E27FC236}">
                <a16:creationId xmlns:a16="http://schemas.microsoft.com/office/drawing/2014/main" id="{5FF601FA-8541-01F2-4C31-E03B3DA91007}"/>
              </a:ext>
            </a:extLst>
          </p:cNvPr>
          <p:cNvSpPr>
            <a:spLocks noGrp="1" noChangeArrowheads="1"/>
          </p:cNvSpPr>
          <p:nvPr>
            <p:ph type="body" idx="1"/>
          </p:nvPr>
        </p:nvSpPr>
        <p:spPr bwMode="auto">
          <a:xfrm>
            <a:off x="947738" y="4633913"/>
            <a:ext cx="4975225" cy="411797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r>
              <a:rPr lang="en-GB" altLang="en-DK"/>
              <a:t>The diagram shows two </a:t>
            </a:r>
            <a:r>
              <a:rPr lang="en-GB" altLang="en-DK" b="1"/>
              <a:t>relations (tables)</a:t>
            </a:r>
            <a:r>
              <a:rPr lang="en-GB" altLang="en-DK"/>
              <a:t>:</a:t>
            </a:r>
          </a:p>
          <a:p>
            <a:r>
              <a:rPr lang="en-GB" altLang="en-DK" b="1"/>
              <a:t>Branch</a:t>
            </a:r>
            <a:endParaRPr lang="en-GB" altLang="en-DK"/>
          </a:p>
          <a:p>
            <a:r>
              <a:rPr lang="en-GB" altLang="en-DK" b="1"/>
              <a:t>Staff</a:t>
            </a:r>
            <a:endParaRPr lang="en-GB" altLang="en-DK"/>
          </a:p>
          <a:p>
            <a:r>
              <a:rPr lang="en-GB" altLang="en-DK"/>
              <a:t>Each table represents an </a:t>
            </a:r>
            <a:r>
              <a:rPr lang="en-GB" altLang="en-DK" b="1"/>
              <a:t>entity</a:t>
            </a:r>
            <a:r>
              <a:rPr lang="en-GB" altLang="en-DK"/>
              <a:t> in the database:</a:t>
            </a:r>
          </a:p>
          <a:p>
            <a:r>
              <a:rPr lang="en-GB" altLang="en-DK"/>
              <a:t>The </a:t>
            </a:r>
            <a:r>
              <a:rPr lang="en-GB" altLang="en-DK" b="1"/>
              <a:t>Branch</a:t>
            </a:r>
            <a:r>
              <a:rPr lang="en-GB" altLang="en-DK"/>
              <a:t> table stores information about branches.</a:t>
            </a:r>
          </a:p>
          <a:p>
            <a:r>
              <a:rPr lang="en-GB" altLang="en-DK"/>
              <a:t>The </a:t>
            </a:r>
            <a:r>
              <a:rPr lang="en-GB" altLang="en-DK" b="1"/>
              <a:t>Staff</a:t>
            </a:r>
            <a:r>
              <a:rPr lang="en-GB" altLang="en-DK"/>
              <a:t> table stores information about staff members.</a:t>
            </a:r>
          </a:p>
          <a:p>
            <a:endParaRPr lang="en-GB" altLang="en-DK"/>
          </a:p>
          <a:p>
            <a:r>
              <a:rPr lang="en-GB" altLang="en-DK"/>
              <a:t>Attributes are the </a:t>
            </a:r>
            <a:r>
              <a:rPr lang="en-GB" altLang="en-DK" b="1"/>
              <a:t>columns</a:t>
            </a:r>
            <a:r>
              <a:rPr lang="en-GB" altLang="en-DK"/>
              <a:t> in each table.</a:t>
            </a:r>
            <a:br>
              <a:rPr lang="en-GB" altLang="en-DK"/>
            </a:br>
            <a:r>
              <a:rPr lang="en-GB" altLang="en-DK"/>
              <a:t>For example:</a:t>
            </a:r>
          </a:p>
          <a:p>
            <a:r>
              <a:rPr lang="en-GB" altLang="en-DK"/>
              <a:t>In the </a:t>
            </a:r>
            <a:r>
              <a:rPr lang="en-GB" altLang="en-DK" b="1"/>
              <a:t>Branch</a:t>
            </a:r>
            <a:r>
              <a:rPr lang="en-GB" altLang="en-DK"/>
              <a:t> table, the attributes are:</a:t>
            </a:r>
            <a:br>
              <a:rPr lang="en-GB" altLang="en-DK"/>
            </a:br>
            <a:r>
              <a:rPr lang="en-GB" altLang="en-DK" err="1"/>
              <a:t>branchNo</a:t>
            </a:r>
            <a:r>
              <a:rPr lang="en-GB" altLang="en-DK"/>
              <a:t>, street, city, and postcode.</a:t>
            </a:r>
          </a:p>
          <a:p>
            <a:r>
              <a:rPr lang="en-GB" altLang="en-DK"/>
              <a:t>In the </a:t>
            </a:r>
            <a:r>
              <a:rPr lang="en-GB" altLang="en-DK" b="1"/>
              <a:t>Staff</a:t>
            </a:r>
            <a:r>
              <a:rPr lang="en-GB" altLang="en-DK"/>
              <a:t> table, the attributes are:</a:t>
            </a:r>
            <a:br>
              <a:rPr lang="en-GB" altLang="en-DK"/>
            </a:br>
            <a:r>
              <a:rPr lang="en-GB" altLang="en-DK" err="1"/>
              <a:t>staffNo</a:t>
            </a:r>
            <a:r>
              <a:rPr lang="en-GB" altLang="en-DK"/>
              <a:t>, </a:t>
            </a:r>
            <a:r>
              <a:rPr lang="en-GB" altLang="en-DK" err="1"/>
              <a:t>fName</a:t>
            </a:r>
            <a:r>
              <a:rPr lang="en-GB" altLang="en-DK"/>
              <a:t>, </a:t>
            </a:r>
            <a:r>
              <a:rPr lang="en-GB" altLang="en-DK" err="1"/>
              <a:t>lName</a:t>
            </a:r>
            <a:r>
              <a:rPr lang="en-GB" altLang="en-DK"/>
              <a:t>, position, sex, DOB, salary, and </a:t>
            </a:r>
            <a:r>
              <a:rPr lang="en-GB" altLang="en-DK" err="1"/>
              <a:t>branchNo</a:t>
            </a:r>
            <a:r>
              <a:rPr lang="en-GB" altLang="en-DK"/>
              <a:t>.</a:t>
            </a:r>
          </a:p>
          <a:p>
            <a:endParaRPr lang="en-GB" altLang="en-DK"/>
          </a:p>
          <a:p>
            <a:r>
              <a:rPr lang="en-GB" altLang="en-DK" b="1"/>
              <a:t>Tuples (Rows)</a:t>
            </a:r>
          </a:p>
          <a:p>
            <a:r>
              <a:rPr lang="en-GB" altLang="en-DK"/>
              <a:t>Each row in the table is called a </a:t>
            </a:r>
            <a:r>
              <a:rPr lang="en-GB" altLang="en-DK" b="1"/>
              <a:t>tuple</a:t>
            </a:r>
            <a:r>
              <a:rPr lang="en-GB" altLang="en-DK"/>
              <a:t> (a record).</a:t>
            </a:r>
            <a:br>
              <a:rPr lang="en-GB" altLang="en-DK"/>
            </a:br>
            <a:r>
              <a:rPr lang="en-GB" altLang="en-DK"/>
              <a:t>For example, in the Branch table:</a:t>
            </a:r>
          </a:p>
          <a:p>
            <a:endParaRPr lang="en-GB" altLang="en-DK"/>
          </a:p>
          <a:p>
            <a:r>
              <a:rPr lang="en-GB" altLang="en-DK"/>
              <a:t>The </a:t>
            </a:r>
            <a:r>
              <a:rPr lang="en-GB" altLang="en-DK" b="1"/>
              <a:t>degree</a:t>
            </a:r>
            <a:r>
              <a:rPr lang="en-GB" altLang="en-DK"/>
              <a:t> of a relation = number of attributes (columns) in the table.</a:t>
            </a:r>
          </a:p>
          <a:p>
            <a:r>
              <a:rPr lang="en-GB" altLang="en-DK"/>
              <a:t>The </a:t>
            </a:r>
            <a:r>
              <a:rPr lang="en-GB" altLang="en-DK" b="1"/>
              <a:t>Branch</a:t>
            </a:r>
            <a:r>
              <a:rPr lang="en-GB" altLang="en-DK"/>
              <a:t> table has </a:t>
            </a:r>
            <a:r>
              <a:rPr lang="en-GB" altLang="en-DK" b="1"/>
              <a:t>4 attributes</a:t>
            </a:r>
            <a:r>
              <a:rPr lang="en-GB" altLang="en-DK"/>
              <a:t> → degree = 4</a:t>
            </a:r>
          </a:p>
          <a:p>
            <a:r>
              <a:rPr lang="en-GB" altLang="en-DK"/>
              <a:t>The </a:t>
            </a:r>
            <a:r>
              <a:rPr lang="en-GB" altLang="en-DK" b="1"/>
              <a:t>Staff</a:t>
            </a:r>
            <a:r>
              <a:rPr lang="en-GB" altLang="en-DK"/>
              <a:t> table has </a:t>
            </a:r>
            <a:r>
              <a:rPr lang="en-GB" altLang="en-DK" b="1"/>
              <a:t>8 attributes</a:t>
            </a:r>
            <a:r>
              <a:rPr lang="en-GB" altLang="en-DK"/>
              <a:t> → degree = 8</a:t>
            </a:r>
          </a:p>
          <a:p>
            <a:endParaRPr lang="en-GB" altLang="en-DK"/>
          </a:p>
          <a:p>
            <a:r>
              <a:rPr lang="en-GB" altLang="en-DK" b="1"/>
              <a:t>Cardinality</a:t>
            </a:r>
          </a:p>
          <a:p>
            <a:r>
              <a:rPr lang="en-GB" altLang="en-DK"/>
              <a:t>In this context, </a:t>
            </a:r>
            <a:r>
              <a:rPr lang="en-GB" altLang="en-DK" b="1"/>
              <a:t>cardinality</a:t>
            </a:r>
            <a:r>
              <a:rPr lang="en-GB" altLang="en-DK"/>
              <a:t> = </a:t>
            </a:r>
            <a:r>
              <a:rPr lang="en-GB" altLang="en-DK" b="1"/>
              <a:t>the number of rows (tuples)</a:t>
            </a:r>
            <a:r>
              <a:rPr lang="en-GB" altLang="en-DK"/>
              <a:t> in a table.</a:t>
            </a:r>
            <a:br>
              <a:rPr lang="en-GB" altLang="en-DK"/>
            </a:br>
            <a:r>
              <a:rPr lang="en-GB" altLang="en-DK"/>
              <a:t>It tells you how many </a:t>
            </a:r>
            <a:r>
              <a:rPr lang="en-GB" altLang="en-DK" i="1"/>
              <a:t>instances</a:t>
            </a:r>
            <a:r>
              <a:rPr lang="en-GB" altLang="en-DK"/>
              <a:t> of the entity exist.</a:t>
            </a:r>
          </a:p>
          <a:p>
            <a:r>
              <a:rPr lang="en-GB" altLang="en-DK"/>
              <a:t>So:</a:t>
            </a:r>
          </a:p>
          <a:p>
            <a:r>
              <a:rPr lang="en-GB" altLang="en-DK"/>
              <a:t>The </a:t>
            </a:r>
            <a:r>
              <a:rPr lang="en-GB" altLang="en-DK" b="1"/>
              <a:t>Branch</a:t>
            </a:r>
            <a:r>
              <a:rPr lang="en-GB" altLang="en-DK"/>
              <a:t> table has </a:t>
            </a:r>
            <a:r>
              <a:rPr lang="en-GB" altLang="en-DK" b="1"/>
              <a:t>5 rows</a:t>
            </a:r>
            <a:r>
              <a:rPr lang="en-GB" altLang="en-DK"/>
              <a:t> → cardinality = 5</a:t>
            </a:r>
          </a:p>
          <a:p>
            <a:r>
              <a:rPr lang="en-GB" altLang="en-DK"/>
              <a:t>The </a:t>
            </a:r>
            <a:r>
              <a:rPr lang="en-GB" altLang="en-DK" b="1"/>
              <a:t>Staff</a:t>
            </a:r>
            <a:r>
              <a:rPr lang="en-GB" altLang="en-DK"/>
              <a:t> table has </a:t>
            </a:r>
            <a:r>
              <a:rPr lang="en-GB" altLang="en-DK" b="1"/>
              <a:t>6 rows</a:t>
            </a:r>
            <a:r>
              <a:rPr lang="en-GB" altLang="en-DK"/>
              <a:t> → cardinality = 6</a:t>
            </a:r>
          </a:p>
          <a:p>
            <a:endParaRPr lang="en-GB" altLang="en-DK"/>
          </a:p>
          <a:p>
            <a:endParaRPr lang="en-GB" altLang="en-DK"/>
          </a:p>
          <a:p>
            <a:r>
              <a:rPr lang="en-GB" err="1"/>
              <a:t>Tabellen</a:t>
            </a:r>
            <a:r>
              <a:rPr lang="en-GB"/>
              <a:t> </a:t>
            </a:r>
            <a:r>
              <a:rPr lang="en-GB" b="1"/>
              <a:t>Branch</a:t>
            </a:r>
            <a:r>
              <a:rPr lang="en-GB"/>
              <a:t> </a:t>
            </a:r>
            <a:r>
              <a:rPr lang="en-GB" err="1"/>
              <a:t>repræsenterer</a:t>
            </a:r>
            <a:r>
              <a:rPr lang="en-GB"/>
              <a:t> </a:t>
            </a:r>
            <a:r>
              <a:rPr lang="en-GB" err="1"/>
              <a:t>filialer</a:t>
            </a:r>
            <a:r>
              <a:rPr lang="en-GB"/>
              <a:t> </a:t>
            </a:r>
            <a:r>
              <a:rPr lang="en-GB" err="1"/>
              <a:t>Tabellen</a:t>
            </a:r>
            <a:r>
              <a:rPr lang="en-GB"/>
              <a:t> </a:t>
            </a:r>
            <a:r>
              <a:rPr lang="en-GB" b="1"/>
              <a:t>Staff</a:t>
            </a:r>
            <a:r>
              <a:rPr lang="en-GB"/>
              <a:t> </a:t>
            </a:r>
            <a:r>
              <a:rPr lang="en-GB" err="1"/>
              <a:t>repræsenterer</a:t>
            </a:r>
            <a:r>
              <a:rPr lang="en-GB"/>
              <a:t> </a:t>
            </a:r>
            <a:r>
              <a:rPr lang="en-GB" err="1"/>
              <a:t>medarbejdere</a:t>
            </a:r>
            <a:r>
              <a:rPr lang="en-GB"/>
              <a:t> </a:t>
            </a:r>
            <a:r>
              <a:rPr lang="en-GB" b="1" err="1"/>
              <a:t>Attributter</a:t>
            </a:r>
            <a:r>
              <a:rPr lang="en-GB"/>
              <a:t> = </a:t>
            </a:r>
            <a:r>
              <a:rPr lang="en-GB" err="1"/>
              <a:t>kolonner</a:t>
            </a:r>
            <a:r>
              <a:rPr lang="en-GB"/>
              <a:t> </a:t>
            </a:r>
            <a:r>
              <a:rPr lang="en-GB" err="1"/>
              <a:t>i</a:t>
            </a:r>
            <a:r>
              <a:rPr lang="en-GB"/>
              <a:t> </a:t>
            </a:r>
            <a:r>
              <a:rPr lang="en-GB" err="1"/>
              <a:t>tabellen</a:t>
            </a:r>
            <a:r>
              <a:rPr lang="en-GB"/>
              <a:t> Branch: </a:t>
            </a:r>
            <a:r>
              <a:rPr lang="en-GB" err="1"/>
              <a:t>branchNo</a:t>
            </a:r>
            <a:r>
              <a:rPr lang="en-GB"/>
              <a:t>, street, city, postcode</a:t>
            </a:r>
          </a:p>
          <a:p>
            <a:r>
              <a:rPr lang="en-GB"/>
              <a:t>Staff: </a:t>
            </a:r>
            <a:r>
              <a:rPr lang="en-GB" err="1"/>
              <a:t>staffNo</a:t>
            </a:r>
            <a:r>
              <a:rPr lang="en-GB"/>
              <a:t>, </a:t>
            </a:r>
            <a:r>
              <a:rPr lang="en-GB" err="1"/>
              <a:t>fName</a:t>
            </a:r>
            <a:r>
              <a:rPr lang="en-GB"/>
              <a:t>, </a:t>
            </a:r>
            <a:r>
              <a:rPr lang="en-GB" err="1"/>
              <a:t>lName</a:t>
            </a:r>
            <a:r>
              <a:rPr lang="en-GB"/>
              <a:t>, position, sex, DOB, salary, </a:t>
            </a:r>
            <a:r>
              <a:rPr lang="en-GB" err="1"/>
              <a:t>branchNo</a:t>
            </a:r>
            <a:endParaRPr lang="en-GB"/>
          </a:p>
          <a:p>
            <a:r>
              <a:rPr lang="en-GB" b="1" err="1"/>
              <a:t>Tupel</a:t>
            </a:r>
            <a:r>
              <a:rPr lang="en-GB" b="1"/>
              <a:t> (</a:t>
            </a:r>
            <a:r>
              <a:rPr lang="en-GB" b="1" err="1"/>
              <a:t>række</a:t>
            </a:r>
            <a:r>
              <a:rPr lang="en-GB" b="1"/>
              <a:t>)</a:t>
            </a:r>
            <a:r>
              <a:rPr lang="en-GB"/>
              <a:t> = </a:t>
            </a:r>
            <a:r>
              <a:rPr lang="en-GB" err="1"/>
              <a:t>en</a:t>
            </a:r>
            <a:r>
              <a:rPr lang="en-GB"/>
              <a:t> post </a:t>
            </a:r>
            <a:r>
              <a:rPr lang="en-GB" err="1"/>
              <a:t>i</a:t>
            </a:r>
            <a:r>
              <a:rPr lang="en-GB"/>
              <a:t> </a:t>
            </a:r>
            <a:r>
              <a:rPr lang="en-GB" err="1"/>
              <a:t>tabellen</a:t>
            </a:r>
            <a:r>
              <a:rPr lang="en-GB"/>
              <a:t> </a:t>
            </a:r>
            <a:r>
              <a:rPr lang="en-GB" b="1"/>
              <a:t>Grad</a:t>
            </a:r>
            <a:r>
              <a:rPr lang="en-GB"/>
              <a:t> = </a:t>
            </a:r>
            <a:r>
              <a:rPr lang="en-GB" err="1"/>
              <a:t>antal</a:t>
            </a:r>
            <a:r>
              <a:rPr lang="en-GB"/>
              <a:t> </a:t>
            </a:r>
            <a:r>
              <a:rPr lang="en-GB" err="1"/>
              <a:t>attributter</a:t>
            </a:r>
            <a:r>
              <a:rPr lang="en-GB"/>
              <a:t> (</a:t>
            </a:r>
            <a:r>
              <a:rPr lang="en-GB" err="1"/>
              <a:t>kolonner</a:t>
            </a:r>
            <a:r>
              <a:rPr lang="en-GB"/>
              <a:t>) Branch: 4 → grad = 4</a:t>
            </a:r>
          </a:p>
          <a:p>
            <a:r>
              <a:rPr lang="en-GB"/>
              <a:t>Staff: 8 → grad = 8</a:t>
            </a:r>
          </a:p>
          <a:p>
            <a:r>
              <a:rPr lang="en-GB" b="1" err="1"/>
              <a:t>Kardinalitet</a:t>
            </a:r>
            <a:r>
              <a:rPr lang="en-GB"/>
              <a:t> = </a:t>
            </a:r>
            <a:r>
              <a:rPr lang="en-GB" err="1"/>
              <a:t>antal</a:t>
            </a:r>
            <a:r>
              <a:rPr lang="en-GB"/>
              <a:t> </a:t>
            </a:r>
            <a:r>
              <a:rPr lang="en-GB" err="1"/>
              <a:t>rækker</a:t>
            </a:r>
            <a:r>
              <a:rPr lang="en-GB"/>
              <a:t> (</a:t>
            </a:r>
            <a:r>
              <a:rPr lang="en-GB" err="1"/>
              <a:t>tupel</a:t>
            </a:r>
            <a:r>
              <a:rPr lang="en-GB"/>
              <a:t>) Branch: 5 → </a:t>
            </a:r>
            <a:r>
              <a:rPr lang="en-GB" err="1"/>
              <a:t>kardinalitet</a:t>
            </a:r>
            <a:r>
              <a:rPr lang="en-GB"/>
              <a:t> = 5</a:t>
            </a:r>
          </a:p>
          <a:p>
            <a:r>
              <a:rPr lang="en-GB"/>
              <a:t>Staff: 6 → </a:t>
            </a:r>
            <a:r>
              <a:rPr lang="en-GB" err="1"/>
              <a:t>kardinalitet</a:t>
            </a:r>
            <a:r>
              <a:rPr lang="en-GB"/>
              <a:t> = 6</a:t>
            </a:r>
          </a:p>
          <a:p>
            <a:endParaRPr lang="en-GB" altLang="en-DK"/>
          </a:p>
          <a:p>
            <a:endParaRPr lang="en-GB" altLang="en-DK"/>
          </a:p>
          <a:p>
            <a:endParaRPr lang="en-GB" altLang="en-DK"/>
          </a:p>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25</a:t>
            </a:fld>
            <a:endParaRPr lang="en-DK"/>
          </a:p>
        </p:txBody>
      </p:sp>
    </p:spTree>
    <p:extLst>
      <p:ext uri="{BB962C8B-B14F-4D97-AF65-F5344CB8AC3E}">
        <p14:creationId xmlns:p14="http://schemas.microsoft.com/office/powerpoint/2010/main" val="2390614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27</a:t>
            </a:fld>
            <a:endParaRPr lang="en-DK"/>
          </a:p>
        </p:txBody>
      </p:sp>
    </p:spTree>
    <p:extLst>
      <p:ext uri="{BB962C8B-B14F-4D97-AF65-F5344CB8AC3E}">
        <p14:creationId xmlns:p14="http://schemas.microsoft.com/office/powerpoint/2010/main" val="596317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545183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C35371-ACE0-7C42-A59A-EDF234485393}" type="slidenum">
              <a:rPr lang="en-DK" smtClean="0"/>
              <a:t>32</a:t>
            </a:fld>
            <a:endParaRPr lang="en-DK"/>
          </a:p>
        </p:txBody>
      </p:sp>
    </p:spTree>
    <p:extLst>
      <p:ext uri="{BB962C8B-B14F-4D97-AF65-F5344CB8AC3E}">
        <p14:creationId xmlns:p14="http://schemas.microsoft.com/office/powerpoint/2010/main" val="711301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898FC-1D25-53DC-9E89-287F9AFB42BF}"/>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B89B4E09-272E-69EE-405B-7DD982CF8F4C}"/>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54CEEDA-6C4F-22EF-2EA2-D33100DAB829}"/>
              </a:ext>
            </a:extLst>
          </p:cNvPr>
          <p:cNvSpPr>
            <a:spLocks noGrp="1"/>
          </p:cNvSpPr>
          <p:nvPr>
            <p:ph type="body" idx="1"/>
          </p:nvPr>
        </p:nvSpPr>
        <p:spPr/>
        <p:txBody>
          <a:bodyPr/>
          <a:lstStyle/>
          <a:p>
            <a:endParaRPr lang="da-DK"/>
          </a:p>
        </p:txBody>
      </p:sp>
      <p:sp>
        <p:nvSpPr>
          <p:cNvPr id="4" name="Pladsholder til slidenummer 3">
            <a:extLst>
              <a:ext uri="{FF2B5EF4-FFF2-40B4-BE49-F238E27FC236}">
                <a16:creationId xmlns:a16="http://schemas.microsoft.com/office/drawing/2014/main" id="{69090331-0ED0-969E-0193-CEE1CD2C3C0F}"/>
              </a:ext>
            </a:extLst>
          </p:cNvPr>
          <p:cNvSpPr>
            <a:spLocks noGrp="1"/>
          </p:cNvSpPr>
          <p:nvPr>
            <p:ph type="sldNum" sz="quarter" idx="5"/>
          </p:nvPr>
        </p:nvSpPr>
        <p:spPr/>
        <p:txBody>
          <a:bodyPr/>
          <a:lstStyle/>
          <a:p>
            <a:fld id="{CB66ABE2-00A8-584E-92C7-CA70E1DF1536}" type="slidenum">
              <a:rPr lang="da-DK" smtClean="0"/>
              <a:t>42</a:t>
            </a:fld>
            <a:endParaRPr lang="da-DK"/>
          </a:p>
        </p:txBody>
      </p:sp>
    </p:spTree>
    <p:extLst>
      <p:ext uri="{BB962C8B-B14F-4D97-AF65-F5344CB8AC3E}">
        <p14:creationId xmlns:p14="http://schemas.microsoft.com/office/powerpoint/2010/main" val="3416524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841772"/>
            <a:ext cx="5691116" cy="1965866"/>
          </a:xfrm>
        </p:spPr>
        <p:txBody>
          <a:bodyPr anchor="b">
            <a:normAutofit/>
          </a:bodyPr>
          <a:lstStyle>
            <a:lvl1pPr algn="ctr">
              <a:defRPr sz="7111"/>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2882782"/>
            <a:ext cx="5691116" cy="1060568"/>
          </a:xfrm>
        </p:spPr>
        <p:txBody>
          <a:bodyPr>
            <a:normAutofit/>
          </a:bodyPr>
          <a:lstStyle>
            <a:lvl1pPr marL="0" indent="0" algn="ctr">
              <a:buNone/>
              <a:defRPr sz="3200"/>
            </a:lvl1pPr>
            <a:lvl2pPr marL="812810" indent="0" algn="ctr">
              <a:buNone/>
              <a:defRPr sz="3200"/>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10/29/26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025229509"/>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10/29/26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55416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415212"/>
            <a:ext cx="6204855" cy="3006644"/>
          </a:xfrm>
        </p:spPr>
        <p:txBody>
          <a:bodyPr anchor="t">
            <a:normAutofit/>
          </a:bodyPr>
          <a:lstStyle>
            <a:lvl1pPr>
              <a:defRPr sz="96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3442098"/>
            <a:ext cx="6204855" cy="1038463"/>
          </a:xfrm>
        </p:spPr>
        <p:txBody>
          <a:bodyPr anchor="b">
            <a:normAutofit/>
          </a:bodyPr>
          <a:lstStyle>
            <a:lvl1pPr marL="0" indent="0">
              <a:buNone/>
              <a:defRPr sz="3556">
                <a:solidFill>
                  <a:schemeClr val="tx1"/>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10/29/26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49905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411480"/>
            <a:ext cx="8055864" cy="84919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10/29/26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339441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10547"/>
            <a:ext cx="8059341" cy="857469"/>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264301"/>
            <a:ext cx="3868340" cy="419876"/>
          </a:xfrm>
        </p:spPr>
        <p:txBody>
          <a:bodyPr anchor="b">
            <a:normAutofit/>
          </a:bodyPr>
          <a:lstStyle>
            <a:lvl1pPr marL="0" indent="0">
              <a:lnSpc>
                <a:spcPct val="90000"/>
              </a:lnSpc>
              <a:buNone/>
              <a:defRPr sz="3556" b="1" cap="all"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1790171"/>
            <a:ext cx="3868340" cy="2823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264301"/>
            <a:ext cx="3887391" cy="419876"/>
          </a:xfrm>
        </p:spPr>
        <p:txBody>
          <a:bodyPr anchor="b">
            <a:normAutofit/>
          </a:bodyPr>
          <a:lstStyle>
            <a:lvl1pPr marL="0" indent="0">
              <a:lnSpc>
                <a:spcPct val="90000"/>
              </a:lnSpc>
              <a:buNone/>
              <a:defRPr sz="3556" b="1" cap="all"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1790171"/>
            <a:ext cx="3887392" cy="2823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10/29/26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31770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10/29/26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95595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10/29/26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3717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415212"/>
            <a:ext cx="2696726" cy="1318129"/>
          </a:xfrm>
        </p:spPr>
        <p:txBody>
          <a:bodyPr anchor="t">
            <a:normAutofit/>
          </a:bodyPr>
          <a:lstStyle>
            <a:lvl1pPr>
              <a:defRPr sz="4978"/>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415212"/>
            <a:ext cx="4709806" cy="4114800"/>
          </a:xfrm>
        </p:spPr>
        <p:txBody>
          <a:bodyPr>
            <a:normAutofit/>
          </a:bodyPr>
          <a:lstStyle>
            <a:lvl1pPr>
              <a:defRPr sz="4978"/>
            </a:lvl1pPr>
            <a:lvl2pPr>
              <a:defRPr sz="4267"/>
            </a:lvl2pPr>
            <a:lvl3pPr>
              <a:defRPr sz="3556"/>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1733341"/>
            <a:ext cx="2696726" cy="2796671"/>
          </a:xfrm>
        </p:spPr>
        <p:txBody>
          <a:bodyPr anchor="t">
            <a:normAutofit/>
          </a:bodyPr>
          <a:lstStyle>
            <a:lvl1pPr marL="0" indent="0">
              <a:buNone/>
              <a:defRPr sz="3200"/>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10/29/26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571734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418338"/>
            <a:ext cx="2696726" cy="1659235"/>
          </a:xfrm>
        </p:spPr>
        <p:txBody>
          <a:bodyPr anchor="t">
            <a:normAutofit/>
          </a:bodyPr>
          <a:lstStyle>
            <a:lvl1pPr>
              <a:defRPr sz="4978"/>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3797490" y="492827"/>
            <a:ext cx="4862765" cy="4166928"/>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119603"/>
            <a:ext cx="2689190" cy="2575979"/>
          </a:xfrm>
        </p:spPr>
        <p:txBody>
          <a:bodyPr anchor="b"/>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10/29/26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849959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411480"/>
            <a:ext cx="7886700" cy="849194"/>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260674"/>
            <a:ext cx="7886700" cy="33720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10/29/26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830893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433873"/>
            <a:ext cx="1535278" cy="41988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433873"/>
            <a:ext cx="6597516" cy="41988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10/29/26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429210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140" y="-88900"/>
            <a:ext cx="8418405" cy="430887"/>
          </a:xfrm>
        </p:spPr>
        <p:txBody>
          <a:bodyPr/>
          <a:lstStyle/>
          <a:p>
            <a:r>
              <a:rPr lang="en-US"/>
              <a:t>Click to edit Master title style</a:t>
            </a:r>
          </a:p>
        </p:txBody>
      </p:sp>
      <p:sp>
        <p:nvSpPr>
          <p:cNvPr id="6" name="Text Placeholder 5"/>
          <p:cNvSpPr>
            <a:spLocks noGrp="1"/>
          </p:cNvSpPr>
          <p:nvPr>
            <p:ph type="body" sz="quarter" idx="10"/>
          </p:nvPr>
        </p:nvSpPr>
        <p:spPr>
          <a:xfrm>
            <a:off x="381000" y="1058664"/>
            <a:ext cx="8382000" cy="124649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42357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2124" y="470915"/>
            <a:ext cx="3035935" cy="604519"/>
          </a:xfrm>
          <a:prstGeom prst="rect">
            <a:avLst/>
          </a:prstGeom>
        </p:spPr>
        <p:txBody>
          <a:bodyPr wrap="square" lIns="0" tIns="0" rIns="0" bIns="0">
            <a:spAutoFit/>
          </a:bodyPr>
          <a:lstStyle>
            <a:lvl1pPr>
              <a:defRPr sz="2800" b="1" i="0">
                <a:solidFill>
                  <a:srgbClr val="007FA3"/>
                </a:solidFill>
                <a:latin typeface="Arial"/>
                <a:cs typeface="Aria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49761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382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9143771" cy="82296"/>
          </a:xfrm>
          <a:prstGeom prst="rect">
            <a:avLst/>
          </a:prstGeom>
          <a:solidFill>
            <a:srgbClr val="169C9A"/>
          </a:solidFill>
          <a:ln w="12700">
            <a:solidFill>
              <a:srgbClr val="169C9A"/>
            </a:solidFill>
            <a:prstDash val="solid"/>
          </a:ln>
        </p:spPr>
        <p:txBody>
          <a:bodyPr/>
          <a:lstStyle/>
          <a:p>
            <a:endParaRPr lang="en-DK"/>
          </a:p>
        </p:txBody>
      </p:sp>
      <p:sp>
        <p:nvSpPr>
          <p:cNvPr id="3" name="Text 1"/>
          <p:cNvSpPr/>
          <p:nvPr/>
        </p:nvSpPr>
        <p:spPr>
          <a:xfrm>
            <a:off x="377190" y="150876"/>
            <a:ext cx="3086100" cy="171450"/>
          </a:xfrm>
          <a:prstGeom prst="rect">
            <a:avLst/>
          </a:prstGeom>
          <a:noFill/>
          <a:ln/>
        </p:spPr>
        <p:txBody>
          <a:bodyPr wrap="square" lIns="0" tIns="0" rIns="0" bIns="0" rtlCol="0" anchor="ctr"/>
          <a:lstStyle/>
          <a:p>
            <a:pPr marL="0" indent="0">
              <a:buNone/>
            </a:pPr>
            <a:r>
              <a:rPr lang="en-US" sz="675" b="1" kern="0" spc="90" dirty="0">
                <a:solidFill>
                  <a:srgbClr val="169C9A"/>
                </a:solidFill>
                <a:latin typeface="Aptos" pitchFamily="34" charset="0"/>
                <a:ea typeface="Aptos" pitchFamily="34" charset="-122"/>
                <a:cs typeface="Aptos" pitchFamily="34" charset="-120"/>
              </a:rPr>
              <a:t>DATABASE OG MYSQL · DMU</a:t>
            </a:r>
            <a:endParaRPr lang="en-US" sz="675" dirty="0"/>
          </a:p>
        </p:txBody>
      </p:sp>
      <p:sp>
        <p:nvSpPr>
          <p:cNvPr id="4" name="Text 2"/>
          <p:cNvSpPr/>
          <p:nvPr/>
        </p:nvSpPr>
        <p:spPr>
          <a:xfrm>
            <a:off x="7406640" y="4882896"/>
            <a:ext cx="1303020" cy="137160"/>
          </a:xfrm>
          <a:prstGeom prst="rect">
            <a:avLst/>
          </a:prstGeom>
          <a:noFill/>
          <a:ln/>
        </p:spPr>
        <p:txBody>
          <a:bodyPr wrap="square" lIns="0" tIns="0" rIns="0" bIns="0" rtlCol="0" anchor="ctr"/>
          <a:lstStyle/>
          <a:p>
            <a:pPr marL="0" indent="0" algn="r">
              <a:buNone/>
            </a:pPr>
            <a:r>
              <a:rPr lang="en-US" sz="600" dirty="0">
                <a:solidFill>
                  <a:srgbClr val="66756E"/>
                </a:solidFill>
              </a:rPr>
              <a:t>xbi · 2026</a:t>
            </a:r>
            <a:endParaRPr lang="en-US" sz="6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2356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itle slide with background - picture">
    <p:bg>
      <p:bgPr>
        <a:solidFill>
          <a:schemeClr val="tx1">
            <a:lumMod val="50000"/>
          </a:schemeClr>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7C06F42-C713-9648-BBB9-B325632D9DB7}"/>
              </a:ext>
            </a:extLst>
          </p:cNvPr>
          <p:cNvSpPr>
            <a:spLocks noGrp="1"/>
          </p:cNvSpPr>
          <p:nvPr>
            <p:ph type="pic" sz="quarter" idx="10"/>
          </p:nvPr>
        </p:nvSpPr>
        <p:spPr>
          <a:xfrm>
            <a:off x="0" y="1"/>
            <a:ext cx="9144000" cy="5143499"/>
          </a:xfrm>
        </p:spPr>
        <p:txBody>
          <a:bodyPr/>
          <a:lstStyle>
            <a:lvl1pPr marL="0" indent="0">
              <a:buNone/>
              <a:defRPr/>
            </a:lvl1pPr>
          </a:lstStyle>
          <a:p>
            <a:endParaRPr lang="da-DK"/>
          </a:p>
        </p:txBody>
      </p:sp>
      <p:sp>
        <p:nvSpPr>
          <p:cNvPr id="2" name="Titel 1"/>
          <p:cNvSpPr>
            <a:spLocks noGrp="1"/>
          </p:cNvSpPr>
          <p:nvPr>
            <p:ph type="ctrTitle"/>
          </p:nvPr>
        </p:nvSpPr>
        <p:spPr>
          <a:xfrm>
            <a:off x="1143000" y="841772"/>
            <a:ext cx="6858000" cy="1790700"/>
          </a:xfrm>
          <a:prstGeom prst="rect">
            <a:avLst/>
          </a:prstGeom>
        </p:spPr>
        <p:txBody>
          <a:bodyPr anchor="b"/>
          <a:lstStyle>
            <a:lvl1pPr algn="ctr">
              <a:defRPr sz="4500" b="1">
                <a:solidFill>
                  <a:schemeClr val="bg1"/>
                </a:solidFill>
              </a:defRPr>
            </a:lvl1pPr>
          </a:lstStyle>
          <a:p>
            <a:r>
              <a:rPr lang="da-DK"/>
              <a:t>Klik for at redigere i masteren</a:t>
            </a:r>
          </a:p>
        </p:txBody>
      </p:sp>
      <p:sp>
        <p:nvSpPr>
          <p:cNvPr id="3" name="Undertitel 2"/>
          <p:cNvSpPr>
            <a:spLocks noGrp="1"/>
          </p:cNvSpPr>
          <p:nvPr>
            <p:ph type="subTitle" idx="1"/>
          </p:nvPr>
        </p:nvSpPr>
        <p:spPr>
          <a:xfrm>
            <a:off x="1143000" y="2701528"/>
            <a:ext cx="6858000" cy="1241822"/>
          </a:xfrm>
          <a:prstGeom prst="rect">
            <a:avLst/>
          </a:prstGeom>
        </p:spPr>
        <p:txBody>
          <a:bodyPr/>
          <a:lstStyle>
            <a:lvl1pPr marL="0" indent="0" algn="ct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a-DK"/>
              <a:t>Klik for at redigere i master</a:t>
            </a:r>
          </a:p>
        </p:txBody>
      </p:sp>
    </p:spTree>
    <p:extLst>
      <p:ext uri="{BB962C8B-B14F-4D97-AF65-F5344CB8AC3E}">
        <p14:creationId xmlns:p14="http://schemas.microsoft.com/office/powerpoint/2010/main" val="107567390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411480"/>
            <a:ext cx="7990184" cy="84919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286649"/>
            <a:ext cx="7990184" cy="34453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4839752"/>
            <a:ext cx="2620736" cy="273844"/>
          </a:xfrm>
          <a:prstGeom prst="rect">
            <a:avLst/>
          </a:prstGeom>
        </p:spPr>
        <p:txBody>
          <a:bodyPr vert="horz" lIns="91440" tIns="45720" rIns="91440" bIns="45720" rtlCol="0" anchor="ctr"/>
          <a:lstStyle>
            <a:lvl1pPr algn="l">
              <a:defRPr sz="1600">
                <a:solidFill>
                  <a:schemeClr val="tx1"/>
                </a:solidFill>
              </a:defRPr>
            </a:lvl1pPr>
          </a:lstStyle>
          <a:p>
            <a:fld id="{3A332BE1-279E-4118-9FE3-7952B079A510}" type="datetimeFigureOut">
              <a:rPr lang="en-US" dirty="0"/>
              <a:t>10/29/26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4839752"/>
            <a:ext cx="2104054" cy="273844"/>
          </a:xfrm>
          <a:prstGeom prst="rect">
            <a:avLst/>
          </a:prstGeom>
        </p:spPr>
        <p:txBody>
          <a:bodyPr vert="horz" lIns="91440" tIns="45720" rIns="91440" bIns="45720" rtlCol="0" anchor="ctr"/>
          <a:lstStyle>
            <a:lvl1pPr algn="r">
              <a:defRPr sz="16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4839752"/>
            <a:ext cx="321905" cy="273844"/>
          </a:xfrm>
          <a:prstGeom prst="rect">
            <a:avLst/>
          </a:prstGeom>
        </p:spPr>
        <p:txBody>
          <a:bodyPr vert="horz" lIns="91440" tIns="45720" rIns="91440" bIns="45720" rtlCol="0" anchor="ctr"/>
          <a:lstStyle>
            <a:lvl1pPr algn="r">
              <a:defRPr sz="16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353566472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1" r:id="rId14"/>
    <p:sldLayoutId id="2147483712" r:id="rId15"/>
    <p:sldLayoutId id="2147483713" r:id="rId16"/>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1620" userDrawn="1">
          <p15:clr>
            <a:srgbClr val="F26B43"/>
          </p15:clr>
        </p15:guide>
        <p15:guide id="6"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920f49221a.png"/>
          <p:cNvPicPr>
            <a:picLocks noChangeAspect="1"/>
          </p:cNvPicPr>
          <p:nvPr/>
        </p:nvPicPr>
        <p:blipFill>
          <a:blip r:embed="rId3"/>
          <a:srcRect t="7811" b="7811"/>
          <a:stretch/>
        </p:blipFill>
        <p:spPr>
          <a:xfrm>
            <a:off x="1" y="0"/>
            <a:ext cx="9143771" cy="5143500"/>
          </a:xfrm>
          <a:prstGeom prst="rect">
            <a:avLst/>
          </a:prstGeom>
        </p:spPr>
      </p:pic>
      <p:sp>
        <p:nvSpPr>
          <p:cNvPr id="3" name="Shape 0"/>
          <p:cNvSpPr/>
          <p:nvPr/>
        </p:nvSpPr>
        <p:spPr>
          <a:xfrm>
            <a:off x="1" y="0"/>
            <a:ext cx="9143771" cy="5143500"/>
          </a:xfrm>
          <a:prstGeom prst="rect">
            <a:avLst/>
          </a:prstGeom>
          <a:solidFill>
            <a:srgbClr val="12362C">
              <a:alpha val="80000"/>
            </a:srgbClr>
          </a:solidFill>
          <a:ln w="12700">
            <a:solidFill>
              <a:srgbClr val="333333">
                <a:alpha val="0"/>
              </a:srgbClr>
            </a:solidFill>
            <a:prstDash val="solid"/>
          </a:ln>
        </p:spPr>
        <p:txBody>
          <a:bodyPr/>
          <a:lstStyle/>
          <a:p>
            <a:endParaRPr lang="da-DK" dirty="0"/>
          </a:p>
        </p:txBody>
      </p:sp>
      <p:sp>
        <p:nvSpPr>
          <p:cNvPr id="4" name="Text 1"/>
          <p:cNvSpPr/>
          <p:nvPr/>
        </p:nvSpPr>
        <p:spPr>
          <a:xfrm>
            <a:off x="514350" y="548640"/>
            <a:ext cx="4457700" cy="205740"/>
          </a:xfrm>
          <a:prstGeom prst="rect">
            <a:avLst/>
          </a:prstGeom>
          <a:noFill/>
          <a:ln/>
        </p:spPr>
        <p:txBody>
          <a:bodyPr wrap="square" lIns="0" tIns="0" rIns="0" bIns="0" rtlCol="0" anchor="ctr"/>
          <a:lstStyle/>
          <a:p>
            <a:r>
              <a:rPr lang="da-DK" sz="900" b="1" spc="113" dirty="0">
                <a:solidFill>
                  <a:srgbClr val="F39A3E"/>
                </a:solidFill>
              </a:rPr>
              <a:t>DATABASE OG MYSQL · GANG 1</a:t>
            </a:r>
            <a:endParaRPr lang="da-DK" sz="900" dirty="0"/>
          </a:p>
        </p:txBody>
      </p:sp>
      <p:sp>
        <p:nvSpPr>
          <p:cNvPr id="5" name="Text 2"/>
          <p:cNvSpPr/>
          <p:nvPr/>
        </p:nvSpPr>
        <p:spPr>
          <a:xfrm>
            <a:off x="514350" y="1097280"/>
            <a:ext cx="5760720" cy="960120"/>
          </a:xfrm>
          <a:prstGeom prst="rect">
            <a:avLst/>
          </a:prstGeom>
          <a:noFill/>
          <a:ln/>
        </p:spPr>
        <p:txBody>
          <a:bodyPr wrap="square" lIns="0" tIns="0" rIns="0" bIns="0" rtlCol="0" anchor="ctr"/>
          <a:lstStyle/>
          <a:p>
            <a:r>
              <a:rPr lang="da-DK" sz="2850" b="1" dirty="0">
                <a:solidFill>
                  <a:srgbClr val="FFFFFF"/>
                </a:solidFill>
              </a:rPr>
              <a:t>Introduktion til databaser</a:t>
            </a:r>
            <a:endParaRPr lang="da-DK" sz="2850" dirty="0"/>
          </a:p>
        </p:txBody>
      </p:sp>
      <p:sp>
        <p:nvSpPr>
          <p:cNvPr id="6" name="Text 3"/>
          <p:cNvSpPr/>
          <p:nvPr/>
        </p:nvSpPr>
        <p:spPr>
          <a:xfrm>
            <a:off x="534924" y="2194560"/>
            <a:ext cx="5349240" cy="548640"/>
          </a:xfrm>
          <a:prstGeom prst="rect">
            <a:avLst/>
          </a:prstGeom>
          <a:noFill/>
          <a:ln/>
        </p:spPr>
        <p:txBody>
          <a:bodyPr wrap="square" lIns="0" tIns="0" rIns="0" bIns="0" rtlCol="0" anchor="ctr"/>
          <a:lstStyle/>
          <a:p>
            <a:r>
              <a:rPr lang="da-DK" sz="1425" dirty="0">
                <a:solidFill>
                  <a:srgbClr val="D6E4DF"/>
                </a:solidFill>
              </a:rPr>
              <a:t>Fra filbaserede systemer til relationelle databaser og DBMS</a:t>
            </a:r>
            <a:endParaRPr lang="da-DK" sz="1425" dirty="0"/>
          </a:p>
        </p:txBody>
      </p:sp>
      <p:sp>
        <p:nvSpPr>
          <p:cNvPr id="7" name="Text 4"/>
          <p:cNvSpPr/>
          <p:nvPr/>
        </p:nvSpPr>
        <p:spPr>
          <a:xfrm>
            <a:off x="534924" y="3874770"/>
            <a:ext cx="1165860" cy="308610"/>
          </a:xfrm>
          <a:prstGeom prst="rect">
            <a:avLst/>
          </a:prstGeom>
          <a:solidFill>
            <a:srgbClr val="169C9A"/>
          </a:solidFill>
          <a:ln/>
        </p:spPr>
        <p:txBody>
          <a:bodyPr wrap="square" lIns="191" tIns="191" rIns="191" bIns="191" rtlCol="0" anchor="ctr"/>
          <a:lstStyle/>
          <a:p>
            <a:pPr algn="ctr"/>
            <a:r>
              <a:rPr lang="da-DK" sz="1050" b="1" dirty="0">
                <a:solidFill>
                  <a:srgbClr val="FFFFFF"/>
                </a:solidFill>
              </a:rPr>
              <a:t>TEORI</a:t>
            </a:r>
            <a:endParaRPr lang="da-DK" sz="1050" dirty="0"/>
          </a:p>
        </p:txBody>
      </p:sp>
      <p:sp>
        <p:nvSpPr>
          <p:cNvPr id="8" name="Text 5"/>
          <p:cNvSpPr/>
          <p:nvPr/>
        </p:nvSpPr>
        <p:spPr>
          <a:xfrm>
            <a:off x="534924" y="4491990"/>
            <a:ext cx="1371600" cy="171450"/>
          </a:xfrm>
          <a:prstGeom prst="rect">
            <a:avLst/>
          </a:prstGeom>
          <a:noFill/>
          <a:ln/>
        </p:spPr>
        <p:txBody>
          <a:bodyPr wrap="square" lIns="0" tIns="0" rIns="0" bIns="0" rtlCol="0" anchor="ctr"/>
          <a:lstStyle/>
          <a:p>
            <a:r>
              <a:rPr lang="da-DK" sz="750" dirty="0" err="1">
                <a:solidFill>
                  <a:srgbClr val="D6E4DF"/>
                </a:solidFill>
              </a:rPr>
              <a:t>xbi</a:t>
            </a:r>
            <a:r>
              <a:rPr lang="da-DK" sz="750" dirty="0">
                <a:solidFill>
                  <a:srgbClr val="D6E4DF"/>
                </a:solidFill>
              </a:rPr>
              <a:t> · 2026</a:t>
            </a:r>
            <a:endParaRPr lang="da-DK"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OVERBLIK</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I dag lærer du</a:t>
            </a:r>
            <a:endParaRPr lang="en-US" sz="2250" dirty="0"/>
          </a:p>
        </p:txBody>
      </p:sp>
      <p:sp>
        <p:nvSpPr>
          <p:cNvPr id="4" name="Text 2"/>
          <p:cNvSpPr/>
          <p:nvPr/>
        </p:nvSpPr>
        <p:spPr>
          <a:xfrm>
            <a:off x="459486" y="1042416"/>
            <a:ext cx="7886700" cy="260604"/>
          </a:xfrm>
          <a:prstGeom prst="rect">
            <a:avLst/>
          </a:prstGeom>
          <a:noFill/>
          <a:ln/>
        </p:spPr>
        <p:txBody>
          <a:bodyPr wrap="square" lIns="0" tIns="0" rIns="0" bIns="0" rtlCol="0" anchor="ctr"/>
          <a:lstStyle/>
          <a:p>
            <a:r>
              <a:rPr lang="en-US" sz="1125" dirty="0">
                <a:solidFill>
                  <a:srgbClr val="66756E"/>
                </a:solidFill>
              </a:rPr>
              <a:t>Efter undervisningen kan du forklare, anvende og kontrollere de vigtigste begreber.</a:t>
            </a:r>
            <a:endParaRPr lang="en-US" sz="1125" dirty="0"/>
          </a:p>
        </p:txBody>
      </p:sp>
      <p:sp>
        <p:nvSpPr>
          <p:cNvPr id="5" name="Shape 3"/>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6" name="Shape 4"/>
          <p:cNvSpPr/>
          <p:nvPr/>
        </p:nvSpPr>
        <p:spPr>
          <a:xfrm>
            <a:off x="514350" y="1611630"/>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7" name="Text 5"/>
          <p:cNvSpPr/>
          <p:nvPr/>
        </p:nvSpPr>
        <p:spPr>
          <a:xfrm>
            <a:off x="514350" y="1632204"/>
            <a:ext cx="356616" cy="240030"/>
          </a:xfrm>
          <a:prstGeom prst="rect">
            <a:avLst/>
          </a:prstGeom>
          <a:noFill/>
          <a:ln/>
        </p:spPr>
        <p:txBody>
          <a:bodyPr wrap="square" lIns="0" tIns="0" rIns="0" bIns="0" rtlCol="0" anchor="ctr"/>
          <a:lstStyle/>
          <a:p>
            <a:pPr algn="ctr"/>
            <a:r>
              <a:rPr lang="en-US" sz="1050" b="1" dirty="0">
                <a:solidFill>
                  <a:srgbClr val="FFFFFF"/>
                </a:solidFill>
              </a:rPr>
              <a:t>1</a:t>
            </a:r>
            <a:endParaRPr lang="en-US" sz="1050" dirty="0"/>
          </a:p>
        </p:txBody>
      </p:sp>
      <p:sp>
        <p:nvSpPr>
          <p:cNvPr id="8" name="Text 6"/>
          <p:cNvSpPr/>
          <p:nvPr/>
        </p:nvSpPr>
        <p:spPr>
          <a:xfrm>
            <a:off x="1028700" y="1597914"/>
            <a:ext cx="7200900" cy="288036"/>
          </a:xfrm>
          <a:prstGeom prst="rect">
            <a:avLst/>
          </a:prstGeom>
          <a:noFill/>
          <a:ln/>
        </p:spPr>
        <p:txBody>
          <a:bodyPr wrap="square" lIns="0" tIns="0" rIns="0" bIns="0" rtlCol="0" anchor="ctr"/>
          <a:lstStyle/>
          <a:p>
            <a:r>
              <a:rPr lang="en-US" sz="1500" b="1" dirty="0">
                <a:solidFill>
                  <a:srgbClr val="24332D"/>
                </a:solidFill>
              </a:rPr>
              <a:t>Genkende databaseapplikationer i hverdagen</a:t>
            </a:r>
            <a:endParaRPr lang="en-US" sz="1500" dirty="0"/>
          </a:p>
        </p:txBody>
      </p:sp>
      <p:sp>
        <p:nvSpPr>
          <p:cNvPr id="9" name="Shape 7"/>
          <p:cNvSpPr/>
          <p:nvPr/>
        </p:nvSpPr>
        <p:spPr>
          <a:xfrm>
            <a:off x="514350" y="2201418"/>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0" name="Text 8"/>
          <p:cNvSpPr/>
          <p:nvPr/>
        </p:nvSpPr>
        <p:spPr>
          <a:xfrm>
            <a:off x="514350" y="2221992"/>
            <a:ext cx="356616" cy="240030"/>
          </a:xfrm>
          <a:prstGeom prst="rect">
            <a:avLst/>
          </a:prstGeom>
          <a:noFill/>
          <a:ln/>
        </p:spPr>
        <p:txBody>
          <a:bodyPr wrap="square" lIns="0" tIns="0" rIns="0" bIns="0" rtlCol="0" anchor="ctr"/>
          <a:lstStyle/>
          <a:p>
            <a:pPr algn="ctr"/>
            <a:r>
              <a:rPr lang="en-US" sz="1050" b="1" dirty="0">
                <a:solidFill>
                  <a:srgbClr val="FFFFFF"/>
                </a:solidFill>
              </a:rPr>
              <a:t>2</a:t>
            </a:r>
            <a:endParaRPr lang="en-US" sz="1050" dirty="0"/>
          </a:p>
        </p:txBody>
      </p:sp>
      <p:sp>
        <p:nvSpPr>
          <p:cNvPr id="11" name="Text 9"/>
          <p:cNvSpPr/>
          <p:nvPr/>
        </p:nvSpPr>
        <p:spPr>
          <a:xfrm>
            <a:off x="1028700" y="2187702"/>
            <a:ext cx="7200900" cy="288036"/>
          </a:xfrm>
          <a:prstGeom prst="rect">
            <a:avLst/>
          </a:prstGeom>
          <a:noFill/>
          <a:ln/>
        </p:spPr>
        <p:txBody>
          <a:bodyPr wrap="square" lIns="0" tIns="0" rIns="0" bIns="0" rtlCol="0" anchor="ctr"/>
          <a:lstStyle/>
          <a:p>
            <a:r>
              <a:rPr lang="en-US" sz="1500" b="1" dirty="0">
                <a:solidFill>
                  <a:srgbClr val="24332D"/>
                </a:solidFill>
              </a:rPr>
              <a:t>Forklare problemer ved filbaserede systemer</a:t>
            </a:r>
            <a:endParaRPr lang="en-US" sz="1500" dirty="0"/>
          </a:p>
        </p:txBody>
      </p:sp>
      <p:sp>
        <p:nvSpPr>
          <p:cNvPr id="12" name="Shape 10"/>
          <p:cNvSpPr/>
          <p:nvPr/>
        </p:nvSpPr>
        <p:spPr>
          <a:xfrm>
            <a:off x="514350" y="2791206"/>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13" name="Text 11"/>
          <p:cNvSpPr/>
          <p:nvPr/>
        </p:nvSpPr>
        <p:spPr>
          <a:xfrm>
            <a:off x="514350" y="2811780"/>
            <a:ext cx="356616" cy="240030"/>
          </a:xfrm>
          <a:prstGeom prst="rect">
            <a:avLst/>
          </a:prstGeom>
          <a:noFill/>
          <a:ln/>
        </p:spPr>
        <p:txBody>
          <a:bodyPr wrap="square" lIns="0" tIns="0" rIns="0" bIns="0" rtlCol="0" anchor="ctr"/>
          <a:lstStyle/>
          <a:p>
            <a:pPr algn="ctr"/>
            <a:r>
              <a:rPr lang="en-US" sz="1050" b="1" dirty="0">
                <a:solidFill>
                  <a:srgbClr val="FFFFFF"/>
                </a:solidFill>
              </a:rPr>
              <a:t>3</a:t>
            </a:r>
            <a:endParaRPr lang="en-US" sz="1050" dirty="0"/>
          </a:p>
        </p:txBody>
      </p:sp>
      <p:sp>
        <p:nvSpPr>
          <p:cNvPr id="14" name="Text 12"/>
          <p:cNvSpPr/>
          <p:nvPr/>
        </p:nvSpPr>
        <p:spPr>
          <a:xfrm>
            <a:off x="1028700" y="2777490"/>
            <a:ext cx="7200900" cy="288036"/>
          </a:xfrm>
          <a:prstGeom prst="rect">
            <a:avLst/>
          </a:prstGeom>
          <a:noFill/>
          <a:ln/>
        </p:spPr>
        <p:txBody>
          <a:bodyPr wrap="square" lIns="0" tIns="0" rIns="0" bIns="0" rtlCol="0" anchor="ctr"/>
          <a:lstStyle/>
          <a:p>
            <a:r>
              <a:rPr lang="en-US" sz="1500" b="1" dirty="0">
                <a:solidFill>
                  <a:srgbClr val="24332D"/>
                </a:solidFill>
              </a:rPr>
              <a:t>Definere DBMS og relationsdatabase</a:t>
            </a:r>
            <a:endParaRPr lang="en-US" sz="1500" dirty="0"/>
          </a:p>
        </p:txBody>
      </p:sp>
      <p:sp>
        <p:nvSpPr>
          <p:cNvPr id="15" name="Shape 13"/>
          <p:cNvSpPr/>
          <p:nvPr/>
        </p:nvSpPr>
        <p:spPr>
          <a:xfrm>
            <a:off x="514350" y="3380994"/>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6" name="Text 14"/>
          <p:cNvSpPr/>
          <p:nvPr/>
        </p:nvSpPr>
        <p:spPr>
          <a:xfrm>
            <a:off x="514350" y="3401568"/>
            <a:ext cx="356616" cy="240030"/>
          </a:xfrm>
          <a:prstGeom prst="rect">
            <a:avLst/>
          </a:prstGeom>
          <a:noFill/>
          <a:ln/>
        </p:spPr>
        <p:txBody>
          <a:bodyPr wrap="square" lIns="0" tIns="0" rIns="0" bIns="0" rtlCol="0" anchor="ctr"/>
          <a:lstStyle/>
          <a:p>
            <a:pPr algn="ctr"/>
            <a:r>
              <a:rPr lang="en-US" sz="1050" b="1" dirty="0">
                <a:solidFill>
                  <a:srgbClr val="FFFFFF"/>
                </a:solidFill>
              </a:rPr>
              <a:t>4</a:t>
            </a:r>
            <a:endParaRPr lang="en-US" sz="1050" dirty="0"/>
          </a:p>
        </p:txBody>
      </p:sp>
      <p:sp>
        <p:nvSpPr>
          <p:cNvPr id="17" name="Text 15"/>
          <p:cNvSpPr/>
          <p:nvPr/>
        </p:nvSpPr>
        <p:spPr>
          <a:xfrm>
            <a:off x="1028700" y="3367278"/>
            <a:ext cx="7200900" cy="288036"/>
          </a:xfrm>
          <a:prstGeom prst="rect">
            <a:avLst/>
          </a:prstGeom>
          <a:noFill/>
          <a:ln/>
        </p:spPr>
        <p:txBody>
          <a:bodyPr wrap="square" lIns="0" tIns="0" rIns="0" bIns="0" rtlCol="0" anchor="ctr"/>
          <a:lstStyle/>
          <a:p>
            <a:r>
              <a:rPr lang="en-US" sz="1500" b="1" dirty="0">
                <a:solidFill>
                  <a:srgbClr val="24332D"/>
                </a:solidFill>
              </a:rPr>
              <a:t>Bruge begreberne tabel, række, </a:t>
            </a:r>
            <a:r>
              <a:rPr lang="en-US" sz="1500" b="1" dirty="0" err="1">
                <a:solidFill>
                  <a:srgbClr val="24332D"/>
                </a:solidFill>
              </a:rPr>
              <a:t>kolonne</a:t>
            </a:r>
            <a:r>
              <a:rPr lang="en-US" sz="1500" b="1" dirty="0">
                <a:solidFill>
                  <a:srgbClr val="24332D"/>
                </a:solidFill>
              </a:rPr>
              <a:t> filter  </a:t>
            </a:r>
            <a:endParaRPr lang="en-US" sz="15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HVORFOR</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Hvor møder vi databaser?</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2231136" cy="308610"/>
          </a:xfrm>
          <a:prstGeom prst="rect">
            <a:avLst/>
          </a:prstGeom>
          <a:noFill/>
          <a:ln/>
        </p:spPr>
        <p:txBody>
          <a:bodyPr wrap="square" lIns="0" tIns="0" rIns="0" bIns="0" rtlCol="0" anchor="ctr"/>
          <a:lstStyle/>
          <a:p>
            <a:r>
              <a:rPr lang="en-US" sz="1500" b="1" dirty="0">
                <a:solidFill>
                  <a:srgbClr val="24332D"/>
                </a:solidFill>
              </a:rPr>
              <a:t>Handel</a:t>
            </a:r>
            <a:endParaRPr lang="en-US" sz="1500" dirty="0"/>
          </a:p>
        </p:txBody>
      </p:sp>
      <p:sp>
        <p:nvSpPr>
          <p:cNvPr id="7" name="Text 5"/>
          <p:cNvSpPr/>
          <p:nvPr/>
        </p:nvSpPr>
        <p:spPr>
          <a:xfrm>
            <a:off x="651510" y="2194560"/>
            <a:ext cx="2231136" cy="1611630"/>
          </a:xfrm>
          <a:prstGeom prst="rect">
            <a:avLst/>
          </a:prstGeom>
          <a:noFill/>
          <a:ln/>
        </p:spPr>
        <p:txBody>
          <a:bodyPr wrap="square" lIns="286" tIns="286" rIns="286" bIns="286" rtlCol="0" anchor="ctr"/>
          <a:lstStyle/>
          <a:p>
            <a:r>
              <a:rPr lang="en-US" sz="1125" dirty="0">
                <a:solidFill>
                  <a:srgbClr val="66756E"/>
                </a:solidFill>
              </a:rPr>
              <a:t>Varer, kunder, betalinger og lager.</a:t>
            </a:r>
            <a:endParaRPr lang="en-US" sz="1125" dirty="0"/>
          </a:p>
        </p:txBody>
      </p:sp>
      <p:sp>
        <p:nvSpPr>
          <p:cNvPr id="8" name="Shape 6"/>
          <p:cNvSpPr/>
          <p:nvPr/>
        </p:nvSpPr>
        <p:spPr>
          <a:xfrm>
            <a:off x="3266694" y="1508760"/>
            <a:ext cx="2615184" cy="2674620"/>
          </a:xfrm>
          <a:prstGeom prst="roundRect">
            <a:avLst>
              <a:gd name="adj" fmla="val 2098"/>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3458718" y="1735074"/>
            <a:ext cx="2231136" cy="308610"/>
          </a:xfrm>
          <a:prstGeom prst="rect">
            <a:avLst/>
          </a:prstGeom>
          <a:noFill/>
          <a:ln/>
        </p:spPr>
        <p:txBody>
          <a:bodyPr wrap="square" lIns="0" tIns="0" rIns="0" bIns="0" rtlCol="0" anchor="ctr"/>
          <a:lstStyle/>
          <a:p>
            <a:r>
              <a:rPr lang="en-US" sz="1500" b="1" dirty="0">
                <a:solidFill>
                  <a:srgbClr val="24332D"/>
                </a:solidFill>
              </a:rPr>
              <a:t>Service</a:t>
            </a:r>
            <a:endParaRPr lang="en-US" sz="1500" dirty="0"/>
          </a:p>
        </p:txBody>
      </p:sp>
      <p:sp>
        <p:nvSpPr>
          <p:cNvPr id="10" name="Text 8"/>
          <p:cNvSpPr/>
          <p:nvPr/>
        </p:nvSpPr>
        <p:spPr>
          <a:xfrm>
            <a:off x="3458718" y="2194560"/>
            <a:ext cx="2231136" cy="1611630"/>
          </a:xfrm>
          <a:prstGeom prst="rect">
            <a:avLst/>
          </a:prstGeom>
          <a:noFill/>
          <a:ln/>
        </p:spPr>
        <p:txBody>
          <a:bodyPr wrap="square" lIns="286" tIns="286" rIns="286" bIns="286" rtlCol="0" anchor="ctr"/>
          <a:lstStyle/>
          <a:p>
            <a:r>
              <a:rPr lang="en-US" sz="1125" dirty="0">
                <a:solidFill>
                  <a:srgbClr val="66756E"/>
                </a:solidFill>
              </a:rPr>
              <a:t>Bibliotek, rejser, forsikring og booking.</a:t>
            </a:r>
            <a:endParaRPr lang="en-US" sz="1125" dirty="0"/>
          </a:p>
        </p:txBody>
      </p:sp>
      <p:sp>
        <p:nvSpPr>
          <p:cNvPr id="11" name="Shape 9"/>
          <p:cNvSpPr/>
          <p:nvPr/>
        </p:nvSpPr>
        <p:spPr>
          <a:xfrm>
            <a:off x="6073902"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12" name="Text 10"/>
          <p:cNvSpPr/>
          <p:nvPr/>
        </p:nvSpPr>
        <p:spPr>
          <a:xfrm>
            <a:off x="6265926" y="1735074"/>
            <a:ext cx="2231136" cy="308610"/>
          </a:xfrm>
          <a:prstGeom prst="rect">
            <a:avLst/>
          </a:prstGeom>
          <a:noFill/>
          <a:ln/>
        </p:spPr>
        <p:txBody>
          <a:bodyPr wrap="square" lIns="0" tIns="0" rIns="0" bIns="0" rtlCol="0" anchor="ctr"/>
          <a:lstStyle/>
          <a:p>
            <a:r>
              <a:rPr lang="en-US" sz="1500" b="1" dirty="0">
                <a:solidFill>
                  <a:srgbClr val="24332D"/>
                </a:solidFill>
              </a:rPr>
              <a:t>Uddannelse</a:t>
            </a:r>
            <a:endParaRPr lang="en-US" sz="1500" dirty="0"/>
          </a:p>
        </p:txBody>
      </p:sp>
      <p:sp>
        <p:nvSpPr>
          <p:cNvPr id="13" name="Text 11"/>
          <p:cNvSpPr/>
          <p:nvPr/>
        </p:nvSpPr>
        <p:spPr>
          <a:xfrm>
            <a:off x="6265926" y="2194560"/>
            <a:ext cx="2231136" cy="1611630"/>
          </a:xfrm>
          <a:prstGeom prst="rect">
            <a:avLst/>
          </a:prstGeom>
          <a:noFill/>
          <a:ln/>
        </p:spPr>
        <p:txBody>
          <a:bodyPr wrap="square" lIns="286" tIns="286" rIns="286" bIns="286" rtlCol="0" anchor="ctr"/>
          <a:lstStyle/>
          <a:p>
            <a:r>
              <a:rPr lang="en-US" sz="1125" dirty="0">
                <a:solidFill>
                  <a:srgbClr val="66756E"/>
                </a:solidFill>
              </a:rPr>
              <a:t>Studerende, kurser, karakterer og undervisere.</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C16D17-ADB6-7D67-00BD-027747E6E25F}"/>
              </a:ext>
            </a:extLst>
          </p:cNvPr>
          <p:cNvSpPr>
            <a:spLocks noGrp="1"/>
          </p:cNvSpPr>
          <p:nvPr>
            <p:ph type="sldNum" sz="quarter" idx="4294967295"/>
          </p:nvPr>
        </p:nvSpPr>
        <p:spPr/>
        <p:txBody>
          <a:bodyPr/>
          <a:lstStyle/>
          <a:p>
            <a:pPr algn="r"/>
            <a:fld id="{F7021451-1387-4CA6-816F-3879F97B5CBC}" type="slidenum">
              <a:rPr lang="en-US" b="0" smtClean="0"/>
              <a:t>4</a:t>
            </a:fld>
            <a:endParaRPr lang="en-US"/>
          </a:p>
        </p:txBody>
      </p:sp>
      <p:sp>
        <p:nvSpPr>
          <p:cNvPr id="3" name="Text 1">
            <a:extLst>
              <a:ext uri="{FF2B5EF4-FFF2-40B4-BE49-F238E27FC236}">
                <a16:creationId xmlns:a16="http://schemas.microsoft.com/office/drawing/2014/main" id="{FA3FF8BA-C7EC-8FCF-6D7C-B8CD75DE8546}"/>
              </a:ext>
            </a:extLst>
          </p:cNvPr>
          <p:cNvSpPr/>
          <p:nvPr/>
        </p:nvSpPr>
        <p:spPr>
          <a:xfrm>
            <a:off x="445770" y="582930"/>
            <a:ext cx="8092440" cy="411480"/>
          </a:xfrm>
          <a:prstGeom prst="rect">
            <a:avLst/>
          </a:prstGeom>
          <a:noFill/>
          <a:ln/>
        </p:spPr>
        <p:txBody>
          <a:bodyPr wrap="square" lIns="0" tIns="0" rIns="0" bIns="0" rtlCol="0" anchor="ctr"/>
          <a:lstStyle/>
          <a:p>
            <a:r>
              <a:rPr lang="da-DK" sz="2250" b="1" noProof="0" dirty="0">
                <a:solidFill>
                  <a:srgbClr val="24332D"/>
                </a:solidFill>
              </a:rPr>
              <a:t>øvelse 1</a:t>
            </a:r>
            <a:endParaRPr lang="da-DK" sz="2250" noProof="0" dirty="0"/>
          </a:p>
        </p:txBody>
      </p:sp>
      <p:sp>
        <p:nvSpPr>
          <p:cNvPr id="4" name="Text 5">
            <a:extLst>
              <a:ext uri="{FF2B5EF4-FFF2-40B4-BE49-F238E27FC236}">
                <a16:creationId xmlns:a16="http://schemas.microsoft.com/office/drawing/2014/main" id="{DE0789C5-FBCA-BB1D-D3BB-9219417DCF6D}"/>
              </a:ext>
            </a:extLst>
          </p:cNvPr>
          <p:cNvSpPr/>
          <p:nvPr/>
        </p:nvSpPr>
        <p:spPr>
          <a:xfrm>
            <a:off x="651509" y="2194560"/>
            <a:ext cx="6701397" cy="1611630"/>
          </a:xfrm>
          <a:prstGeom prst="rect">
            <a:avLst/>
          </a:prstGeom>
          <a:noFill/>
          <a:ln/>
        </p:spPr>
        <p:txBody>
          <a:bodyPr wrap="square" lIns="286" tIns="286" rIns="286" bIns="286" rtlCol="0" anchor="ctr"/>
          <a:lstStyle/>
          <a:p>
            <a:r>
              <a:rPr lang="en-DK" sz="1100" dirty="0"/>
              <a:t>Tænk over, hvilke databaser du ofte kommer i kontakt med, når du går i skole, arbejder, bruger internettet eller er sammen med venner.</a:t>
            </a:r>
          </a:p>
          <a:p>
            <a:r>
              <a:rPr lang="en-DK" sz="1100" b="1" dirty="0"/>
              <a:t>Eksempler:</a:t>
            </a:r>
            <a:endParaRPr lang="en-DK" sz="1100" dirty="0"/>
          </a:p>
          <a:p>
            <a:pPr lvl="0"/>
            <a:r>
              <a:rPr lang="en-DK" sz="1100" dirty="0"/>
              <a:t>Skole: Aula, skolens elevsystem eller læringsplatform.</a:t>
            </a:r>
          </a:p>
          <a:p>
            <a:pPr lvl="0"/>
            <a:r>
              <a:rPr lang="en-DK" sz="1100" dirty="0"/>
              <a:t>Fritid: Spotify, Netflix eller dr.dk.</a:t>
            </a:r>
          </a:p>
          <a:p>
            <a:pPr lvl="0"/>
            <a:r>
              <a:rPr lang="en-DK" sz="1100" dirty="0"/>
              <a:t>Transport: Rejseplanen eller en billetapp.</a:t>
            </a:r>
          </a:p>
          <a:p>
            <a:pPr lvl="0"/>
            <a:r>
              <a:rPr lang="en-DK" sz="1100" dirty="0"/>
              <a:t>Arbejde: Et kundesystem, et lagerstyringssystem eller et bookingsystem.</a:t>
            </a:r>
          </a:p>
          <a:p>
            <a:r>
              <a:rPr lang="en-DK" sz="1100" b="1" dirty="0"/>
              <a:t>Opgave:</a:t>
            </a:r>
            <a:br>
              <a:rPr lang="en-DK" sz="1100" dirty="0"/>
            </a:br>
            <a:r>
              <a:rPr lang="en-DK" sz="1100" dirty="0"/>
              <a:t>1 Find mindst 2 eksempler på databaser, som du bruger eller møder i din hverdag.</a:t>
            </a:r>
          </a:p>
          <a:p>
            <a:r>
              <a:rPr lang="en-DK" sz="1100" dirty="0"/>
              <a:t>2 – Undersøg dine databaser (10 minutter)</a:t>
            </a:r>
          </a:p>
          <a:p>
            <a:endParaRPr lang="en-DK" sz="1100" dirty="0"/>
          </a:p>
          <a:p>
            <a:pPr lvl="0"/>
            <a:r>
              <a:rPr lang="en-DK" sz="1100" dirty="0"/>
              <a:t>Hvad hedder databasen eller det system, du bruger?</a:t>
            </a:r>
          </a:p>
          <a:p>
            <a:pPr lvl="0"/>
            <a:r>
              <a:rPr lang="en-DK" sz="1100" dirty="0"/>
              <a:t>I hvilken situation bruger du den?</a:t>
            </a:r>
          </a:p>
          <a:p>
            <a:pPr lvl="0"/>
            <a:r>
              <a:rPr lang="en-DK" sz="1100" dirty="0"/>
              <a:t>Hvilke oplysninger gemmer den? Giv mindst to eksempler.</a:t>
            </a:r>
          </a:p>
          <a:p>
            <a:pPr lvl="0"/>
            <a:r>
              <a:rPr lang="en-DK" sz="1100" dirty="0"/>
              <a:t>Hvem bruger databasen?</a:t>
            </a:r>
          </a:p>
          <a:p>
            <a:pPr lvl="0"/>
            <a:r>
              <a:rPr lang="en-DK" sz="1100" dirty="0"/>
              <a:t>Er dataene gemt i en fil, eller bliver de håndteret af et databasesystem?</a:t>
            </a:r>
          </a:p>
          <a:p>
            <a:pPr lvl="0"/>
            <a:r>
              <a:rPr lang="en-DK" sz="1100" dirty="0"/>
              <a:t>Hvordan ved du det? Hvilke oplysninger bygger du dit svar på?</a:t>
            </a:r>
          </a:p>
          <a:p>
            <a:r>
              <a:rPr lang="en-DK" sz="1100" dirty="0"/>
              <a:t> </a:t>
            </a:r>
            <a:endParaRPr lang="en-US" sz="1100" dirty="0"/>
          </a:p>
        </p:txBody>
      </p:sp>
    </p:spTree>
    <p:extLst>
      <p:ext uri="{BB962C8B-B14F-4D97-AF65-F5344CB8AC3E}">
        <p14:creationId xmlns:p14="http://schemas.microsoft.com/office/powerpoint/2010/main" val="276627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SAMMENLIGNING</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Filbaseret system vs. DBMS</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4018788" cy="2674620"/>
          </a:xfrm>
          <a:prstGeom prst="roundRect">
            <a:avLst>
              <a:gd name="adj" fmla="val 2051"/>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3634740" cy="308610"/>
          </a:xfrm>
          <a:prstGeom prst="rect">
            <a:avLst/>
          </a:prstGeom>
          <a:noFill/>
          <a:ln/>
        </p:spPr>
        <p:txBody>
          <a:bodyPr wrap="square" lIns="0" tIns="0" rIns="0" bIns="0" rtlCol="0" anchor="ctr"/>
          <a:lstStyle/>
          <a:p>
            <a:r>
              <a:rPr lang="en-US" sz="1500" b="1" dirty="0">
                <a:solidFill>
                  <a:srgbClr val="24332D"/>
                </a:solidFill>
              </a:rPr>
              <a:t>Filbaseret</a:t>
            </a:r>
            <a:endParaRPr lang="en-US" sz="1500" dirty="0"/>
          </a:p>
        </p:txBody>
      </p:sp>
      <p:sp>
        <p:nvSpPr>
          <p:cNvPr id="7" name="Text 5"/>
          <p:cNvSpPr/>
          <p:nvPr/>
        </p:nvSpPr>
        <p:spPr>
          <a:xfrm>
            <a:off x="651510" y="2194560"/>
            <a:ext cx="3634740" cy="1611630"/>
          </a:xfrm>
          <a:prstGeom prst="rect">
            <a:avLst/>
          </a:prstGeom>
          <a:noFill/>
          <a:ln/>
        </p:spPr>
        <p:txBody>
          <a:bodyPr wrap="square" lIns="286" tIns="286" rIns="286" bIns="286" rtlCol="0" anchor="ctr"/>
          <a:lstStyle/>
          <a:p>
            <a:r>
              <a:rPr lang="en-US" sz="1125" dirty="0">
                <a:solidFill>
                  <a:srgbClr val="66756E"/>
                </a:solidFill>
              </a:rPr>
              <a:t>Data ligger i separate filer.</a:t>
            </a:r>
            <a:endParaRPr lang="en-US" sz="1125" dirty="0"/>
          </a:p>
          <a:p>
            <a:r>
              <a:rPr lang="en-US" sz="1125" dirty="0">
                <a:solidFill>
                  <a:srgbClr val="66756E"/>
                </a:solidFill>
              </a:rPr>
              <a:t>Dubletter og inkonsistens opstår let.</a:t>
            </a:r>
            <a:endParaRPr lang="en-US" sz="1125" dirty="0"/>
          </a:p>
          <a:p>
            <a:r>
              <a:rPr lang="en-US" sz="1125" dirty="0">
                <a:solidFill>
                  <a:srgbClr val="66756E"/>
                </a:solidFill>
              </a:rPr>
              <a:t>Søgning og deling er vanskelig.</a:t>
            </a:r>
            <a:endParaRPr lang="en-US" sz="1125" dirty="0"/>
          </a:p>
        </p:txBody>
      </p:sp>
      <p:sp>
        <p:nvSpPr>
          <p:cNvPr id="8" name="Shape 6"/>
          <p:cNvSpPr/>
          <p:nvPr/>
        </p:nvSpPr>
        <p:spPr>
          <a:xfrm>
            <a:off x="4670298" y="1508760"/>
            <a:ext cx="4018788" cy="2674620"/>
          </a:xfrm>
          <a:prstGeom prst="roundRect">
            <a:avLst>
              <a:gd name="adj" fmla="val 2051"/>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4862322" y="1735074"/>
            <a:ext cx="3634740" cy="308610"/>
          </a:xfrm>
          <a:prstGeom prst="rect">
            <a:avLst/>
          </a:prstGeom>
          <a:noFill/>
          <a:ln/>
        </p:spPr>
        <p:txBody>
          <a:bodyPr wrap="square" lIns="0" tIns="0" rIns="0" bIns="0" rtlCol="0" anchor="ctr"/>
          <a:lstStyle/>
          <a:p>
            <a:r>
              <a:rPr lang="en-US" sz="1500" b="1" dirty="0">
                <a:solidFill>
                  <a:srgbClr val="24332D"/>
                </a:solidFill>
              </a:rPr>
              <a:t>DBMS</a:t>
            </a:r>
            <a:endParaRPr lang="en-US" sz="1500" dirty="0"/>
          </a:p>
        </p:txBody>
      </p:sp>
      <p:sp>
        <p:nvSpPr>
          <p:cNvPr id="10" name="Text 8"/>
          <p:cNvSpPr/>
          <p:nvPr/>
        </p:nvSpPr>
        <p:spPr>
          <a:xfrm>
            <a:off x="4862322" y="2194560"/>
            <a:ext cx="3634740" cy="1611630"/>
          </a:xfrm>
          <a:prstGeom prst="rect">
            <a:avLst/>
          </a:prstGeom>
          <a:noFill/>
          <a:ln/>
        </p:spPr>
        <p:txBody>
          <a:bodyPr wrap="square" lIns="286" tIns="286" rIns="286" bIns="286" rtlCol="0" anchor="ctr"/>
          <a:lstStyle/>
          <a:p>
            <a:r>
              <a:rPr lang="en-US" sz="1125" dirty="0">
                <a:solidFill>
                  <a:srgbClr val="66756E"/>
                </a:solidFill>
              </a:rPr>
              <a:t>Central styring af data.</a:t>
            </a:r>
            <a:endParaRPr lang="en-US" sz="1125" dirty="0"/>
          </a:p>
          <a:p>
            <a:r>
              <a:rPr lang="en-US" sz="1125" dirty="0">
                <a:solidFill>
                  <a:srgbClr val="66756E"/>
                </a:solidFill>
              </a:rPr>
              <a:t>Regler, adgang og sikkerhed.</a:t>
            </a:r>
            <a:endParaRPr lang="en-US" sz="1125" dirty="0"/>
          </a:p>
          <a:p>
            <a:r>
              <a:rPr lang="en-US" sz="1125" dirty="0">
                <a:solidFill>
                  <a:srgbClr val="66756E"/>
                </a:solidFill>
              </a:rPr>
              <a:t>Flere brugere kan arbejde samtidigt.</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2E55797-7874-B4A2-0F21-A630DC9D3F97}"/>
              </a:ext>
            </a:extLst>
          </p:cNvPr>
          <p:cNvSpPr>
            <a:spLocks noGrp="1" noChangeArrowheads="1"/>
          </p:cNvSpPr>
          <p:nvPr>
            <p:ph type="title"/>
          </p:nvPr>
        </p:nvSpPr>
        <p:spPr/>
        <p:txBody>
          <a:bodyPr/>
          <a:lstStyle/>
          <a:p>
            <a:pPr defTabSz="685772">
              <a:defRPr/>
            </a:pPr>
            <a:r>
              <a:rPr lang="en-GB" err="1"/>
              <a:t>Filbaseret</a:t>
            </a:r>
            <a:r>
              <a:rPr lang="en-GB"/>
              <a:t> database</a:t>
            </a:r>
            <a:endParaRPr lang="en-GB">
              <a:latin typeface="Times" pitchFamily="18" charset="0"/>
              <a:cs typeface="Times"/>
            </a:endParaRPr>
          </a:p>
        </p:txBody>
      </p:sp>
      <p:pic>
        <p:nvPicPr>
          <p:cNvPr id="4" name="Picture 3" descr="A diagram of data entry&#10;&#10;AI-generated content may be incorrect.">
            <a:extLst>
              <a:ext uri="{FF2B5EF4-FFF2-40B4-BE49-F238E27FC236}">
                <a16:creationId xmlns:a16="http://schemas.microsoft.com/office/drawing/2014/main" id="{DC65ADD1-8794-198E-FE65-FE13C95D5D31}"/>
              </a:ext>
            </a:extLst>
          </p:cNvPr>
          <p:cNvPicPr>
            <a:picLocks noChangeAspect="1"/>
          </p:cNvPicPr>
          <p:nvPr/>
        </p:nvPicPr>
        <p:blipFill>
          <a:blip r:embed="rId3"/>
          <a:srcRect b="36563"/>
          <a:stretch>
            <a:fillRect/>
          </a:stretch>
        </p:blipFill>
        <p:spPr>
          <a:xfrm>
            <a:off x="1213650" y="1714499"/>
            <a:ext cx="7309766" cy="2674621"/>
          </a:xfrm>
          <a:prstGeom prst="rect">
            <a:avLst/>
          </a:prstGeom>
        </p:spPr>
      </p:pic>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039228B-1CC4-72A3-4BEB-579BF3C5526E}"/>
              </a:ext>
            </a:extLst>
          </p:cNvPr>
          <p:cNvSpPr>
            <a:spLocks noGrp="1" noChangeArrowheads="1"/>
          </p:cNvSpPr>
          <p:nvPr>
            <p:ph type="title"/>
          </p:nvPr>
        </p:nvSpPr>
        <p:spPr>
          <a:xfrm>
            <a:off x="-82140" y="231611"/>
            <a:ext cx="8418405" cy="430887"/>
          </a:xfrm>
        </p:spPr>
        <p:txBody>
          <a:bodyPr>
            <a:normAutofit fontScale="90000"/>
          </a:bodyPr>
          <a:lstStyle/>
          <a:p>
            <a:pPr defTabSz="685772">
              <a:defRPr/>
            </a:pPr>
            <a:r>
              <a:rPr lang="en-GB" dirty="0"/>
              <a:t>Database Management System (DBMS)</a:t>
            </a:r>
            <a:br>
              <a:rPr lang="en-GB" dirty="0"/>
            </a:br>
            <a:endParaRPr lang="en-GB" dirty="0">
              <a:latin typeface="Times" pitchFamily="18" charset="0"/>
            </a:endParaRPr>
          </a:p>
        </p:txBody>
      </p:sp>
      <p:pic>
        <p:nvPicPr>
          <p:cNvPr id="35843" name="Picture 6" descr="C01NF07">
            <a:extLst>
              <a:ext uri="{FF2B5EF4-FFF2-40B4-BE49-F238E27FC236}">
                <a16:creationId xmlns:a16="http://schemas.microsoft.com/office/drawing/2014/main" id="{A21A82D1-A077-CE69-424F-CC854F506EE9}"/>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b="21283"/>
          <a:stretch>
            <a:fillRect/>
          </a:stretch>
        </p:blipFill>
        <p:spPr>
          <a:xfrm>
            <a:off x="1746829" y="1258318"/>
            <a:ext cx="6172200" cy="2715458"/>
          </a:xfrm>
          <a:noFill/>
        </p:spPr>
      </p:pic>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EFC5D-05C5-B291-7DE1-2F3369920677}"/>
              </a:ext>
            </a:extLst>
          </p:cNvPr>
          <p:cNvSpPr>
            <a:spLocks noGrp="1"/>
          </p:cNvSpPr>
          <p:nvPr>
            <p:ph type="title"/>
          </p:nvPr>
        </p:nvSpPr>
        <p:spPr>
          <a:xfrm>
            <a:off x="865332" y="608393"/>
            <a:ext cx="8418405" cy="997196"/>
          </a:xfrm>
        </p:spPr>
        <p:txBody>
          <a:bodyPr wrap="square" lIns="0" tIns="0" rIns="0" bIns="0" anchor="t">
            <a:spAutoFit/>
          </a:bodyPr>
          <a:lstStyle/>
          <a:p>
            <a:r>
              <a:rPr lang="en-GB" err="1"/>
              <a:t>Populære</a:t>
            </a:r>
            <a:r>
              <a:rPr lang="en-GB"/>
              <a:t> DBMS</a:t>
            </a:r>
            <a:br>
              <a:rPr lang="en-GB"/>
            </a:br>
            <a:endParaRPr lang="en-US"/>
          </a:p>
        </p:txBody>
      </p:sp>
      <p:sp>
        <p:nvSpPr>
          <p:cNvPr id="3" name="Text Placeholder 2">
            <a:extLst>
              <a:ext uri="{FF2B5EF4-FFF2-40B4-BE49-F238E27FC236}">
                <a16:creationId xmlns:a16="http://schemas.microsoft.com/office/drawing/2014/main" id="{8EEF15C6-FA62-209B-CADF-C1933CC724FF}"/>
              </a:ext>
            </a:extLst>
          </p:cNvPr>
          <p:cNvSpPr>
            <a:spLocks noGrp="1"/>
          </p:cNvSpPr>
          <p:nvPr>
            <p:ph idx="1"/>
          </p:nvPr>
        </p:nvSpPr>
        <p:spPr>
          <a:xfrm>
            <a:off x="974909" y="4160606"/>
            <a:ext cx="7891749" cy="836255"/>
          </a:xfrm>
        </p:spPr>
        <p:txBody>
          <a:bodyPr wrap="square" lIns="0" tIns="0" rIns="0" bIns="0" anchor="t">
            <a:spAutoFit/>
          </a:bodyPr>
          <a:lstStyle/>
          <a:p>
            <a:pPr marL="0" indent="0">
              <a:buNone/>
            </a:pPr>
            <a:r>
              <a:rPr lang="en-US"/>
              <a:t>Which are open source?</a:t>
            </a:r>
          </a:p>
          <a:p>
            <a:endParaRPr lang="en-US"/>
          </a:p>
        </p:txBody>
      </p:sp>
      <p:pic>
        <p:nvPicPr>
          <p:cNvPr id="4" name="Picture 3" descr="A screenshot of a computer software&#10;&#10;Description automatically generated">
            <a:extLst>
              <a:ext uri="{FF2B5EF4-FFF2-40B4-BE49-F238E27FC236}">
                <a16:creationId xmlns:a16="http://schemas.microsoft.com/office/drawing/2014/main" id="{B6A68225-5761-A8DC-185F-842B9F0DFF0B}"/>
              </a:ext>
            </a:extLst>
          </p:cNvPr>
          <p:cNvPicPr>
            <a:picLocks noChangeAspect="1"/>
          </p:cNvPicPr>
          <p:nvPr/>
        </p:nvPicPr>
        <p:blipFill>
          <a:blip r:embed="rId3"/>
          <a:stretch>
            <a:fillRect/>
          </a:stretch>
        </p:blipFill>
        <p:spPr>
          <a:xfrm>
            <a:off x="867422" y="1682589"/>
            <a:ext cx="6205383" cy="2253170"/>
          </a:xfrm>
          <a:prstGeom prst="rect">
            <a:avLst/>
          </a:prstGeom>
        </p:spPr>
      </p:pic>
    </p:spTree>
    <p:extLst>
      <p:ext uri="{BB962C8B-B14F-4D97-AF65-F5344CB8AC3E}">
        <p14:creationId xmlns:p14="http://schemas.microsoft.com/office/powerpoint/2010/main" val="24246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FF560CC-6FC8-0031-9929-7C7141B92984}"/>
              </a:ext>
            </a:extLst>
          </p:cNvPr>
          <p:cNvSpPr>
            <a:spLocks noGrp="1"/>
          </p:cNvSpPr>
          <p:nvPr>
            <p:ph type="dt" sz="half" idx="10"/>
          </p:nvPr>
        </p:nvSpPr>
        <p:spPr/>
        <p:txBody>
          <a:bodyPr/>
          <a:lstStyle/>
          <a:p>
            <a:fld id="{2B95C713-95AA-2043-9C3E-ED49A98F4FE9}" type="datetime1">
              <a:rPr lang="en-US" smtClean="0"/>
              <a:t>10/29/26</a:t>
            </a:fld>
            <a:endParaRPr lang="en-US"/>
          </a:p>
        </p:txBody>
      </p:sp>
      <p:sp>
        <p:nvSpPr>
          <p:cNvPr id="6" name="Footer Placeholder 5">
            <a:extLst>
              <a:ext uri="{FF2B5EF4-FFF2-40B4-BE49-F238E27FC236}">
                <a16:creationId xmlns:a16="http://schemas.microsoft.com/office/drawing/2014/main" id="{AC08D6C2-976A-EDA2-4A80-226DF9DE409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710A2B9-B669-0DC6-3C1F-F8AA32FFF7F2}"/>
              </a:ext>
            </a:extLst>
          </p:cNvPr>
          <p:cNvSpPr>
            <a:spLocks noGrp="1"/>
          </p:cNvSpPr>
          <p:nvPr>
            <p:ph type="sldNum" sz="quarter" idx="12"/>
          </p:nvPr>
        </p:nvSpPr>
        <p:spPr/>
        <p:txBody>
          <a:bodyPr/>
          <a:lstStyle/>
          <a:p>
            <a:fld id="{CC057153-B650-4DEB-B370-79DDCFDCE934}" type="slidenum">
              <a:rPr lang="en-US" smtClean="0"/>
              <a:t>9</a:t>
            </a:fld>
            <a:endParaRPr lang="en-US"/>
          </a:p>
        </p:txBody>
      </p:sp>
      <p:pic>
        <p:nvPicPr>
          <p:cNvPr id="10" name="Picture 9">
            <a:extLst>
              <a:ext uri="{FF2B5EF4-FFF2-40B4-BE49-F238E27FC236}">
                <a16:creationId xmlns:a16="http://schemas.microsoft.com/office/drawing/2014/main" id="{F931164E-BCDC-1664-37F1-A1C94A2C22A3}"/>
              </a:ext>
            </a:extLst>
          </p:cNvPr>
          <p:cNvPicPr>
            <a:picLocks noChangeAspect="1"/>
          </p:cNvPicPr>
          <p:nvPr/>
        </p:nvPicPr>
        <p:blipFill>
          <a:blip r:embed="rId2"/>
          <a:stretch>
            <a:fillRect/>
          </a:stretch>
        </p:blipFill>
        <p:spPr>
          <a:xfrm>
            <a:off x="1143000" y="896724"/>
            <a:ext cx="6858000" cy="3429000"/>
          </a:xfrm>
          <a:prstGeom prst="rect">
            <a:avLst/>
          </a:prstGeom>
        </p:spPr>
      </p:pic>
      <p:sp>
        <p:nvSpPr>
          <p:cNvPr id="13" name="Text 1">
            <a:extLst>
              <a:ext uri="{FF2B5EF4-FFF2-40B4-BE49-F238E27FC236}">
                <a16:creationId xmlns:a16="http://schemas.microsoft.com/office/drawing/2014/main" id="{89C78859-7093-0D31-304F-A20CC17845A9}"/>
              </a:ext>
            </a:extLst>
          </p:cNvPr>
          <p:cNvSpPr/>
          <p:nvPr/>
        </p:nvSpPr>
        <p:spPr>
          <a:xfrm>
            <a:off x="525780" y="356686"/>
            <a:ext cx="8092440" cy="411480"/>
          </a:xfrm>
          <a:prstGeom prst="rect">
            <a:avLst/>
          </a:prstGeom>
          <a:noFill/>
          <a:ln/>
        </p:spPr>
        <p:txBody>
          <a:bodyPr wrap="square" lIns="0" tIns="0" rIns="0" bIns="0" rtlCol="0" anchor="ctr"/>
          <a:lstStyle/>
          <a:p>
            <a:r>
              <a:rPr lang="da-DK" sz="2250" b="1" noProof="0" dirty="0">
                <a:solidFill>
                  <a:srgbClr val="24332D"/>
                </a:solidFill>
              </a:rPr>
              <a:t>øvelse 2 Excel opret KUNDER tabel</a:t>
            </a:r>
            <a:endParaRPr lang="da-DK" sz="2250" noProof="0" dirty="0"/>
          </a:p>
        </p:txBody>
      </p:sp>
    </p:spTree>
    <p:extLst>
      <p:ext uri="{BB962C8B-B14F-4D97-AF65-F5344CB8AC3E}">
        <p14:creationId xmlns:p14="http://schemas.microsoft.com/office/powerpoint/2010/main" val="174197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D22F186-C707-AD84-6FAC-70E8D2C6E128}"/>
              </a:ext>
            </a:extLst>
          </p:cNvPr>
          <p:cNvSpPr>
            <a:spLocks noGrp="1"/>
          </p:cNvSpPr>
          <p:nvPr>
            <p:ph type="dt" sz="half" idx="10"/>
          </p:nvPr>
        </p:nvSpPr>
        <p:spPr/>
        <p:txBody>
          <a:bodyPr/>
          <a:lstStyle/>
          <a:p>
            <a:fld id="{EE52DFDF-C4A5-974D-BFEE-514BCBC82F36}" type="datetime1">
              <a:rPr lang="en-US" smtClean="0"/>
              <a:t>10/29/26</a:t>
            </a:fld>
            <a:endParaRPr lang="en-US"/>
          </a:p>
        </p:txBody>
      </p:sp>
      <p:sp>
        <p:nvSpPr>
          <p:cNvPr id="6" name="Footer Placeholder 5">
            <a:extLst>
              <a:ext uri="{FF2B5EF4-FFF2-40B4-BE49-F238E27FC236}">
                <a16:creationId xmlns:a16="http://schemas.microsoft.com/office/drawing/2014/main" id="{5C6873E1-E89D-E708-A567-024239A82B1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E2B038F4-E347-60F5-EE07-4EF367058B22}"/>
              </a:ext>
            </a:extLst>
          </p:cNvPr>
          <p:cNvSpPr>
            <a:spLocks noGrp="1"/>
          </p:cNvSpPr>
          <p:nvPr>
            <p:ph type="sldNum" sz="quarter" idx="12"/>
          </p:nvPr>
        </p:nvSpPr>
        <p:spPr/>
        <p:txBody>
          <a:bodyPr/>
          <a:lstStyle/>
          <a:p>
            <a:fld id="{CC057153-B650-4DEB-B370-79DDCFDCE934}" type="slidenum">
              <a:rPr lang="en-US" smtClean="0"/>
              <a:t>10</a:t>
            </a:fld>
            <a:endParaRPr lang="en-US"/>
          </a:p>
        </p:txBody>
      </p:sp>
      <p:sp>
        <p:nvSpPr>
          <p:cNvPr id="9" name="TextBox 8">
            <a:extLst>
              <a:ext uri="{FF2B5EF4-FFF2-40B4-BE49-F238E27FC236}">
                <a16:creationId xmlns:a16="http://schemas.microsoft.com/office/drawing/2014/main" id="{72919415-CD9D-617A-18A1-8CF205EF636B}"/>
              </a:ext>
            </a:extLst>
          </p:cNvPr>
          <p:cNvSpPr txBox="1"/>
          <p:nvPr/>
        </p:nvSpPr>
        <p:spPr>
          <a:xfrm>
            <a:off x="1663831" y="1023323"/>
            <a:ext cx="4572000" cy="2462213"/>
          </a:xfrm>
          <a:prstGeom prst="rect">
            <a:avLst/>
          </a:prstGeom>
          <a:noFill/>
        </p:spPr>
        <p:txBody>
          <a:bodyPr wrap="square">
            <a:spAutoFit/>
          </a:bodyPr>
          <a:lstStyle/>
          <a:p>
            <a:pPr>
              <a:buNone/>
            </a:pPr>
            <a:r>
              <a:rPr lang="en-DK" sz="1100" b="1" dirty="0"/>
              <a:t>Brug AI til at oprette 100 poster (10 minutter)</a:t>
            </a:r>
          </a:p>
          <a:p>
            <a:pPr>
              <a:buNone/>
            </a:pPr>
            <a:r>
              <a:rPr lang="en-DK" sz="1100" dirty="0"/>
              <a:t>Brug et AI-værktøj til at generere 100 fiktive kunder.</a:t>
            </a:r>
          </a:p>
          <a:p>
            <a:pPr>
              <a:buNone/>
            </a:pPr>
            <a:r>
              <a:rPr lang="en-DK" sz="1100" dirty="0"/>
              <a:t>AI skal generere følgende oplysninger for hver kunde: se sidste slide</a:t>
            </a:r>
          </a:p>
          <a:p>
            <a:pPr>
              <a:buNone/>
            </a:pPr>
            <a:r>
              <a:rPr lang="en-DK" sz="1100" b="1" dirty="0"/>
              <a:t>Krav:</a:t>
            </a:r>
            <a:endParaRPr lang="en-DK" sz="1100" dirty="0"/>
          </a:p>
          <a:p>
            <a:pPr marL="342900" lvl="0" indent="-342900">
              <a:buFont typeface="+mj-lt"/>
              <a:buAutoNum type="arabicPeriod"/>
            </a:pPr>
            <a:r>
              <a:rPr lang="en-DK" sz="1100" dirty="0"/>
              <a:t>Tabellen skal indeholde præcis 100 kunder.</a:t>
            </a:r>
          </a:p>
          <a:p>
            <a:pPr marL="342900" lvl="0" indent="-342900">
              <a:buFont typeface="+mj-lt"/>
              <a:buAutoNum type="arabicPeriod"/>
            </a:pPr>
            <a:r>
              <a:rPr lang="en-DK" sz="1100" dirty="0"/>
              <a:t>Kundenumrene skal være unikke.</a:t>
            </a:r>
          </a:p>
          <a:p>
            <a:pPr marL="342900" lvl="0" indent="-342900">
              <a:buFont typeface="+mj-lt"/>
              <a:buAutoNum type="arabicPeriod"/>
            </a:pPr>
            <a:r>
              <a:rPr lang="en-DK" sz="1100" dirty="0"/>
              <a:t>Dataene skal være fiktive og må ikke indeholde rigtige personers oplysninger.</a:t>
            </a:r>
          </a:p>
          <a:p>
            <a:pPr>
              <a:buNone/>
            </a:pPr>
            <a:r>
              <a:rPr lang="en-DK" sz="1100" dirty="0"/>
              <a:t>Når AI har genereret dataene, skal du indsætte dem i Excel under overskrifterne.</a:t>
            </a:r>
          </a:p>
          <a:p>
            <a:pPr>
              <a:buNone/>
            </a:pPr>
            <a:endParaRPr lang="en-DK" sz="1100" dirty="0"/>
          </a:p>
          <a:p>
            <a:pPr>
              <a:buNone/>
            </a:pPr>
            <a:endParaRPr lang="en-DK" sz="1100" dirty="0"/>
          </a:p>
          <a:p>
            <a:pPr>
              <a:buNone/>
            </a:pPr>
            <a:r>
              <a:rPr lang="en-DK" sz="1100" b="1" dirty="0"/>
              <a:t>Del 3 – Sortér data i Excel (10 minutter)</a:t>
            </a:r>
          </a:p>
          <a:p>
            <a:pPr>
              <a:buNone/>
            </a:pPr>
            <a:r>
              <a:rPr lang="en-DK" sz="1100" dirty="0"/>
              <a:t>Undersøg, hvordan du kan sortere kundetabellen.</a:t>
            </a:r>
          </a:p>
        </p:txBody>
      </p:sp>
      <p:sp>
        <p:nvSpPr>
          <p:cNvPr id="10" name="Text 1">
            <a:extLst>
              <a:ext uri="{FF2B5EF4-FFF2-40B4-BE49-F238E27FC236}">
                <a16:creationId xmlns:a16="http://schemas.microsoft.com/office/drawing/2014/main" id="{E34E1992-7E4C-03DD-BB24-ED7EC9484CDA}"/>
              </a:ext>
            </a:extLst>
          </p:cNvPr>
          <p:cNvSpPr/>
          <p:nvPr/>
        </p:nvSpPr>
        <p:spPr>
          <a:xfrm>
            <a:off x="525780" y="356686"/>
            <a:ext cx="8092440" cy="411480"/>
          </a:xfrm>
          <a:prstGeom prst="rect">
            <a:avLst/>
          </a:prstGeom>
          <a:noFill/>
          <a:ln/>
        </p:spPr>
        <p:txBody>
          <a:bodyPr wrap="square" lIns="0" tIns="0" rIns="0" bIns="0" rtlCol="0" anchor="ctr"/>
          <a:lstStyle/>
          <a:p>
            <a:r>
              <a:rPr lang="da-DK" sz="2250" b="1" noProof="0" dirty="0">
                <a:solidFill>
                  <a:srgbClr val="24332D"/>
                </a:solidFill>
              </a:rPr>
              <a:t>øvelse 2 Excel</a:t>
            </a:r>
            <a:endParaRPr lang="da-DK" sz="2250" noProof="0" dirty="0"/>
          </a:p>
        </p:txBody>
      </p:sp>
    </p:spTree>
    <p:extLst>
      <p:ext uri="{BB962C8B-B14F-4D97-AF65-F5344CB8AC3E}">
        <p14:creationId xmlns:p14="http://schemas.microsoft.com/office/powerpoint/2010/main" val="673333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DF2EEC7-213B-2FBE-7F65-8215C32310C9}"/>
              </a:ext>
            </a:extLst>
          </p:cNvPr>
          <p:cNvSpPr>
            <a:spLocks noGrp="1"/>
          </p:cNvSpPr>
          <p:nvPr>
            <p:ph type="dt" sz="half" idx="10"/>
          </p:nvPr>
        </p:nvSpPr>
        <p:spPr/>
        <p:txBody>
          <a:bodyPr/>
          <a:lstStyle/>
          <a:p>
            <a:fld id="{0D863DFE-9611-0948-87DD-36FC605D2BB8}" type="datetime1">
              <a:rPr lang="en-US" smtClean="0"/>
              <a:t>10/29/26</a:t>
            </a:fld>
            <a:endParaRPr lang="en-US"/>
          </a:p>
        </p:txBody>
      </p:sp>
      <p:sp>
        <p:nvSpPr>
          <p:cNvPr id="6" name="Footer Placeholder 5">
            <a:extLst>
              <a:ext uri="{FF2B5EF4-FFF2-40B4-BE49-F238E27FC236}">
                <a16:creationId xmlns:a16="http://schemas.microsoft.com/office/drawing/2014/main" id="{5FB75601-8B4E-8336-18B0-44A8D0D4946F}"/>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0103982-C9CD-500F-5F96-8221A8ECDA8F}"/>
              </a:ext>
            </a:extLst>
          </p:cNvPr>
          <p:cNvSpPr>
            <a:spLocks noGrp="1"/>
          </p:cNvSpPr>
          <p:nvPr>
            <p:ph type="sldNum" sz="quarter" idx="12"/>
          </p:nvPr>
        </p:nvSpPr>
        <p:spPr/>
        <p:txBody>
          <a:bodyPr/>
          <a:lstStyle/>
          <a:p>
            <a:fld id="{CC057153-B650-4DEB-B370-79DDCFDCE934}" type="slidenum">
              <a:rPr lang="en-US" smtClean="0"/>
              <a:t>11</a:t>
            </a:fld>
            <a:endParaRPr lang="en-US"/>
          </a:p>
        </p:txBody>
      </p:sp>
      <p:sp>
        <p:nvSpPr>
          <p:cNvPr id="8" name="Text 1">
            <a:extLst>
              <a:ext uri="{FF2B5EF4-FFF2-40B4-BE49-F238E27FC236}">
                <a16:creationId xmlns:a16="http://schemas.microsoft.com/office/drawing/2014/main" id="{AAD35D71-3272-4336-09D7-3226F121AE4D}"/>
              </a:ext>
            </a:extLst>
          </p:cNvPr>
          <p:cNvSpPr/>
          <p:nvPr/>
        </p:nvSpPr>
        <p:spPr>
          <a:xfrm>
            <a:off x="525780" y="356686"/>
            <a:ext cx="8092440" cy="411480"/>
          </a:xfrm>
          <a:prstGeom prst="rect">
            <a:avLst/>
          </a:prstGeom>
          <a:noFill/>
          <a:ln/>
        </p:spPr>
        <p:txBody>
          <a:bodyPr wrap="square" lIns="0" tIns="0" rIns="0" bIns="0" rtlCol="0" anchor="ctr"/>
          <a:lstStyle/>
          <a:p>
            <a:r>
              <a:rPr lang="da-DK" sz="2250" b="1" noProof="0" dirty="0">
                <a:solidFill>
                  <a:srgbClr val="24332D"/>
                </a:solidFill>
              </a:rPr>
              <a:t>Gruppe arbejde</a:t>
            </a:r>
            <a:endParaRPr lang="da-DK" sz="2250" noProof="0" dirty="0"/>
          </a:p>
        </p:txBody>
      </p:sp>
    </p:spTree>
    <p:extLst>
      <p:ext uri="{BB962C8B-B14F-4D97-AF65-F5344CB8AC3E}">
        <p14:creationId xmlns:p14="http://schemas.microsoft.com/office/powerpoint/2010/main" val="997337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4EBE7D58-0299-4ADE-A4D7-B50BD44C4529}"/>
              </a:ext>
            </a:extLst>
          </p:cNvPr>
          <p:cNvSpPr>
            <a:spLocks noGrp="1"/>
          </p:cNvSpPr>
          <p:nvPr>
            <p:ph type="pic" sz="quarter" idx="10"/>
          </p:nvPr>
        </p:nvSpPr>
        <p:spPr/>
        <p:txBody>
          <a:bodyPr/>
          <a:lstStyle/>
          <a:p>
            <a:endParaRPr lang="en-DK"/>
          </a:p>
        </p:txBody>
      </p:sp>
      <p:sp>
        <p:nvSpPr>
          <p:cNvPr id="3" name="Titel 2">
            <a:extLst>
              <a:ext uri="{FF2B5EF4-FFF2-40B4-BE49-F238E27FC236}">
                <a16:creationId xmlns:a16="http://schemas.microsoft.com/office/drawing/2014/main" id="{7B6400C4-F3D0-461D-9FB7-D299674DBE99}"/>
              </a:ext>
            </a:extLst>
          </p:cNvPr>
          <p:cNvSpPr>
            <a:spLocks noGrp="1"/>
          </p:cNvSpPr>
          <p:nvPr>
            <p:ph type="ctrTitle"/>
          </p:nvPr>
        </p:nvSpPr>
        <p:spPr/>
        <p:txBody>
          <a:bodyPr/>
          <a:lstStyle/>
          <a:p>
            <a:endParaRPr lang="da-DK"/>
          </a:p>
        </p:txBody>
      </p:sp>
      <p:sp>
        <p:nvSpPr>
          <p:cNvPr id="4" name="Undertitel 3">
            <a:extLst>
              <a:ext uri="{FF2B5EF4-FFF2-40B4-BE49-F238E27FC236}">
                <a16:creationId xmlns:a16="http://schemas.microsoft.com/office/drawing/2014/main" id="{586C7FD4-792D-4583-AD80-F243F6719A0F}"/>
              </a:ext>
            </a:extLst>
          </p:cNvPr>
          <p:cNvSpPr>
            <a:spLocks noGrp="1"/>
          </p:cNvSpPr>
          <p:nvPr>
            <p:ph type="subTitle" idx="1"/>
          </p:nvPr>
        </p:nvSpPr>
        <p:spPr/>
        <p:txBody>
          <a:bodyPr/>
          <a:lstStyle/>
          <a:p>
            <a:endParaRPr lang="da-DK"/>
          </a:p>
        </p:txBody>
      </p:sp>
      <p:sp>
        <p:nvSpPr>
          <p:cNvPr id="5" name="object 6">
            <a:extLst>
              <a:ext uri="{FF2B5EF4-FFF2-40B4-BE49-F238E27FC236}">
                <a16:creationId xmlns:a16="http://schemas.microsoft.com/office/drawing/2014/main" id="{22B9E361-AA2E-4DA1-9103-C25F01A12170}"/>
              </a:ext>
            </a:extLst>
          </p:cNvPr>
          <p:cNvSpPr/>
          <p:nvPr/>
        </p:nvSpPr>
        <p:spPr>
          <a:xfrm>
            <a:off x="0" y="3117"/>
            <a:ext cx="9132266" cy="5137265"/>
          </a:xfrm>
          <a:prstGeom prst="rect">
            <a:avLst/>
          </a:prstGeom>
          <a:blipFill>
            <a:blip r:embed="rId3" cstate="print"/>
            <a:stretch>
              <a:fillRect/>
            </a:stretch>
          </a:blipFill>
        </p:spPr>
        <p:txBody>
          <a:bodyPr wrap="square" lIns="0" tIns="0" rIns="0" bIns="0" rtlCol="0"/>
          <a:lstStyle/>
          <a:p>
            <a:endParaRPr/>
          </a:p>
        </p:txBody>
      </p:sp>
      <p:sp>
        <p:nvSpPr>
          <p:cNvPr id="6" name="object 7">
            <a:extLst>
              <a:ext uri="{FF2B5EF4-FFF2-40B4-BE49-F238E27FC236}">
                <a16:creationId xmlns:a16="http://schemas.microsoft.com/office/drawing/2014/main" id="{AD59CA99-3C41-4E1B-8F82-BFD0B7912FD8}"/>
              </a:ext>
            </a:extLst>
          </p:cNvPr>
          <p:cNvSpPr txBox="1"/>
          <p:nvPr/>
        </p:nvSpPr>
        <p:spPr>
          <a:xfrm>
            <a:off x="162778" y="3111143"/>
            <a:ext cx="7100888" cy="1936813"/>
          </a:xfrm>
          <a:prstGeom prst="rect">
            <a:avLst/>
          </a:prstGeom>
        </p:spPr>
        <p:txBody>
          <a:bodyPr vert="horz" wrap="square" lIns="0" tIns="164783" rIns="0" bIns="0" rtlCol="0">
            <a:spAutoFit/>
          </a:bodyPr>
          <a:lstStyle/>
          <a:p>
            <a:pPr marL="9525">
              <a:spcBef>
                <a:spcPts val="1298"/>
              </a:spcBef>
            </a:pPr>
            <a:r>
              <a:rPr sz="3600" spc="-4" dirty="0">
                <a:solidFill>
                  <a:srgbClr val="FFFFFF"/>
                </a:solidFill>
                <a:latin typeface="Calibri"/>
                <a:cs typeface="Calibri"/>
              </a:rPr>
              <a:t>MySQL</a:t>
            </a:r>
            <a:r>
              <a:rPr lang="da-DK" sz="3600" spc="-4" dirty="0">
                <a:solidFill>
                  <a:srgbClr val="FFFFFF"/>
                </a:solidFill>
                <a:latin typeface="Calibri"/>
                <a:cs typeface="Calibri"/>
              </a:rPr>
              <a:t> </a:t>
            </a:r>
            <a:r>
              <a:rPr lang="da-DK" sz="3600" spc="-4" dirty="0" err="1">
                <a:solidFill>
                  <a:srgbClr val="FFFFFF"/>
                </a:solidFill>
                <a:latin typeface="Calibri"/>
                <a:cs typeface="Calibri"/>
              </a:rPr>
              <a:t>HandsON</a:t>
            </a:r>
            <a:endParaRPr sz="3600" dirty="0">
              <a:latin typeface="Calibri"/>
              <a:cs typeface="Calibri"/>
            </a:endParaRPr>
          </a:p>
          <a:p>
            <a:pPr marL="9525">
              <a:spcBef>
                <a:spcPts val="1223"/>
              </a:spcBef>
            </a:pPr>
            <a:r>
              <a:rPr lang="da-DK" sz="3600" spc="-4" dirty="0">
                <a:solidFill>
                  <a:srgbClr val="FFFFFF"/>
                </a:solidFill>
                <a:latin typeface="Calibri"/>
                <a:cs typeface="Calibri"/>
              </a:rPr>
              <a:t> </a:t>
            </a:r>
            <a:endParaRPr sz="2700" dirty="0">
              <a:latin typeface="Calibri"/>
              <a:cs typeface="Calibri"/>
            </a:endParaRPr>
          </a:p>
          <a:p>
            <a:pPr marL="4131945">
              <a:spcBef>
                <a:spcPts val="3194"/>
              </a:spcBef>
            </a:pPr>
            <a:r>
              <a:rPr sz="638" spc="-4" dirty="0">
                <a:solidFill>
                  <a:srgbClr val="FFFFFF"/>
                </a:solidFill>
                <a:latin typeface="Calibri"/>
                <a:cs typeface="Calibri"/>
              </a:rPr>
              <a:t>Copyright © 2015, Oracle and/or its affiliates. All rights</a:t>
            </a:r>
            <a:r>
              <a:rPr sz="638" spc="15" dirty="0">
                <a:solidFill>
                  <a:srgbClr val="FFFFFF"/>
                </a:solidFill>
                <a:latin typeface="Calibri"/>
                <a:cs typeface="Calibri"/>
              </a:rPr>
              <a:t> </a:t>
            </a:r>
            <a:r>
              <a:rPr sz="638" spc="-4" dirty="0">
                <a:solidFill>
                  <a:srgbClr val="FFFFFF"/>
                </a:solidFill>
                <a:latin typeface="Calibri"/>
                <a:cs typeface="Calibri"/>
              </a:rPr>
              <a:t>reserved.</a:t>
            </a:r>
            <a:endParaRPr sz="638" dirty="0">
              <a:latin typeface="Calibri"/>
              <a:cs typeface="Calibri"/>
            </a:endParaRPr>
          </a:p>
        </p:txBody>
      </p:sp>
    </p:spTree>
    <p:extLst>
      <p:ext uri="{BB962C8B-B14F-4D97-AF65-F5344CB8AC3E}">
        <p14:creationId xmlns:p14="http://schemas.microsoft.com/office/powerpoint/2010/main" val="62877185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ladsholder til billede 4" descr="Et billede, der indeholder tekst, skærmbillede, Font/skrifttype, design&#10;&#10;AI-genereret indhold kan være ukorrekt.">
            <a:extLst>
              <a:ext uri="{FF2B5EF4-FFF2-40B4-BE49-F238E27FC236}">
                <a16:creationId xmlns:a16="http://schemas.microsoft.com/office/drawing/2014/main" id="{4A8BF141-1003-C723-D849-5858AFB96454}"/>
              </a:ext>
            </a:extLst>
          </p:cNvPr>
          <p:cNvPicPr>
            <a:picLocks noGrp="1" noChangeAspect="1"/>
          </p:cNvPicPr>
          <p:nvPr>
            <p:ph idx="1"/>
          </p:nvPr>
        </p:nvPicPr>
        <p:blipFill>
          <a:blip r:embed="rId2"/>
          <a:stretch>
            <a:fillRect/>
          </a:stretch>
        </p:blipFill>
        <p:spPr>
          <a:xfrm>
            <a:off x="90488" y="353401"/>
            <a:ext cx="8963025" cy="4436697"/>
          </a:xfrm>
          <a:prstGeom prst="rect">
            <a:avLst/>
          </a:prstGeom>
          <a:noFill/>
        </p:spPr>
      </p:pic>
    </p:spTree>
    <p:extLst>
      <p:ext uri="{BB962C8B-B14F-4D97-AF65-F5344CB8AC3E}">
        <p14:creationId xmlns:p14="http://schemas.microsoft.com/office/powerpoint/2010/main" val="19568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ladsholder til indhold 6" descr="Et billede, der indeholder tekst, skærmbillede, Font/skrifttype, design&#10;&#10;AI-genereret indhold kan være ukorrekt.">
            <a:extLst>
              <a:ext uri="{FF2B5EF4-FFF2-40B4-BE49-F238E27FC236}">
                <a16:creationId xmlns:a16="http://schemas.microsoft.com/office/drawing/2014/main" id="{8127A8C2-F71B-E3D8-58C4-0231C190AD25}"/>
              </a:ext>
            </a:extLst>
          </p:cNvPr>
          <p:cNvPicPr>
            <a:picLocks noGrp="1" noChangeAspect="1"/>
          </p:cNvPicPr>
          <p:nvPr>
            <p:ph idx="1"/>
          </p:nvPr>
        </p:nvPicPr>
        <p:blipFill>
          <a:blip r:embed="rId2"/>
          <a:stretch>
            <a:fillRect/>
          </a:stretch>
        </p:blipFill>
        <p:spPr>
          <a:xfrm>
            <a:off x="458840" y="230624"/>
            <a:ext cx="4572000" cy="1623596"/>
          </a:xfrm>
          <a:prstGeom prst="rect">
            <a:avLst/>
          </a:prstGeom>
        </p:spPr>
      </p:pic>
      <p:sp>
        <p:nvSpPr>
          <p:cNvPr id="4" name="Pladsholder til dato 3">
            <a:extLst>
              <a:ext uri="{FF2B5EF4-FFF2-40B4-BE49-F238E27FC236}">
                <a16:creationId xmlns:a16="http://schemas.microsoft.com/office/drawing/2014/main" id="{D539AA61-1CD3-4D0F-B8F6-70A226CEAC50}"/>
              </a:ext>
            </a:extLst>
          </p:cNvPr>
          <p:cNvSpPr>
            <a:spLocks noGrp="1"/>
          </p:cNvSpPr>
          <p:nvPr>
            <p:ph type="dt" sz="half" idx="10"/>
          </p:nvPr>
        </p:nvSpPr>
        <p:spPr/>
        <p:txBody>
          <a:bodyPr/>
          <a:lstStyle/>
          <a:p>
            <a:fld id="{E2097159-864C-4908-AB28-2434352D7E25}" type="datetime1">
              <a:rPr lang="en-DK"/>
              <a:t>29/10/2026</a:t>
            </a:fld>
            <a:endParaRPr lang="en-US"/>
          </a:p>
        </p:txBody>
      </p:sp>
      <p:sp>
        <p:nvSpPr>
          <p:cNvPr id="5" name="Pladsholder til sidefod 4">
            <a:extLst>
              <a:ext uri="{FF2B5EF4-FFF2-40B4-BE49-F238E27FC236}">
                <a16:creationId xmlns:a16="http://schemas.microsoft.com/office/drawing/2014/main" id="{BB66175B-4D79-BC0C-631C-26327C6E14C8}"/>
              </a:ext>
            </a:extLst>
          </p:cNvPr>
          <p:cNvSpPr>
            <a:spLocks noGrp="1"/>
          </p:cNvSpPr>
          <p:nvPr>
            <p:ph type="ftr" sz="quarter" idx="11"/>
          </p:nvPr>
        </p:nvSpPr>
        <p:spPr/>
        <p:txBody>
          <a:bodyPr/>
          <a:lstStyle/>
          <a:p>
            <a:r>
              <a:rPr lang="en-US"/>
              <a:t>
              </a:t>
            </a:r>
          </a:p>
        </p:txBody>
      </p:sp>
      <p:sp>
        <p:nvSpPr>
          <p:cNvPr id="6" name="Pladsholder til slidenummer 5">
            <a:extLst>
              <a:ext uri="{FF2B5EF4-FFF2-40B4-BE49-F238E27FC236}">
                <a16:creationId xmlns:a16="http://schemas.microsoft.com/office/drawing/2014/main" id="{F287E9A8-A164-D102-2ED4-A494FEA3AE5B}"/>
              </a:ext>
            </a:extLst>
          </p:cNvPr>
          <p:cNvSpPr>
            <a:spLocks noGrp="1"/>
          </p:cNvSpPr>
          <p:nvPr>
            <p:ph type="sldNum" sz="quarter" idx="12"/>
          </p:nvPr>
        </p:nvSpPr>
        <p:spPr/>
        <p:txBody>
          <a:bodyPr/>
          <a:lstStyle/>
          <a:p>
            <a:fld id="{CC057153-B650-4DEB-B370-79DDCFDCE934}" type="slidenum">
              <a:rPr lang="en-US" dirty="0"/>
              <a:t>14</a:t>
            </a:fld>
            <a:endParaRPr lang="en-US"/>
          </a:p>
        </p:txBody>
      </p:sp>
      <p:pic>
        <p:nvPicPr>
          <p:cNvPr id="8" name="Billede 7" descr="Et billede, der indeholder tekst, skærmbillede, Font/skrifttype, design&#10;&#10;AI-genereret indhold kan være ukorrekt.">
            <a:extLst>
              <a:ext uri="{FF2B5EF4-FFF2-40B4-BE49-F238E27FC236}">
                <a16:creationId xmlns:a16="http://schemas.microsoft.com/office/drawing/2014/main" id="{4E0F170C-1E28-8505-190B-F696EAA4836F}"/>
              </a:ext>
            </a:extLst>
          </p:cNvPr>
          <p:cNvPicPr>
            <a:picLocks noChangeAspect="1"/>
          </p:cNvPicPr>
          <p:nvPr/>
        </p:nvPicPr>
        <p:blipFill>
          <a:blip r:embed="rId3"/>
          <a:stretch>
            <a:fillRect/>
          </a:stretch>
        </p:blipFill>
        <p:spPr>
          <a:xfrm>
            <a:off x="0" y="2084780"/>
            <a:ext cx="5543550" cy="2759877"/>
          </a:xfrm>
          <a:prstGeom prst="rect">
            <a:avLst/>
          </a:prstGeom>
        </p:spPr>
      </p:pic>
    </p:spTree>
    <p:extLst>
      <p:ext uri="{BB962C8B-B14F-4D97-AF65-F5344CB8AC3E}">
        <p14:creationId xmlns:p14="http://schemas.microsoft.com/office/powerpoint/2010/main" val="3044851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F6BE6-704C-5ECF-612F-83A35F9876B5}"/>
              </a:ext>
            </a:extLst>
          </p:cNvPr>
          <p:cNvSpPr>
            <a:spLocks noGrp="1"/>
          </p:cNvSpPr>
          <p:nvPr>
            <p:ph type="title"/>
          </p:nvPr>
        </p:nvSpPr>
        <p:spPr/>
        <p:txBody>
          <a:bodyPr>
            <a:normAutofit fontScale="90000"/>
          </a:bodyPr>
          <a:lstStyle/>
          <a:p>
            <a:r>
              <a:rPr lang="en-DK" dirty="0"/>
              <a:t>MySQL installed directly vs. MySQL in Docker</a:t>
            </a:r>
          </a:p>
        </p:txBody>
      </p:sp>
      <p:pic>
        <p:nvPicPr>
          <p:cNvPr id="8" name="Content Placeholder 7">
            <a:extLst>
              <a:ext uri="{FF2B5EF4-FFF2-40B4-BE49-F238E27FC236}">
                <a16:creationId xmlns:a16="http://schemas.microsoft.com/office/drawing/2014/main" id="{24538C89-921C-0E41-6767-732AD447DA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6262" y="1771050"/>
            <a:ext cx="7991475" cy="2558326"/>
          </a:xfrm>
          <a:prstGeom prst="rect">
            <a:avLst/>
          </a:prstGeom>
        </p:spPr>
      </p:pic>
      <p:sp>
        <p:nvSpPr>
          <p:cNvPr id="4" name="Date Placeholder 3">
            <a:extLst>
              <a:ext uri="{FF2B5EF4-FFF2-40B4-BE49-F238E27FC236}">
                <a16:creationId xmlns:a16="http://schemas.microsoft.com/office/drawing/2014/main" id="{E8D79D62-23D4-38EF-926F-33F6A9B43A1A}"/>
              </a:ext>
            </a:extLst>
          </p:cNvPr>
          <p:cNvSpPr>
            <a:spLocks noGrp="1"/>
          </p:cNvSpPr>
          <p:nvPr>
            <p:ph type="dt" sz="half" idx="10"/>
          </p:nvPr>
        </p:nvSpPr>
        <p:spPr/>
        <p:txBody>
          <a:bodyPr/>
          <a:lstStyle/>
          <a:p>
            <a:fld id="{4FE4F61B-3571-1F4C-8C56-D84E0810EA20}" type="datetime1">
              <a:rPr lang="en-US" smtClean="0"/>
              <a:t>10/29/26</a:t>
            </a:fld>
            <a:endParaRPr lang="en-US"/>
          </a:p>
        </p:txBody>
      </p:sp>
      <p:sp>
        <p:nvSpPr>
          <p:cNvPr id="5" name="Footer Placeholder 4">
            <a:extLst>
              <a:ext uri="{FF2B5EF4-FFF2-40B4-BE49-F238E27FC236}">
                <a16:creationId xmlns:a16="http://schemas.microsoft.com/office/drawing/2014/main" id="{2D858E18-BD95-D302-34C3-4AF69D2BB77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E97A245-E1C3-C190-5136-EF06BBBD9A8C}"/>
              </a:ext>
            </a:extLst>
          </p:cNvPr>
          <p:cNvSpPr>
            <a:spLocks noGrp="1"/>
          </p:cNvSpPr>
          <p:nvPr>
            <p:ph type="sldNum" sz="quarter" idx="12"/>
          </p:nvPr>
        </p:nvSpPr>
        <p:spPr/>
        <p:txBody>
          <a:bodyPr/>
          <a:lstStyle/>
          <a:p>
            <a:fld id="{CC057153-B650-4DEB-B370-79DDCFDCE934}" type="slidenum">
              <a:rPr lang="en-US" smtClean="0"/>
              <a:t>15</a:t>
            </a:fld>
            <a:endParaRPr lang="en-US"/>
          </a:p>
        </p:txBody>
      </p:sp>
    </p:spTree>
    <p:extLst>
      <p:ext uri="{BB962C8B-B14F-4D97-AF65-F5344CB8AC3E}">
        <p14:creationId xmlns:p14="http://schemas.microsoft.com/office/powerpoint/2010/main" val="1974796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FBC9-3567-AE82-1760-4711B581DA72}"/>
              </a:ext>
            </a:extLst>
          </p:cNvPr>
          <p:cNvSpPr>
            <a:spLocks noGrp="1"/>
          </p:cNvSpPr>
          <p:nvPr>
            <p:ph type="title"/>
          </p:nvPr>
        </p:nvSpPr>
        <p:spPr/>
        <p:txBody>
          <a:bodyPr/>
          <a:lstStyle/>
          <a:p>
            <a:endParaRPr lang="en-DK"/>
          </a:p>
        </p:txBody>
      </p:sp>
      <p:pic>
        <p:nvPicPr>
          <p:cNvPr id="8" name="Content Placeholder 7">
            <a:extLst>
              <a:ext uri="{FF2B5EF4-FFF2-40B4-BE49-F238E27FC236}">
                <a16:creationId xmlns:a16="http://schemas.microsoft.com/office/drawing/2014/main" id="{2C8E0E0A-D785-4A6F-D05E-926FA36643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6280" y="307081"/>
            <a:ext cx="7676596" cy="3446463"/>
          </a:xfrm>
          <a:prstGeom prst="rect">
            <a:avLst/>
          </a:prstGeom>
        </p:spPr>
      </p:pic>
      <p:sp>
        <p:nvSpPr>
          <p:cNvPr id="4" name="Date Placeholder 3">
            <a:extLst>
              <a:ext uri="{FF2B5EF4-FFF2-40B4-BE49-F238E27FC236}">
                <a16:creationId xmlns:a16="http://schemas.microsoft.com/office/drawing/2014/main" id="{9300A0AC-4741-70C4-5108-189FD46BF1A8}"/>
              </a:ext>
            </a:extLst>
          </p:cNvPr>
          <p:cNvSpPr>
            <a:spLocks noGrp="1"/>
          </p:cNvSpPr>
          <p:nvPr>
            <p:ph type="dt" sz="half" idx="10"/>
          </p:nvPr>
        </p:nvSpPr>
        <p:spPr/>
        <p:txBody>
          <a:bodyPr/>
          <a:lstStyle/>
          <a:p>
            <a:fld id="{6B04A0B1-97DA-4445-B131-2DFD3AF506EE}" type="datetime1">
              <a:rPr lang="en-US" smtClean="0"/>
              <a:t>10/29/26</a:t>
            </a:fld>
            <a:endParaRPr lang="en-US"/>
          </a:p>
        </p:txBody>
      </p:sp>
      <p:sp>
        <p:nvSpPr>
          <p:cNvPr id="5" name="Footer Placeholder 4">
            <a:extLst>
              <a:ext uri="{FF2B5EF4-FFF2-40B4-BE49-F238E27FC236}">
                <a16:creationId xmlns:a16="http://schemas.microsoft.com/office/drawing/2014/main" id="{B24834EB-804F-113E-D5C3-6578FDD9A47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EB05017-519A-4B17-A8BF-89287B452EF9}"/>
              </a:ext>
            </a:extLst>
          </p:cNvPr>
          <p:cNvSpPr>
            <a:spLocks noGrp="1"/>
          </p:cNvSpPr>
          <p:nvPr>
            <p:ph type="sldNum" sz="quarter" idx="12"/>
          </p:nvPr>
        </p:nvSpPr>
        <p:spPr/>
        <p:txBody>
          <a:bodyPr/>
          <a:lstStyle/>
          <a:p>
            <a:fld id="{CC057153-B650-4DEB-B370-79DDCFDCE934}" type="slidenum">
              <a:rPr lang="en-US" smtClean="0"/>
              <a:t>16</a:t>
            </a:fld>
            <a:endParaRPr lang="en-US"/>
          </a:p>
        </p:txBody>
      </p:sp>
    </p:spTree>
    <p:extLst>
      <p:ext uri="{BB962C8B-B14F-4D97-AF65-F5344CB8AC3E}">
        <p14:creationId xmlns:p14="http://schemas.microsoft.com/office/powerpoint/2010/main" val="2285880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CBAB2-63CC-756F-BB3B-0403EFBC3D94}"/>
              </a:ext>
            </a:extLst>
          </p:cNvPr>
          <p:cNvSpPr>
            <a:spLocks noGrp="1"/>
          </p:cNvSpPr>
          <p:nvPr>
            <p:ph type="title"/>
          </p:nvPr>
        </p:nvSpPr>
        <p:spPr/>
        <p:txBody>
          <a:bodyPr/>
          <a:lstStyle/>
          <a:p>
            <a:r>
              <a:rPr lang="en-DK" dirty="0"/>
              <a:t>Docker</a:t>
            </a:r>
          </a:p>
        </p:txBody>
      </p:sp>
      <p:sp>
        <p:nvSpPr>
          <p:cNvPr id="4" name="Date Placeholder 3">
            <a:extLst>
              <a:ext uri="{FF2B5EF4-FFF2-40B4-BE49-F238E27FC236}">
                <a16:creationId xmlns:a16="http://schemas.microsoft.com/office/drawing/2014/main" id="{95133162-9A26-5221-CB62-0A02FCC32112}"/>
              </a:ext>
            </a:extLst>
          </p:cNvPr>
          <p:cNvSpPr>
            <a:spLocks noGrp="1"/>
          </p:cNvSpPr>
          <p:nvPr>
            <p:ph type="dt" sz="half" idx="10"/>
          </p:nvPr>
        </p:nvSpPr>
        <p:spPr/>
        <p:txBody>
          <a:bodyPr/>
          <a:lstStyle/>
          <a:p>
            <a:fld id="{6A256CC6-C636-284B-AE3C-1AB587762C74}" type="datetime1">
              <a:rPr lang="en-US" smtClean="0"/>
              <a:t>10/29/26</a:t>
            </a:fld>
            <a:endParaRPr lang="en-US"/>
          </a:p>
        </p:txBody>
      </p:sp>
      <p:sp>
        <p:nvSpPr>
          <p:cNvPr id="5" name="Footer Placeholder 4">
            <a:extLst>
              <a:ext uri="{FF2B5EF4-FFF2-40B4-BE49-F238E27FC236}">
                <a16:creationId xmlns:a16="http://schemas.microsoft.com/office/drawing/2014/main" id="{D2E4A552-7569-1D1A-EE0D-98A96E4C722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23B3884-7FEC-4DC5-29DC-9279E618E424}"/>
              </a:ext>
            </a:extLst>
          </p:cNvPr>
          <p:cNvSpPr>
            <a:spLocks noGrp="1"/>
          </p:cNvSpPr>
          <p:nvPr>
            <p:ph type="sldNum" sz="quarter" idx="12"/>
          </p:nvPr>
        </p:nvSpPr>
        <p:spPr/>
        <p:txBody>
          <a:bodyPr/>
          <a:lstStyle/>
          <a:p>
            <a:fld id="{CC057153-B650-4DEB-B370-79DDCFDCE934}" type="slidenum">
              <a:rPr lang="en-US" smtClean="0"/>
              <a:t>17</a:t>
            </a:fld>
            <a:endParaRPr lang="en-US"/>
          </a:p>
        </p:txBody>
      </p:sp>
      <p:pic>
        <p:nvPicPr>
          <p:cNvPr id="7" name="Picture 6" descr="Introduction to Docker (Codementor.io)">
            <a:extLst>
              <a:ext uri="{FF2B5EF4-FFF2-40B4-BE49-F238E27FC236}">
                <a16:creationId xmlns:a16="http://schemas.microsoft.com/office/drawing/2014/main" id="{608EE8AA-2AB1-4F38-CF64-A55B796F109C}"/>
              </a:ext>
            </a:extLst>
          </p:cNvPr>
          <p:cNvPicPr>
            <a:picLocks noChangeAspect="1"/>
          </p:cNvPicPr>
          <p:nvPr/>
        </p:nvPicPr>
        <p:blipFill>
          <a:blip r:embed="rId2"/>
          <a:stretch>
            <a:fillRect/>
          </a:stretch>
        </p:blipFill>
        <p:spPr>
          <a:xfrm>
            <a:off x="1028753" y="968124"/>
            <a:ext cx="6262246" cy="4008550"/>
          </a:xfrm>
          <a:prstGeom prst="rect">
            <a:avLst/>
          </a:prstGeom>
        </p:spPr>
      </p:pic>
    </p:spTree>
    <p:extLst>
      <p:ext uri="{BB962C8B-B14F-4D97-AF65-F5344CB8AC3E}">
        <p14:creationId xmlns:p14="http://schemas.microsoft.com/office/powerpoint/2010/main" val="4293890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err="1"/>
              <a:t>Introduktion</a:t>
            </a:r>
            <a:r>
              <a:rPr sz="2800" dirty="0"/>
              <a:t> </a:t>
            </a:r>
            <a:r>
              <a:rPr sz="2800" dirty="0" err="1"/>
              <a:t>til</a:t>
            </a:r>
            <a:r>
              <a:rPr sz="2800" dirty="0"/>
              <a:t> MySQL Workbench</a:t>
            </a:r>
          </a:p>
        </p:txBody>
      </p:sp>
      <p:sp>
        <p:nvSpPr>
          <p:cNvPr id="3" name="Content Placeholder 2"/>
          <p:cNvSpPr>
            <a:spLocks noGrp="1"/>
          </p:cNvSpPr>
          <p:nvPr>
            <p:ph idx="1"/>
          </p:nvPr>
        </p:nvSpPr>
        <p:spPr/>
        <p:txBody>
          <a:bodyPr/>
          <a:lstStyle/>
          <a:p>
            <a:r>
              <a:t>MySQL Workbench er et grafisk værktøj udviklet af Oracle.</a:t>
            </a:r>
          </a:p>
          <a:p>
            <a:r>
              <a:t>Det anses for at være lettere at bruge end pgAdmin.</a:t>
            </a:r>
          </a:p>
          <a:p>
            <a:r>
              <a:t>Understøtter SQL-udvikling, datamodellering og serveradministration.</a:t>
            </a:r>
          </a:p>
        </p:txBody>
      </p:sp>
    </p:spTree>
    <p:extLst>
      <p:ext uri="{BB962C8B-B14F-4D97-AF65-F5344CB8AC3E}">
        <p14:creationId xmlns:p14="http://schemas.microsoft.com/office/powerpoint/2010/main" val="2044312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8F55D-BA1D-E19D-CEAA-0919E8CABF2B}"/>
              </a:ext>
            </a:extLst>
          </p:cNvPr>
          <p:cNvSpPr>
            <a:spLocks noGrp="1"/>
          </p:cNvSpPr>
          <p:nvPr>
            <p:ph type="dt" sz="half" idx="10"/>
          </p:nvPr>
        </p:nvSpPr>
        <p:spPr/>
        <p:txBody>
          <a:bodyPr/>
          <a:lstStyle/>
          <a:p>
            <a:fld id="{B8C962A4-FDAB-46EA-8835-BA98A41F4358}" type="datetime1">
              <a:rPr lang="en-DK"/>
              <a:t>29/10/2026</a:t>
            </a:fld>
            <a:endParaRPr lang="en-US"/>
          </a:p>
        </p:txBody>
      </p:sp>
      <p:sp>
        <p:nvSpPr>
          <p:cNvPr id="3" name="Footer Placeholder 2">
            <a:extLst>
              <a:ext uri="{FF2B5EF4-FFF2-40B4-BE49-F238E27FC236}">
                <a16:creationId xmlns:a16="http://schemas.microsoft.com/office/drawing/2014/main" id="{7AA30A93-21B2-A1E3-E4E9-217517030DFE}"/>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2DAFE6F-AA5C-DFCF-3564-F1AE1585C598}"/>
              </a:ext>
            </a:extLst>
          </p:cNvPr>
          <p:cNvSpPr>
            <a:spLocks noGrp="1"/>
          </p:cNvSpPr>
          <p:nvPr>
            <p:ph type="sldNum" sz="quarter" idx="12"/>
          </p:nvPr>
        </p:nvSpPr>
        <p:spPr/>
        <p:txBody>
          <a:bodyPr/>
          <a:lstStyle/>
          <a:p>
            <a:fld id="{CC057153-B650-4DEB-B370-79DDCFDCE934}" type="slidenum">
              <a:rPr lang="en-US" dirty="0"/>
              <a:t>19</a:t>
            </a:fld>
            <a:endParaRPr lang="en-US"/>
          </a:p>
        </p:txBody>
      </p:sp>
      <p:sp>
        <p:nvSpPr>
          <p:cNvPr id="6" name="object 3">
            <a:extLst>
              <a:ext uri="{FF2B5EF4-FFF2-40B4-BE49-F238E27FC236}">
                <a16:creationId xmlns:a16="http://schemas.microsoft.com/office/drawing/2014/main" id="{B981B3AB-3740-8FBC-90B3-A3370B3F070A}"/>
              </a:ext>
            </a:extLst>
          </p:cNvPr>
          <p:cNvSpPr txBox="1">
            <a:spLocks/>
          </p:cNvSpPr>
          <p:nvPr/>
        </p:nvSpPr>
        <p:spPr>
          <a:xfrm>
            <a:off x="-82140" y="-88900"/>
            <a:ext cx="8418405" cy="2012859"/>
          </a:xfrm>
          <a:prstGeom prst="rect">
            <a:avLst/>
          </a:prstGeom>
        </p:spPr>
        <p:txBody>
          <a:bodyPr vert="horz" wrap="square" lIns="0" tIns="749300" rIns="0" bIns="0" rtlCol="0" anchor="t">
            <a:spAutoFit/>
          </a:bodyPr>
          <a:lstStyle>
            <a:lvl1pPr>
              <a:defRPr>
                <a:latin typeface="+mj-lt"/>
                <a:ea typeface="+mj-ea"/>
                <a:cs typeface="+mj-cs"/>
              </a:defRPr>
            </a:lvl1pPr>
          </a:lstStyle>
          <a:p>
            <a:pPr marL="630555" algn="l">
              <a:lnSpc>
                <a:spcPct val="90000"/>
              </a:lnSpc>
              <a:spcBef>
                <a:spcPct val="0"/>
              </a:spcBef>
            </a:pPr>
            <a:r>
              <a:rPr lang="da-DK" sz="3600" b="1" kern="1200">
                <a:solidFill>
                  <a:schemeClr val="tx1"/>
                </a:solidFill>
              </a:rPr>
              <a:t>Demo</a:t>
            </a:r>
            <a:endParaRPr lang="en-US">
              <a:solidFill>
                <a:schemeClr val="tx1"/>
              </a:solidFill>
            </a:endParaRPr>
          </a:p>
          <a:p>
            <a:pPr marL="630555" algn="l" rtl="0">
              <a:lnSpc>
                <a:spcPct val="90000"/>
              </a:lnSpc>
              <a:spcBef>
                <a:spcPct val="0"/>
              </a:spcBef>
            </a:pPr>
            <a:r>
              <a:rPr lang="da-DK" sz="3600" b="1" kern="1200" err="1">
                <a:solidFill>
                  <a:schemeClr val="tx1"/>
                </a:solidFill>
              </a:rPr>
              <a:t>Mysql</a:t>
            </a:r>
            <a:r>
              <a:rPr lang="da-DK" sz="3600" b="1" kern="1200">
                <a:solidFill>
                  <a:schemeClr val="tx1"/>
                </a:solidFill>
              </a:rPr>
              <a:t> Workbench</a:t>
            </a:r>
          </a:p>
          <a:p>
            <a:pPr marL="630555">
              <a:spcBef>
                <a:spcPts val="100"/>
              </a:spcBef>
            </a:pPr>
            <a:endParaRPr lang="da-DK" sz="1600"/>
          </a:p>
        </p:txBody>
      </p:sp>
      <p:pic>
        <p:nvPicPr>
          <p:cNvPr id="5" name="Billede 4" descr="Et billede, der indeholder tekst, skærmbillede, tøj&#10;&#10;AI-genereret indhold kan være ukorrekt.">
            <a:extLst>
              <a:ext uri="{FF2B5EF4-FFF2-40B4-BE49-F238E27FC236}">
                <a16:creationId xmlns:a16="http://schemas.microsoft.com/office/drawing/2014/main" id="{AA37D0CC-53F2-3FC0-BCB2-8EAA67392CDF}"/>
              </a:ext>
            </a:extLst>
          </p:cNvPr>
          <p:cNvPicPr>
            <a:picLocks noChangeAspect="1"/>
          </p:cNvPicPr>
          <p:nvPr/>
        </p:nvPicPr>
        <p:blipFill>
          <a:blip r:embed="rId3"/>
          <a:srcRect b="-109"/>
          <a:stretch>
            <a:fillRect/>
          </a:stretch>
        </p:blipFill>
        <p:spPr>
          <a:xfrm>
            <a:off x="0" y="164307"/>
            <a:ext cx="9144000" cy="4948877"/>
          </a:xfrm>
          <a:prstGeom prst="rect">
            <a:avLst/>
          </a:prstGeom>
        </p:spPr>
      </p:pic>
    </p:spTree>
    <p:extLst>
      <p:ext uri="{BB962C8B-B14F-4D97-AF65-F5344CB8AC3E}">
        <p14:creationId xmlns:p14="http://schemas.microsoft.com/office/powerpoint/2010/main" val="324180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1" cy="1"/>
          <a:chOff x="0" y="0"/>
          <a:chExt cx="1" cy="1"/>
        </a:xfrm>
      </p:grpSpPr>
      <p:sp>
        <p:nvSpPr>
          <p:cNvPr id="2" name="Shape 0"/>
          <p:cNvSpPr/>
          <p:nvPr/>
        </p:nvSpPr>
        <p:spPr>
          <a:xfrm rot="1200000">
            <a:off x="6755130" y="240030"/>
            <a:ext cx="2125980" cy="2125980"/>
          </a:xfrm>
          <a:prstGeom prst="arc">
            <a:avLst/>
          </a:prstGeom>
          <a:solidFill>
            <a:srgbClr val="F39A3E">
              <a:alpha val="90000"/>
            </a:srgbClr>
          </a:solidFill>
          <a:ln w="12700">
            <a:solidFill>
              <a:srgbClr val="333333">
                <a:alpha val="0"/>
              </a:srgbClr>
            </a:solidFill>
            <a:prstDash val="solid"/>
          </a:ln>
        </p:spPr>
        <p:txBody>
          <a:bodyPr/>
          <a:lstStyle/>
          <a:p>
            <a:endParaRPr lang="en-DK"/>
          </a:p>
        </p:txBody>
      </p:sp>
      <p:sp>
        <p:nvSpPr>
          <p:cNvPr id="3" name="Shape 1"/>
          <p:cNvSpPr/>
          <p:nvPr/>
        </p:nvSpPr>
        <p:spPr>
          <a:xfrm rot="12000000">
            <a:off x="6892290" y="2777490"/>
            <a:ext cx="2057400" cy="2057400"/>
          </a:xfrm>
          <a:prstGeom prst="arc">
            <a:avLst/>
          </a:prstGeom>
          <a:solidFill>
            <a:srgbClr val="169C9A">
              <a:alpha val="92000"/>
            </a:srgbClr>
          </a:solidFill>
          <a:ln w="12700">
            <a:solidFill>
              <a:srgbClr val="333333">
                <a:alpha val="0"/>
              </a:srgbClr>
            </a:solidFill>
            <a:prstDash val="solid"/>
          </a:ln>
        </p:spPr>
        <p:txBody>
          <a:bodyPr/>
          <a:lstStyle/>
          <a:p>
            <a:endParaRPr lang="en-DK"/>
          </a:p>
        </p:txBody>
      </p:sp>
      <p:sp>
        <p:nvSpPr>
          <p:cNvPr id="4" name="Text 2"/>
          <p:cNvSpPr/>
          <p:nvPr/>
        </p:nvSpPr>
        <p:spPr>
          <a:xfrm>
            <a:off x="514350" y="548640"/>
            <a:ext cx="4457700" cy="205740"/>
          </a:xfrm>
          <a:prstGeom prst="rect">
            <a:avLst/>
          </a:prstGeom>
          <a:noFill/>
          <a:ln/>
        </p:spPr>
        <p:txBody>
          <a:bodyPr wrap="square" lIns="0" tIns="0" rIns="0" bIns="0" rtlCol="0" anchor="ctr"/>
          <a:lstStyle/>
          <a:p>
            <a:r>
              <a:rPr lang="en-US" sz="900" b="1" spc="113" dirty="0">
                <a:solidFill>
                  <a:srgbClr val="F39A3E"/>
                </a:solidFill>
              </a:rPr>
              <a:t>DATABASE OG MYSQL · GANG 2</a:t>
            </a:r>
            <a:endParaRPr lang="en-US" sz="900" dirty="0"/>
          </a:p>
        </p:txBody>
      </p:sp>
      <p:sp>
        <p:nvSpPr>
          <p:cNvPr id="5" name="Text 3"/>
          <p:cNvSpPr/>
          <p:nvPr/>
        </p:nvSpPr>
        <p:spPr>
          <a:xfrm>
            <a:off x="514350" y="754380"/>
            <a:ext cx="5760720" cy="960120"/>
          </a:xfrm>
          <a:prstGeom prst="rect">
            <a:avLst/>
          </a:prstGeom>
          <a:noFill/>
          <a:ln/>
        </p:spPr>
        <p:txBody>
          <a:bodyPr wrap="square" lIns="0" tIns="0" rIns="0" bIns="0" rtlCol="0" anchor="ctr"/>
          <a:lstStyle/>
          <a:p>
            <a:r>
              <a:rPr lang="en-US" sz="3600" b="1" dirty="0" err="1">
                <a:solidFill>
                  <a:schemeClr val="bg2"/>
                </a:solidFill>
              </a:rPr>
              <a:t>Relationer</a:t>
            </a:r>
            <a:r>
              <a:rPr lang="en-US" sz="3600" b="1" dirty="0">
                <a:solidFill>
                  <a:schemeClr val="bg2"/>
                </a:solidFill>
              </a:rPr>
              <a:t> database</a:t>
            </a:r>
            <a:endParaRPr lang="en-US" sz="3600" dirty="0">
              <a:solidFill>
                <a:schemeClr val="bg2"/>
              </a:solidFill>
            </a:endParaRPr>
          </a:p>
        </p:txBody>
      </p:sp>
      <p:sp>
        <p:nvSpPr>
          <p:cNvPr id="7" name="Text 5"/>
          <p:cNvSpPr/>
          <p:nvPr/>
        </p:nvSpPr>
        <p:spPr>
          <a:xfrm>
            <a:off x="534924" y="3874770"/>
            <a:ext cx="1165860" cy="308610"/>
          </a:xfrm>
          <a:prstGeom prst="rect">
            <a:avLst/>
          </a:prstGeom>
          <a:solidFill>
            <a:srgbClr val="F39A3E"/>
          </a:solidFill>
          <a:ln/>
        </p:spPr>
        <p:txBody>
          <a:bodyPr wrap="square" lIns="191" tIns="191" rIns="191" bIns="191" rtlCol="0" anchor="ctr"/>
          <a:lstStyle/>
          <a:p>
            <a:pPr algn="ctr"/>
            <a:r>
              <a:rPr lang="en-US" sz="1050" b="1" dirty="0">
                <a:solidFill>
                  <a:srgbClr val="FFFFFF"/>
                </a:solidFill>
              </a:rPr>
              <a:t>I PRAKSIS</a:t>
            </a:r>
            <a:endParaRPr lang="en-US" sz="1050" dirty="0"/>
          </a:p>
        </p:txBody>
      </p:sp>
      <p:sp>
        <p:nvSpPr>
          <p:cNvPr id="8" name="Text 6"/>
          <p:cNvSpPr/>
          <p:nvPr/>
        </p:nvSpPr>
        <p:spPr>
          <a:xfrm>
            <a:off x="534924" y="4491990"/>
            <a:ext cx="1371600" cy="171450"/>
          </a:xfrm>
          <a:prstGeom prst="rect">
            <a:avLst/>
          </a:prstGeom>
          <a:noFill/>
          <a:ln/>
        </p:spPr>
        <p:txBody>
          <a:bodyPr wrap="square" lIns="0" tIns="0" rIns="0" bIns="0" rtlCol="0" anchor="ctr"/>
          <a:lstStyle/>
          <a:p>
            <a:r>
              <a:rPr lang="en-US" sz="750" dirty="0">
                <a:solidFill>
                  <a:srgbClr val="D6E4DF"/>
                </a:solidFill>
              </a:rPr>
              <a:t>xbi · 2026</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OVERBLIK</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I dag lærer du</a:t>
            </a:r>
            <a:endParaRPr lang="en-US" sz="2250" dirty="0"/>
          </a:p>
        </p:txBody>
      </p:sp>
      <p:sp>
        <p:nvSpPr>
          <p:cNvPr id="4" name="Text 2"/>
          <p:cNvSpPr/>
          <p:nvPr/>
        </p:nvSpPr>
        <p:spPr>
          <a:xfrm>
            <a:off x="459486" y="1042416"/>
            <a:ext cx="7886700" cy="260604"/>
          </a:xfrm>
          <a:prstGeom prst="rect">
            <a:avLst/>
          </a:prstGeom>
          <a:noFill/>
          <a:ln/>
        </p:spPr>
        <p:txBody>
          <a:bodyPr wrap="square" lIns="0" tIns="0" rIns="0" bIns="0" rtlCol="0" anchor="ctr"/>
          <a:lstStyle/>
          <a:p>
            <a:r>
              <a:rPr lang="en-US" sz="1125" dirty="0">
                <a:solidFill>
                  <a:srgbClr val="66756E"/>
                </a:solidFill>
              </a:rPr>
              <a:t>Efter undervisningen kan du forklare, anvende og kontrollere de vigtigste begreber.</a:t>
            </a:r>
            <a:endParaRPr lang="en-US" sz="1125" dirty="0"/>
          </a:p>
        </p:txBody>
      </p:sp>
      <p:sp>
        <p:nvSpPr>
          <p:cNvPr id="5" name="Shape 3"/>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6" name="Shape 4"/>
          <p:cNvSpPr/>
          <p:nvPr/>
        </p:nvSpPr>
        <p:spPr>
          <a:xfrm>
            <a:off x="514350" y="1611630"/>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7" name="Text 5"/>
          <p:cNvSpPr/>
          <p:nvPr/>
        </p:nvSpPr>
        <p:spPr>
          <a:xfrm>
            <a:off x="514350" y="1632204"/>
            <a:ext cx="356616" cy="240030"/>
          </a:xfrm>
          <a:prstGeom prst="rect">
            <a:avLst/>
          </a:prstGeom>
          <a:noFill/>
          <a:ln/>
        </p:spPr>
        <p:txBody>
          <a:bodyPr wrap="square" lIns="0" tIns="0" rIns="0" bIns="0" rtlCol="0" anchor="ctr"/>
          <a:lstStyle/>
          <a:p>
            <a:pPr algn="ctr"/>
            <a:r>
              <a:rPr lang="en-US" sz="1050" b="1" dirty="0">
                <a:solidFill>
                  <a:srgbClr val="FFFFFF"/>
                </a:solidFill>
              </a:rPr>
              <a:t>1</a:t>
            </a:r>
            <a:endParaRPr lang="en-US" sz="1050" dirty="0"/>
          </a:p>
        </p:txBody>
      </p:sp>
      <p:sp>
        <p:nvSpPr>
          <p:cNvPr id="8" name="Text 6"/>
          <p:cNvSpPr/>
          <p:nvPr/>
        </p:nvSpPr>
        <p:spPr>
          <a:xfrm>
            <a:off x="1028700" y="1597914"/>
            <a:ext cx="7200900" cy="288036"/>
          </a:xfrm>
          <a:prstGeom prst="rect">
            <a:avLst/>
          </a:prstGeom>
          <a:noFill/>
          <a:ln/>
        </p:spPr>
        <p:txBody>
          <a:bodyPr wrap="square" lIns="0" tIns="0" rIns="0" bIns="0" rtlCol="0" anchor="ctr"/>
          <a:lstStyle/>
          <a:p>
            <a:r>
              <a:rPr lang="en-US" sz="1500" b="1" dirty="0">
                <a:solidFill>
                  <a:srgbClr val="24332D"/>
                </a:solidFill>
              </a:rPr>
              <a:t>Find </a:t>
            </a:r>
            <a:r>
              <a:rPr lang="en-US" sz="1500" b="1" dirty="0" err="1">
                <a:solidFill>
                  <a:srgbClr val="24332D"/>
                </a:solidFill>
              </a:rPr>
              <a:t>relationer</a:t>
            </a:r>
            <a:r>
              <a:rPr lang="en-US" sz="1500" b="1" dirty="0">
                <a:solidFill>
                  <a:srgbClr val="24332D"/>
                </a:solidFill>
              </a:rPr>
              <a:t> entiteter og </a:t>
            </a:r>
            <a:r>
              <a:rPr lang="en-US" sz="1500" b="1" dirty="0" err="1">
                <a:solidFill>
                  <a:srgbClr val="24332D"/>
                </a:solidFill>
              </a:rPr>
              <a:t>attributter</a:t>
            </a:r>
            <a:r>
              <a:rPr lang="en-US" sz="1500" b="1" dirty="0">
                <a:solidFill>
                  <a:srgbClr val="24332D"/>
                </a:solidFill>
              </a:rPr>
              <a:t> </a:t>
            </a:r>
            <a:endParaRPr lang="en-US" sz="1500" dirty="0"/>
          </a:p>
        </p:txBody>
      </p:sp>
      <p:sp>
        <p:nvSpPr>
          <p:cNvPr id="9" name="Shape 7"/>
          <p:cNvSpPr/>
          <p:nvPr/>
        </p:nvSpPr>
        <p:spPr>
          <a:xfrm>
            <a:off x="514350" y="2201418"/>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0" name="Text 8"/>
          <p:cNvSpPr/>
          <p:nvPr/>
        </p:nvSpPr>
        <p:spPr>
          <a:xfrm>
            <a:off x="514350" y="2221992"/>
            <a:ext cx="356616" cy="240030"/>
          </a:xfrm>
          <a:prstGeom prst="rect">
            <a:avLst/>
          </a:prstGeom>
          <a:noFill/>
          <a:ln/>
        </p:spPr>
        <p:txBody>
          <a:bodyPr wrap="square" lIns="0" tIns="0" rIns="0" bIns="0" rtlCol="0" anchor="ctr"/>
          <a:lstStyle/>
          <a:p>
            <a:pPr algn="ctr"/>
            <a:r>
              <a:rPr lang="en-US" sz="1050" b="1" dirty="0">
                <a:solidFill>
                  <a:srgbClr val="FFFFFF"/>
                </a:solidFill>
              </a:rPr>
              <a:t>2</a:t>
            </a:r>
            <a:endParaRPr lang="en-US" sz="1050" dirty="0"/>
          </a:p>
        </p:txBody>
      </p:sp>
      <p:sp>
        <p:nvSpPr>
          <p:cNvPr id="11" name="Text 9"/>
          <p:cNvSpPr/>
          <p:nvPr/>
        </p:nvSpPr>
        <p:spPr>
          <a:xfrm>
            <a:off x="1028700" y="2187702"/>
            <a:ext cx="7200900" cy="288036"/>
          </a:xfrm>
          <a:prstGeom prst="rect">
            <a:avLst/>
          </a:prstGeom>
          <a:noFill/>
          <a:ln/>
        </p:spPr>
        <p:txBody>
          <a:bodyPr wrap="square" lIns="0" tIns="0" rIns="0" bIns="0" rtlCol="0" anchor="ctr"/>
          <a:lstStyle/>
          <a:p>
            <a:r>
              <a:rPr lang="en-US" sz="1500" b="1" dirty="0">
                <a:solidFill>
                  <a:srgbClr val="24332D"/>
                </a:solidFill>
              </a:rPr>
              <a:t>Vælg primærnøgler og fremmednøgler</a:t>
            </a:r>
            <a:endParaRPr lang="en-US" sz="1500" dirty="0"/>
          </a:p>
        </p:txBody>
      </p:sp>
      <p:sp>
        <p:nvSpPr>
          <p:cNvPr id="12" name="Shape 10"/>
          <p:cNvSpPr/>
          <p:nvPr/>
        </p:nvSpPr>
        <p:spPr>
          <a:xfrm>
            <a:off x="514350" y="2791206"/>
            <a:ext cx="356616" cy="356616"/>
          </a:xfrm>
          <a:prstGeom prst="ellipse">
            <a:avLst/>
          </a:prstGeom>
          <a:solidFill>
            <a:srgbClr val="F39A3E"/>
          </a:solidFill>
          <a:ln w="12700">
            <a:solidFill>
              <a:srgbClr val="333333">
                <a:alpha val="0"/>
              </a:srgbClr>
            </a:solidFill>
            <a:prstDash val="solid"/>
          </a:ln>
        </p:spPr>
        <p:txBody>
          <a:bodyPr/>
          <a:lstStyle/>
          <a:p>
            <a:endParaRPr lang="en-DK"/>
          </a:p>
        </p:txBody>
      </p:sp>
      <p:sp>
        <p:nvSpPr>
          <p:cNvPr id="13" name="Text 11"/>
          <p:cNvSpPr/>
          <p:nvPr/>
        </p:nvSpPr>
        <p:spPr>
          <a:xfrm>
            <a:off x="514350" y="2811780"/>
            <a:ext cx="356616" cy="240030"/>
          </a:xfrm>
          <a:prstGeom prst="rect">
            <a:avLst/>
          </a:prstGeom>
          <a:noFill/>
          <a:ln/>
        </p:spPr>
        <p:txBody>
          <a:bodyPr wrap="square" lIns="0" tIns="0" rIns="0" bIns="0" rtlCol="0" anchor="ctr"/>
          <a:lstStyle/>
          <a:p>
            <a:pPr algn="ctr"/>
            <a:r>
              <a:rPr lang="en-US" sz="1050" b="1" dirty="0">
                <a:solidFill>
                  <a:srgbClr val="FFFFFF"/>
                </a:solidFill>
              </a:rPr>
              <a:t>3</a:t>
            </a:r>
            <a:endParaRPr lang="en-US" sz="1050" dirty="0"/>
          </a:p>
        </p:txBody>
      </p:sp>
      <p:sp>
        <p:nvSpPr>
          <p:cNvPr id="14" name="Text 12"/>
          <p:cNvSpPr/>
          <p:nvPr/>
        </p:nvSpPr>
        <p:spPr>
          <a:xfrm>
            <a:off x="1028700" y="2777490"/>
            <a:ext cx="7200900" cy="288036"/>
          </a:xfrm>
          <a:prstGeom prst="rect">
            <a:avLst/>
          </a:prstGeom>
          <a:noFill/>
          <a:ln/>
        </p:spPr>
        <p:txBody>
          <a:bodyPr wrap="square" lIns="0" tIns="0" rIns="0" bIns="0" rtlCol="0" anchor="ctr"/>
          <a:lstStyle/>
          <a:p>
            <a:r>
              <a:rPr lang="en-US" sz="1500" b="1" dirty="0">
                <a:solidFill>
                  <a:srgbClr val="24332D"/>
                </a:solidFill>
              </a:rPr>
              <a:t>Angiv kardinalitet med Crow’s Foot</a:t>
            </a:r>
            <a:endParaRPr lang="en-US" sz="1500" dirty="0"/>
          </a:p>
        </p:txBody>
      </p:sp>
      <p:sp>
        <p:nvSpPr>
          <p:cNvPr id="15" name="Shape 13"/>
          <p:cNvSpPr/>
          <p:nvPr/>
        </p:nvSpPr>
        <p:spPr>
          <a:xfrm>
            <a:off x="514350" y="3380994"/>
            <a:ext cx="356616" cy="356616"/>
          </a:xfrm>
          <a:prstGeom prst="ellipse">
            <a:avLst/>
          </a:prstGeom>
          <a:solidFill>
            <a:srgbClr val="169C9A"/>
          </a:solidFill>
          <a:ln w="12700">
            <a:solidFill>
              <a:srgbClr val="333333">
                <a:alpha val="0"/>
              </a:srgbClr>
            </a:solidFill>
            <a:prstDash val="solid"/>
          </a:ln>
        </p:spPr>
        <p:txBody>
          <a:bodyPr/>
          <a:lstStyle/>
          <a:p>
            <a:endParaRPr lang="en-DK"/>
          </a:p>
        </p:txBody>
      </p:sp>
      <p:sp>
        <p:nvSpPr>
          <p:cNvPr id="16" name="Text 14"/>
          <p:cNvSpPr/>
          <p:nvPr/>
        </p:nvSpPr>
        <p:spPr>
          <a:xfrm>
            <a:off x="514350" y="3401568"/>
            <a:ext cx="356616" cy="240030"/>
          </a:xfrm>
          <a:prstGeom prst="rect">
            <a:avLst/>
          </a:prstGeom>
          <a:noFill/>
          <a:ln/>
        </p:spPr>
        <p:txBody>
          <a:bodyPr wrap="square" lIns="0" tIns="0" rIns="0" bIns="0" rtlCol="0" anchor="ctr"/>
          <a:lstStyle/>
          <a:p>
            <a:pPr algn="ctr"/>
            <a:r>
              <a:rPr lang="en-US" sz="1050" b="1" dirty="0">
                <a:solidFill>
                  <a:srgbClr val="FFFFFF"/>
                </a:solidFill>
              </a:rPr>
              <a:t>4</a:t>
            </a:r>
            <a:endParaRPr lang="en-US" sz="1050" dirty="0"/>
          </a:p>
        </p:txBody>
      </p:sp>
      <p:sp>
        <p:nvSpPr>
          <p:cNvPr id="17" name="Text 15"/>
          <p:cNvSpPr/>
          <p:nvPr/>
        </p:nvSpPr>
        <p:spPr>
          <a:xfrm>
            <a:off x="1028700" y="3367278"/>
            <a:ext cx="7200900" cy="288036"/>
          </a:xfrm>
          <a:prstGeom prst="rect">
            <a:avLst/>
          </a:prstGeom>
          <a:noFill/>
          <a:ln/>
        </p:spPr>
        <p:txBody>
          <a:bodyPr wrap="square" lIns="0" tIns="0" rIns="0" bIns="0" rtlCol="0" anchor="ctr"/>
          <a:lstStyle/>
          <a:p>
            <a:r>
              <a:rPr lang="en-US" sz="1500" b="1" dirty="0">
                <a:solidFill>
                  <a:srgbClr val="24332D"/>
                </a:solidFill>
              </a:rPr>
              <a:t>installer MySQL Workbench</a:t>
            </a:r>
            <a:endParaRPr lang="en-US" sz="15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8A316D-47B6-76F9-F717-15AB34795D7A}"/>
              </a:ext>
            </a:extLst>
          </p:cNvPr>
          <p:cNvSpPr>
            <a:spLocks noGrp="1"/>
          </p:cNvSpPr>
          <p:nvPr>
            <p:ph type="title"/>
          </p:nvPr>
        </p:nvSpPr>
        <p:spPr>
          <a:xfrm>
            <a:off x="459486" y="411480"/>
            <a:ext cx="8055864" cy="849194"/>
          </a:xfrm>
        </p:spPr>
        <p:txBody>
          <a:bodyPr vert="horz" lIns="91440" tIns="45720" rIns="91440" bIns="45720" rtlCol="0" anchor="t">
            <a:normAutofit/>
          </a:bodyPr>
          <a:lstStyle>
            <a:defPPr rtl="0">
              <a:defRPr lang="da-D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a:r>
              <a:rPr lang="en-US" sz="3300" b="1" kern="1200">
                <a:latin typeface="+mj-lt"/>
                <a:ea typeface="+mj-ea"/>
                <a:cs typeface="+mj-cs"/>
              </a:rPr>
              <a:t>Historien om relationsdatamodellen</a:t>
            </a:r>
          </a:p>
        </p:txBody>
      </p:sp>
      <p:sp>
        <p:nvSpPr>
          <p:cNvPr id="5" name="TextBox 4">
            <a:extLst>
              <a:ext uri="{FF2B5EF4-FFF2-40B4-BE49-F238E27FC236}">
                <a16:creationId xmlns:a16="http://schemas.microsoft.com/office/drawing/2014/main" id="{D8C1CB13-E4AE-4CC6-8B67-AD7CDB27841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486" y="1369219"/>
            <a:ext cx="3886200" cy="3263504"/>
          </a:xfrm>
          <a:prstGeom prst="rect">
            <a:avLst/>
          </a:prstGeom>
        </p:spPr>
        <p:txBody>
          <a:bodyPr anchor="t">
            <a:normAutofit/>
          </a:bodyPr>
          <a:lstStyle>
            <a:defPPr rtl="0">
              <a:defRPr lang="da-D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defTabSz="914400">
              <a:lnSpc>
                <a:spcPct val="90000"/>
              </a:lnSpc>
              <a:spcBef>
                <a:spcPts val="2500"/>
              </a:spcBef>
              <a:spcAft>
                <a:spcPts val="450"/>
              </a:spcAft>
              <a:buFont typeface="Arial" panose="020B0604020202020204" pitchFamily="34" charset="0"/>
              <a:buNone/>
            </a:pPr>
            <a:r>
              <a:rPr lang="en-GB" sz="1300" b="1"/>
              <a:t>Introduktion af datamodellen</a:t>
            </a:r>
          </a:p>
          <a:p>
            <a:pPr marL="0" lvl="1" indent="0" defTabSz="914400">
              <a:lnSpc>
                <a:spcPct val="90000"/>
              </a:lnSpc>
              <a:spcBef>
                <a:spcPts val="1000"/>
              </a:spcBef>
              <a:spcAft>
                <a:spcPts val="450"/>
              </a:spcAft>
              <a:buFont typeface="Arial" panose="020B0604020202020204" pitchFamily="34" charset="0"/>
              <a:buNone/>
            </a:pPr>
            <a:r>
              <a:rPr lang="en-GB" sz="1300"/>
              <a:t>E.F. Codd introducerede relationsdatamodellen i 1970@IBM , hvilket revolutionerede dataorganisation.</a:t>
            </a:r>
          </a:p>
          <a:p>
            <a:pPr marL="0" indent="0" defTabSz="914400">
              <a:lnSpc>
                <a:spcPct val="90000"/>
              </a:lnSpc>
              <a:spcBef>
                <a:spcPts val="2500"/>
              </a:spcBef>
              <a:spcAft>
                <a:spcPts val="450"/>
              </a:spcAft>
              <a:buFont typeface="Arial" panose="020B0604020202020204" pitchFamily="34" charset="0"/>
              <a:buNone/>
            </a:pPr>
            <a:r>
              <a:rPr lang="en-GB" sz="1300" b="1"/>
              <a:t>Grundlag for moderne databaser</a:t>
            </a:r>
          </a:p>
          <a:p>
            <a:pPr marL="0" lvl="1" indent="0" defTabSz="914400">
              <a:lnSpc>
                <a:spcPct val="90000"/>
              </a:lnSpc>
              <a:spcBef>
                <a:spcPts val="1000"/>
              </a:spcBef>
              <a:spcAft>
                <a:spcPts val="450"/>
              </a:spcAft>
              <a:buFont typeface="Arial" panose="020B0604020202020204" pitchFamily="34" charset="0"/>
              <a:buNone/>
            </a:pPr>
            <a:r>
              <a:rPr lang="en-GB" sz="1300"/>
              <a:t>Codds model lagde fundamentet for moderne databaser og effektiv datahåndtering.</a:t>
            </a:r>
          </a:p>
          <a:p>
            <a:pPr marL="0" indent="0" defTabSz="914400">
              <a:lnSpc>
                <a:spcPct val="90000"/>
              </a:lnSpc>
              <a:spcBef>
                <a:spcPts val="2500"/>
              </a:spcBef>
              <a:spcAft>
                <a:spcPts val="450"/>
              </a:spcAft>
              <a:buFont typeface="Arial" panose="020B0604020202020204" pitchFamily="34" charset="0"/>
              <a:buNone/>
            </a:pPr>
            <a:r>
              <a:rPr lang="en-GB" sz="1300" b="1"/>
              <a:t>Udvikling af forespørgselssprog</a:t>
            </a:r>
          </a:p>
          <a:p>
            <a:pPr marL="0" lvl="1" indent="0" defTabSz="914400">
              <a:lnSpc>
                <a:spcPct val="90000"/>
              </a:lnSpc>
              <a:spcBef>
                <a:spcPts val="1000"/>
              </a:spcBef>
              <a:spcAft>
                <a:spcPts val="450"/>
              </a:spcAft>
              <a:buFont typeface="Arial" panose="020B0604020202020204" pitchFamily="34" charset="0"/>
              <a:buNone/>
            </a:pPr>
            <a:r>
              <a:rPr lang="en-GB" sz="1300"/>
              <a:t>Codd beskrev teoretiske forespørgselssprog, der senere førte til udviklingen af SQL.</a:t>
            </a:r>
          </a:p>
        </p:txBody>
      </p:sp>
      <p:pic>
        <p:nvPicPr>
          <p:cNvPr id="7" name="Picture 6" descr="1970's IBM vintage computer promotional film (original upload) IBM  Mainframe, RAMAC">
            <a:extLst>
              <a:ext uri="{FF2B5EF4-FFF2-40B4-BE49-F238E27FC236}">
                <a16:creationId xmlns:a16="http://schemas.microsoft.com/office/drawing/2014/main" id="{99082898-AA64-A55F-C129-3F4B79A7C300}"/>
              </a:ext>
            </a:extLst>
          </p:cNvPr>
          <p:cNvPicPr>
            <a:picLocks noChangeAspect="1"/>
          </p:cNvPicPr>
          <p:nvPr/>
        </p:nvPicPr>
        <p:blipFill>
          <a:blip r:embed="rId3"/>
          <a:srcRect l="7873" r="2814" b="-3"/>
          <a:stretch>
            <a:fillRect/>
          </a:stretch>
        </p:blipFill>
        <p:spPr>
          <a:xfrm>
            <a:off x="4629150" y="1369219"/>
            <a:ext cx="3886200" cy="3263504"/>
          </a:xfrm>
          <a:prstGeom prst="rect">
            <a:avLst/>
          </a:prstGeom>
          <a:noFill/>
        </p:spPr>
      </p:pic>
      <p:sp>
        <p:nvSpPr>
          <p:cNvPr id="12" name="Date Placeholder 4">
            <a:extLst>
              <a:ext uri="{FF2B5EF4-FFF2-40B4-BE49-F238E27FC236}">
                <a16:creationId xmlns:a16="http://schemas.microsoft.com/office/drawing/2014/main" id="{F9E58650-1DC5-4DFB-3172-1E96F1AF39E7}"/>
              </a:ext>
            </a:extLst>
          </p:cNvPr>
          <p:cNvSpPr>
            <a:spLocks noGrp="1"/>
          </p:cNvSpPr>
          <p:nvPr>
            <p:ph type="dt" sz="half" idx="10"/>
          </p:nvPr>
        </p:nvSpPr>
        <p:spPr>
          <a:xfrm>
            <a:off x="102870" y="4839752"/>
            <a:ext cx="2620736" cy="273844"/>
          </a:xfrm>
        </p:spPr>
        <p:txBody>
          <a:bodyPr/>
          <a:lstStyle/>
          <a:p>
            <a:pPr>
              <a:spcAft>
                <a:spcPts val="600"/>
              </a:spcAft>
            </a:pPr>
            <a:fld id="{CF3D9D0A-1241-4DB4-A575-4BFA03753C41}" type="datetime1">
              <a:rPr lang="en-US" smtClean="0"/>
              <a:pPr>
                <a:spcAft>
                  <a:spcPts val="600"/>
                </a:spcAft>
              </a:pPr>
              <a:t>10/29/26</a:t>
            </a:fld>
            <a:endParaRPr lang="en-US"/>
          </a:p>
        </p:txBody>
      </p:sp>
      <p:sp>
        <p:nvSpPr>
          <p:cNvPr id="14" name="Footer Placeholder 5">
            <a:extLst>
              <a:ext uri="{FF2B5EF4-FFF2-40B4-BE49-F238E27FC236}">
                <a16:creationId xmlns:a16="http://schemas.microsoft.com/office/drawing/2014/main" id="{8CBE0975-F0B2-D149-AA14-2E57876ADACF}"/>
              </a:ext>
            </a:extLst>
          </p:cNvPr>
          <p:cNvSpPr>
            <a:spLocks noGrp="1"/>
          </p:cNvSpPr>
          <p:nvPr>
            <p:ph type="ftr" sz="quarter" idx="11"/>
          </p:nvPr>
        </p:nvSpPr>
        <p:spPr>
          <a:xfrm>
            <a:off x="6657391" y="4839752"/>
            <a:ext cx="2104054" cy="273844"/>
          </a:xfrm>
        </p:spPr>
        <p:txBody>
          <a:bodyPr/>
          <a:lstStyle/>
          <a:p>
            <a:pPr>
              <a:spcAft>
                <a:spcPts val="600"/>
              </a:spcAft>
            </a:pPr>
            <a:r>
              <a:rPr lang="en-US"/>
              <a:t>
              </a:t>
            </a:r>
          </a:p>
        </p:txBody>
      </p:sp>
      <p:sp>
        <p:nvSpPr>
          <p:cNvPr id="16" name="Slide Number Placeholder 6">
            <a:extLst>
              <a:ext uri="{FF2B5EF4-FFF2-40B4-BE49-F238E27FC236}">
                <a16:creationId xmlns:a16="http://schemas.microsoft.com/office/drawing/2014/main" id="{17780D3E-8C90-3E24-1011-7FCE9F3E950E}"/>
              </a:ext>
            </a:extLst>
          </p:cNvPr>
          <p:cNvSpPr>
            <a:spLocks noGrp="1"/>
          </p:cNvSpPr>
          <p:nvPr>
            <p:ph type="sldNum" sz="quarter" idx="12"/>
          </p:nvPr>
        </p:nvSpPr>
        <p:spPr>
          <a:xfrm>
            <a:off x="8724122" y="4839752"/>
            <a:ext cx="321905" cy="273844"/>
          </a:xfrm>
        </p:spPr>
        <p:txBody>
          <a:bodyPr/>
          <a:lstStyle/>
          <a:p>
            <a:pPr>
              <a:spcAft>
                <a:spcPts val="600"/>
              </a:spcAft>
            </a:pPr>
            <a:fld id="{CC057153-B650-4DEB-B370-79DDCFDCE934}" type="slidenum">
              <a:rPr lang="en-US" smtClean="0"/>
              <a:pPr>
                <a:spcAft>
                  <a:spcPts val="600"/>
                </a:spcAft>
              </a:pPr>
              <a:t>22</a:t>
            </a:fld>
            <a:endParaRPr lang="en-US"/>
          </a:p>
        </p:txBody>
      </p:sp>
    </p:spTree>
    <p:extLst>
      <p:ext uri="{BB962C8B-B14F-4D97-AF65-F5344CB8AC3E}">
        <p14:creationId xmlns:p14="http://schemas.microsoft.com/office/powerpoint/2010/main" val="48787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6771-F4BA-2FDD-1A0B-3C1F6D6B3D50}"/>
              </a:ext>
            </a:extLst>
          </p:cNvPr>
          <p:cNvSpPr>
            <a:spLocks noGrp="1"/>
          </p:cNvSpPr>
          <p:nvPr>
            <p:ph type="title"/>
          </p:nvPr>
        </p:nvSpPr>
        <p:spPr/>
        <p:txBody>
          <a:bodyPr/>
          <a:lstStyle/>
          <a:p>
            <a:endParaRPr lang="en-US"/>
          </a:p>
        </p:txBody>
      </p:sp>
      <p:pic>
        <p:nvPicPr>
          <p:cNvPr id="4" name="Picture 3" descr="Database solutions Basic terminology Marzena Nowakowska Faculty of  Management and Computer Modelling Kielce University of Technology rooms:  3.21 C, ppt download">
            <a:extLst>
              <a:ext uri="{FF2B5EF4-FFF2-40B4-BE49-F238E27FC236}">
                <a16:creationId xmlns:a16="http://schemas.microsoft.com/office/drawing/2014/main" id="{CE0EC533-4555-177C-532E-7AF53F240652}"/>
              </a:ext>
            </a:extLst>
          </p:cNvPr>
          <p:cNvPicPr>
            <a:picLocks noChangeAspect="1"/>
          </p:cNvPicPr>
          <p:nvPr/>
        </p:nvPicPr>
        <p:blipFill>
          <a:blip r:embed="rId3"/>
          <a:stretch>
            <a:fillRect/>
          </a:stretch>
        </p:blipFill>
        <p:spPr>
          <a:xfrm>
            <a:off x="754166" y="122312"/>
            <a:ext cx="6011966" cy="4503633"/>
          </a:xfrm>
          <a:prstGeom prst="rect">
            <a:avLst/>
          </a:prstGeom>
        </p:spPr>
      </p:pic>
      <p:sp>
        <p:nvSpPr>
          <p:cNvPr id="5" name="TextBox 4">
            <a:extLst>
              <a:ext uri="{FF2B5EF4-FFF2-40B4-BE49-F238E27FC236}">
                <a16:creationId xmlns:a16="http://schemas.microsoft.com/office/drawing/2014/main" id="{42A98C13-63CA-7B9A-4063-C6EE0FEA5183}"/>
              </a:ext>
            </a:extLst>
          </p:cNvPr>
          <p:cNvSpPr txBox="1"/>
          <p:nvPr/>
        </p:nvSpPr>
        <p:spPr>
          <a:xfrm>
            <a:off x="985971" y="4742916"/>
            <a:ext cx="97560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Source: https://slideplayer.com/slide/14794339/90/images/10/Database+terminology+I.jpg</a:t>
            </a:r>
          </a:p>
        </p:txBody>
      </p:sp>
    </p:spTree>
    <p:extLst>
      <p:ext uri="{BB962C8B-B14F-4D97-AF65-F5344CB8AC3E}">
        <p14:creationId xmlns:p14="http://schemas.microsoft.com/office/powerpoint/2010/main" val="1011698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05E072C-62E1-9462-0799-1F210C3BFE6E}"/>
              </a:ext>
            </a:extLst>
          </p:cNvPr>
          <p:cNvSpPr>
            <a:spLocks noGrp="1" noChangeArrowheads="1"/>
          </p:cNvSpPr>
          <p:nvPr>
            <p:ph type="title"/>
          </p:nvPr>
        </p:nvSpPr>
        <p:spPr>
          <a:xfrm>
            <a:off x="476559" y="172641"/>
            <a:ext cx="7434834" cy="616744"/>
          </a:xfrm>
        </p:spPr>
        <p:txBody>
          <a:bodyPr lIns="67866" tIns="33338" rIns="67866" bIns="33338">
            <a:normAutofit fontScale="90000"/>
          </a:bodyPr>
          <a:lstStyle/>
          <a:p>
            <a:r>
              <a:rPr lang="en-GB" dirty="0" err="1"/>
              <a:t>Terminologi</a:t>
            </a:r>
            <a:r>
              <a:rPr lang="en-GB" dirty="0"/>
              <a:t> </a:t>
            </a:r>
            <a:r>
              <a:rPr lang="en-GB" dirty="0" err="1"/>
              <a:t>i</a:t>
            </a:r>
            <a:r>
              <a:rPr lang="en-GB" dirty="0"/>
              <a:t> den </a:t>
            </a:r>
            <a:r>
              <a:rPr lang="en-GB" dirty="0" err="1"/>
              <a:t>relationelle</a:t>
            </a:r>
            <a:r>
              <a:rPr lang="en-GB" dirty="0"/>
              <a:t> model </a:t>
            </a:r>
            <a:br>
              <a:rPr lang="en-GB" dirty="0"/>
            </a:br>
            <a:r>
              <a:rPr lang="en-GB" dirty="0"/>
              <a:t>( </a:t>
            </a:r>
            <a:r>
              <a:rPr lang="en-GB" dirty="0" err="1"/>
              <a:t>firma</a:t>
            </a:r>
            <a:r>
              <a:rPr lang="en-GB" dirty="0"/>
              <a:t> branch </a:t>
            </a:r>
            <a:r>
              <a:rPr lang="en-GB" dirty="0" err="1"/>
              <a:t>og</a:t>
            </a:r>
            <a:r>
              <a:rPr lang="en-GB" dirty="0"/>
              <a:t> </a:t>
            </a:r>
            <a:r>
              <a:rPr lang="en-GB" dirty="0" err="1"/>
              <a:t>medarbejde</a:t>
            </a:r>
            <a:r>
              <a:rPr lang="en-GB" dirty="0"/>
              <a:t>)</a:t>
            </a:r>
          </a:p>
        </p:txBody>
      </p:sp>
      <p:sp>
        <p:nvSpPr>
          <p:cNvPr id="32771" name="Slide Number Placeholder 3">
            <a:extLst>
              <a:ext uri="{FF2B5EF4-FFF2-40B4-BE49-F238E27FC236}">
                <a16:creationId xmlns:a16="http://schemas.microsoft.com/office/drawing/2014/main" id="{EDB8E46A-2E38-BF1F-3744-EB27F6B8034C}"/>
              </a:ext>
            </a:extLst>
          </p:cNvPr>
          <p:cNvSpPr txBox="1">
            <a:spLocks/>
          </p:cNvSpPr>
          <p:nvPr/>
        </p:nvSpPr>
        <p:spPr bwMode="auto">
          <a:xfrm>
            <a:off x="7483078" y="4798219"/>
            <a:ext cx="517922"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fld id="{F24AA01C-33D5-724C-A804-62648338F2ED}" type="slidenum">
              <a:rPr lang="en-GB" altLang="en-US" sz="1350"/>
              <a:pPr algn="ctr"/>
              <a:t>24</a:t>
            </a:fld>
            <a:endParaRPr lang="en-GB" altLang="en-US" sz="1350"/>
          </a:p>
        </p:txBody>
      </p:sp>
      <p:pic>
        <p:nvPicPr>
          <p:cNvPr id="32772" name="Picture 4" descr="C03NF01">
            <a:extLst>
              <a:ext uri="{FF2B5EF4-FFF2-40B4-BE49-F238E27FC236}">
                <a16:creationId xmlns:a16="http://schemas.microsoft.com/office/drawing/2014/main" id="{3A4542B9-465B-D70F-9CDB-1D4CD51F6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404" y="1286341"/>
            <a:ext cx="3749279" cy="3280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71500" y="620093"/>
            <a:ext cx="0" cy="685800"/>
          </a:xfrm>
          <a:custGeom>
            <a:avLst/>
            <a:gdLst/>
            <a:ahLst/>
            <a:cxnLst/>
            <a:rect l="l" t="t" r="r" b="b"/>
            <a:pathLst>
              <a:path h="685800">
                <a:moveTo>
                  <a:pt x="0" y="685450"/>
                </a:moveTo>
                <a:lnTo>
                  <a:pt x="0" y="0"/>
                </a:lnTo>
              </a:path>
            </a:pathLst>
          </a:custGeom>
          <a:ln w="19040">
            <a:solidFill>
              <a:srgbClr val="1CADE4"/>
            </a:solidFill>
          </a:ln>
        </p:spPr>
        <p:txBody>
          <a:bodyPr wrap="square" lIns="0" tIns="0" rIns="0" bIns="0" rtlCol="0"/>
          <a:lstStyle/>
          <a:p>
            <a:endParaRPr/>
          </a:p>
        </p:txBody>
      </p:sp>
      <p:sp>
        <p:nvSpPr>
          <p:cNvPr id="3" name="object 3"/>
          <p:cNvSpPr txBox="1">
            <a:spLocks noGrp="1"/>
          </p:cNvSpPr>
          <p:nvPr>
            <p:ph type="title"/>
          </p:nvPr>
        </p:nvSpPr>
        <p:spPr>
          <a:xfrm>
            <a:off x="535924" y="319532"/>
            <a:ext cx="7268209" cy="1120820"/>
          </a:xfrm>
          <a:prstGeom prst="rect">
            <a:avLst/>
          </a:prstGeom>
        </p:spPr>
        <p:txBody>
          <a:bodyPr vert="horz" wrap="square" lIns="0" tIns="12700" rIns="0" bIns="0" rtlCol="0">
            <a:spAutoFit/>
          </a:bodyPr>
          <a:lstStyle/>
          <a:p>
            <a:pPr marL="12700">
              <a:lnSpc>
                <a:spcPct val="100000"/>
              </a:lnSpc>
              <a:spcBef>
                <a:spcPts val="100"/>
              </a:spcBef>
            </a:pPr>
            <a:r>
              <a:rPr lang="en-GB" err="1"/>
              <a:t>Relationsdatabase</a:t>
            </a:r>
            <a:br>
              <a:rPr lang="en-GB"/>
            </a:br>
            <a:endParaRPr sz="3600"/>
          </a:p>
        </p:txBody>
      </p:sp>
      <p:sp>
        <p:nvSpPr>
          <p:cNvPr id="7" name="TextBox 6">
            <a:extLst>
              <a:ext uri="{FF2B5EF4-FFF2-40B4-BE49-F238E27FC236}">
                <a16:creationId xmlns:a16="http://schemas.microsoft.com/office/drawing/2014/main" id="{B954C400-E702-3C42-4072-1CB01F9275A9}"/>
              </a:ext>
            </a:extLst>
          </p:cNvPr>
          <p:cNvSpPr txBox="1"/>
          <p:nvPr/>
        </p:nvSpPr>
        <p:spPr>
          <a:xfrm>
            <a:off x="1371600" y="1581150"/>
            <a:ext cx="6172200" cy="923330"/>
          </a:xfrm>
          <a:prstGeom prst="rect">
            <a:avLst/>
          </a:prstGeom>
          <a:noFill/>
        </p:spPr>
        <p:txBody>
          <a:bodyPr wrap="square" rtlCol="0">
            <a:spAutoFit/>
          </a:bodyPr>
          <a:lstStyle/>
          <a:p>
            <a:r>
              <a:rPr lang="en-GB"/>
              <a:t>En </a:t>
            </a:r>
            <a:r>
              <a:rPr lang="en-GB" err="1"/>
              <a:t>relationsdatabase</a:t>
            </a:r>
            <a:r>
              <a:rPr lang="en-GB"/>
              <a:t> er </a:t>
            </a:r>
            <a:r>
              <a:rPr lang="en-GB" err="1"/>
              <a:t>en</a:t>
            </a:r>
            <a:r>
              <a:rPr lang="en-GB"/>
              <a:t> </a:t>
            </a:r>
            <a:r>
              <a:rPr lang="en-GB" err="1"/>
              <a:t>samling</a:t>
            </a:r>
            <a:r>
              <a:rPr lang="en-GB"/>
              <a:t> </a:t>
            </a:r>
            <a:r>
              <a:rPr lang="en-GB" err="1"/>
              <a:t>af</a:t>
            </a:r>
            <a:r>
              <a:rPr lang="en-GB"/>
              <a:t> </a:t>
            </a:r>
            <a:r>
              <a:rPr lang="en-GB" err="1"/>
              <a:t>strukturerede</a:t>
            </a:r>
            <a:r>
              <a:rPr lang="en-GB"/>
              <a:t> data </a:t>
            </a:r>
            <a:r>
              <a:rPr lang="en-GB" err="1"/>
              <a:t>organiseret</a:t>
            </a:r>
            <a:r>
              <a:rPr lang="en-GB"/>
              <a:t> </a:t>
            </a:r>
            <a:r>
              <a:rPr lang="en-GB" err="1"/>
              <a:t>i</a:t>
            </a:r>
            <a:r>
              <a:rPr lang="en-GB"/>
              <a:t> </a:t>
            </a:r>
            <a:r>
              <a:rPr lang="en-GB" err="1"/>
              <a:t>tabeller</a:t>
            </a:r>
            <a:r>
              <a:rPr lang="en-GB"/>
              <a:t>, </a:t>
            </a:r>
            <a:r>
              <a:rPr lang="en-GB" err="1"/>
              <a:t>hvor</a:t>
            </a:r>
            <a:r>
              <a:rPr lang="en-GB"/>
              <a:t> </a:t>
            </a:r>
            <a:r>
              <a:rPr lang="en-GB" err="1"/>
              <a:t>hver</a:t>
            </a:r>
            <a:r>
              <a:rPr lang="en-GB"/>
              <a:t> </a:t>
            </a:r>
            <a:r>
              <a:rPr lang="en-GB" err="1"/>
              <a:t>tabel</a:t>
            </a:r>
            <a:r>
              <a:rPr lang="en-GB"/>
              <a:t> </a:t>
            </a:r>
            <a:r>
              <a:rPr lang="en-GB" err="1"/>
              <a:t>repræsenterer</a:t>
            </a:r>
            <a:r>
              <a:rPr lang="en-GB"/>
              <a:t> </a:t>
            </a:r>
            <a:r>
              <a:rPr lang="en-GB" err="1"/>
              <a:t>en</a:t>
            </a:r>
            <a:r>
              <a:rPr lang="en-GB"/>
              <a:t> </a:t>
            </a:r>
            <a:r>
              <a:rPr lang="en-GB" err="1"/>
              <a:t>specifik</a:t>
            </a:r>
            <a:r>
              <a:rPr lang="en-GB"/>
              <a:t> </a:t>
            </a:r>
            <a:r>
              <a:rPr lang="en-GB" err="1"/>
              <a:t>entitet</a:t>
            </a:r>
            <a:r>
              <a:rPr lang="en-GB"/>
              <a:t> </a:t>
            </a:r>
            <a:r>
              <a:rPr lang="en-GB" err="1"/>
              <a:t>eller</a:t>
            </a:r>
            <a:r>
              <a:rPr lang="en-GB"/>
              <a:t> relation.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898077-1230-7C1D-80EE-ACCA8EFA2A9E}"/>
              </a:ext>
            </a:extLst>
          </p:cNvPr>
          <p:cNvSpPr>
            <a:spLocks noGrp="1"/>
          </p:cNvSpPr>
          <p:nvPr>
            <p:ph type="dt" sz="half" idx="10"/>
          </p:nvPr>
        </p:nvSpPr>
        <p:spPr>
          <a:xfrm>
            <a:off x="102870" y="4839752"/>
            <a:ext cx="2620736" cy="273844"/>
          </a:xfrm>
        </p:spPr>
        <p:txBody>
          <a:bodyPr vert="horz" lIns="91440" tIns="45720" rIns="91440" bIns="45720" rtlCol="0" anchor="ctr">
            <a:normAutofit/>
          </a:bodyPr>
          <a:lstStyle/>
          <a:p>
            <a:pPr>
              <a:lnSpc>
                <a:spcPct val="90000"/>
              </a:lnSpc>
              <a:spcAft>
                <a:spcPts val="600"/>
              </a:spcAft>
            </a:pPr>
            <a:fld id="{1C515C67-D042-4C41-9332-30F176E415FD}" type="datetime1">
              <a:rPr lang="en-US" sz="1200"/>
              <a:pPr>
                <a:lnSpc>
                  <a:spcPct val="90000"/>
                </a:lnSpc>
                <a:spcAft>
                  <a:spcPts val="600"/>
                </a:spcAft>
              </a:pPr>
              <a:t>10/29/26</a:t>
            </a:fld>
            <a:endParaRPr lang="en-US" sz="1200"/>
          </a:p>
        </p:txBody>
      </p:sp>
      <p:sp>
        <p:nvSpPr>
          <p:cNvPr id="5" name="Footer Placeholder 4">
            <a:extLst>
              <a:ext uri="{FF2B5EF4-FFF2-40B4-BE49-F238E27FC236}">
                <a16:creationId xmlns:a16="http://schemas.microsoft.com/office/drawing/2014/main" id="{4F3257BF-AFA9-2DD2-7124-12CBEAAF1462}"/>
              </a:ext>
            </a:extLst>
          </p:cNvPr>
          <p:cNvSpPr>
            <a:spLocks noGrp="1"/>
          </p:cNvSpPr>
          <p:nvPr>
            <p:ph type="ftr" sz="quarter" idx="11"/>
          </p:nvPr>
        </p:nvSpPr>
        <p:spPr>
          <a:xfrm>
            <a:off x="6657391" y="4839752"/>
            <a:ext cx="2104054" cy="273844"/>
          </a:xfrm>
        </p:spPr>
        <p:txBody>
          <a:bodyPr vert="horz" lIns="91440" tIns="45720" rIns="91440" bIns="45720" rtlCol="0" anchor="ctr">
            <a:normAutofit lnSpcReduction="10000"/>
          </a:bodyPr>
          <a:lstStyle/>
          <a:p>
            <a:pPr>
              <a:lnSpc>
                <a:spcPct val="90000"/>
              </a:lnSpc>
              <a:spcAft>
                <a:spcPts val="600"/>
              </a:spcAft>
            </a:pPr>
            <a:r>
              <a:rPr lang="en-US" sz="400"/>
              <a:t>
              </a:t>
            </a:r>
          </a:p>
        </p:txBody>
      </p:sp>
      <p:sp>
        <p:nvSpPr>
          <p:cNvPr id="6" name="Slide Number Placeholder 5">
            <a:extLst>
              <a:ext uri="{FF2B5EF4-FFF2-40B4-BE49-F238E27FC236}">
                <a16:creationId xmlns:a16="http://schemas.microsoft.com/office/drawing/2014/main" id="{00E00976-8E03-CA2B-C196-B08D06E63114}"/>
              </a:ext>
            </a:extLst>
          </p:cNvPr>
          <p:cNvSpPr>
            <a:spLocks noGrp="1"/>
          </p:cNvSpPr>
          <p:nvPr>
            <p:ph type="sldNum" sz="quarter" idx="12"/>
          </p:nvPr>
        </p:nvSpPr>
        <p:spPr>
          <a:xfrm>
            <a:off x="8724122" y="4839752"/>
            <a:ext cx="321905" cy="273844"/>
          </a:xfrm>
        </p:spPr>
        <p:txBody>
          <a:bodyPr vert="horz" lIns="91440" tIns="45720" rIns="91440" bIns="45720" rtlCol="0" anchor="ctr">
            <a:normAutofit fontScale="77500" lnSpcReduction="20000"/>
          </a:bodyPr>
          <a:lstStyle/>
          <a:p>
            <a:pPr>
              <a:lnSpc>
                <a:spcPct val="90000"/>
              </a:lnSpc>
              <a:spcAft>
                <a:spcPts val="600"/>
              </a:spcAft>
            </a:pPr>
            <a:fld id="{CC057153-B650-4DEB-B370-79DDCFDCE934}" type="slidenum">
              <a:rPr lang="en-US" sz="1200"/>
              <a:pPr>
                <a:lnSpc>
                  <a:spcPct val="90000"/>
                </a:lnSpc>
                <a:spcAft>
                  <a:spcPts val="600"/>
                </a:spcAft>
              </a:pPr>
              <a:t>26</a:t>
            </a:fld>
            <a:endParaRPr lang="en-US" sz="1200"/>
          </a:p>
        </p:txBody>
      </p:sp>
      <p:graphicFrame>
        <p:nvGraphicFramePr>
          <p:cNvPr id="7" name="Table 6">
            <a:extLst>
              <a:ext uri="{FF2B5EF4-FFF2-40B4-BE49-F238E27FC236}">
                <a16:creationId xmlns:a16="http://schemas.microsoft.com/office/drawing/2014/main" id="{22854FEB-9055-FF28-29F0-C13864F5FB68}"/>
              </a:ext>
            </a:extLst>
          </p:cNvPr>
          <p:cNvGraphicFramePr>
            <a:graphicFrameLocks noGrp="1"/>
          </p:cNvGraphicFramePr>
          <p:nvPr>
            <p:extLst>
              <p:ext uri="{D42A27DB-BD31-4B8C-83A1-F6EECF244321}">
                <p14:modId xmlns:p14="http://schemas.microsoft.com/office/powerpoint/2010/main" val="683111933"/>
              </p:ext>
            </p:extLst>
          </p:nvPr>
        </p:nvGraphicFramePr>
        <p:xfrm>
          <a:off x="733936" y="714736"/>
          <a:ext cx="7990186" cy="3403769"/>
        </p:xfrm>
        <a:graphic>
          <a:graphicData uri="http://schemas.openxmlformats.org/drawingml/2006/table">
            <a:tbl>
              <a:tblPr>
                <a:solidFill>
                  <a:schemeClr val="bg1"/>
                </a:solidFill>
                <a:tableStyleId>{5C22544A-7EE6-4342-B048-85BDC9FD1C3A}</a:tableStyleId>
              </a:tblPr>
              <a:tblGrid>
                <a:gridCol w="1695939">
                  <a:extLst>
                    <a:ext uri="{9D8B030D-6E8A-4147-A177-3AD203B41FA5}">
                      <a16:colId xmlns:a16="http://schemas.microsoft.com/office/drawing/2014/main" val="44471926"/>
                    </a:ext>
                  </a:extLst>
                </a:gridCol>
                <a:gridCol w="3213612">
                  <a:extLst>
                    <a:ext uri="{9D8B030D-6E8A-4147-A177-3AD203B41FA5}">
                      <a16:colId xmlns:a16="http://schemas.microsoft.com/office/drawing/2014/main" val="1872052338"/>
                    </a:ext>
                  </a:extLst>
                </a:gridCol>
                <a:gridCol w="3080635">
                  <a:extLst>
                    <a:ext uri="{9D8B030D-6E8A-4147-A177-3AD203B41FA5}">
                      <a16:colId xmlns:a16="http://schemas.microsoft.com/office/drawing/2014/main" val="1880710357"/>
                    </a:ext>
                  </a:extLst>
                </a:gridCol>
              </a:tblGrid>
              <a:tr h="326631">
                <a:tc>
                  <a:txBody>
                    <a:bodyPr/>
                    <a:lstStyle/>
                    <a:p>
                      <a:pPr>
                        <a:buNone/>
                      </a:pPr>
                      <a:endParaRPr lang="en-DK" sz="1100" cap="none" spc="0">
                        <a:solidFill>
                          <a:schemeClr val="tx1"/>
                        </a:solidFill>
                      </a:endParaRP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DK" sz="1100" b="1" cap="none" spc="0">
                          <a:solidFill>
                            <a:schemeClr val="tx1"/>
                          </a:solidFill>
                        </a:rPr>
                        <a:t>Relationel database (fx MySQL)</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DK" sz="1100" b="1" cap="none" spc="0">
                          <a:solidFill>
                            <a:schemeClr val="tx1"/>
                          </a:solidFill>
                        </a:rPr>
                        <a:t>Excel</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76846198"/>
                  </a:ext>
                </a:extLst>
              </a:tr>
              <a:tr h="487646">
                <a:tc>
                  <a:txBody>
                    <a:bodyPr/>
                    <a:lstStyle/>
                    <a:p>
                      <a:pPr>
                        <a:buNone/>
                      </a:pPr>
                      <a:r>
                        <a:rPr lang="en-DK" sz="1100" b="1" cap="none" spc="0" dirty="0">
                          <a:solidFill>
                            <a:schemeClr val="tx1"/>
                          </a:solidFill>
                        </a:rPr>
                        <a:t>Formål</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Håndtering af strukturerede data i flere relaterede tabeller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Regneark, beregninger og dataanalyse</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248642523"/>
                  </a:ext>
                </a:extLst>
              </a:tr>
              <a:tr h="487646">
                <a:tc>
                  <a:txBody>
                    <a:bodyPr/>
                    <a:lstStyle/>
                    <a:p>
                      <a:pPr>
                        <a:buNone/>
                      </a:pPr>
                      <a:r>
                        <a:rPr lang="en-DK" sz="1100" b="1" cap="none" spc="0">
                          <a:solidFill>
                            <a:schemeClr val="tx1"/>
                          </a:solidFill>
                        </a:rPr>
                        <a:t>Dataorganisering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Data organiseres i tabeller med relationer mellem dem</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Data organiseres typisk i rækker og kolonner</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191351896"/>
                  </a:ext>
                </a:extLst>
              </a:tr>
              <a:tr h="487646">
                <a:tc>
                  <a:txBody>
                    <a:bodyPr/>
                    <a:lstStyle/>
                    <a:p>
                      <a:pPr>
                        <a:buNone/>
                      </a:pPr>
                      <a:r>
                        <a:rPr lang="en-DK" sz="1100" b="1" cap="none" spc="0">
                          <a:solidFill>
                            <a:schemeClr val="tx1"/>
                          </a:solidFill>
                        </a:rPr>
                        <a:t>Relationer</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Tabeller forbindes via primærnøgler og fremmednøgler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Tabeller kan forbindes med formler og opslag</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033119658"/>
                  </a:ext>
                </a:extLst>
              </a:tr>
              <a:tr h="326631">
                <a:tc>
                  <a:txBody>
                    <a:bodyPr/>
                    <a:lstStyle/>
                    <a:p>
                      <a:pPr>
                        <a:buNone/>
                      </a:pPr>
                      <a:r>
                        <a:rPr lang="en-DK" sz="1100" b="1" cap="none" spc="0">
                          <a:solidFill>
                            <a:schemeClr val="tx1"/>
                          </a:solidFill>
                        </a:rPr>
                        <a:t>Datadublering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Kan reduceres gennem normalisering</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Risiko for gentagne oplysninger</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264896226"/>
                  </a:ext>
                </a:extLst>
              </a:tr>
              <a:tr h="326631">
                <a:tc>
                  <a:txBody>
                    <a:bodyPr/>
                    <a:lstStyle/>
                    <a:p>
                      <a:pPr>
                        <a:buNone/>
                      </a:pPr>
                      <a:r>
                        <a:rPr lang="en-DK" sz="1100" b="1" cap="none" spc="0">
                          <a:solidFill>
                            <a:schemeClr val="tx1"/>
                          </a:solidFill>
                        </a:rPr>
                        <a:t>Søgning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SQL bruges til avancerede forespørgsler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Filtre, søgning og formler bruges</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23508453"/>
                  </a:ext>
                </a:extLst>
              </a:tr>
              <a:tr h="326631">
                <a:tc>
                  <a:txBody>
                    <a:bodyPr/>
                    <a:lstStyle/>
                    <a:p>
                      <a:pPr>
                        <a:buNone/>
                      </a:pPr>
                      <a:r>
                        <a:rPr lang="en-DK" sz="1100" b="1" cap="none" spc="0">
                          <a:solidFill>
                            <a:schemeClr val="tx1"/>
                          </a:solidFill>
                        </a:rPr>
                        <a:t>Sortering</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Kan sortere data via forespørgsler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DK" sz="1100" cap="none" spc="0">
                          <a:solidFill>
                            <a:schemeClr val="tx1"/>
                          </a:solidFill>
                        </a:rPr>
                        <a:t>Kan sortere data via Excels sorteringsfunktion</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623992698"/>
                  </a:ext>
                </a:extLst>
              </a:tr>
              <a:tr h="487646">
                <a:tc>
                  <a:txBody>
                    <a:bodyPr/>
                    <a:lstStyle/>
                    <a:p>
                      <a:pPr>
                        <a:buNone/>
                      </a:pPr>
                      <a:r>
                        <a:rPr lang="en-DK" sz="1100" b="1" cap="none" spc="0" dirty="0">
                          <a:solidFill>
                            <a:schemeClr val="tx1"/>
                          </a:solidFill>
                        </a:rPr>
                        <a:t>Datakvalitet</a:t>
                      </a:r>
                    </a:p>
                  </a:txBody>
                  <a:tcPr marL="89708" marR="44013" marT="69006" marB="69006"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DK" sz="1100" cap="none" spc="0">
                          <a:solidFill>
                            <a:schemeClr val="tx1"/>
                          </a:solidFill>
                        </a:rPr>
                        <a:t>Kan håndhæve regler, datatyper og relationer</a:t>
                      </a:r>
                    </a:p>
                  </a:txBody>
                  <a:tcPr marL="89708" marR="44013" marT="69006" marB="69006"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DK" sz="1100" cap="none" spc="0" dirty="0">
                          <a:solidFill>
                            <a:schemeClr val="tx1"/>
                          </a:solidFill>
                        </a:rPr>
                        <a:t>Afhænger i høj grad af brugerens kontrol og validering</a:t>
                      </a:r>
                    </a:p>
                  </a:txBody>
                  <a:tcPr marL="89708" marR="44013" marT="69006" marB="69006"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2800088207"/>
                  </a:ext>
                </a:extLst>
              </a:tr>
            </a:tbl>
          </a:graphicData>
        </a:graphic>
      </p:graphicFrame>
    </p:spTree>
    <p:extLst>
      <p:ext uri="{BB962C8B-B14F-4D97-AF65-F5344CB8AC3E}">
        <p14:creationId xmlns:p14="http://schemas.microsoft.com/office/powerpoint/2010/main" val="2586013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1500" y="620093"/>
            <a:ext cx="0" cy="685800"/>
          </a:xfrm>
          <a:custGeom>
            <a:avLst/>
            <a:gdLst/>
            <a:ahLst/>
            <a:cxnLst/>
            <a:rect l="l" t="t" r="r" b="b"/>
            <a:pathLst>
              <a:path h="685800">
                <a:moveTo>
                  <a:pt x="0" y="685450"/>
                </a:moveTo>
                <a:lnTo>
                  <a:pt x="0" y="0"/>
                </a:lnTo>
              </a:path>
            </a:pathLst>
          </a:custGeom>
          <a:ln w="19040">
            <a:solidFill>
              <a:srgbClr val="1CADE4"/>
            </a:solidFill>
          </a:ln>
        </p:spPr>
        <p:txBody>
          <a:bodyPr wrap="square" lIns="0" tIns="0" rIns="0" bIns="0" rtlCol="0"/>
          <a:lstStyle/>
          <a:p>
            <a:endParaRPr/>
          </a:p>
        </p:txBody>
      </p:sp>
      <p:pic>
        <p:nvPicPr>
          <p:cNvPr id="4" name="object 4"/>
          <p:cNvPicPr/>
          <p:nvPr/>
        </p:nvPicPr>
        <p:blipFill>
          <a:blip r:embed="rId3" cstate="print"/>
          <a:stretch>
            <a:fillRect/>
          </a:stretch>
        </p:blipFill>
        <p:spPr>
          <a:xfrm>
            <a:off x="2226732" y="1489748"/>
            <a:ext cx="2874336" cy="2164003"/>
          </a:xfrm>
          <a:prstGeom prst="rect">
            <a:avLst/>
          </a:prstGeom>
        </p:spPr>
      </p:pic>
      <p:sp>
        <p:nvSpPr>
          <p:cNvPr id="5" name="object 5"/>
          <p:cNvSpPr txBox="1"/>
          <p:nvPr/>
        </p:nvSpPr>
        <p:spPr>
          <a:xfrm>
            <a:off x="2142318" y="673100"/>
            <a:ext cx="3862704" cy="580390"/>
          </a:xfrm>
          <a:prstGeom prst="rect">
            <a:avLst/>
          </a:prstGeom>
        </p:spPr>
        <p:txBody>
          <a:bodyPr vert="horz" wrap="square" lIns="0" tIns="6350" rIns="0" bIns="0" rtlCol="0">
            <a:spAutoFit/>
          </a:bodyPr>
          <a:lstStyle/>
          <a:p>
            <a:pPr marL="12700" marR="5080">
              <a:lnSpc>
                <a:spcPct val="102200"/>
              </a:lnSpc>
              <a:spcBef>
                <a:spcPts val="50"/>
              </a:spcBef>
            </a:pPr>
            <a:r>
              <a:rPr sz="1800">
                <a:solidFill>
                  <a:srgbClr val="222222"/>
                </a:solidFill>
                <a:latin typeface="Arial"/>
                <a:cs typeface="Arial"/>
              </a:rPr>
              <a:t>Hvilken</a:t>
            </a:r>
            <a:r>
              <a:rPr sz="1800" spc="-30">
                <a:solidFill>
                  <a:srgbClr val="222222"/>
                </a:solidFill>
                <a:latin typeface="Arial"/>
                <a:cs typeface="Arial"/>
              </a:rPr>
              <a:t> </a:t>
            </a:r>
            <a:r>
              <a:rPr sz="1800">
                <a:solidFill>
                  <a:srgbClr val="222222"/>
                </a:solidFill>
                <a:latin typeface="Arial"/>
                <a:cs typeface="Arial"/>
              </a:rPr>
              <a:t>kolonne</a:t>
            </a:r>
            <a:r>
              <a:rPr sz="1800" spc="-15">
                <a:solidFill>
                  <a:srgbClr val="222222"/>
                </a:solidFill>
                <a:latin typeface="Arial"/>
                <a:cs typeface="Arial"/>
              </a:rPr>
              <a:t> </a:t>
            </a:r>
            <a:r>
              <a:rPr sz="1800">
                <a:solidFill>
                  <a:srgbClr val="222222"/>
                </a:solidFill>
                <a:latin typeface="Arial"/>
                <a:cs typeface="Arial"/>
              </a:rPr>
              <a:t>giver</a:t>
            </a:r>
            <a:r>
              <a:rPr sz="1800" spc="-20">
                <a:solidFill>
                  <a:srgbClr val="222222"/>
                </a:solidFill>
                <a:latin typeface="Arial"/>
                <a:cs typeface="Arial"/>
              </a:rPr>
              <a:t> </a:t>
            </a:r>
            <a:r>
              <a:rPr sz="1800">
                <a:solidFill>
                  <a:srgbClr val="222222"/>
                </a:solidFill>
                <a:latin typeface="Arial"/>
                <a:cs typeface="Arial"/>
              </a:rPr>
              <a:t>disse</a:t>
            </a:r>
            <a:r>
              <a:rPr sz="1800" spc="-15">
                <a:solidFill>
                  <a:srgbClr val="222222"/>
                </a:solidFill>
                <a:latin typeface="Arial"/>
                <a:cs typeface="Arial"/>
              </a:rPr>
              <a:t> </a:t>
            </a:r>
            <a:r>
              <a:rPr sz="1800">
                <a:solidFill>
                  <a:srgbClr val="222222"/>
                </a:solidFill>
                <a:latin typeface="Arial"/>
                <a:cs typeface="Arial"/>
              </a:rPr>
              <a:t>to</a:t>
            </a:r>
            <a:r>
              <a:rPr sz="1800" spc="-15">
                <a:solidFill>
                  <a:srgbClr val="222222"/>
                </a:solidFill>
                <a:latin typeface="Arial"/>
                <a:cs typeface="Arial"/>
              </a:rPr>
              <a:t> </a:t>
            </a:r>
            <a:r>
              <a:rPr sz="1800" spc="-10">
                <a:solidFill>
                  <a:srgbClr val="222222"/>
                </a:solidFill>
                <a:latin typeface="Arial"/>
                <a:cs typeface="Arial"/>
              </a:rPr>
              <a:t>tabeller </a:t>
            </a:r>
            <a:r>
              <a:rPr sz="1800">
                <a:solidFill>
                  <a:srgbClr val="222222"/>
                </a:solidFill>
                <a:latin typeface="Arial"/>
                <a:cs typeface="Arial"/>
              </a:rPr>
              <a:t>mulighed</a:t>
            </a:r>
            <a:r>
              <a:rPr sz="1800" spc="-30">
                <a:solidFill>
                  <a:srgbClr val="222222"/>
                </a:solidFill>
                <a:latin typeface="Arial"/>
                <a:cs typeface="Arial"/>
              </a:rPr>
              <a:t> </a:t>
            </a:r>
            <a:r>
              <a:rPr sz="1800">
                <a:solidFill>
                  <a:srgbClr val="222222"/>
                </a:solidFill>
                <a:latin typeface="Arial"/>
                <a:cs typeface="Arial"/>
              </a:rPr>
              <a:t>for</a:t>
            </a:r>
            <a:r>
              <a:rPr sz="1800" spc="-20">
                <a:solidFill>
                  <a:srgbClr val="222222"/>
                </a:solidFill>
                <a:latin typeface="Arial"/>
                <a:cs typeface="Arial"/>
              </a:rPr>
              <a:t> </a:t>
            </a:r>
            <a:r>
              <a:rPr sz="1800">
                <a:solidFill>
                  <a:srgbClr val="222222"/>
                </a:solidFill>
                <a:latin typeface="Arial"/>
                <a:cs typeface="Arial"/>
              </a:rPr>
              <a:t>at</a:t>
            </a:r>
            <a:r>
              <a:rPr sz="1800" spc="-15">
                <a:solidFill>
                  <a:srgbClr val="222222"/>
                </a:solidFill>
                <a:latin typeface="Arial"/>
                <a:cs typeface="Arial"/>
              </a:rPr>
              <a:t> </a:t>
            </a:r>
            <a:r>
              <a:rPr sz="1800">
                <a:solidFill>
                  <a:srgbClr val="222222"/>
                </a:solidFill>
                <a:latin typeface="Arial"/>
                <a:cs typeface="Arial"/>
              </a:rPr>
              <a:t>danne</a:t>
            </a:r>
            <a:r>
              <a:rPr sz="1800" spc="-20">
                <a:solidFill>
                  <a:srgbClr val="222222"/>
                </a:solidFill>
                <a:latin typeface="Arial"/>
                <a:cs typeface="Arial"/>
              </a:rPr>
              <a:t> </a:t>
            </a:r>
            <a:r>
              <a:rPr sz="1800">
                <a:solidFill>
                  <a:srgbClr val="222222"/>
                </a:solidFill>
                <a:latin typeface="Arial"/>
                <a:cs typeface="Arial"/>
              </a:rPr>
              <a:t>en</a:t>
            </a:r>
            <a:r>
              <a:rPr sz="1800" spc="-20">
                <a:solidFill>
                  <a:srgbClr val="222222"/>
                </a:solidFill>
                <a:latin typeface="Arial"/>
                <a:cs typeface="Arial"/>
              </a:rPr>
              <a:t> </a:t>
            </a:r>
            <a:r>
              <a:rPr sz="1800">
                <a:solidFill>
                  <a:srgbClr val="222222"/>
                </a:solidFill>
                <a:latin typeface="Arial"/>
                <a:cs typeface="Arial"/>
              </a:rPr>
              <a:t>relation</a:t>
            </a:r>
            <a:r>
              <a:rPr sz="1800" spc="-15">
                <a:solidFill>
                  <a:srgbClr val="222222"/>
                </a:solidFill>
                <a:latin typeface="Arial"/>
                <a:cs typeface="Arial"/>
              </a:rPr>
              <a:t> </a:t>
            </a:r>
            <a:r>
              <a:rPr sz="1800" spc="-50">
                <a:solidFill>
                  <a:srgbClr val="222222"/>
                </a:solidFill>
                <a:latin typeface="Arial"/>
                <a:cs typeface="Arial"/>
              </a:rPr>
              <a:t>?</a:t>
            </a:r>
            <a:endParaRPr sz="1800">
              <a:latin typeface="Arial"/>
              <a:cs typeface="Arial"/>
            </a:endParaRPr>
          </a:p>
        </p:txBody>
      </p:sp>
    </p:spTree>
    <p:extLst>
      <p:ext uri="{BB962C8B-B14F-4D97-AF65-F5344CB8AC3E}">
        <p14:creationId xmlns:p14="http://schemas.microsoft.com/office/powerpoint/2010/main" val="301623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BEGREBER</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err="1">
                <a:solidFill>
                  <a:srgbClr val="24332D"/>
                </a:solidFill>
              </a:rPr>
              <a:t>Øvelse</a:t>
            </a:r>
            <a:r>
              <a:rPr lang="en-US" sz="2250" b="1">
                <a:solidFill>
                  <a:srgbClr val="24332D"/>
                </a:solidFill>
              </a:rPr>
              <a:t> Fire </a:t>
            </a:r>
            <a:r>
              <a:rPr lang="en-US" sz="2250" b="1" dirty="0">
                <a:solidFill>
                  <a:srgbClr val="24332D"/>
                </a:solidFill>
              </a:rPr>
              <a:t>ord du skal kunne</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1913382" cy="2674620"/>
          </a:xfrm>
          <a:prstGeom prst="roundRect">
            <a:avLst>
              <a:gd name="adj" fmla="val 2867"/>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1529334" cy="308610"/>
          </a:xfrm>
          <a:prstGeom prst="rect">
            <a:avLst/>
          </a:prstGeom>
          <a:noFill/>
          <a:ln/>
        </p:spPr>
        <p:txBody>
          <a:bodyPr wrap="square" lIns="0" tIns="0" rIns="0" bIns="0" rtlCol="0" anchor="ctr"/>
          <a:lstStyle/>
          <a:p>
            <a:r>
              <a:rPr lang="en-US" sz="1500" b="1" dirty="0">
                <a:solidFill>
                  <a:srgbClr val="24332D"/>
                </a:solidFill>
              </a:rPr>
              <a:t>Relation / tabel</a:t>
            </a:r>
            <a:endParaRPr lang="en-US" sz="1500" dirty="0"/>
          </a:p>
        </p:txBody>
      </p:sp>
      <p:sp>
        <p:nvSpPr>
          <p:cNvPr id="7" name="Text 5"/>
          <p:cNvSpPr/>
          <p:nvPr/>
        </p:nvSpPr>
        <p:spPr>
          <a:xfrm>
            <a:off x="651510" y="2194560"/>
            <a:ext cx="1529334" cy="1611630"/>
          </a:xfrm>
          <a:prstGeom prst="rect">
            <a:avLst/>
          </a:prstGeom>
          <a:noFill/>
          <a:ln/>
        </p:spPr>
        <p:txBody>
          <a:bodyPr wrap="square" lIns="286" tIns="286" rIns="286" bIns="286" rtlCol="0" anchor="ctr"/>
          <a:lstStyle/>
          <a:p>
            <a:r>
              <a:rPr lang="en-US" sz="1125" dirty="0">
                <a:solidFill>
                  <a:srgbClr val="66756E"/>
                </a:solidFill>
              </a:rPr>
              <a:t>En samling af data om samme type entitet.</a:t>
            </a:r>
            <a:endParaRPr lang="en-US" sz="1125" dirty="0"/>
          </a:p>
        </p:txBody>
      </p:sp>
      <p:sp>
        <p:nvSpPr>
          <p:cNvPr id="8" name="Shape 6"/>
          <p:cNvSpPr/>
          <p:nvPr/>
        </p:nvSpPr>
        <p:spPr>
          <a:xfrm>
            <a:off x="2564892" y="1508760"/>
            <a:ext cx="1913382" cy="2674620"/>
          </a:xfrm>
          <a:prstGeom prst="roundRect">
            <a:avLst>
              <a:gd name="adj" fmla="val 2867"/>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2756916" y="1735074"/>
            <a:ext cx="1529334" cy="308610"/>
          </a:xfrm>
          <a:prstGeom prst="rect">
            <a:avLst/>
          </a:prstGeom>
          <a:noFill/>
          <a:ln/>
        </p:spPr>
        <p:txBody>
          <a:bodyPr wrap="square" lIns="0" tIns="0" rIns="0" bIns="0" rtlCol="0" anchor="ctr"/>
          <a:lstStyle/>
          <a:p>
            <a:r>
              <a:rPr lang="en-US" sz="1500" b="1" dirty="0">
                <a:solidFill>
                  <a:srgbClr val="24332D"/>
                </a:solidFill>
              </a:rPr>
              <a:t>Attribut / kolonne</a:t>
            </a:r>
            <a:endParaRPr lang="en-US" sz="1500" dirty="0"/>
          </a:p>
        </p:txBody>
      </p:sp>
      <p:sp>
        <p:nvSpPr>
          <p:cNvPr id="10" name="Text 8"/>
          <p:cNvSpPr/>
          <p:nvPr/>
        </p:nvSpPr>
        <p:spPr>
          <a:xfrm>
            <a:off x="2756916" y="2194560"/>
            <a:ext cx="1529334" cy="1611630"/>
          </a:xfrm>
          <a:prstGeom prst="rect">
            <a:avLst/>
          </a:prstGeom>
          <a:noFill/>
          <a:ln/>
        </p:spPr>
        <p:txBody>
          <a:bodyPr wrap="square" lIns="286" tIns="286" rIns="286" bIns="286" rtlCol="0" anchor="ctr"/>
          <a:lstStyle/>
          <a:p>
            <a:r>
              <a:rPr lang="en-US" sz="1125" dirty="0">
                <a:solidFill>
                  <a:srgbClr val="66756E"/>
                </a:solidFill>
              </a:rPr>
              <a:t>En egenskab, fx navn eller dato.</a:t>
            </a:r>
            <a:endParaRPr lang="en-US" sz="1125" dirty="0"/>
          </a:p>
        </p:txBody>
      </p:sp>
      <p:sp>
        <p:nvSpPr>
          <p:cNvPr id="11" name="Shape 9"/>
          <p:cNvSpPr/>
          <p:nvPr/>
        </p:nvSpPr>
        <p:spPr>
          <a:xfrm>
            <a:off x="4670298" y="1508760"/>
            <a:ext cx="1913382" cy="2674620"/>
          </a:xfrm>
          <a:prstGeom prst="roundRect">
            <a:avLst>
              <a:gd name="adj" fmla="val 2867"/>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12" name="Text 10"/>
          <p:cNvSpPr/>
          <p:nvPr/>
        </p:nvSpPr>
        <p:spPr>
          <a:xfrm>
            <a:off x="4862322" y="1735074"/>
            <a:ext cx="1529334" cy="308610"/>
          </a:xfrm>
          <a:prstGeom prst="rect">
            <a:avLst/>
          </a:prstGeom>
          <a:noFill/>
          <a:ln/>
        </p:spPr>
        <p:txBody>
          <a:bodyPr wrap="square" lIns="0" tIns="0" rIns="0" bIns="0" rtlCol="0" anchor="ctr"/>
          <a:lstStyle/>
          <a:p>
            <a:r>
              <a:rPr lang="en-US" sz="1500" b="1" dirty="0">
                <a:solidFill>
                  <a:srgbClr val="24332D"/>
                </a:solidFill>
              </a:rPr>
              <a:t>Tupel / række</a:t>
            </a:r>
            <a:endParaRPr lang="en-US" sz="1500" dirty="0"/>
          </a:p>
        </p:txBody>
      </p:sp>
      <p:sp>
        <p:nvSpPr>
          <p:cNvPr id="13" name="Text 11"/>
          <p:cNvSpPr/>
          <p:nvPr/>
        </p:nvSpPr>
        <p:spPr>
          <a:xfrm>
            <a:off x="4862322" y="2194560"/>
            <a:ext cx="1529334" cy="1611630"/>
          </a:xfrm>
          <a:prstGeom prst="rect">
            <a:avLst/>
          </a:prstGeom>
          <a:noFill/>
          <a:ln/>
        </p:spPr>
        <p:txBody>
          <a:bodyPr wrap="square" lIns="286" tIns="286" rIns="286" bIns="286" rtlCol="0" anchor="ctr"/>
          <a:lstStyle/>
          <a:p>
            <a:r>
              <a:rPr lang="en-US" sz="1125" dirty="0">
                <a:solidFill>
                  <a:srgbClr val="66756E"/>
                </a:solidFill>
              </a:rPr>
              <a:t>Én konkret post i tabellen.</a:t>
            </a:r>
            <a:endParaRPr lang="en-US" sz="1125" dirty="0"/>
          </a:p>
        </p:txBody>
      </p:sp>
      <p:sp>
        <p:nvSpPr>
          <p:cNvPr id="14" name="Shape 12"/>
          <p:cNvSpPr/>
          <p:nvPr/>
        </p:nvSpPr>
        <p:spPr>
          <a:xfrm>
            <a:off x="6775704" y="1508760"/>
            <a:ext cx="1913382" cy="2674620"/>
          </a:xfrm>
          <a:prstGeom prst="roundRect">
            <a:avLst>
              <a:gd name="adj" fmla="val 2867"/>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15" name="Text 13"/>
          <p:cNvSpPr/>
          <p:nvPr/>
        </p:nvSpPr>
        <p:spPr>
          <a:xfrm>
            <a:off x="6967728" y="1735074"/>
            <a:ext cx="1529334" cy="308610"/>
          </a:xfrm>
          <a:prstGeom prst="rect">
            <a:avLst/>
          </a:prstGeom>
          <a:noFill/>
          <a:ln/>
        </p:spPr>
        <p:txBody>
          <a:bodyPr wrap="square" lIns="0" tIns="0" rIns="0" bIns="0" rtlCol="0" anchor="ctr"/>
          <a:lstStyle/>
          <a:p>
            <a:r>
              <a:rPr lang="en-US" sz="1500" b="1" dirty="0">
                <a:solidFill>
                  <a:srgbClr val="24332D"/>
                </a:solidFill>
              </a:rPr>
              <a:t>Nøgle</a:t>
            </a:r>
            <a:endParaRPr lang="en-US" sz="1500" dirty="0"/>
          </a:p>
        </p:txBody>
      </p:sp>
      <p:sp>
        <p:nvSpPr>
          <p:cNvPr id="16" name="Text 14"/>
          <p:cNvSpPr/>
          <p:nvPr/>
        </p:nvSpPr>
        <p:spPr>
          <a:xfrm>
            <a:off x="6967728" y="2194560"/>
            <a:ext cx="1529334" cy="1611630"/>
          </a:xfrm>
          <a:prstGeom prst="rect">
            <a:avLst/>
          </a:prstGeom>
          <a:noFill/>
          <a:ln/>
        </p:spPr>
        <p:txBody>
          <a:bodyPr wrap="square" lIns="286" tIns="286" rIns="286" bIns="286" rtlCol="0" anchor="ctr"/>
          <a:lstStyle/>
          <a:p>
            <a:r>
              <a:rPr lang="en-US" sz="1125" dirty="0">
                <a:solidFill>
                  <a:srgbClr val="66756E"/>
                </a:solidFill>
              </a:rPr>
              <a:t>Et felt der identificerer eller forbinder data.</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28</a:t>
            </a:fld>
            <a:endParaRPr lang="en-US"/>
          </a:p>
        </p:txBody>
      </p:sp>
    </p:spTree>
    <p:extLst>
      <p:ext uri="{BB962C8B-B14F-4D97-AF65-F5344CB8AC3E}">
        <p14:creationId xmlns:p14="http://schemas.microsoft.com/office/powerpoint/2010/main" val="3994546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NØGLER</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PK og FK i praksis</a:t>
            </a:r>
            <a:endParaRPr lang="en-US" sz="2250" dirty="0"/>
          </a:p>
        </p:txBody>
      </p:sp>
      <p:sp>
        <p:nvSpPr>
          <p:cNvPr id="4" name="Shape 2"/>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5" name="Shape 3"/>
          <p:cNvSpPr/>
          <p:nvPr/>
        </p:nvSpPr>
        <p:spPr>
          <a:xfrm>
            <a:off x="459486"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6" name="Text 4"/>
          <p:cNvSpPr/>
          <p:nvPr/>
        </p:nvSpPr>
        <p:spPr>
          <a:xfrm>
            <a:off x="651510" y="1735074"/>
            <a:ext cx="2231136" cy="308610"/>
          </a:xfrm>
          <a:prstGeom prst="rect">
            <a:avLst/>
          </a:prstGeom>
          <a:noFill/>
          <a:ln/>
        </p:spPr>
        <p:txBody>
          <a:bodyPr wrap="square" lIns="0" tIns="0" rIns="0" bIns="0" rtlCol="0" anchor="ctr"/>
          <a:lstStyle/>
          <a:p>
            <a:r>
              <a:rPr lang="en-US" sz="1500" b="1" dirty="0">
                <a:solidFill>
                  <a:srgbClr val="24332D"/>
                </a:solidFill>
              </a:rPr>
              <a:t>Primærnøgle · PK</a:t>
            </a:r>
            <a:endParaRPr lang="en-US" sz="1500" dirty="0"/>
          </a:p>
        </p:txBody>
      </p:sp>
      <p:sp>
        <p:nvSpPr>
          <p:cNvPr id="7" name="Text 5"/>
          <p:cNvSpPr/>
          <p:nvPr/>
        </p:nvSpPr>
        <p:spPr>
          <a:xfrm>
            <a:off x="651510" y="2194560"/>
            <a:ext cx="2231136" cy="1611630"/>
          </a:xfrm>
          <a:prstGeom prst="rect">
            <a:avLst/>
          </a:prstGeom>
          <a:noFill/>
          <a:ln/>
        </p:spPr>
        <p:txBody>
          <a:bodyPr wrap="square" lIns="286" tIns="286" rIns="286" bIns="286" rtlCol="0" anchor="ctr"/>
          <a:lstStyle/>
          <a:p>
            <a:r>
              <a:rPr lang="en-US" sz="1125" dirty="0">
                <a:solidFill>
                  <a:srgbClr val="66756E"/>
                </a:solidFill>
              </a:rPr>
              <a:t>Identificerer hver række entydigt.</a:t>
            </a:r>
            <a:endParaRPr lang="en-US" sz="1125" dirty="0"/>
          </a:p>
          <a:p>
            <a:r>
              <a:rPr lang="en-US" sz="1125" dirty="0">
                <a:solidFill>
                  <a:srgbClr val="66756E"/>
                </a:solidFill>
              </a:rPr>
              <a:t>Eksempel: elev_id.</a:t>
            </a:r>
            <a:endParaRPr lang="en-US" sz="1125" dirty="0"/>
          </a:p>
        </p:txBody>
      </p:sp>
      <p:sp>
        <p:nvSpPr>
          <p:cNvPr id="8" name="Shape 6"/>
          <p:cNvSpPr/>
          <p:nvPr/>
        </p:nvSpPr>
        <p:spPr>
          <a:xfrm>
            <a:off x="3266694" y="1508760"/>
            <a:ext cx="2615184" cy="2674620"/>
          </a:xfrm>
          <a:prstGeom prst="roundRect">
            <a:avLst>
              <a:gd name="adj" fmla="val 2098"/>
            </a:avLst>
          </a:prstGeom>
          <a:solidFill>
            <a:srgbClr val="EAF7F6"/>
          </a:solidFill>
          <a:ln w="17780">
            <a:solidFill>
              <a:srgbClr val="169C9A"/>
            </a:solidFill>
            <a:prstDash val="solid"/>
          </a:ln>
          <a:effectLst>
            <a:outerShdw blurRad="19050" dist="12700" dir="2700000" algn="bl" rotWithShape="0">
              <a:srgbClr val="000000">
                <a:alpha val="12000"/>
              </a:srgbClr>
            </a:outerShdw>
          </a:effectLst>
        </p:spPr>
        <p:txBody>
          <a:bodyPr/>
          <a:lstStyle/>
          <a:p>
            <a:endParaRPr lang="en-DK"/>
          </a:p>
        </p:txBody>
      </p:sp>
      <p:sp>
        <p:nvSpPr>
          <p:cNvPr id="9" name="Text 7"/>
          <p:cNvSpPr/>
          <p:nvPr/>
        </p:nvSpPr>
        <p:spPr>
          <a:xfrm>
            <a:off x="3458718" y="1735074"/>
            <a:ext cx="2231136" cy="308610"/>
          </a:xfrm>
          <a:prstGeom prst="rect">
            <a:avLst/>
          </a:prstGeom>
          <a:noFill/>
          <a:ln/>
        </p:spPr>
        <p:txBody>
          <a:bodyPr wrap="square" lIns="0" tIns="0" rIns="0" bIns="0" rtlCol="0" anchor="ctr"/>
          <a:lstStyle/>
          <a:p>
            <a:r>
              <a:rPr lang="en-US" sz="1500" b="1" dirty="0">
                <a:solidFill>
                  <a:srgbClr val="24332D"/>
                </a:solidFill>
              </a:rPr>
              <a:t>Fremmednøgle · FK</a:t>
            </a:r>
            <a:endParaRPr lang="en-US" sz="1500" dirty="0"/>
          </a:p>
        </p:txBody>
      </p:sp>
      <p:sp>
        <p:nvSpPr>
          <p:cNvPr id="10" name="Text 8"/>
          <p:cNvSpPr/>
          <p:nvPr/>
        </p:nvSpPr>
        <p:spPr>
          <a:xfrm>
            <a:off x="3458718" y="2194560"/>
            <a:ext cx="2231136" cy="1611630"/>
          </a:xfrm>
          <a:prstGeom prst="rect">
            <a:avLst/>
          </a:prstGeom>
          <a:noFill/>
          <a:ln/>
        </p:spPr>
        <p:txBody>
          <a:bodyPr wrap="square" lIns="286" tIns="286" rIns="286" bIns="286" rtlCol="0" anchor="ctr"/>
          <a:lstStyle/>
          <a:p>
            <a:r>
              <a:rPr lang="en-US" sz="1125" dirty="0">
                <a:solidFill>
                  <a:srgbClr val="66756E"/>
                </a:solidFill>
              </a:rPr>
              <a:t>Peger på en PK i en anden tabel.</a:t>
            </a:r>
            <a:endParaRPr lang="en-US" sz="1125" dirty="0"/>
          </a:p>
          <a:p>
            <a:r>
              <a:rPr lang="en-US" sz="1125" dirty="0">
                <a:solidFill>
                  <a:srgbClr val="66756E"/>
                </a:solidFill>
              </a:rPr>
              <a:t>Eksempel: kursus_id i tilmelding.</a:t>
            </a:r>
            <a:endParaRPr lang="en-US" sz="1125" dirty="0"/>
          </a:p>
        </p:txBody>
      </p:sp>
      <p:sp>
        <p:nvSpPr>
          <p:cNvPr id="11" name="Shape 9"/>
          <p:cNvSpPr/>
          <p:nvPr/>
        </p:nvSpPr>
        <p:spPr>
          <a:xfrm>
            <a:off x="6073902" y="1508760"/>
            <a:ext cx="2615184" cy="2674620"/>
          </a:xfrm>
          <a:prstGeom prst="roundRect">
            <a:avLst>
              <a:gd name="adj" fmla="val 2098"/>
            </a:avLst>
          </a:prstGeom>
          <a:solidFill>
            <a:srgbClr val="FFF4E8"/>
          </a:solidFill>
          <a:ln w="17780">
            <a:solidFill>
              <a:srgbClr val="F39A3E"/>
            </a:solidFill>
            <a:prstDash val="solid"/>
          </a:ln>
          <a:effectLst>
            <a:outerShdw blurRad="19050" dist="12700" dir="2700000" algn="bl" rotWithShape="0">
              <a:srgbClr val="000000">
                <a:alpha val="12000"/>
              </a:srgbClr>
            </a:outerShdw>
          </a:effectLst>
        </p:spPr>
        <p:txBody>
          <a:bodyPr/>
          <a:lstStyle/>
          <a:p>
            <a:endParaRPr lang="en-DK"/>
          </a:p>
        </p:txBody>
      </p:sp>
      <p:sp>
        <p:nvSpPr>
          <p:cNvPr id="12" name="Text 10"/>
          <p:cNvSpPr/>
          <p:nvPr/>
        </p:nvSpPr>
        <p:spPr>
          <a:xfrm>
            <a:off x="6265926" y="1735074"/>
            <a:ext cx="2231136" cy="308610"/>
          </a:xfrm>
          <a:prstGeom prst="rect">
            <a:avLst/>
          </a:prstGeom>
          <a:noFill/>
          <a:ln/>
        </p:spPr>
        <p:txBody>
          <a:bodyPr wrap="square" lIns="0" tIns="0" rIns="0" bIns="0" rtlCol="0" anchor="ctr"/>
          <a:lstStyle/>
          <a:p>
            <a:r>
              <a:rPr lang="en-US" sz="1500" b="1" dirty="0">
                <a:solidFill>
                  <a:srgbClr val="24332D"/>
                </a:solidFill>
              </a:rPr>
              <a:t>Samme datatype</a:t>
            </a:r>
            <a:endParaRPr lang="en-US" sz="1500" dirty="0"/>
          </a:p>
        </p:txBody>
      </p:sp>
      <p:sp>
        <p:nvSpPr>
          <p:cNvPr id="13" name="Text 11"/>
          <p:cNvSpPr/>
          <p:nvPr/>
        </p:nvSpPr>
        <p:spPr>
          <a:xfrm>
            <a:off x="6265926" y="2194560"/>
            <a:ext cx="2231136" cy="1611630"/>
          </a:xfrm>
          <a:prstGeom prst="rect">
            <a:avLst/>
          </a:prstGeom>
          <a:noFill/>
          <a:ln/>
        </p:spPr>
        <p:txBody>
          <a:bodyPr wrap="square" lIns="286" tIns="286" rIns="286" bIns="286" rtlCol="0" anchor="ctr"/>
          <a:lstStyle/>
          <a:p>
            <a:r>
              <a:rPr lang="en-US" sz="1125" dirty="0">
                <a:solidFill>
                  <a:srgbClr val="66756E"/>
                </a:solidFill>
              </a:rPr>
              <a:t>PK og den tilhørende FK skal have kompatible datatyper.</a:t>
            </a:r>
            <a:endParaRPr lang="en-US" sz="1125"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 xmlns:ma14="http://schemas.microsoft.com/office/mac/drawingml/2011/main" val="0"/>
            </a:ext>
          </a:extLst>
        </p:spPr>
        <p:txBody>
          <a:bodyPr/>
          <a:lstStyle>
            <a:lvl1pPr>
              <a:defRPr sz="600">
                <a:solidFill>
                  <a:srgbClr val="66756E"/>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2B2B4-8BB8-6505-84CB-1CE868BEF53E}"/>
              </a:ext>
            </a:extLst>
          </p:cNvPr>
          <p:cNvSpPr>
            <a:spLocks noGrp="1"/>
          </p:cNvSpPr>
          <p:nvPr>
            <p:ph type="sldNum" sz="quarter" idx="4294967295"/>
          </p:nvPr>
        </p:nvSpPr>
        <p:spPr/>
        <p:txBody>
          <a:bodyPr/>
          <a:lstStyle/>
          <a:p>
            <a:pPr algn="r"/>
            <a:fld id="{F7021451-1387-4CA6-816F-3879F97B5CBC}" type="slidenum">
              <a:rPr lang="en-US" b="0" smtClean="0"/>
              <a:t>30</a:t>
            </a:fld>
            <a:endParaRPr lang="en-US"/>
          </a:p>
        </p:txBody>
      </p:sp>
      <p:pic>
        <p:nvPicPr>
          <p:cNvPr id="4" name="Picture 3">
            <a:extLst>
              <a:ext uri="{FF2B5EF4-FFF2-40B4-BE49-F238E27FC236}">
                <a16:creationId xmlns:a16="http://schemas.microsoft.com/office/drawing/2014/main" id="{25EDCBF4-D418-784C-3194-E1C08EF2E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331" y="0"/>
            <a:ext cx="7709338" cy="5143500"/>
          </a:xfrm>
          <a:prstGeom prst="rect">
            <a:avLst/>
          </a:prstGeom>
        </p:spPr>
      </p:pic>
    </p:spTree>
    <p:extLst>
      <p:ext uri="{BB962C8B-B14F-4D97-AF65-F5344CB8AC3E}">
        <p14:creationId xmlns:p14="http://schemas.microsoft.com/office/powerpoint/2010/main" val="1939539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4AAFE40-99BD-4D77-3EA0-5B96DDD90EFA}"/>
              </a:ext>
            </a:extLst>
          </p:cNvPr>
          <p:cNvSpPr>
            <a:spLocks noGrp="1"/>
          </p:cNvSpPr>
          <p:nvPr>
            <p:ph type="title"/>
          </p:nvPr>
        </p:nvSpPr>
        <p:spPr>
          <a:xfrm>
            <a:off x="459486" y="411480"/>
            <a:ext cx="7990184" cy="849194"/>
          </a:xfrm>
        </p:spPr>
        <p:txBody>
          <a:bodyPr>
            <a:normAutofit/>
          </a:bodyPr>
          <a:lstStyle/>
          <a:p>
            <a:r>
              <a:rPr lang="en-US" dirty="0"/>
              <a:t>SQL </a:t>
            </a:r>
            <a:r>
              <a:rPr lang="en-US" dirty="0" err="1"/>
              <a:t>øvelse</a:t>
            </a:r>
            <a:r>
              <a:rPr lang="en-US" dirty="0"/>
              <a:t> – </a:t>
            </a:r>
            <a:r>
              <a:rPr lang="en-US" dirty="0" err="1"/>
              <a:t>forklar</a:t>
            </a:r>
            <a:r>
              <a:rPr lang="en-US" dirty="0"/>
              <a:t>. </a:t>
            </a:r>
            <a:r>
              <a:rPr lang="en-US" dirty="0" err="1"/>
              <a:t>kode</a:t>
            </a:r>
            <a:endParaRPr lang="en-US" dirty="0"/>
          </a:p>
        </p:txBody>
      </p:sp>
      <p:sp>
        <p:nvSpPr>
          <p:cNvPr id="11" name="Date Placeholder 3">
            <a:extLst>
              <a:ext uri="{FF2B5EF4-FFF2-40B4-BE49-F238E27FC236}">
                <a16:creationId xmlns:a16="http://schemas.microsoft.com/office/drawing/2014/main" id="{3A2C48E9-E140-0D8E-9099-E23E279EE141}"/>
              </a:ext>
            </a:extLst>
          </p:cNvPr>
          <p:cNvSpPr>
            <a:spLocks noGrp="1"/>
          </p:cNvSpPr>
          <p:nvPr>
            <p:ph type="dt" sz="half" idx="10"/>
          </p:nvPr>
        </p:nvSpPr>
        <p:spPr>
          <a:xfrm>
            <a:off x="102870" y="4839752"/>
            <a:ext cx="2620736" cy="273844"/>
          </a:xfrm>
        </p:spPr>
        <p:txBody>
          <a:bodyPr anchor="ctr">
            <a:normAutofit/>
          </a:bodyPr>
          <a:lstStyle/>
          <a:p>
            <a:pPr>
              <a:lnSpc>
                <a:spcPct val="90000"/>
              </a:lnSpc>
              <a:spcAft>
                <a:spcPts val="600"/>
              </a:spcAft>
            </a:pPr>
            <a:fld id="{2AA3A565-5035-4BE6-B361-351636DAAC91}" type="datetime1">
              <a:rPr lang="en-US" sz="1200" smtClean="0"/>
              <a:pPr>
                <a:lnSpc>
                  <a:spcPct val="90000"/>
                </a:lnSpc>
                <a:spcAft>
                  <a:spcPts val="600"/>
                </a:spcAft>
              </a:pPr>
              <a:t>10/29/26</a:t>
            </a:fld>
            <a:endParaRPr lang="en-US" sz="1200"/>
          </a:p>
        </p:txBody>
      </p:sp>
      <p:sp>
        <p:nvSpPr>
          <p:cNvPr id="13" name="Footer Placeholder 4">
            <a:extLst>
              <a:ext uri="{FF2B5EF4-FFF2-40B4-BE49-F238E27FC236}">
                <a16:creationId xmlns:a16="http://schemas.microsoft.com/office/drawing/2014/main" id="{62366FD5-1747-9C3F-245E-D097AB53CA19}"/>
              </a:ext>
            </a:extLst>
          </p:cNvPr>
          <p:cNvSpPr>
            <a:spLocks noGrp="1"/>
          </p:cNvSpPr>
          <p:nvPr>
            <p:ph type="ftr" sz="quarter" idx="11"/>
          </p:nvPr>
        </p:nvSpPr>
        <p:spPr>
          <a:xfrm>
            <a:off x="6657391" y="4839752"/>
            <a:ext cx="2104054" cy="273844"/>
          </a:xfrm>
        </p:spPr>
        <p:txBody>
          <a:bodyPr anchor="ctr">
            <a:normAutofit lnSpcReduction="10000"/>
          </a:bodyPr>
          <a:lstStyle/>
          <a:p>
            <a:pPr>
              <a:lnSpc>
                <a:spcPct val="90000"/>
              </a:lnSpc>
              <a:spcAft>
                <a:spcPts val="600"/>
              </a:spcAft>
            </a:pPr>
            <a:r>
              <a:rPr lang="en-US" sz="400"/>
              <a:t>
              </a:t>
            </a:r>
          </a:p>
        </p:txBody>
      </p:sp>
      <p:sp>
        <p:nvSpPr>
          <p:cNvPr id="2" name="Slide Number Placeholder 1">
            <a:extLst>
              <a:ext uri="{FF2B5EF4-FFF2-40B4-BE49-F238E27FC236}">
                <a16:creationId xmlns:a16="http://schemas.microsoft.com/office/drawing/2014/main" id="{E63BCB56-549E-5C6F-3430-CE101C0350CB}"/>
              </a:ext>
            </a:extLst>
          </p:cNvPr>
          <p:cNvSpPr>
            <a:spLocks noGrp="1"/>
          </p:cNvSpPr>
          <p:nvPr>
            <p:ph type="sldNum" sz="quarter" idx="12"/>
          </p:nvPr>
        </p:nvSpPr>
        <p:spPr>
          <a:xfrm>
            <a:off x="8724122" y="4839752"/>
            <a:ext cx="321905" cy="273844"/>
          </a:xfrm>
        </p:spPr>
        <p:txBody>
          <a:bodyPr anchor="ctr">
            <a:normAutofit fontScale="77500" lnSpcReduction="20000"/>
          </a:bodyPr>
          <a:lstStyle/>
          <a:p>
            <a:pPr>
              <a:lnSpc>
                <a:spcPct val="90000"/>
              </a:lnSpc>
              <a:spcAft>
                <a:spcPts val="600"/>
              </a:spcAft>
            </a:pPr>
            <a:fld id="{F7021451-1387-4CA6-816F-3879F97B5CBC}" type="slidenum">
              <a:rPr lang="en-US" sz="1200" b="0" smtClean="0"/>
              <a:pPr>
                <a:lnSpc>
                  <a:spcPct val="90000"/>
                </a:lnSpc>
                <a:spcAft>
                  <a:spcPts val="600"/>
                </a:spcAft>
              </a:pPr>
              <a:t>31</a:t>
            </a:fld>
            <a:endParaRPr lang="en-US" sz="1200"/>
          </a:p>
        </p:txBody>
      </p:sp>
      <p:graphicFrame>
        <p:nvGraphicFramePr>
          <p:cNvPr id="15" name="Content Placeholder 2">
            <a:extLst>
              <a:ext uri="{FF2B5EF4-FFF2-40B4-BE49-F238E27FC236}">
                <a16:creationId xmlns:a16="http://schemas.microsoft.com/office/drawing/2014/main" id="{442C7351-97F1-AEF3-1F15-4D6647D914E0}"/>
              </a:ext>
            </a:extLst>
          </p:cNvPr>
          <p:cNvGraphicFramePr>
            <a:graphicFrameLocks noGrp="1"/>
          </p:cNvGraphicFramePr>
          <p:nvPr>
            <p:ph idx="1"/>
            <p:extLst>
              <p:ext uri="{D42A27DB-BD31-4B8C-83A1-F6EECF244321}">
                <p14:modId xmlns:p14="http://schemas.microsoft.com/office/powerpoint/2010/main" val="1820307130"/>
              </p:ext>
            </p:extLst>
          </p:nvPr>
        </p:nvGraphicFramePr>
        <p:xfrm>
          <a:off x="459486" y="1286649"/>
          <a:ext cx="7990184" cy="34453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300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A8E5-ACCD-8DA4-F31E-B60B2EE6C38B}"/>
              </a:ext>
            </a:extLst>
          </p:cNvPr>
          <p:cNvSpPr>
            <a:spLocks noGrp="1"/>
          </p:cNvSpPr>
          <p:nvPr>
            <p:ph type="title"/>
          </p:nvPr>
        </p:nvSpPr>
        <p:spPr/>
        <p:txBody>
          <a:bodyPr/>
          <a:lstStyle/>
          <a:p>
            <a:r>
              <a:rPr lang="en-US" dirty="0"/>
              <a:t>E-R diagram</a:t>
            </a:r>
          </a:p>
        </p:txBody>
      </p:sp>
      <p:sp>
        <p:nvSpPr>
          <p:cNvPr id="4" name="Date Placeholder 3">
            <a:extLst>
              <a:ext uri="{FF2B5EF4-FFF2-40B4-BE49-F238E27FC236}">
                <a16:creationId xmlns:a16="http://schemas.microsoft.com/office/drawing/2014/main" id="{DEDA8550-6B74-B985-813A-50A1F411EB13}"/>
              </a:ext>
            </a:extLst>
          </p:cNvPr>
          <p:cNvSpPr>
            <a:spLocks noGrp="1"/>
          </p:cNvSpPr>
          <p:nvPr>
            <p:ph type="dt" sz="half" idx="10"/>
          </p:nvPr>
        </p:nvSpPr>
        <p:spPr/>
        <p:txBody>
          <a:bodyPr/>
          <a:lstStyle/>
          <a:p>
            <a:fld id="{DE56FB41-7CEA-467A-8010-2C31BE8E945C}" type="datetime1">
              <a:rPr lang="en-DK"/>
              <a:t>29/10/2026</a:t>
            </a:fld>
            <a:endParaRPr lang="en-US"/>
          </a:p>
        </p:txBody>
      </p:sp>
      <p:sp>
        <p:nvSpPr>
          <p:cNvPr id="5" name="Footer Placeholder 4">
            <a:extLst>
              <a:ext uri="{FF2B5EF4-FFF2-40B4-BE49-F238E27FC236}">
                <a16:creationId xmlns:a16="http://schemas.microsoft.com/office/drawing/2014/main" id="{03B3519D-218E-7C1E-F7B9-A343137FD6F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1B89900-D159-C776-4DB3-2F013D496D32}"/>
              </a:ext>
            </a:extLst>
          </p:cNvPr>
          <p:cNvSpPr>
            <a:spLocks noGrp="1"/>
          </p:cNvSpPr>
          <p:nvPr>
            <p:ph type="sldNum" sz="quarter" idx="12"/>
          </p:nvPr>
        </p:nvSpPr>
        <p:spPr/>
        <p:txBody>
          <a:bodyPr/>
          <a:lstStyle/>
          <a:p>
            <a:fld id="{CC057153-B650-4DEB-B370-79DDCFDCE934}" type="slidenum">
              <a:rPr lang="en-US" dirty="0"/>
              <a:t>32</a:t>
            </a:fld>
            <a:endParaRPr lang="en-US"/>
          </a:p>
        </p:txBody>
      </p:sp>
      <p:pic>
        <p:nvPicPr>
          <p:cNvPr id="9" name="Graphic 8">
            <a:extLst>
              <a:ext uri="{FF2B5EF4-FFF2-40B4-BE49-F238E27FC236}">
                <a16:creationId xmlns:a16="http://schemas.microsoft.com/office/drawing/2014/main" id="{79E19A2C-8B96-97A1-435C-53398EF828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4518" y="3169523"/>
            <a:ext cx="6184900" cy="469900"/>
          </a:xfrm>
          <a:prstGeom prst="rect">
            <a:avLst/>
          </a:prstGeom>
        </p:spPr>
      </p:pic>
      <p:sp>
        <p:nvSpPr>
          <p:cNvPr id="11" name="TextBox 10">
            <a:extLst>
              <a:ext uri="{FF2B5EF4-FFF2-40B4-BE49-F238E27FC236}">
                <a16:creationId xmlns:a16="http://schemas.microsoft.com/office/drawing/2014/main" id="{FEBCE772-C711-F5E8-1311-7063C88DA5B3}"/>
              </a:ext>
            </a:extLst>
          </p:cNvPr>
          <p:cNvSpPr txBox="1"/>
          <p:nvPr/>
        </p:nvSpPr>
        <p:spPr>
          <a:xfrm>
            <a:off x="1413238" y="1378330"/>
            <a:ext cx="4572000" cy="1200329"/>
          </a:xfrm>
          <a:prstGeom prst="rect">
            <a:avLst/>
          </a:prstGeom>
          <a:noFill/>
        </p:spPr>
        <p:txBody>
          <a:bodyPr wrap="square">
            <a:spAutoFit/>
          </a:bodyPr>
          <a:lstStyle/>
          <a:p>
            <a:pPr>
              <a:buNone/>
            </a:pPr>
            <a:r>
              <a:rPr lang="en-DK" b="1" dirty="0"/>
              <a:t> </a:t>
            </a:r>
            <a:r>
              <a:rPr lang="en-DK" dirty="0"/>
              <a:t>E/R-diagram står for </a:t>
            </a:r>
            <a:r>
              <a:rPr lang="en-DK" i="1" dirty="0"/>
              <a:t>Entitets/Relations-diagram</a:t>
            </a:r>
            <a:r>
              <a:rPr lang="en-DK" dirty="0"/>
              <a:t>. Diagrammet viser, hvilke sammenhænge der er mellem de enkelte tabeller i en database.</a:t>
            </a:r>
            <a:endParaRPr lang="en-DK" b="1" dirty="0"/>
          </a:p>
        </p:txBody>
      </p:sp>
    </p:spTree>
    <p:extLst>
      <p:ext uri="{BB962C8B-B14F-4D97-AF65-F5344CB8AC3E}">
        <p14:creationId xmlns:p14="http://schemas.microsoft.com/office/powerpoint/2010/main" val="822593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9E0C-2110-654C-F1DA-768C3C64B7F9}"/>
              </a:ext>
            </a:extLst>
          </p:cNvPr>
          <p:cNvSpPr>
            <a:spLocks noGrp="1"/>
          </p:cNvSpPr>
          <p:nvPr>
            <p:ph type="title"/>
          </p:nvPr>
        </p:nvSpPr>
        <p:spPr/>
        <p:txBody>
          <a:bodyPr/>
          <a:lstStyle/>
          <a:p>
            <a:r>
              <a:rPr lang="en-DK" dirty="0"/>
              <a:t>1:m m:m</a:t>
            </a:r>
          </a:p>
        </p:txBody>
      </p:sp>
      <p:sp>
        <p:nvSpPr>
          <p:cNvPr id="3" name="Content Placeholder 2">
            <a:extLst>
              <a:ext uri="{FF2B5EF4-FFF2-40B4-BE49-F238E27FC236}">
                <a16:creationId xmlns:a16="http://schemas.microsoft.com/office/drawing/2014/main" id="{D1FE9DE1-4064-F814-C451-8961AE0D6F56}"/>
              </a:ext>
            </a:extLst>
          </p:cNvPr>
          <p:cNvSpPr>
            <a:spLocks noGrp="1"/>
          </p:cNvSpPr>
          <p:nvPr>
            <p:ph idx="1"/>
          </p:nvPr>
        </p:nvSpPr>
        <p:spPr/>
        <p:txBody>
          <a:bodyPr/>
          <a:lstStyle/>
          <a:p>
            <a:endParaRPr lang="en-DK"/>
          </a:p>
        </p:txBody>
      </p:sp>
      <p:sp>
        <p:nvSpPr>
          <p:cNvPr id="4" name="Date Placeholder 3">
            <a:extLst>
              <a:ext uri="{FF2B5EF4-FFF2-40B4-BE49-F238E27FC236}">
                <a16:creationId xmlns:a16="http://schemas.microsoft.com/office/drawing/2014/main" id="{5306C39D-5F85-2D43-5839-0C780B2AB346}"/>
              </a:ext>
            </a:extLst>
          </p:cNvPr>
          <p:cNvSpPr>
            <a:spLocks noGrp="1"/>
          </p:cNvSpPr>
          <p:nvPr>
            <p:ph type="dt" sz="half" idx="10"/>
          </p:nvPr>
        </p:nvSpPr>
        <p:spPr/>
        <p:txBody>
          <a:bodyPr/>
          <a:lstStyle/>
          <a:p>
            <a:fld id="{7AA5FDE0-F215-B04D-8FAC-7E3EB7A88396}" type="datetime1">
              <a:rPr lang="en-US" smtClean="0"/>
              <a:t>10/29/26</a:t>
            </a:fld>
            <a:endParaRPr lang="en-US"/>
          </a:p>
        </p:txBody>
      </p:sp>
      <p:sp>
        <p:nvSpPr>
          <p:cNvPr id="5" name="Footer Placeholder 4">
            <a:extLst>
              <a:ext uri="{FF2B5EF4-FFF2-40B4-BE49-F238E27FC236}">
                <a16:creationId xmlns:a16="http://schemas.microsoft.com/office/drawing/2014/main" id="{18755DE9-8F07-C03A-516C-4F83905CE9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4B2EE39-F259-F31B-5F21-121AEEACBE23}"/>
              </a:ext>
            </a:extLst>
          </p:cNvPr>
          <p:cNvSpPr>
            <a:spLocks noGrp="1"/>
          </p:cNvSpPr>
          <p:nvPr>
            <p:ph type="sldNum" sz="quarter" idx="12"/>
          </p:nvPr>
        </p:nvSpPr>
        <p:spPr/>
        <p:txBody>
          <a:bodyPr/>
          <a:lstStyle/>
          <a:p>
            <a:fld id="{CC057153-B650-4DEB-B370-79DDCFDCE934}" type="slidenum">
              <a:rPr lang="en-US" smtClean="0"/>
              <a:t>33</a:t>
            </a:fld>
            <a:endParaRPr lang="en-US"/>
          </a:p>
        </p:txBody>
      </p:sp>
      <p:pic>
        <p:nvPicPr>
          <p:cNvPr id="7" name="Graphic 6">
            <a:extLst>
              <a:ext uri="{FF2B5EF4-FFF2-40B4-BE49-F238E27FC236}">
                <a16:creationId xmlns:a16="http://schemas.microsoft.com/office/drawing/2014/main" id="{27F7D14F-6481-F22F-072A-37BAFEAB36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9550" y="1788212"/>
            <a:ext cx="6184900" cy="1778000"/>
          </a:xfrm>
          <a:prstGeom prst="rect">
            <a:avLst/>
          </a:prstGeom>
        </p:spPr>
      </p:pic>
    </p:spTree>
    <p:extLst>
      <p:ext uri="{BB962C8B-B14F-4D97-AF65-F5344CB8AC3E}">
        <p14:creationId xmlns:p14="http://schemas.microsoft.com/office/powerpoint/2010/main" val="3854497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6613D-3DF6-AB39-361D-FB98FE6C504C}"/>
              </a:ext>
            </a:extLst>
          </p:cNvPr>
          <p:cNvSpPr>
            <a:spLocks noGrp="1"/>
          </p:cNvSpPr>
          <p:nvPr>
            <p:ph type="title"/>
          </p:nvPr>
        </p:nvSpPr>
        <p:spPr/>
        <p:txBody>
          <a:bodyPr/>
          <a:lstStyle/>
          <a:p>
            <a:r>
              <a:rPr lang="en-DK" dirty="0"/>
              <a:t>1:m</a:t>
            </a:r>
          </a:p>
        </p:txBody>
      </p:sp>
      <p:pic>
        <p:nvPicPr>
          <p:cNvPr id="7" name="Content Placeholder 6">
            <a:extLst>
              <a:ext uri="{FF2B5EF4-FFF2-40B4-BE49-F238E27FC236}">
                <a16:creationId xmlns:a16="http://schemas.microsoft.com/office/drawing/2014/main" id="{0BA10E8B-B65D-443D-0BAF-C2BF0D793830}"/>
              </a:ext>
              <a:ext uri="{C183D7F6-B498-43B3-948B-1728B52AA6E4}">
                <adec:decorative xmlns:adec="http://schemas.microsoft.com/office/drawing/2017/decorative" val="1"/>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362075" y="1447006"/>
            <a:ext cx="6184900" cy="3124200"/>
          </a:xfrm>
          <a:prstGeom prst="rect">
            <a:avLst/>
          </a:prstGeom>
        </p:spPr>
      </p:pic>
      <p:sp>
        <p:nvSpPr>
          <p:cNvPr id="4" name="Date Placeholder 3">
            <a:extLst>
              <a:ext uri="{FF2B5EF4-FFF2-40B4-BE49-F238E27FC236}">
                <a16:creationId xmlns:a16="http://schemas.microsoft.com/office/drawing/2014/main" id="{EB5E8043-BD4C-CAC7-A7C2-CA1C233CA7D9}"/>
              </a:ext>
            </a:extLst>
          </p:cNvPr>
          <p:cNvSpPr>
            <a:spLocks noGrp="1"/>
          </p:cNvSpPr>
          <p:nvPr>
            <p:ph type="dt" sz="half" idx="10"/>
          </p:nvPr>
        </p:nvSpPr>
        <p:spPr/>
        <p:txBody>
          <a:bodyPr/>
          <a:lstStyle/>
          <a:p>
            <a:fld id="{6C44FCE1-088C-B64D-AD04-6D7A9D44AC80}" type="datetime1">
              <a:rPr lang="en-US" smtClean="0"/>
              <a:t>10/29/26</a:t>
            </a:fld>
            <a:endParaRPr lang="en-US"/>
          </a:p>
        </p:txBody>
      </p:sp>
      <p:sp>
        <p:nvSpPr>
          <p:cNvPr id="5" name="Footer Placeholder 4">
            <a:extLst>
              <a:ext uri="{FF2B5EF4-FFF2-40B4-BE49-F238E27FC236}">
                <a16:creationId xmlns:a16="http://schemas.microsoft.com/office/drawing/2014/main" id="{C1A640FB-096A-1C15-E7DD-2EACBB90FBC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CBC7FD0-79EB-1DCF-1A55-7F11D5091535}"/>
              </a:ext>
            </a:extLst>
          </p:cNvPr>
          <p:cNvSpPr>
            <a:spLocks noGrp="1"/>
          </p:cNvSpPr>
          <p:nvPr>
            <p:ph type="sldNum" sz="quarter" idx="12"/>
          </p:nvPr>
        </p:nvSpPr>
        <p:spPr/>
        <p:txBody>
          <a:bodyPr/>
          <a:lstStyle/>
          <a:p>
            <a:fld id="{CC057153-B650-4DEB-B370-79DDCFDCE934}" type="slidenum">
              <a:rPr lang="en-US" smtClean="0"/>
              <a:t>34</a:t>
            </a:fld>
            <a:endParaRPr lang="en-US"/>
          </a:p>
        </p:txBody>
      </p:sp>
    </p:spTree>
    <p:extLst>
      <p:ext uri="{BB962C8B-B14F-4D97-AF65-F5344CB8AC3E}">
        <p14:creationId xmlns:p14="http://schemas.microsoft.com/office/powerpoint/2010/main" val="1678795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C108-E643-F028-251E-018DAF87EA49}"/>
              </a:ext>
            </a:extLst>
          </p:cNvPr>
          <p:cNvSpPr>
            <a:spLocks noGrp="1"/>
          </p:cNvSpPr>
          <p:nvPr>
            <p:ph type="title"/>
          </p:nvPr>
        </p:nvSpPr>
        <p:spPr/>
        <p:txBody>
          <a:bodyPr>
            <a:normAutofit/>
          </a:bodyPr>
          <a:lstStyle/>
          <a:p>
            <a:r>
              <a:rPr lang="en-DK" sz="2800" dirty="0"/>
              <a:t>øvelse</a:t>
            </a:r>
          </a:p>
        </p:txBody>
      </p:sp>
      <p:sp>
        <p:nvSpPr>
          <p:cNvPr id="3" name="Content Placeholder 2">
            <a:extLst>
              <a:ext uri="{FF2B5EF4-FFF2-40B4-BE49-F238E27FC236}">
                <a16:creationId xmlns:a16="http://schemas.microsoft.com/office/drawing/2014/main" id="{5820D462-4A96-3013-1037-470FD6E05063}"/>
              </a:ext>
            </a:extLst>
          </p:cNvPr>
          <p:cNvSpPr>
            <a:spLocks noGrp="1"/>
          </p:cNvSpPr>
          <p:nvPr>
            <p:ph idx="1"/>
          </p:nvPr>
        </p:nvSpPr>
        <p:spPr/>
        <p:txBody>
          <a:bodyPr>
            <a:normAutofit fontScale="62500" lnSpcReduction="20000"/>
          </a:bodyPr>
          <a:lstStyle/>
          <a:p>
            <a:r>
              <a:rPr lang="en-DK" dirty="0"/>
              <a:t>I skal designe en simpel skoledatabase med tre tabeller: </a:t>
            </a:r>
            <a:r>
              <a:rPr lang="en-DK" b="1" dirty="0"/>
              <a:t>Klasser, Elever og Lærere</a:t>
            </a:r>
            <a:r>
              <a:rPr lang="en-DK" dirty="0"/>
              <a:t>.</a:t>
            </a:r>
          </a:p>
          <a:p>
            <a:pPr marL="0" indent="0">
              <a:buNone/>
            </a:pPr>
            <a:r>
              <a:rPr lang="en-DK" b="1" dirty="0"/>
              <a:t>1. Tabelfelter</a:t>
            </a:r>
            <a:endParaRPr lang="en-DK" dirty="0"/>
          </a:p>
          <a:p>
            <a:pPr lvl="0"/>
            <a:r>
              <a:rPr lang="en-DK" dirty="0"/>
              <a:t>Hvilke felter skal indgå i hver tabel?</a:t>
            </a:r>
          </a:p>
          <a:p>
            <a:pPr marL="0" indent="0">
              <a:buNone/>
            </a:pPr>
            <a:r>
              <a:rPr lang="en-DK" b="1" dirty="0"/>
              <a:t>2. Nøglefelter</a:t>
            </a:r>
            <a:endParaRPr lang="en-DK" dirty="0"/>
          </a:p>
          <a:p>
            <a:pPr lvl="0"/>
            <a:r>
              <a:rPr lang="en-DK" dirty="0"/>
              <a:t>Hvilke felter skal være primærnøgler (PK) og fremmednøgler (FK)?</a:t>
            </a:r>
          </a:p>
          <a:p>
            <a:pPr marL="0" indent="0">
              <a:buNone/>
            </a:pPr>
            <a:r>
              <a:rPr lang="en-DK" b="1" dirty="0"/>
              <a:t>3. Relationer</a:t>
            </a:r>
            <a:endParaRPr lang="en-DK" dirty="0"/>
          </a:p>
          <a:p>
            <a:pPr lvl="0"/>
            <a:r>
              <a:rPr lang="en-DK" dirty="0"/>
              <a:t>Hvilke relationer er der mellem tabellerne (1:1, 1 eller M)?</a:t>
            </a:r>
          </a:p>
          <a:p>
            <a:pPr lvl="0"/>
            <a:r>
              <a:rPr lang="en-DK" dirty="0"/>
              <a:t>Tegn et simpelt ER-diagram.</a:t>
            </a:r>
          </a:p>
          <a:p>
            <a:pPr marL="0" indent="0">
              <a:buNone/>
            </a:pPr>
            <a:r>
              <a:rPr lang="en-DK" b="1" dirty="0"/>
              <a:t>4. Diskussion</a:t>
            </a:r>
            <a:endParaRPr lang="en-DK" dirty="0"/>
          </a:p>
          <a:p>
            <a:pPr lvl="0"/>
            <a:r>
              <a:rPr lang="en-DK" dirty="0"/>
              <a:t>Hvilke udfordringer kan opstå, fx hvis en elev skifter klasse, eller en lærer underviser flere klasser?</a:t>
            </a:r>
          </a:p>
          <a:p>
            <a:pPr marL="0" indent="0">
              <a:buNone/>
            </a:pPr>
            <a:endParaRPr lang="en-DK" dirty="0"/>
          </a:p>
        </p:txBody>
      </p:sp>
      <p:sp>
        <p:nvSpPr>
          <p:cNvPr id="4" name="Date Placeholder 3">
            <a:extLst>
              <a:ext uri="{FF2B5EF4-FFF2-40B4-BE49-F238E27FC236}">
                <a16:creationId xmlns:a16="http://schemas.microsoft.com/office/drawing/2014/main" id="{9D92226C-E682-57C2-4D8A-B2FFD10921CF}"/>
              </a:ext>
            </a:extLst>
          </p:cNvPr>
          <p:cNvSpPr>
            <a:spLocks noGrp="1"/>
          </p:cNvSpPr>
          <p:nvPr>
            <p:ph type="dt" sz="half" idx="10"/>
          </p:nvPr>
        </p:nvSpPr>
        <p:spPr/>
        <p:txBody>
          <a:bodyPr/>
          <a:lstStyle/>
          <a:p>
            <a:fld id="{497FBE90-1829-D748-9012-5BD04B2CE1A1}" type="datetime1">
              <a:rPr lang="en-US" smtClean="0"/>
              <a:t>10/29/26</a:t>
            </a:fld>
            <a:endParaRPr lang="en-US"/>
          </a:p>
        </p:txBody>
      </p:sp>
      <p:sp>
        <p:nvSpPr>
          <p:cNvPr id="5" name="Footer Placeholder 4">
            <a:extLst>
              <a:ext uri="{FF2B5EF4-FFF2-40B4-BE49-F238E27FC236}">
                <a16:creationId xmlns:a16="http://schemas.microsoft.com/office/drawing/2014/main" id="{8D49A03F-2AD4-0D9F-6192-681AA899D97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78CA4D7-9159-6773-7B97-6AF66528367F}"/>
              </a:ext>
            </a:extLst>
          </p:cNvPr>
          <p:cNvSpPr>
            <a:spLocks noGrp="1"/>
          </p:cNvSpPr>
          <p:nvPr>
            <p:ph type="sldNum" sz="quarter" idx="12"/>
          </p:nvPr>
        </p:nvSpPr>
        <p:spPr/>
        <p:txBody>
          <a:bodyPr/>
          <a:lstStyle/>
          <a:p>
            <a:fld id="{CC057153-B650-4DEB-B370-79DDCFDCE934}" type="slidenum">
              <a:rPr lang="en-US" smtClean="0"/>
              <a:t>35</a:t>
            </a:fld>
            <a:endParaRPr lang="en-US"/>
          </a:p>
        </p:txBody>
      </p:sp>
    </p:spTree>
    <p:extLst>
      <p:ext uri="{BB962C8B-B14F-4D97-AF65-F5344CB8AC3E}">
        <p14:creationId xmlns:p14="http://schemas.microsoft.com/office/powerpoint/2010/main" val="4085135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 y="6"/>
            <a:ext cx="9143984" cy="5143493"/>
          </a:xfrm>
          <a:prstGeom prst="rect">
            <a:avLst/>
          </a:prstGeom>
        </p:spPr>
      </p:pic>
      <p:sp>
        <p:nvSpPr>
          <p:cNvPr id="3" name="object 3" descr="$PPTXTitle"/>
          <p:cNvSpPr txBox="1">
            <a:spLocks noGrp="1"/>
          </p:cNvSpPr>
          <p:nvPr>
            <p:ph type="title"/>
          </p:nvPr>
        </p:nvSpPr>
        <p:spPr>
          <a:xfrm>
            <a:off x="2056860" y="3315716"/>
            <a:ext cx="5020945" cy="482600"/>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FFFFFF"/>
                </a:solidFill>
                <a:latin typeface="Trebuchet MS"/>
                <a:cs typeface="Trebuchet MS"/>
              </a:rPr>
              <a:t>ERD-</a:t>
            </a:r>
            <a:r>
              <a:rPr sz="3000" spc="345" dirty="0">
                <a:solidFill>
                  <a:srgbClr val="FFFFFF"/>
                </a:solidFill>
                <a:latin typeface="Trebuchet MS"/>
                <a:cs typeface="Trebuchet MS"/>
              </a:rPr>
              <a:t> </a:t>
            </a:r>
            <a:r>
              <a:rPr sz="3000" dirty="0">
                <a:solidFill>
                  <a:srgbClr val="FFFFFF"/>
                </a:solidFill>
                <a:latin typeface="Trebuchet MS"/>
                <a:cs typeface="Trebuchet MS"/>
              </a:rPr>
              <a:t>CROW’S</a:t>
            </a:r>
            <a:r>
              <a:rPr sz="3000" spc="355" dirty="0">
                <a:solidFill>
                  <a:srgbClr val="FFFFFF"/>
                </a:solidFill>
                <a:latin typeface="Trebuchet MS"/>
                <a:cs typeface="Trebuchet MS"/>
              </a:rPr>
              <a:t> </a:t>
            </a:r>
            <a:r>
              <a:rPr sz="3000" dirty="0">
                <a:solidFill>
                  <a:srgbClr val="FFFFFF"/>
                </a:solidFill>
                <a:latin typeface="Trebuchet MS"/>
                <a:cs typeface="Trebuchet MS"/>
              </a:rPr>
              <a:t>FOOT</a:t>
            </a:r>
            <a:r>
              <a:rPr sz="3000" spc="285" dirty="0">
                <a:solidFill>
                  <a:srgbClr val="FFFFFF"/>
                </a:solidFill>
                <a:latin typeface="Trebuchet MS"/>
                <a:cs typeface="Trebuchet MS"/>
              </a:rPr>
              <a:t> </a:t>
            </a:r>
            <a:r>
              <a:rPr sz="3000" spc="-10" dirty="0">
                <a:solidFill>
                  <a:srgbClr val="FFFFFF"/>
                </a:solidFill>
                <a:latin typeface="Trebuchet MS"/>
                <a:cs typeface="Trebuchet MS"/>
              </a:rPr>
              <a:t>MODEL</a:t>
            </a:r>
            <a:endParaRPr sz="3000">
              <a:latin typeface="Trebuchet MS"/>
              <a:cs typeface="Trebuchet MS"/>
            </a:endParaRPr>
          </a:p>
        </p:txBody>
      </p:sp>
    </p:spTree>
    <p:extLst>
      <p:ext uri="{BB962C8B-B14F-4D97-AF65-F5344CB8AC3E}">
        <p14:creationId xmlns:p14="http://schemas.microsoft.com/office/powerpoint/2010/main" val="2178830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884678" y="23876"/>
            <a:ext cx="3064510" cy="939800"/>
          </a:xfrm>
          <a:prstGeom prst="rect">
            <a:avLst/>
          </a:prstGeom>
        </p:spPr>
        <p:txBody>
          <a:bodyPr vert="horz" wrap="square" lIns="0" tIns="12700" rIns="0" bIns="0" rtlCol="0">
            <a:spAutoFit/>
          </a:bodyPr>
          <a:lstStyle/>
          <a:p>
            <a:pPr marL="12700" marR="5080">
              <a:lnSpc>
                <a:spcPct val="100000"/>
              </a:lnSpc>
              <a:spcBef>
                <a:spcPts val="100"/>
              </a:spcBef>
            </a:pPr>
            <a:r>
              <a:rPr sz="3000" b="0" spc="-10" dirty="0">
                <a:solidFill>
                  <a:srgbClr val="000000"/>
                </a:solidFill>
                <a:latin typeface="Trebuchet MS"/>
                <a:cs typeface="Trebuchet MS"/>
              </a:rPr>
              <a:t>ERD:</a:t>
            </a:r>
            <a:r>
              <a:rPr sz="3000" b="0" spc="-195" dirty="0">
                <a:solidFill>
                  <a:srgbClr val="000000"/>
                </a:solidFill>
                <a:latin typeface="Trebuchet MS"/>
                <a:cs typeface="Trebuchet MS"/>
              </a:rPr>
              <a:t> </a:t>
            </a:r>
            <a:r>
              <a:rPr sz="3000" b="0" spc="-85" dirty="0">
                <a:solidFill>
                  <a:srgbClr val="000000"/>
                </a:solidFill>
                <a:latin typeface="Trebuchet MS"/>
                <a:cs typeface="Trebuchet MS"/>
              </a:rPr>
              <a:t>CROWS</a:t>
            </a:r>
            <a:r>
              <a:rPr sz="3000" b="0" spc="-190" dirty="0">
                <a:solidFill>
                  <a:srgbClr val="000000"/>
                </a:solidFill>
                <a:latin typeface="Trebuchet MS"/>
                <a:cs typeface="Trebuchet MS"/>
              </a:rPr>
              <a:t> </a:t>
            </a:r>
            <a:r>
              <a:rPr sz="3000" b="0" spc="-80" dirty="0">
                <a:solidFill>
                  <a:srgbClr val="000000"/>
                </a:solidFill>
                <a:latin typeface="Trebuchet MS"/>
                <a:cs typeface="Trebuchet MS"/>
              </a:rPr>
              <a:t>FOOT </a:t>
            </a:r>
            <a:r>
              <a:rPr sz="3000" b="0" spc="-10" dirty="0">
                <a:solidFill>
                  <a:srgbClr val="000000"/>
                </a:solidFill>
                <a:latin typeface="Trebuchet MS"/>
                <a:cs typeface="Trebuchet MS"/>
              </a:rPr>
              <a:t>MODEL</a:t>
            </a:r>
            <a:endParaRPr sz="3000">
              <a:latin typeface="Trebuchet MS"/>
              <a:cs typeface="Trebuchet MS"/>
            </a:endParaRPr>
          </a:p>
        </p:txBody>
      </p:sp>
      <p:grpSp>
        <p:nvGrpSpPr>
          <p:cNvPr id="3" name="object 3"/>
          <p:cNvGrpSpPr/>
          <p:nvPr/>
        </p:nvGrpSpPr>
        <p:grpSpPr>
          <a:xfrm>
            <a:off x="0" y="1398587"/>
            <a:ext cx="9144000" cy="2346325"/>
            <a:chOff x="0" y="1398587"/>
            <a:chExt cx="9144000" cy="2346325"/>
          </a:xfrm>
        </p:grpSpPr>
        <p:sp>
          <p:nvSpPr>
            <p:cNvPr id="4" name="object 4"/>
            <p:cNvSpPr/>
            <p:nvPr/>
          </p:nvSpPr>
          <p:spPr>
            <a:xfrm>
              <a:off x="2193930" y="2263049"/>
              <a:ext cx="49530" cy="49530"/>
            </a:xfrm>
            <a:custGeom>
              <a:avLst/>
              <a:gdLst/>
              <a:ahLst/>
              <a:cxnLst/>
              <a:rect l="l" t="t" r="r" b="b"/>
              <a:pathLst>
                <a:path w="49530" h="49530">
                  <a:moveTo>
                    <a:pt x="24749" y="0"/>
                  </a:moveTo>
                  <a:lnTo>
                    <a:pt x="15115" y="1944"/>
                  </a:lnTo>
                  <a:lnTo>
                    <a:pt x="7249" y="7249"/>
                  </a:lnTo>
                  <a:lnTo>
                    <a:pt x="1944" y="15115"/>
                  </a:lnTo>
                  <a:lnTo>
                    <a:pt x="0" y="24749"/>
                  </a:lnTo>
                  <a:lnTo>
                    <a:pt x="1944" y="34383"/>
                  </a:lnTo>
                  <a:lnTo>
                    <a:pt x="7249" y="42250"/>
                  </a:lnTo>
                  <a:lnTo>
                    <a:pt x="15115" y="47554"/>
                  </a:lnTo>
                  <a:lnTo>
                    <a:pt x="24749" y="49499"/>
                  </a:lnTo>
                  <a:lnTo>
                    <a:pt x="34383" y="47554"/>
                  </a:lnTo>
                  <a:lnTo>
                    <a:pt x="42250" y="42250"/>
                  </a:lnTo>
                  <a:lnTo>
                    <a:pt x="47554" y="34383"/>
                  </a:lnTo>
                  <a:lnTo>
                    <a:pt x="49499" y="24749"/>
                  </a:lnTo>
                  <a:lnTo>
                    <a:pt x="47554" y="15115"/>
                  </a:lnTo>
                  <a:lnTo>
                    <a:pt x="42250" y="7249"/>
                  </a:lnTo>
                  <a:lnTo>
                    <a:pt x="34383" y="1944"/>
                  </a:lnTo>
                  <a:lnTo>
                    <a:pt x="24749" y="0"/>
                  </a:lnTo>
                  <a:close/>
                </a:path>
              </a:pathLst>
            </a:custGeom>
            <a:solidFill>
              <a:srgbClr val="66CC00"/>
            </a:solidFill>
          </p:spPr>
          <p:txBody>
            <a:bodyPr wrap="square" lIns="0" tIns="0" rIns="0" bIns="0" rtlCol="0"/>
            <a:lstStyle/>
            <a:p>
              <a:endParaRPr/>
            </a:p>
          </p:txBody>
        </p:sp>
        <p:pic>
          <p:nvPicPr>
            <p:cNvPr id="5" name="object 5"/>
            <p:cNvPicPr/>
            <p:nvPr/>
          </p:nvPicPr>
          <p:blipFill>
            <a:blip r:embed="rId2" cstate="print"/>
            <a:stretch>
              <a:fillRect/>
            </a:stretch>
          </p:blipFill>
          <p:spPr>
            <a:xfrm>
              <a:off x="0" y="1398587"/>
              <a:ext cx="9144000" cy="2346325"/>
            </a:xfrm>
            <a:prstGeom prst="rect">
              <a:avLst/>
            </a:prstGeom>
          </p:spPr>
        </p:pic>
      </p:grpSp>
    </p:spTree>
    <p:extLst>
      <p:ext uri="{BB962C8B-B14F-4D97-AF65-F5344CB8AC3E}">
        <p14:creationId xmlns:p14="http://schemas.microsoft.com/office/powerpoint/2010/main" val="3557969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89250" y="361950"/>
            <a:ext cx="3657600" cy="4165599"/>
          </a:xfrm>
          <a:prstGeom prst="rect">
            <a:avLst/>
          </a:prstGeom>
        </p:spPr>
      </p:pic>
    </p:spTree>
    <p:extLst>
      <p:ext uri="{BB962C8B-B14F-4D97-AF65-F5344CB8AC3E}">
        <p14:creationId xmlns:p14="http://schemas.microsoft.com/office/powerpoint/2010/main" val="20542878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98930" y="-88900"/>
            <a:ext cx="2171700" cy="939800"/>
          </a:xfrm>
          <a:prstGeom prst="rect">
            <a:avLst/>
          </a:prstGeom>
        </p:spPr>
        <p:txBody>
          <a:bodyPr vert="horz" wrap="square" lIns="0" tIns="12700" rIns="0" bIns="0" rtlCol="0">
            <a:spAutoFit/>
          </a:bodyPr>
          <a:lstStyle/>
          <a:p>
            <a:pPr marL="12700" marR="5080">
              <a:lnSpc>
                <a:spcPct val="100000"/>
              </a:lnSpc>
              <a:spcBef>
                <a:spcPts val="100"/>
              </a:spcBef>
            </a:pPr>
            <a:r>
              <a:rPr sz="3000" b="0" spc="-85" dirty="0">
                <a:solidFill>
                  <a:srgbClr val="696464"/>
                </a:solidFill>
                <a:latin typeface="Trebuchet MS"/>
                <a:cs typeface="Trebuchet MS"/>
              </a:rPr>
              <a:t>CROWS</a:t>
            </a:r>
            <a:r>
              <a:rPr sz="3000" b="0" spc="-190" dirty="0">
                <a:solidFill>
                  <a:srgbClr val="696464"/>
                </a:solidFill>
                <a:latin typeface="Trebuchet MS"/>
                <a:cs typeface="Trebuchet MS"/>
              </a:rPr>
              <a:t> </a:t>
            </a:r>
            <a:r>
              <a:rPr sz="3000" b="0" spc="-95" dirty="0">
                <a:solidFill>
                  <a:srgbClr val="696464"/>
                </a:solidFill>
                <a:latin typeface="Trebuchet MS"/>
                <a:cs typeface="Trebuchet MS"/>
              </a:rPr>
              <a:t>FOOT </a:t>
            </a:r>
            <a:r>
              <a:rPr sz="3000" b="0" spc="-50" dirty="0">
                <a:solidFill>
                  <a:srgbClr val="696464"/>
                </a:solidFill>
                <a:latin typeface="Trebuchet MS"/>
                <a:cs typeface="Trebuchet MS"/>
              </a:rPr>
              <a:t>NOTATION</a:t>
            </a:r>
            <a:endParaRPr sz="3000" dirty="0">
              <a:latin typeface="Trebuchet MS"/>
              <a:cs typeface="Trebuchet MS"/>
            </a:endParaRPr>
          </a:p>
        </p:txBody>
      </p:sp>
      <p:pic>
        <p:nvPicPr>
          <p:cNvPr id="3" name="object 3"/>
          <p:cNvPicPr/>
          <p:nvPr/>
        </p:nvPicPr>
        <p:blipFill>
          <a:blip r:embed="rId2" cstate="print"/>
          <a:stretch>
            <a:fillRect/>
          </a:stretch>
        </p:blipFill>
        <p:spPr>
          <a:xfrm>
            <a:off x="1597106" y="783010"/>
            <a:ext cx="5891411" cy="3880012"/>
          </a:xfrm>
          <a:prstGeom prst="rect">
            <a:avLst/>
          </a:prstGeom>
        </p:spPr>
      </p:pic>
    </p:spTree>
    <p:extLst>
      <p:ext uri="{BB962C8B-B14F-4D97-AF65-F5344CB8AC3E}">
        <p14:creationId xmlns:p14="http://schemas.microsoft.com/office/powerpoint/2010/main" val="34237687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9CC0-CD71-4704-9DF1-954D3B62069B}"/>
              </a:ext>
            </a:extLst>
          </p:cNvPr>
          <p:cNvSpPr>
            <a:spLocks noGrp="1"/>
          </p:cNvSpPr>
          <p:nvPr>
            <p:ph type="title"/>
          </p:nvPr>
        </p:nvSpPr>
        <p:spPr/>
        <p:txBody>
          <a:bodyPr>
            <a:normAutofit fontScale="90000"/>
          </a:bodyPr>
          <a:lstStyle/>
          <a:p>
            <a:pPr algn="r"/>
            <a:r>
              <a:rPr lang="en-DK" dirty="0"/>
              <a:t>            </a:t>
            </a:r>
            <a:br>
              <a:rPr lang="en-DK" dirty="0"/>
            </a:br>
            <a:br>
              <a:rPr lang="en-DK" dirty="0"/>
            </a:br>
            <a:endParaRPr lang="en-DK" dirty="0"/>
          </a:p>
        </p:txBody>
      </p:sp>
      <p:sp>
        <p:nvSpPr>
          <p:cNvPr id="3" name="object 2" descr="$PPTXTitle">
            <a:extLst>
              <a:ext uri="{FF2B5EF4-FFF2-40B4-BE49-F238E27FC236}">
                <a16:creationId xmlns:a16="http://schemas.microsoft.com/office/drawing/2014/main" id="{9683231D-3837-D7A9-FEE3-06F58AAFEA33}"/>
              </a:ext>
            </a:extLst>
          </p:cNvPr>
          <p:cNvSpPr txBox="1">
            <a:spLocks/>
          </p:cNvSpPr>
          <p:nvPr/>
        </p:nvSpPr>
        <p:spPr>
          <a:xfrm>
            <a:off x="0" y="411480"/>
            <a:ext cx="2171700" cy="948978"/>
          </a:xfrm>
          <a:prstGeom prst="rect">
            <a:avLst/>
          </a:prstGeom>
        </p:spPr>
        <p:txBody>
          <a:bodyPr vert="horz" wrap="square" lIns="0" tIns="12700" rIns="0" bIns="0" rtlCol="0">
            <a:spAutoFit/>
          </a:bodyPr>
          <a:lstStyle>
            <a:lvl1pPr algn="ctr" defTabSz="914400" rtl="0" eaLnBrk="1" latinLnBrk="0" hangingPunct="1">
              <a:spcBef>
                <a:spcPct val="0"/>
              </a:spcBef>
              <a:buNone/>
              <a:defRPr sz="2800" b="1" i="0" kern="1200">
                <a:solidFill>
                  <a:srgbClr val="007FA3"/>
                </a:solidFill>
                <a:latin typeface="Arial"/>
                <a:ea typeface="+mj-ea"/>
                <a:cs typeface="Arial"/>
              </a:defRPr>
            </a:lvl1pPr>
          </a:lstStyle>
          <a:p>
            <a:pPr marL="12700" marR="5080">
              <a:spcBef>
                <a:spcPts val="100"/>
              </a:spcBef>
            </a:pPr>
            <a:r>
              <a:rPr lang="en-GB" sz="3000" b="0" spc="-85" dirty="0" err="1">
                <a:solidFill>
                  <a:srgbClr val="696464"/>
                </a:solidFill>
                <a:latin typeface="Trebuchet MS"/>
                <a:cs typeface="Trebuchet MS"/>
              </a:rPr>
              <a:t>øvelse</a:t>
            </a:r>
            <a:endParaRPr lang="en-GB" sz="3000" b="0" spc="-50" dirty="0">
              <a:solidFill>
                <a:srgbClr val="696464"/>
              </a:solidFill>
              <a:latin typeface="Trebuchet MS"/>
              <a:cs typeface="Trebuchet MS"/>
            </a:endParaRPr>
          </a:p>
          <a:p>
            <a:pPr marL="12700" marR="5080">
              <a:spcBef>
                <a:spcPts val="100"/>
              </a:spcBef>
            </a:pPr>
            <a:endParaRPr lang="en-GB" sz="3000" dirty="0">
              <a:latin typeface="Trebuchet MS"/>
              <a:cs typeface="Trebuchet MS"/>
            </a:endParaRPr>
          </a:p>
        </p:txBody>
      </p:sp>
      <p:sp>
        <p:nvSpPr>
          <p:cNvPr id="4" name="TextBox 3">
            <a:extLst>
              <a:ext uri="{FF2B5EF4-FFF2-40B4-BE49-F238E27FC236}">
                <a16:creationId xmlns:a16="http://schemas.microsoft.com/office/drawing/2014/main" id="{B5BCF9D4-ABC5-572C-F5E4-42BAFFC30A6A}"/>
              </a:ext>
            </a:extLst>
          </p:cNvPr>
          <p:cNvSpPr txBox="1"/>
          <p:nvPr/>
        </p:nvSpPr>
        <p:spPr>
          <a:xfrm>
            <a:off x="555081" y="1260674"/>
            <a:ext cx="11905823" cy="3139321"/>
          </a:xfrm>
          <a:prstGeom prst="rect">
            <a:avLst/>
          </a:prstGeom>
          <a:noFill/>
        </p:spPr>
        <p:txBody>
          <a:bodyPr wrap="none" rtlCol="0">
            <a:spAutoFit/>
          </a:bodyPr>
          <a:lstStyle/>
          <a:p>
            <a:r>
              <a:rPr lang="en-DK" b="1" dirty="0"/>
              <a:t>Databasedesign for en idrætsforening</a:t>
            </a:r>
          </a:p>
          <a:p>
            <a:r>
              <a:rPr lang="en-DK" dirty="0"/>
              <a:t>I skal oprette tre tabeller i en database for en idrætsforening: </a:t>
            </a:r>
            <a:r>
              <a:rPr lang="en-DK" b="1" dirty="0"/>
              <a:t>Spillere, Hold og Trænere</a:t>
            </a:r>
            <a:r>
              <a:rPr lang="en-DK" dirty="0"/>
              <a:t>.</a:t>
            </a:r>
          </a:p>
          <a:p>
            <a:r>
              <a:rPr lang="en-DK" b="1" dirty="0"/>
              <a:t>1. Tabeller og felter</a:t>
            </a:r>
            <a:endParaRPr lang="en-DK" dirty="0"/>
          </a:p>
          <a:p>
            <a:pPr lvl="0"/>
            <a:r>
              <a:rPr lang="en-DK" dirty="0"/>
              <a:t>Hvilke felter skal indgå i hver tabel?</a:t>
            </a:r>
          </a:p>
          <a:p>
            <a:pPr lvl="0"/>
            <a:r>
              <a:rPr lang="en-DK" dirty="0"/>
              <a:t>Markér primærnøgler (PK) og fremmednøgler (FK).</a:t>
            </a:r>
          </a:p>
          <a:p>
            <a:r>
              <a:rPr lang="en-DK" b="1" dirty="0"/>
              <a:t>2. Relationer</a:t>
            </a:r>
            <a:endParaRPr lang="en-DK" dirty="0"/>
          </a:p>
          <a:p>
            <a:pPr lvl="0"/>
            <a:r>
              <a:rPr lang="en-DK" dirty="0"/>
              <a:t>Hvilke relationer er der mellem Spillere, Hold og Trænere?</a:t>
            </a:r>
          </a:p>
          <a:p>
            <a:pPr lvl="0"/>
            <a:r>
              <a:rPr lang="en-DK" dirty="0"/>
              <a:t>Er relationerne 1:1, 1 eller M?</a:t>
            </a:r>
          </a:p>
          <a:p>
            <a:r>
              <a:rPr lang="en-DK" b="1" dirty="0"/>
              <a:t>3. Crow’s Foot-diagram</a:t>
            </a:r>
            <a:endParaRPr lang="en-DK" dirty="0"/>
          </a:p>
          <a:p>
            <a:pPr lvl="0"/>
            <a:r>
              <a:rPr lang="en-DK" dirty="0"/>
              <a:t>Tegn et ER-diagram med Crow’s Foot-notation, der viser tabellerne, deres nøglefelter og relationerne mellem dem.</a:t>
            </a:r>
          </a:p>
          <a:p>
            <a:endParaRPr lang="en-DK" dirty="0"/>
          </a:p>
        </p:txBody>
      </p:sp>
    </p:spTree>
    <p:extLst>
      <p:ext uri="{BB962C8B-B14F-4D97-AF65-F5344CB8AC3E}">
        <p14:creationId xmlns:p14="http://schemas.microsoft.com/office/powerpoint/2010/main" val="2292176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445770" y="342900"/>
            <a:ext cx="2880360" cy="171450"/>
          </a:xfrm>
          <a:prstGeom prst="rect">
            <a:avLst/>
          </a:prstGeom>
          <a:noFill/>
          <a:ln/>
        </p:spPr>
        <p:txBody>
          <a:bodyPr wrap="square" lIns="0" tIns="0" rIns="0" bIns="0" rtlCol="0" anchor="ctr"/>
          <a:lstStyle/>
          <a:p>
            <a:r>
              <a:rPr lang="en-US" sz="825" b="1" spc="105" dirty="0">
                <a:solidFill>
                  <a:srgbClr val="F39A3E"/>
                </a:solidFill>
              </a:rPr>
              <a:t>QUIZ</a:t>
            </a:r>
            <a:endParaRPr lang="en-US" sz="825" dirty="0"/>
          </a:p>
        </p:txBody>
      </p:sp>
      <p:sp>
        <p:nvSpPr>
          <p:cNvPr id="3" name="Text 1"/>
          <p:cNvSpPr/>
          <p:nvPr/>
        </p:nvSpPr>
        <p:spPr>
          <a:xfrm>
            <a:off x="445770" y="582930"/>
            <a:ext cx="8092440" cy="411480"/>
          </a:xfrm>
          <a:prstGeom prst="rect">
            <a:avLst/>
          </a:prstGeom>
          <a:noFill/>
          <a:ln/>
        </p:spPr>
        <p:txBody>
          <a:bodyPr wrap="square" lIns="0" tIns="0" rIns="0" bIns="0" rtlCol="0" anchor="ctr"/>
          <a:lstStyle/>
          <a:p>
            <a:r>
              <a:rPr lang="en-US" sz="2250" b="1" dirty="0">
                <a:solidFill>
                  <a:srgbClr val="24332D"/>
                </a:solidFill>
              </a:rPr>
              <a:t>Test din forståelse</a:t>
            </a:r>
            <a:endParaRPr lang="en-US" sz="2250" dirty="0"/>
          </a:p>
        </p:txBody>
      </p:sp>
      <p:sp>
        <p:nvSpPr>
          <p:cNvPr id="4" name="Text 2"/>
          <p:cNvSpPr/>
          <p:nvPr/>
        </p:nvSpPr>
        <p:spPr>
          <a:xfrm>
            <a:off x="459486" y="1042416"/>
            <a:ext cx="7886700" cy="260604"/>
          </a:xfrm>
          <a:prstGeom prst="rect">
            <a:avLst/>
          </a:prstGeom>
          <a:noFill/>
          <a:ln/>
        </p:spPr>
        <p:txBody>
          <a:bodyPr wrap="square" lIns="0" tIns="0" rIns="0" bIns="0" rtlCol="0" anchor="ctr"/>
          <a:lstStyle/>
          <a:p>
            <a:r>
              <a:rPr lang="en-US" sz="1125" dirty="0">
                <a:solidFill>
                  <a:srgbClr val="66756E"/>
                </a:solidFill>
              </a:rPr>
              <a:t>Svar først individuelt, sammenlign derefter med personen ved siden af.</a:t>
            </a:r>
            <a:endParaRPr lang="en-US" sz="1125" dirty="0"/>
          </a:p>
        </p:txBody>
      </p:sp>
      <p:sp>
        <p:nvSpPr>
          <p:cNvPr id="5" name="Shape 3"/>
          <p:cNvSpPr/>
          <p:nvPr/>
        </p:nvSpPr>
        <p:spPr>
          <a:xfrm>
            <a:off x="445770" y="1357884"/>
            <a:ext cx="788670" cy="1"/>
          </a:xfrm>
          <a:prstGeom prst="line">
            <a:avLst/>
          </a:prstGeom>
          <a:noFill/>
          <a:ln w="50800">
            <a:solidFill>
              <a:srgbClr val="169C9A"/>
            </a:solidFill>
            <a:prstDash val="solid"/>
            <a:headEnd type="none"/>
            <a:tailEnd type="none"/>
          </a:ln>
        </p:spPr>
        <p:txBody>
          <a:bodyPr/>
          <a:lstStyle/>
          <a:p>
            <a:endParaRPr lang="en-DK"/>
          </a:p>
        </p:txBody>
      </p:sp>
      <p:sp>
        <p:nvSpPr>
          <p:cNvPr id="6" name="Shape 4"/>
          <p:cNvSpPr/>
          <p:nvPr/>
        </p:nvSpPr>
        <p:spPr>
          <a:xfrm>
            <a:off x="493776" y="1495044"/>
            <a:ext cx="8161020" cy="500634"/>
          </a:xfrm>
          <a:prstGeom prst="roundRect">
            <a:avLst/>
          </a:prstGeom>
          <a:solidFill>
            <a:srgbClr val="FFF8F0"/>
          </a:solidFill>
          <a:ln w="12700">
            <a:solidFill>
              <a:srgbClr val="D7E2DD"/>
            </a:solidFill>
            <a:prstDash val="solid"/>
          </a:ln>
        </p:spPr>
        <p:txBody>
          <a:bodyPr/>
          <a:lstStyle/>
          <a:p>
            <a:endParaRPr lang="en-DK"/>
          </a:p>
        </p:txBody>
      </p:sp>
      <p:sp>
        <p:nvSpPr>
          <p:cNvPr id="7" name="Text 5"/>
          <p:cNvSpPr/>
          <p:nvPr/>
        </p:nvSpPr>
        <p:spPr>
          <a:xfrm>
            <a:off x="672084" y="1618488"/>
            <a:ext cx="7680960" cy="219456"/>
          </a:xfrm>
          <a:prstGeom prst="rect">
            <a:avLst/>
          </a:prstGeom>
          <a:noFill/>
          <a:ln/>
        </p:spPr>
        <p:txBody>
          <a:bodyPr wrap="square" lIns="0" tIns="0" rIns="0" bIns="0" rtlCol="0" anchor="ctr"/>
          <a:lstStyle/>
          <a:p>
            <a:r>
              <a:rPr lang="en-US" sz="1200" b="1" dirty="0">
                <a:solidFill>
                  <a:srgbClr val="24332D"/>
                </a:solidFill>
              </a:rPr>
              <a:t>1. Hvilket problem opstår ofte, når samme data gemmes i flere filer?</a:t>
            </a:r>
            <a:endParaRPr lang="en-US" sz="1200" dirty="0"/>
          </a:p>
        </p:txBody>
      </p:sp>
      <p:sp>
        <p:nvSpPr>
          <p:cNvPr id="8" name="Shape 6"/>
          <p:cNvSpPr/>
          <p:nvPr/>
        </p:nvSpPr>
        <p:spPr>
          <a:xfrm>
            <a:off x="493776" y="2153412"/>
            <a:ext cx="8161020" cy="500634"/>
          </a:xfrm>
          <a:prstGeom prst="roundRect">
            <a:avLst/>
          </a:prstGeom>
          <a:solidFill>
            <a:srgbClr val="F3F7F5"/>
          </a:solidFill>
          <a:ln w="12700">
            <a:solidFill>
              <a:srgbClr val="D7E2DD"/>
            </a:solidFill>
            <a:prstDash val="solid"/>
          </a:ln>
        </p:spPr>
        <p:txBody>
          <a:bodyPr/>
          <a:lstStyle/>
          <a:p>
            <a:endParaRPr lang="en-DK"/>
          </a:p>
        </p:txBody>
      </p:sp>
      <p:sp>
        <p:nvSpPr>
          <p:cNvPr id="9" name="Text 7"/>
          <p:cNvSpPr/>
          <p:nvPr/>
        </p:nvSpPr>
        <p:spPr>
          <a:xfrm>
            <a:off x="672084" y="2276856"/>
            <a:ext cx="7680960" cy="219456"/>
          </a:xfrm>
          <a:prstGeom prst="rect">
            <a:avLst/>
          </a:prstGeom>
          <a:noFill/>
          <a:ln/>
        </p:spPr>
        <p:txBody>
          <a:bodyPr wrap="square" lIns="0" tIns="0" rIns="0" bIns="0" rtlCol="0" anchor="ctr"/>
          <a:lstStyle/>
          <a:p>
            <a:r>
              <a:rPr lang="en-US" sz="1200" b="1" dirty="0">
                <a:solidFill>
                  <a:srgbClr val="24332D"/>
                </a:solidFill>
              </a:rPr>
              <a:t>2. Hvad er den vigtigste forskel på en tabel og en række?</a:t>
            </a:r>
            <a:endParaRPr lang="en-US" sz="1200" dirty="0"/>
          </a:p>
        </p:txBody>
      </p:sp>
      <p:sp>
        <p:nvSpPr>
          <p:cNvPr id="10" name="Shape 8"/>
          <p:cNvSpPr/>
          <p:nvPr/>
        </p:nvSpPr>
        <p:spPr>
          <a:xfrm>
            <a:off x="493776" y="2811780"/>
            <a:ext cx="8161020" cy="500634"/>
          </a:xfrm>
          <a:prstGeom prst="roundRect">
            <a:avLst/>
          </a:prstGeom>
          <a:solidFill>
            <a:srgbClr val="FFF8F0"/>
          </a:solidFill>
          <a:ln w="12700">
            <a:solidFill>
              <a:srgbClr val="D7E2DD"/>
            </a:solidFill>
            <a:prstDash val="solid"/>
          </a:ln>
        </p:spPr>
        <p:txBody>
          <a:bodyPr/>
          <a:lstStyle/>
          <a:p>
            <a:endParaRPr lang="en-DK"/>
          </a:p>
        </p:txBody>
      </p:sp>
      <p:sp>
        <p:nvSpPr>
          <p:cNvPr id="11" name="Text 9"/>
          <p:cNvSpPr/>
          <p:nvPr/>
        </p:nvSpPr>
        <p:spPr>
          <a:xfrm>
            <a:off x="672084" y="2935224"/>
            <a:ext cx="7680960" cy="219456"/>
          </a:xfrm>
          <a:prstGeom prst="rect">
            <a:avLst/>
          </a:prstGeom>
          <a:noFill/>
          <a:ln/>
        </p:spPr>
        <p:txBody>
          <a:bodyPr wrap="square" lIns="0" tIns="0" rIns="0" bIns="0" rtlCol="0" anchor="ctr"/>
          <a:lstStyle/>
          <a:p>
            <a:r>
              <a:rPr lang="en-US" sz="1200" b="1" dirty="0">
                <a:solidFill>
                  <a:srgbClr val="24332D"/>
                </a:solidFill>
              </a:rPr>
              <a:t>3. Hvad gør et DBMS lettere end et filbaseret system?</a:t>
            </a:r>
            <a:endParaRPr lang="en-US" sz="1200" dirty="0"/>
          </a:p>
        </p:txBody>
      </p:sp>
      <p:sp>
        <p:nvSpPr>
          <p:cNvPr id="25" name="Slide Number Placeholder 0"/>
          <p:cNvSpPr>
            <a:spLocks noGrp="1"/>
          </p:cNvSpPr>
          <p:nvPr>
            <p:ph type="sldNum" sz="quarter" idx="4294967295"/>
          </p:nvPr>
        </p:nvSpPr>
        <p:spPr>
          <a:xfrm>
            <a:off x="8743950" y="4855464"/>
            <a:ext cx="171450" cy="137160"/>
          </a:xfrm>
          <a:prstGeom prst="rect">
            <a:avLst/>
          </a:prstGeom>
          <a:extLst>
            <a:ext uri="{C572A759-6A51-4108-AA02-DFA0A04FC94B}">
              <ma14:wrappingTextBoxFlag xmlns:ma14="http://schemas.microsoft.com/office/mac/drawingml/2011/main" xmlns="" val="0"/>
            </a:ext>
          </a:extLst>
        </p:spPr>
        <p:txBody>
          <a:bodyPr/>
          <a:lstStyle>
            <a:lvl1pPr>
              <a:defRPr sz="600">
                <a:solidFill>
                  <a:srgbClr val="66756E"/>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076C7-C332-D7EC-C92F-6BAF0BBC91BA}"/>
            </a:ext>
          </a:extLst>
        </p:cNvPr>
        <p:cNvGrpSpPr/>
        <p:nvPr/>
      </p:nvGrpSpPr>
      <p:grpSpPr>
        <a:xfrm>
          <a:off x="0" y="0"/>
          <a:ext cx="0" cy="0"/>
          <a:chOff x="0" y="0"/>
          <a:chExt cx="0" cy="0"/>
        </a:xfrm>
      </p:grpSpPr>
      <p:sp>
        <p:nvSpPr>
          <p:cNvPr id="2" name="Pladsholder til billede 1">
            <a:extLst>
              <a:ext uri="{FF2B5EF4-FFF2-40B4-BE49-F238E27FC236}">
                <a16:creationId xmlns:a16="http://schemas.microsoft.com/office/drawing/2014/main" id="{553C44E6-7AC1-15E0-6E5D-1EF3ED87DACF}"/>
              </a:ext>
            </a:extLst>
          </p:cNvPr>
          <p:cNvSpPr>
            <a:spLocks noGrp="1"/>
          </p:cNvSpPr>
          <p:nvPr>
            <p:ph type="pic" sz="quarter" idx="10"/>
          </p:nvPr>
        </p:nvSpPr>
        <p:spPr/>
        <p:txBody>
          <a:bodyPr/>
          <a:lstStyle/>
          <a:p>
            <a:endParaRPr lang="en-DK"/>
          </a:p>
        </p:txBody>
      </p:sp>
      <p:sp>
        <p:nvSpPr>
          <p:cNvPr id="3" name="Titel 2">
            <a:extLst>
              <a:ext uri="{FF2B5EF4-FFF2-40B4-BE49-F238E27FC236}">
                <a16:creationId xmlns:a16="http://schemas.microsoft.com/office/drawing/2014/main" id="{040E84BD-185C-837F-57F3-C5E55107539E}"/>
              </a:ext>
            </a:extLst>
          </p:cNvPr>
          <p:cNvSpPr>
            <a:spLocks noGrp="1"/>
          </p:cNvSpPr>
          <p:nvPr>
            <p:ph type="ctrTitle"/>
          </p:nvPr>
        </p:nvSpPr>
        <p:spPr/>
        <p:txBody>
          <a:bodyPr/>
          <a:lstStyle/>
          <a:p>
            <a:endParaRPr lang="da-DK"/>
          </a:p>
        </p:txBody>
      </p:sp>
      <p:sp>
        <p:nvSpPr>
          <p:cNvPr id="4" name="Undertitel 3">
            <a:extLst>
              <a:ext uri="{FF2B5EF4-FFF2-40B4-BE49-F238E27FC236}">
                <a16:creationId xmlns:a16="http://schemas.microsoft.com/office/drawing/2014/main" id="{3DD27478-6F31-9D91-2D03-E652C0B9D86A}"/>
              </a:ext>
            </a:extLst>
          </p:cNvPr>
          <p:cNvSpPr>
            <a:spLocks noGrp="1"/>
          </p:cNvSpPr>
          <p:nvPr>
            <p:ph type="subTitle" idx="1"/>
          </p:nvPr>
        </p:nvSpPr>
        <p:spPr/>
        <p:txBody>
          <a:bodyPr/>
          <a:lstStyle/>
          <a:p>
            <a:endParaRPr lang="da-DK"/>
          </a:p>
        </p:txBody>
      </p:sp>
      <p:sp>
        <p:nvSpPr>
          <p:cNvPr id="5" name="object 6">
            <a:extLst>
              <a:ext uri="{FF2B5EF4-FFF2-40B4-BE49-F238E27FC236}">
                <a16:creationId xmlns:a16="http://schemas.microsoft.com/office/drawing/2014/main" id="{05376E4E-FCB6-9703-2A0D-A751BA62C108}"/>
              </a:ext>
            </a:extLst>
          </p:cNvPr>
          <p:cNvSpPr/>
          <p:nvPr/>
        </p:nvSpPr>
        <p:spPr>
          <a:xfrm>
            <a:off x="0" y="3117"/>
            <a:ext cx="9132266" cy="5137265"/>
          </a:xfrm>
          <a:prstGeom prst="rect">
            <a:avLst/>
          </a:prstGeom>
          <a:blipFill>
            <a:blip r:embed="rId3" cstate="print"/>
            <a:stretch>
              <a:fillRect/>
            </a:stretch>
          </a:blipFill>
        </p:spPr>
        <p:txBody>
          <a:bodyPr wrap="square" lIns="0" tIns="0" rIns="0" bIns="0" rtlCol="0"/>
          <a:lstStyle/>
          <a:p>
            <a:endParaRPr/>
          </a:p>
        </p:txBody>
      </p:sp>
      <p:sp>
        <p:nvSpPr>
          <p:cNvPr id="6" name="object 7">
            <a:extLst>
              <a:ext uri="{FF2B5EF4-FFF2-40B4-BE49-F238E27FC236}">
                <a16:creationId xmlns:a16="http://schemas.microsoft.com/office/drawing/2014/main" id="{7B7F694E-5D19-8AF1-0DF5-DAC4E071670C}"/>
              </a:ext>
            </a:extLst>
          </p:cNvPr>
          <p:cNvSpPr txBox="1"/>
          <p:nvPr/>
        </p:nvSpPr>
        <p:spPr>
          <a:xfrm>
            <a:off x="162778" y="3111143"/>
            <a:ext cx="7100888" cy="1936813"/>
          </a:xfrm>
          <a:prstGeom prst="rect">
            <a:avLst/>
          </a:prstGeom>
        </p:spPr>
        <p:txBody>
          <a:bodyPr vert="horz" wrap="square" lIns="0" tIns="164783" rIns="0" bIns="0" rtlCol="0">
            <a:spAutoFit/>
          </a:bodyPr>
          <a:lstStyle/>
          <a:p>
            <a:pPr marL="9525">
              <a:spcBef>
                <a:spcPts val="1298"/>
              </a:spcBef>
            </a:pPr>
            <a:r>
              <a:rPr sz="3600" spc="-4" dirty="0">
                <a:solidFill>
                  <a:srgbClr val="FFFFFF"/>
                </a:solidFill>
                <a:latin typeface="Calibri"/>
                <a:cs typeface="Calibri"/>
              </a:rPr>
              <a:t>MySQL</a:t>
            </a:r>
            <a:r>
              <a:rPr lang="da-DK" sz="3600" spc="-4" dirty="0">
                <a:solidFill>
                  <a:srgbClr val="FFFFFF"/>
                </a:solidFill>
                <a:latin typeface="Calibri"/>
                <a:cs typeface="Calibri"/>
              </a:rPr>
              <a:t> </a:t>
            </a:r>
            <a:r>
              <a:rPr lang="da-DK" sz="3600" spc="-4" dirty="0" err="1">
                <a:solidFill>
                  <a:srgbClr val="FFFFFF"/>
                </a:solidFill>
                <a:latin typeface="Calibri"/>
                <a:cs typeface="Calibri"/>
              </a:rPr>
              <a:t>HandsON</a:t>
            </a:r>
            <a:endParaRPr sz="3600" dirty="0">
              <a:latin typeface="Calibri"/>
              <a:cs typeface="Calibri"/>
            </a:endParaRPr>
          </a:p>
          <a:p>
            <a:pPr marL="9525">
              <a:spcBef>
                <a:spcPts val="1223"/>
              </a:spcBef>
            </a:pPr>
            <a:r>
              <a:rPr lang="da-DK" sz="3600" spc="-4" dirty="0">
                <a:solidFill>
                  <a:srgbClr val="FFFFFF"/>
                </a:solidFill>
                <a:latin typeface="Calibri"/>
                <a:cs typeface="Calibri"/>
              </a:rPr>
              <a:t> </a:t>
            </a:r>
            <a:endParaRPr sz="2700" dirty="0">
              <a:latin typeface="Calibri"/>
              <a:cs typeface="Calibri"/>
            </a:endParaRPr>
          </a:p>
          <a:p>
            <a:pPr marL="4131945">
              <a:spcBef>
                <a:spcPts val="3194"/>
              </a:spcBef>
            </a:pPr>
            <a:r>
              <a:rPr sz="638" spc="-4" dirty="0">
                <a:solidFill>
                  <a:srgbClr val="FFFFFF"/>
                </a:solidFill>
                <a:latin typeface="Calibri"/>
                <a:cs typeface="Calibri"/>
              </a:rPr>
              <a:t>Copyright © 2015, Oracle and/or its affiliates. All rights</a:t>
            </a:r>
            <a:r>
              <a:rPr sz="638" spc="15" dirty="0">
                <a:solidFill>
                  <a:srgbClr val="FFFFFF"/>
                </a:solidFill>
                <a:latin typeface="Calibri"/>
                <a:cs typeface="Calibri"/>
              </a:rPr>
              <a:t> </a:t>
            </a:r>
            <a:r>
              <a:rPr sz="638" spc="-4" dirty="0">
                <a:solidFill>
                  <a:srgbClr val="FFFFFF"/>
                </a:solidFill>
                <a:latin typeface="Calibri"/>
                <a:cs typeface="Calibri"/>
              </a:rPr>
              <a:t>reserved.</a:t>
            </a:r>
            <a:endParaRPr sz="638" dirty="0">
              <a:latin typeface="Calibri"/>
              <a:cs typeface="Calibri"/>
            </a:endParaRPr>
          </a:p>
        </p:txBody>
      </p:sp>
    </p:spTree>
    <p:extLst>
      <p:ext uri="{BB962C8B-B14F-4D97-AF65-F5344CB8AC3E}">
        <p14:creationId xmlns:p14="http://schemas.microsoft.com/office/powerpoint/2010/main" val="2614380941"/>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E8B4BFA0-F44D-3A8E-D2A0-41708EF263B3}"/>
              </a:ext>
            </a:extLst>
          </p:cNvPr>
          <p:cNvSpPr>
            <a:spLocks noGrp="1"/>
          </p:cNvSpPr>
          <p:nvPr>
            <p:ph type="dt" sz="half" idx="10"/>
          </p:nvPr>
        </p:nvSpPr>
        <p:spPr/>
        <p:txBody>
          <a:bodyPr/>
          <a:lstStyle/>
          <a:p>
            <a:fld id="{31890963-BEB2-4EF1-BC1F-C4AABDFC29DC}" type="datetime1">
              <a:rPr lang="en-DK"/>
              <a:t>29/10/2026</a:t>
            </a:fld>
            <a:endParaRPr lang="en-US"/>
          </a:p>
        </p:txBody>
      </p:sp>
      <p:sp>
        <p:nvSpPr>
          <p:cNvPr id="3" name="Pladsholder til sidefod 2">
            <a:extLst>
              <a:ext uri="{FF2B5EF4-FFF2-40B4-BE49-F238E27FC236}">
                <a16:creationId xmlns:a16="http://schemas.microsoft.com/office/drawing/2014/main" id="{4996DB74-7DA1-C2A7-012E-7258C0FE8A9C}"/>
              </a:ext>
            </a:extLst>
          </p:cNvPr>
          <p:cNvSpPr>
            <a:spLocks noGrp="1"/>
          </p:cNvSpPr>
          <p:nvPr>
            <p:ph type="ftr" sz="quarter" idx="11"/>
          </p:nvPr>
        </p:nvSpPr>
        <p:spPr/>
        <p:txBody>
          <a:bodyPr/>
          <a:lstStyle/>
          <a:p>
            <a:r>
              <a:rPr lang="en-US"/>
              <a:t>
              </a:t>
            </a:r>
          </a:p>
        </p:txBody>
      </p:sp>
      <p:sp>
        <p:nvSpPr>
          <p:cNvPr id="4" name="Pladsholder til slidenummer 3">
            <a:extLst>
              <a:ext uri="{FF2B5EF4-FFF2-40B4-BE49-F238E27FC236}">
                <a16:creationId xmlns:a16="http://schemas.microsoft.com/office/drawing/2014/main" id="{15CD97AD-A8AA-38ED-83AF-F12F942CE3B6}"/>
              </a:ext>
            </a:extLst>
          </p:cNvPr>
          <p:cNvSpPr>
            <a:spLocks noGrp="1"/>
          </p:cNvSpPr>
          <p:nvPr>
            <p:ph type="sldNum" sz="quarter" idx="12"/>
          </p:nvPr>
        </p:nvSpPr>
        <p:spPr/>
        <p:txBody>
          <a:bodyPr/>
          <a:lstStyle/>
          <a:p>
            <a:fld id="{CC057153-B650-4DEB-B370-79DDCFDCE934}" type="slidenum">
              <a:rPr lang="en-US" dirty="0"/>
              <a:t>43</a:t>
            </a:fld>
            <a:endParaRPr lang="en-US"/>
          </a:p>
        </p:txBody>
      </p:sp>
      <p:pic>
        <p:nvPicPr>
          <p:cNvPr id="5" name="Billede 4" descr="Et billede, der indeholder tekst, skærmbillede, design&#10;&#10;AI-genereret indhold kan være ukorrekt.">
            <a:extLst>
              <a:ext uri="{FF2B5EF4-FFF2-40B4-BE49-F238E27FC236}">
                <a16:creationId xmlns:a16="http://schemas.microsoft.com/office/drawing/2014/main" id="{6BF3F514-F6FD-6EDC-4285-C519E87B0771}"/>
              </a:ext>
            </a:extLst>
          </p:cNvPr>
          <p:cNvPicPr>
            <a:picLocks noChangeAspect="1"/>
          </p:cNvPicPr>
          <p:nvPr/>
        </p:nvPicPr>
        <p:blipFill>
          <a:blip r:embed="rId2"/>
          <a:stretch>
            <a:fillRect/>
          </a:stretch>
        </p:blipFill>
        <p:spPr>
          <a:xfrm>
            <a:off x="0" y="180010"/>
            <a:ext cx="9144000" cy="4783480"/>
          </a:xfrm>
          <a:prstGeom prst="rect">
            <a:avLst/>
          </a:prstGeom>
        </p:spPr>
      </p:pic>
    </p:spTree>
    <p:extLst>
      <p:ext uri="{BB962C8B-B14F-4D97-AF65-F5344CB8AC3E}">
        <p14:creationId xmlns:p14="http://schemas.microsoft.com/office/powerpoint/2010/main" val="442329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dirty="0"/>
              <a:t>SQL-</a:t>
            </a:r>
            <a:r>
              <a:rPr sz="2800" dirty="0" err="1"/>
              <a:t>udvikling</a:t>
            </a:r>
            <a:r>
              <a:rPr sz="2800" dirty="0"/>
              <a:t> </a:t>
            </a:r>
            <a:r>
              <a:rPr sz="2800" dirty="0" err="1"/>
              <a:t>i</a:t>
            </a:r>
            <a:r>
              <a:rPr sz="2800" dirty="0"/>
              <a:t> MySQL Workbench</a:t>
            </a:r>
          </a:p>
        </p:txBody>
      </p:sp>
      <p:sp>
        <p:nvSpPr>
          <p:cNvPr id="3" name="Content Placeholder 2"/>
          <p:cNvSpPr>
            <a:spLocks noGrp="1"/>
          </p:cNvSpPr>
          <p:nvPr>
            <p:ph idx="1"/>
          </p:nvPr>
        </p:nvSpPr>
        <p:spPr/>
        <p:txBody>
          <a:bodyPr/>
          <a:lstStyle/>
          <a:p>
            <a:r>
              <a:t>Fokus på SQL-udviklingsdelen af værktøjet.</a:t>
            </a:r>
          </a:p>
          <a:p>
            <a:r>
              <a:t>Giver mulighed for at oprette, læse, opdatere og slette data – også uden at skrive SQL.</a:t>
            </a:r>
          </a:p>
          <a:p>
            <a:r>
              <a:t>Brugervenligt for dem, der er mindre fortrolige med SQL.</a:t>
            </a:r>
          </a:p>
        </p:txBody>
      </p:sp>
    </p:spTree>
    <p:extLst>
      <p:ext uri="{BB962C8B-B14F-4D97-AF65-F5344CB8AC3E}">
        <p14:creationId xmlns:p14="http://schemas.microsoft.com/office/powerpoint/2010/main" val="1176624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7E2D39-74ED-8220-F935-593C7ACFB26D}"/>
              </a:ext>
            </a:extLst>
          </p:cNvPr>
          <p:cNvSpPr>
            <a:spLocks noGrp="1"/>
          </p:cNvSpPr>
          <p:nvPr>
            <p:ph type="dt" sz="half" idx="10"/>
          </p:nvPr>
        </p:nvSpPr>
        <p:spPr/>
        <p:txBody>
          <a:bodyPr/>
          <a:lstStyle/>
          <a:p>
            <a:fld id="{A823253A-D69D-4D34-81F1-FA4873E4F2F5}" type="datetime1">
              <a:rPr lang="en-DK"/>
              <a:t>29/10/2026</a:t>
            </a:fld>
            <a:endParaRPr lang="en-US"/>
          </a:p>
        </p:txBody>
      </p:sp>
      <p:sp>
        <p:nvSpPr>
          <p:cNvPr id="5" name="Footer Placeholder 4">
            <a:extLst>
              <a:ext uri="{FF2B5EF4-FFF2-40B4-BE49-F238E27FC236}">
                <a16:creationId xmlns:a16="http://schemas.microsoft.com/office/drawing/2014/main" id="{B821A164-CDAC-5049-1BC0-B13392E6649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528BE83-6104-D4D1-E9CA-B76BAAC058B2}"/>
              </a:ext>
            </a:extLst>
          </p:cNvPr>
          <p:cNvSpPr>
            <a:spLocks noGrp="1"/>
          </p:cNvSpPr>
          <p:nvPr>
            <p:ph type="sldNum" sz="quarter" idx="12"/>
          </p:nvPr>
        </p:nvSpPr>
        <p:spPr/>
        <p:txBody>
          <a:bodyPr/>
          <a:lstStyle/>
          <a:p>
            <a:fld id="{CC057153-B650-4DEB-B370-79DDCFDCE934}" type="slidenum">
              <a:rPr lang="en-US" dirty="0"/>
              <a:t>45</a:t>
            </a:fld>
            <a:endParaRPr lang="en-US"/>
          </a:p>
        </p:txBody>
      </p:sp>
      <p:pic>
        <p:nvPicPr>
          <p:cNvPr id="7" name="Picture 6" descr="A screenshot of a computer&#10;&#10;AI-generated content may be incorrect.">
            <a:extLst>
              <a:ext uri="{FF2B5EF4-FFF2-40B4-BE49-F238E27FC236}">
                <a16:creationId xmlns:a16="http://schemas.microsoft.com/office/drawing/2014/main" id="{4B92F0E6-6262-4391-D197-5B0D619BF036}"/>
              </a:ext>
            </a:extLst>
          </p:cNvPr>
          <p:cNvPicPr>
            <a:picLocks noChangeAspect="1"/>
          </p:cNvPicPr>
          <p:nvPr/>
        </p:nvPicPr>
        <p:blipFill>
          <a:blip r:embed="rId2"/>
          <a:stretch>
            <a:fillRect/>
          </a:stretch>
        </p:blipFill>
        <p:spPr>
          <a:xfrm>
            <a:off x="328612" y="1254796"/>
            <a:ext cx="7186613" cy="3591170"/>
          </a:xfrm>
          <a:prstGeom prst="rect">
            <a:avLst/>
          </a:prstGeom>
        </p:spPr>
      </p:pic>
    </p:spTree>
    <p:extLst>
      <p:ext uri="{BB962C8B-B14F-4D97-AF65-F5344CB8AC3E}">
        <p14:creationId xmlns:p14="http://schemas.microsoft.com/office/powerpoint/2010/main" val="36704888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DK" sz="2800" dirty="0"/>
              <a:t>Hands-on-1 </a:t>
            </a:r>
            <a:r>
              <a:rPr sz="2800" dirty="0" err="1"/>
              <a:t>Opdatering</a:t>
            </a:r>
            <a:r>
              <a:rPr sz="2800" dirty="0"/>
              <a:t> </a:t>
            </a:r>
            <a:r>
              <a:rPr sz="2800" dirty="0" err="1"/>
              <a:t>og</a:t>
            </a:r>
            <a:r>
              <a:rPr sz="2800" dirty="0"/>
              <a:t> </a:t>
            </a:r>
            <a:r>
              <a:rPr sz="2800" dirty="0" err="1"/>
              <a:t>sletning</a:t>
            </a:r>
            <a:r>
              <a:rPr sz="2800" dirty="0"/>
              <a:t> </a:t>
            </a:r>
            <a:r>
              <a:rPr sz="2800" dirty="0" err="1"/>
              <a:t>af</a:t>
            </a:r>
            <a:r>
              <a:rPr sz="2800" dirty="0"/>
              <a:t> data</a:t>
            </a:r>
          </a:p>
        </p:txBody>
      </p:sp>
      <p:sp>
        <p:nvSpPr>
          <p:cNvPr id="3" name="Content Placeholder 2"/>
          <p:cNvSpPr>
            <a:spLocks noGrp="1"/>
          </p:cNvSpPr>
          <p:nvPr>
            <p:ph idx="1"/>
          </p:nvPr>
        </p:nvSpPr>
        <p:spPr/>
        <p:txBody>
          <a:bodyPr vert="horz" lIns="91440" tIns="45720" rIns="91440" bIns="45720" rtlCol="0" anchor="t">
            <a:normAutofit/>
          </a:bodyPr>
          <a:lstStyle/>
          <a:p>
            <a:endParaRPr lang="en-US" dirty="0"/>
          </a:p>
          <a:p>
            <a:r>
              <a:rPr lang="en-US" dirty="0" err="1"/>
              <a:t>Opdaterer</a:t>
            </a:r>
            <a:r>
              <a:rPr lang="en-US" dirty="0"/>
              <a:t> </a:t>
            </a:r>
            <a:r>
              <a:rPr lang="en-US" dirty="0" err="1"/>
              <a:t>og</a:t>
            </a:r>
            <a:r>
              <a:rPr lang="en-US" dirty="0"/>
              <a:t> </a:t>
            </a:r>
            <a:r>
              <a:rPr dirty="0" err="1"/>
              <a:t>sletter</a:t>
            </a:r>
            <a:r>
              <a:rPr dirty="0"/>
              <a:t> </a:t>
            </a:r>
            <a:r>
              <a:rPr dirty="0" err="1"/>
              <a:t>en</a:t>
            </a:r>
            <a:r>
              <a:rPr dirty="0"/>
              <a:t> </a:t>
            </a:r>
            <a:r>
              <a:rPr dirty="0" err="1"/>
              <a:t>række</a:t>
            </a:r>
            <a:r>
              <a:rPr dirty="0"/>
              <a:t> via </a:t>
            </a:r>
            <a:r>
              <a:rPr lang="zh-CN" altLang="en-US" dirty="0"/>
              <a:t> </a:t>
            </a:r>
            <a:r>
              <a:rPr lang="en-US" altLang="zh-CN" dirty="0"/>
              <a:t>MySQL workbench</a:t>
            </a:r>
            <a:endParaRPr dirty="0"/>
          </a:p>
        </p:txBody>
      </p:sp>
    </p:spTree>
    <p:extLst>
      <p:ext uri="{BB962C8B-B14F-4D97-AF65-F5344CB8AC3E}">
        <p14:creationId xmlns:p14="http://schemas.microsoft.com/office/powerpoint/2010/main" val="2505062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E4AB-0870-7279-4ECB-9D0CA4CC5A49}"/>
              </a:ext>
            </a:extLst>
          </p:cNvPr>
          <p:cNvSpPr>
            <a:spLocks noGrp="1"/>
          </p:cNvSpPr>
          <p:nvPr>
            <p:ph type="title"/>
          </p:nvPr>
        </p:nvSpPr>
        <p:spPr/>
        <p:txBody>
          <a:bodyPr>
            <a:normAutofit/>
          </a:bodyPr>
          <a:lstStyle/>
          <a:p>
            <a:r>
              <a:rPr lang="en-DK" sz="2800" dirty="0"/>
              <a:t>Hands-on-2</a:t>
            </a:r>
          </a:p>
        </p:txBody>
      </p:sp>
      <p:sp>
        <p:nvSpPr>
          <p:cNvPr id="3" name="Text Placeholder 2">
            <a:extLst>
              <a:ext uri="{FF2B5EF4-FFF2-40B4-BE49-F238E27FC236}">
                <a16:creationId xmlns:a16="http://schemas.microsoft.com/office/drawing/2014/main" id="{2C1013E9-1F47-EEFA-B3D6-B355AA415AA6}"/>
              </a:ext>
            </a:extLst>
          </p:cNvPr>
          <p:cNvSpPr>
            <a:spLocks noGrp="1"/>
          </p:cNvSpPr>
          <p:nvPr>
            <p:ph type="body" idx="1"/>
          </p:nvPr>
        </p:nvSpPr>
        <p:spPr/>
        <p:txBody>
          <a:bodyPr/>
          <a:lstStyle/>
          <a:p>
            <a:endParaRPr lang="en-DK" dirty="0"/>
          </a:p>
        </p:txBody>
      </p:sp>
      <p:sp>
        <p:nvSpPr>
          <p:cNvPr id="5" name="TextBox 4">
            <a:extLst>
              <a:ext uri="{FF2B5EF4-FFF2-40B4-BE49-F238E27FC236}">
                <a16:creationId xmlns:a16="http://schemas.microsoft.com/office/drawing/2014/main" id="{D208DF1B-A0DC-EDA4-5202-6D910F407019}"/>
              </a:ext>
            </a:extLst>
          </p:cNvPr>
          <p:cNvSpPr txBox="1"/>
          <p:nvPr/>
        </p:nvSpPr>
        <p:spPr>
          <a:xfrm>
            <a:off x="1506071" y="1918918"/>
            <a:ext cx="5091952" cy="1200329"/>
          </a:xfrm>
          <a:prstGeom prst="rect">
            <a:avLst/>
          </a:prstGeom>
          <a:noFill/>
        </p:spPr>
        <p:txBody>
          <a:bodyPr wrap="square">
            <a:spAutoFit/>
          </a:bodyPr>
          <a:lstStyle/>
          <a:p>
            <a:pPr>
              <a:buNone/>
            </a:pPr>
            <a:r>
              <a:rPr lang="en-DK" b="1" dirty="0"/>
              <a:t>Generér ER-diagrammet</a:t>
            </a:r>
          </a:p>
          <a:p>
            <a:pPr>
              <a:buNone/>
            </a:pPr>
            <a:r>
              <a:rPr lang="en-DK" dirty="0"/>
              <a:t>Følg disse trin i MySQL Workbench:</a:t>
            </a:r>
          </a:p>
          <a:p>
            <a:pPr marL="342900" lvl="0" indent="-342900">
              <a:buFont typeface="+mj-lt"/>
              <a:buAutoNum type="arabicPeriod"/>
            </a:pPr>
            <a:r>
              <a:rPr lang="en-DK" dirty="0"/>
              <a:t>Klik på </a:t>
            </a:r>
            <a:r>
              <a:rPr lang="en-DK" b="1" dirty="0"/>
              <a:t>Database</a:t>
            </a:r>
            <a:r>
              <a:rPr lang="en-DK" dirty="0"/>
              <a:t> i menulinjen.</a:t>
            </a:r>
          </a:p>
          <a:p>
            <a:pPr marL="342900" lvl="0" indent="-342900">
              <a:buFont typeface="+mj-lt"/>
              <a:buAutoNum type="arabicPeriod"/>
            </a:pPr>
            <a:r>
              <a:rPr lang="en-DK" dirty="0"/>
              <a:t>Vælg </a:t>
            </a:r>
            <a:r>
              <a:rPr lang="en-DK" b="1" dirty="0"/>
              <a:t>Reverse Engineer</a:t>
            </a:r>
            <a:r>
              <a:rPr lang="en-DK" dirty="0"/>
              <a:t>.</a:t>
            </a:r>
          </a:p>
        </p:txBody>
      </p:sp>
      <p:sp>
        <p:nvSpPr>
          <p:cNvPr id="7" name="TextBox 6">
            <a:extLst>
              <a:ext uri="{FF2B5EF4-FFF2-40B4-BE49-F238E27FC236}">
                <a16:creationId xmlns:a16="http://schemas.microsoft.com/office/drawing/2014/main" id="{03BA0671-3708-89E8-F6A4-CD9E187E6768}"/>
              </a:ext>
            </a:extLst>
          </p:cNvPr>
          <p:cNvSpPr txBox="1"/>
          <p:nvPr/>
        </p:nvSpPr>
        <p:spPr>
          <a:xfrm>
            <a:off x="1873624" y="4405263"/>
            <a:ext cx="5091952" cy="369332"/>
          </a:xfrm>
          <a:prstGeom prst="rect">
            <a:avLst/>
          </a:prstGeom>
          <a:noFill/>
        </p:spPr>
        <p:txBody>
          <a:bodyPr wrap="square">
            <a:spAutoFit/>
          </a:bodyPr>
          <a:lstStyle/>
          <a:p>
            <a:r>
              <a:rPr lang="en-DK" dirty="0"/>
              <a:t>https://dev.mysql.com/doc/index-other.html</a:t>
            </a:r>
          </a:p>
        </p:txBody>
      </p:sp>
    </p:spTree>
    <p:extLst>
      <p:ext uri="{BB962C8B-B14F-4D97-AF65-F5344CB8AC3E}">
        <p14:creationId xmlns:p14="http://schemas.microsoft.com/office/powerpoint/2010/main" val="1798407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6A4D310-F781-8A6B-E431-15BF7C783D5D}"/>
              </a:ext>
            </a:extLst>
          </p:cNvPr>
          <p:cNvGraphicFramePr>
            <a:graphicFrameLocks noGrp="1"/>
          </p:cNvGraphicFramePr>
          <p:nvPr/>
        </p:nvGraphicFramePr>
        <p:xfrm>
          <a:off x="1513582" y="1366109"/>
          <a:ext cx="6116835" cy="2483996"/>
        </p:xfrm>
        <a:graphic>
          <a:graphicData uri="http://schemas.openxmlformats.org/drawingml/2006/table">
            <a:tbl>
              <a:tblPr>
                <a:tableStyleId>{5C22544A-7EE6-4342-B048-85BDC9FD1C3A}</a:tableStyleId>
              </a:tblPr>
              <a:tblGrid>
                <a:gridCol w="2038945">
                  <a:extLst>
                    <a:ext uri="{9D8B030D-6E8A-4147-A177-3AD203B41FA5}">
                      <a16:colId xmlns:a16="http://schemas.microsoft.com/office/drawing/2014/main" val="2833557717"/>
                    </a:ext>
                  </a:extLst>
                </a:gridCol>
                <a:gridCol w="2038945">
                  <a:extLst>
                    <a:ext uri="{9D8B030D-6E8A-4147-A177-3AD203B41FA5}">
                      <a16:colId xmlns:a16="http://schemas.microsoft.com/office/drawing/2014/main" val="2270471244"/>
                    </a:ext>
                  </a:extLst>
                </a:gridCol>
                <a:gridCol w="2038945">
                  <a:extLst>
                    <a:ext uri="{9D8B030D-6E8A-4147-A177-3AD203B41FA5}">
                      <a16:colId xmlns:a16="http://schemas.microsoft.com/office/drawing/2014/main" val="3862025647"/>
                    </a:ext>
                  </a:extLst>
                </a:gridCol>
              </a:tblGrid>
              <a:tr h="283679">
                <a:tc>
                  <a:txBody>
                    <a:bodyPr/>
                    <a:lstStyle/>
                    <a:p>
                      <a:pPr>
                        <a:buNone/>
                      </a:pPr>
                      <a:r>
                        <a:rPr lang="en-DK" sz="1400"/>
                        <a:t>Database</a:t>
                      </a:r>
                    </a:p>
                  </a:txBody>
                  <a:tcPr marL="70920" marR="70920" marT="35460" marB="35460" anchor="ctr"/>
                </a:tc>
                <a:tc>
                  <a:txBody>
                    <a:bodyPr/>
                    <a:lstStyle/>
                    <a:p>
                      <a:pPr>
                        <a:buNone/>
                      </a:pPr>
                      <a:r>
                        <a:rPr lang="en-DK" sz="1400"/>
                        <a:t>Difficulty</a:t>
                      </a:r>
                    </a:p>
                  </a:txBody>
                  <a:tcPr marL="70920" marR="70920" marT="35460" marB="35460" anchor="ctr"/>
                </a:tc>
                <a:tc>
                  <a:txBody>
                    <a:bodyPr/>
                    <a:lstStyle/>
                    <a:p>
                      <a:pPr>
                        <a:buNone/>
                      </a:pPr>
                      <a:r>
                        <a:rPr lang="en-DK" sz="1400"/>
                        <a:t>Best use</a:t>
                      </a:r>
                    </a:p>
                  </a:txBody>
                  <a:tcPr marL="70920" marR="70920" marT="35460" marB="35460" anchor="ctr"/>
                </a:tc>
                <a:extLst>
                  <a:ext uri="{0D108BD9-81ED-4DB2-BD59-A6C34878D82A}">
                    <a16:rowId xmlns:a16="http://schemas.microsoft.com/office/drawing/2014/main" val="324422009"/>
                  </a:ext>
                </a:extLst>
              </a:tr>
              <a:tr h="496439">
                <a:tc>
                  <a:txBody>
                    <a:bodyPr/>
                    <a:lstStyle/>
                    <a:p>
                      <a:pPr>
                        <a:buNone/>
                      </a:pPr>
                      <a:r>
                        <a:rPr lang="en-DK" sz="1400"/>
                        <a:t>World</a:t>
                      </a:r>
                    </a:p>
                  </a:txBody>
                  <a:tcPr marL="70920" marR="70920" marT="35460" marB="35460" anchor="ctr"/>
                </a:tc>
                <a:tc>
                  <a:txBody>
                    <a:bodyPr/>
                    <a:lstStyle/>
                    <a:p>
                      <a:pPr>
                        <a:buNone/>
                      </a:pPr>
                      <a:r>
                        <a:rPr lang="en-DK" sz="1400"/>
                        <a:t>Beginner</a:t>
                      </a:r>
                    </a:p>
                  </a:txBody>
                  <a:tcPr marL="70920" marR="70920" marT="35460" marB="35460" anchor="ctr"/>
                </a:tc>
                <a:tc>
                  <a:txBody>
                    <a:bodyPr/>
                    <a:lstStyle/>
                    <a:p>
                      <a:pPr>
                        <a:buNone/>
                      </a:pPr>
                      <a:r>
                        <a:rPr lang="en-DK" sz="1400" dirty="0"/>
                        <a:t>Basic SELECT </a:t>
                      </a:r>
                    </a:p>
                  </a:txBody>
                  <a:tcPr marL="70920" marR="70920" marT="35460" marB="35460" anchor="ctr"/>
                </a:tc>
                <a:extLst>
                  <a:ext uri="{0D108BD9-81ED-4DB2-BD59-A6C34878D82A}">
                    <a16:rowId xmlns:a16="http://schemas.microsoft.com/office/drawing/2014/main" val="3458857180"/>
                  </a:ext>
                </a:extLst>
              </a:tr>
              <a:tr h="496439">
                <a:tc>
                  <a:txBody>
                    <a:bodyPr/>
                    <a:lstStyle/>
                    <a:p>
                      <a:pPr>
                        <a:buNone/>
                      </a:pPr>
                      <a:r>
                        <a:rPr lang="en-DK" sz="1400" dirty="0"/>
                        <a:t>albumn</a:t>
                      </a:r>
                    </a:p>
                  </a:txBody>
                  <a:tcPr marL="70920" marR="70920" marT="35460" marB="35460" anchor="ctr"/>
                </a:tc>
                <a:tc>
                  <a:txBody>
                    <a:bodyPr/>
                    <a:lstStyle/>
                    <a:p>
                      <a:pPr>
                        <a:buNone/>
                      </a:pPr>
                      <a:r>
                        <a:rPr lang="en-DK" sz="1400" dirty="0"/>
                        <a:t>Beginner </a:t>
                      </a:r>
                    </a:p>
                  </a:txBody>
                  <a:tcPr marL="70920" marR="70920" marT="35460" marB="35460" anchor="ctr"/>
                </a:tc>
                <a:tc>
                  <a:txBody>
                    <a:bodyPr/>
                    <a:lstStyle/>
                    <a:p>
                      <a:pPr>
                        <a:buNone/>
                      </a:pPr>
                      <a:r>
                        <a:rPr lang="en-GB" sz="1400" dirty="0"/>
                        <a:t>A</a:t>
                      </a:r>
                      <a:r>
                        <a:rPr lang="en-DK" sz="1400" dirty="0"/>
                        <a:t>lbumn track</a:t>
                      </a:r>
                    </a:p>
                  </a:txBody>
                  <a:tcPr marL="70920" marR="70920" marT="35460" marB="35460" anchor="ctr"/>
                </a:tc>
                <a:extLst>
                  <a:ext uri="{0D108BD9-81ED-4DB2-BD59-A6C34878D82A}">
                    <a16:rowId xmlns:a16="http://schemas.microsoft.com/office/drawing/2014/main" val="4049944075"/>
                  </a:ext>
                </a:extLst>
              </a:tr>
              <a:tr h="709198">
                <a:tc>
                  <a:txBody>
                    <a:bodyPr/>
                    <a:lstStyle/>
                    <a:p>
                      <a:pPr>
                        <a:buNone/>
                      </a:pPr>
                      <a:r>
                        <a:rPr lang="en-DK" sz="1400" dirty="0"/>
                        <a:t>Sakila*</a:t>
                      </a:r>
                    </a:p>
                  </a:txBody>
                  <a:tcPr marL="70920" marR="70920" marT="35460" marB="35460" anchor="ctr"/>
                </a:tc>
                <a:tc>
                  <a:txBody>
                    <a:bodyPr/>
                    <a:lstStyle/>
                    <a:p>
                      <a:pPr>
                        <a:buNone/>
                      </a:pPr>
                      <a:r>
                        <a:rPr lang="en-DK" sz="1400"/>
                        <a:t>Intermediate</a:t>
                      </a:r>
                    </a:p>
                  </a:txBody>
                  <a:tcPr marL="70920" marR="70920" marT="35460" marB="35460" anchor="ctr"/>
                </a:tc>
                <a:tc>
                  <a:txBody>
                    <a:bodyPr/>
                    <a:lstStyle/>
                    <a:p>
                      <a:pPr>
                        <a:buNone/>
                      </a:pPr>
                      <a:r>
                        <a:rPr lang="en-DK" sz="1400" dirty="0"/>
                        <a:t>ER diagrams, foreign keys</a:t>
                      </a:r>
                    </a:p>
                  </a:txBody>
                  <a:tcPr marL="70920" marR="70920" marT="35460" marB="35460" anchor="ctr"/>
                </a:tc>
                <a:extLst>
                  <a:ext uri="{0D108BD9-81ED-4DB2-BD59-A6C34878D82A}">
                    <a16:rowId xmlns:a16="http://schemas.microsoft.com/office/drawing/2014/main" val="2523457253"/>
                  </a:ext>
                </a:extLst>
              </a:tr>
              <a:tr h="496439">
                <a:tc>
                  <a:txBody>
                    <a:bodyPr/>
                    <a:lstStyle/>
                    <a:p>
                      <a:pPr>
                        <a:buNone/>
                      </a:pPr>
                      <a:r>
                        <a:rPr lang="en-DK" sz="1400" dirty="0"/>
                        <a:t>Scratch</a:t>
                      </a:r>
                    </a:p>
                  </a:txBody>
                  <a:tcPr marL="70920" marR="70920" marT="35460" marB="35460" anchor="ctr"/>
                </a:tc>
                <a:tc>
                  <a:txBody>
                    <a:bodyPr/>
                    <a:lstStyle/>
                    <a:p>
                      <a:pPr>
                        <a:buNone/>
                      </a:pPr>
                      <a:r>
                        <a:rPr lang="en-DK" sz="1400"/>
                        <a:t>Beginner–intermediate</a:t>
                      </a:r>
                    </a:p>
                  </a:txBody>
                  <a:tcPr marL="70920" marR="70920" marT="35460" marB="35460" anchor="ctr"/>
                </a:tc>
                <a:tc>
                  <a:txBody>
                    <a:bodyPr/>
                    <a:lstStyle/>
                    <a:p>
                      <a:pPr>
                        <a:buNone/>
                      </a:pPr>
                      <a:r>
                        <a:rPr lang="en-DK" sz="1400" dirty="0"/>
                        <a:t>Business data and order</a:t>
                      </a:r>
                    </a:p>
                  </a:txBody>
                  <a:tcPr marL="70920" marR="70920" marT="35460" marB="35460" anchor="ctr"/>
                </a:tc>
                <a:extLst>
                  <a:ext uri="{0D108BD9-81ED-4DB2-BD59-A6C34878D82A}">
                    <a16:rowId xmlns:a16="http://schemas.microsoft.com/office/drawing/2014/main" val="4196302449"/>
                  </a:ext>
                </a:extLst>
              </a:tr>
            </a:tbl>
          </a:graphicData>
        </a:graphic>
      </p:graphicFrame>
      <p:sp>
        <p:nvSpPr>
          <p:cNvPr id="5" name="Text 1">
            <a:extLst>
              <a:ext uri="{FF2B5EF4-FFF2-40B4-BE49-F238E27FC236}">
                <a16:creationId xmlns:a16="http://schemas.microsoft.com/office/drawing/2014/main" id="{7AD83619-5CF0-3129-772E-D668A32D1D2F}"/>
              </a:ext>
            </a:extLst>
          </p:cNvPr>
          <p:cNvSpPr/>
          <p:nvPr/>
        </p:nvSpPr>
        <p:spPr>
          <a:xfrm>
            <a:off x="502920" y="484632"/>
            <a:ext cx="8138160" cy="566928"/>
          </a:xfrm>
          <a:prstGeom prst="rect">
            <a:avLst/>
          </a:prstGeom>
          <a:noFill/>
          <a:ln/>
        </p:spPr>
        <p:txBody>
          <a:bodyPr wrap="square" lIns="0" tIns="0" rIns="0" bIns="0" rtlCol="0" anchor="ctr">
            <a:normAutofit/>
          </a:bodyPr>
          <a:lstStyle/>
          <a:p>
            <a:pPr marL="0" indent="0">
              <a:buNone/>
            </a:pPr>
            <a:r>
              <a:rPr lang="en-US" sz="2600" b="1" dirty="0" err="1">
                <a:solidFill>
                  <a:srgbClr val="2C3932"/>
                </a:solidFill>
                <a:latin typeface="Helvetica Neue" pitchFamily="34" charset="0"/>
                <a:ea typeface="Helvetica Neue" pitchFamily="34" charset="-122"/>
                <a:cs typeface="Helvetica Neue" pitchFamily="34" charset="-120"/>
              </a:rPr>
              <a:t>Gruppeprojekt</a:t>
            </a:r>
            <a:r>
              <a:rPr lang="en-US" sz="2600" b="1" dirty="0">
                <a:solidFill>
                  <a:srgbClr val="2C3932"/>
                </a:solidFill>
                <a:latin typeface="Helvetica Neue" pitchFamily="34" charset="0"/>
                <a:ea typeface="Helvetica Neue" pitchFamily="34" charset="-122"/>
                <a:cs typeface="Helvetica Neue" pitchFamily="34" charset="-120"/>
              </a:rPr>
              <a:t> — </a:t>
            </a:r>
            <a:r>
              <a:rPr lang="en-US" sz="2600" b="1" dirty="0" err="1">
                <a:solidFill>
                  <a:srgbClr val="2C3932"/>
                </a:solidFill>
                <a:latin typeface="Helvetica Neue" pitchFamily="34" charset="0"/>
                <a:ea typeface="Helvetica Neue" pitchFamily="34" charset="-122"/>
                <a:cs typeface="Helvetica Neue" pitchFamily="34" charset="-120"/>
              </a:rPr>
              <a:t>undersøge</a:t>
            </a:r>
            <a:r>
              <a:rPr lang="en-US" sz="2600" b="1" dirty="0">
                <a:solidFill>
                  <a:srgbClr val="2C3932"/>
                </a:solidFill>
                <a:latin typeface="Helvetica Neue" pitchFamily="34" charset="0"/>
                <a:ea typeface="Helvetica Neue" pitchFamily="34" charset="-122"/>
                <a:cs typeface="Helvetica Neue" pitchFamily="34" charset="-120"/>
              </a:rPr>
              <a:t> </a:t>
            </a:r>
            <a:r>
              <a:rPr lang="en-US" sz="2600" b="1" dirty="0" err="1">
                <a:solidFill>
                  <a:srgbClr val="2C3932"/>
                </a:solidFill>
                <a:latin typeface="Helvetica Neue" pitchFamily="34" charset="0"/>
                <a:ea typeface="Helvetica Neue" pitchFamily="34" charset="-122"/>
                <a:cs typeface="Helvetica Neue" pitchFamily="34" charset="-120"/>
              </a:rPr>
              <a:t>db</a:t>
            </a:r>
            <a:r>
              <a:rPr lang="en-US" sz="2600" b="1" dirty="0">
                <a:solidFill>
                  <a:srgbClr val="2C3932"/>
                </a:solidFill>
                <a:latin typeface="Helvetica Neue" pitchFamily="34" charset="0"/>
                <a:ea typeface="Helvetica Neue" pitchFamily="34" charset="-122"/>
                <a:cs typeface="Helvetica Neue" pitchFamily="34" charset="-120"/>
              </a:rPr>
              <a:t> SQL</a:t>
            </a:r>
            <a:endParaRPr lang="en-US" sz="2600" dirty="0"/>
          </a:p>
        </p:txBody>
      </p:sp>
    </p:spTree>
    <p:extLst>
      <p:ext uri="{BB962C8B-B14F-4D97-AF65-F5344CB8AC3E}">
        <p14:creationId xmlns:p14="http://schemas.microsoft.com/office/powerpoint/2010/main" val="2639571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F16882-11F4-142E-63F8-AED2A97FDB7A}"/>
              </a:ext>
            </a:extLst>
          </p:cNvPr>
          <p:cNvSpPr txBox="1"/>
          <p:nvPr/>
        </p:nvSpPr>
        <p:spPr>
          <a:xfrm>
            <a:off x="238388" y="1584560"/>
            <a:ext cx="6091096" cy="3693319"/>
          </a:xfrm>
          <a:prstGeom prst="rect">
            <a:avLst/>
          </a:prstGeom>
          <a:noFill/>
        </p:spPr>
        <p:txBody>
          <a:bodyPr wrap="square">
            <a:spAutoFit/>
          </a:bodyPr>
          <a:lstStyle/>
          <a:p>
            <a:pPr rtl="0">
              <a:buNone/>
            </a:pPr>
            <a:r>
              <a:rPr lang="en-DK" dirty="0">
                <a:latin typeface="+mn-lt"/>
              </a:rPr>
              <a:t>CREATE TABLE Laerer (</a:t>
            </a:r>
          </a:p>
          <a:p>
            <a:pPr rtl="0">
              <a:buNone/>
            </a:pPr>
            <a:r>
              <a:rPr lang="en-DK" dirty="0">
                <a:latin typeface="+mn-lt"/>
              </a:rPr>
              <a:t>    </a:t>
            </a:r>
            <a:r>
              <a:rPr lang="en-DK" dirty="0">
                <a:solidFill>
                  <a:srgbClr val="FF0000"/>
                </a:solidFill>
                <a:latin typeface="+mn-lt"/>
              </a:rPr>
              <a:t>laerer_id INT PRIMARY KEY,</a:t>
            </a:r>
          </a:p>
          <a:p>
            <a:pPr rtl="0">
              <a:buNone/>
            </a:pPr>
            <a:r>
              <a:rPr lang="en-DK" dirty="0">
                <a:latin typeface="+mn-lt"/>
              </a:rPr>
              <a:t>    navn VARCHAR(100),</a:t>
            </a:r>
          </a:p>
          <a:p>
            <a:pPr rtl="0">
              <a:buNone/>
            </a:pPr>
            <a:r>
              <a:rPr lang="en-DK" dirty="0">
                <a:latin typeface="+mn-lt"/>
              </a:rPr>
              <a:t>    email VARCHAR(150)</a:t>
            </a:r>
          </a:p>
          <a:p>
            <a:pPr rtl="0">
              <a:buNone/>
            </a:pPr>
            <a:r>
              <a:rPr lang="en-DK" dirty="0">
                <a:latin typeface="+mn-lt"/>
              </a:rPr>
              <a:t>);</a:t>
            </a:r>
          </a:p>
          <a:p>
            <a:pPr rtl="0">
              <a:buNone/>
            </a:pPr>
            <a:endParaRPr lang="en-DK" dirty="0">
              <a:latin typeface="+mn-lt"/>
            </a:endParaRPr>
          </a:p>
          <a:p>
            <a:pPr rtl="0">
              <a:buNone/>
            </a:pPr>
            <a:r>
              <a:rPr lang="en-DK" dirty="0">
                <a:latin typeface="+mn-lt"/>
              </a:rPr>
              <a:t>CREATE TABLE Klasse (</a:t>
            </a:r>
          </a:p>
          <a:p>
            <a:pPr rtl="0">
              <a:buNone/>
            </a:pPr>
            <a:r>
              <a:rPr lang="en-DK" dirty="0">
                <a:latin typeface="+mn-lt"/>
              </a:rPr>
              <a:t>    klasse_id INT PRIMARY KEY,</a:t>
            </a:r>
          </a:p>
          <a:p>
            <a:pPr rtl="0">
              <a:buNone/>
            </a:pPr>
            <a:r>
              <a:rPr lang="en-DK" dirty="0">
                <a:latin typeface="+mn-lt"/>
              </a:rPr>
              <a:t>    klasse_navn VARCHAR(50),</a:t>
            </a:r>
          </a:p>
          <a:p>
            <a:pPr rtl="0">
              <a:buNone/>
            </a:pPr>
            <a:r>
              <a:rPr lang="en-DK" dirty="0">
                <a:latin typeface="+mn-lt"/>
              </a:rPr>
              <a:t>    laerer_id INT,</a:t>
            </a:r>
          </a:p>
          <a:p>
            <a:pPr rtl="0">
              <a:buNone/>
            </a:pPr>
            <a:r>
              <a:rPr lang="en-DK" dirty="0">
                <a:latin typeface="+mn-lt"/>
              </a:rPr>
              <a:t>    </a:t>
            </a:r>
            <a:r>
              <a:rPr lang="en-DK" dirty="0">
                <a:solidFill>
                  <a:srgbClr val="FF0000"/>
                </a:solidFill>
                <a:latin typeface="+mn-lt"/>
              </a:rPr>
              <a:t>FOREIGN KEY (laerer_id)</a:t>
            </a:r>
          </a:p>
          <a:p>
            <a:pPr rtl="0">
              <a:buNone/>
            </a:pPr>
            <a:r>
              <a:rPr lang="en-DK" dirty="0">
                <a:solidFill>
                  <a:srgbClr val="FF0000"/>
                </a:solidFill>
                <a:latin typeface="+mn-lt"/>
              </a:rPr>
              <a:t>        REFERENCES Laerer(laerer_id)</a:t>
            </a:r>
          </a:p>
          <a:p>
            <a:pPr rtl="0">
              <a:buNone/>
            </a:pPr>
            <a:r>
              <a:rPr lang="en-DK" dirty="0">
                <a:latin typeface="+mn-lt"/>
              </a:rPr>
              <a:t>);</a:t>
            </a:r>
            <a:endParaRPr lang="en-DK" dirty="0">
              <a:latin typeface="Courier New" panose="02070309020205020404" pitchFamily="49" charset="0"/>
            </a:endParaRPr>
          </a:p>
        </p:txBody>
      </p:sp>
      <p:pic>
        <p:nvPicPr>
          <p:cNvPr id="9" name="Picture 8">
            <a:extLst>
              <a:ext uri="{FF2B5EF4-FFF2-40B4-BE49-F238E27FC236}">
                <a16:creationId xmlns:a16="http://schemas.microsoft.com/office/drawing/2014/main" id="{C7D678D8-DB52-E4D5-1D98-DB0DE4B57C9D}"/>
              </a:ext>
            </a:extLst>
          </p:cNvPr>
          <p:cNvPicPr>
            <a:picLocks noChangeAspect="1"/>
          </p:cNvPicPr>
          <p:nvPr/>
        </p:nvPicPr>
        <p:blipFill>
          <a:blip r:embed="rId2"/>
          <a:stretch>
            <a:fillRect/>
          </a:stretch>
        </p:blipFill>
        <p:spPr>
          <a:xfrm>
            <a:off x="4423238" y="1584560"/>
            <a:ext cx="7772400" cy="2466473"/>
          </a:xfrm>
          <a:prstGeom prst="rect">
            <a:avLst/>
          </a:prstGeom>
        </p:spPr>
      </p:pic>
      <p:sp>
        <p:nvSpPr>
          <p:cNvPr id="2" name="Text 1">
            <a:extLst>
              <a:ext uri="{FF2B5EF4-FFF2-40B4-BE49-F238E27FC236}">
                <a16:creationId xmlns:a16="http://schemas.microsoft.com/office/drawing/2014/main" id="{ED2305D4-64E8-8884-984A-FC0473669E9E}"/>
              </a:ext>
            </a:extLst>
          </p:cNvPr>
          <p:cNvSpPr/>
          <p:nvPr/>
        </p:nvSpPr>
        <p:spPr>
          <a:xfrm>
            <a:off x="502920" y="484632"/>
            <a:ext cx="8138160" cy="566928"/>
          </a:xfrm>
          <a:prstGeom prst="rect">
            <a:avLst/>
          </a:prstGeom>
          <a:noFill/>
          <a:ln/>
        </p:spPr>
        <p:txBody>
          <a:bodyPr wrap="square" lIns="0" tIns="0" rIns="0" bIns="0" rtlCol="0" anchor="ctr">
            <a:normAutofit/>
          </a:bodyPr>
          <a:lstStyle/>
          <a:p>
            <a:pPr marL="0" indent="0">
              <a:buNone/>
            </a:pPr>
            <a:r>
              <a:rPr lang="en-US" sz="2600" b="1" dirty="0" err="1">
                <a:solidFill>
                  <a:srgbClr val="2C3932"/>
                </a:solidFill>
                <a:latin typeface="Helvetica Neue" pitchFamily="34" charset="0"/>
                <a:ea typeface="Helvetica Neue" pitchFamily="34" charset="-122"/>
                <a:cs typeface="Helvetica Neue" pitchFamily="34" charset="-120"/>
              </a:rPr>
              <a:t>Undersøge</a:t>
            </a:r>
            <a:r>
              <a:rPr lang="en-US" sz="2600" b="1" dirty="0">
                <a:solidFill>
                  <a:srgbClr val="2C3932"/>
                </a:solidFill>
                <a:latin typeface="Helvetica Neue" pitchFamily="34" charset="0"/>
                <a:ea typeface="Helvetica Neue" pitchFamily="34" charset="-122"/>
                <a:cs typeface="Helvetica Neue" pitchFamily="34" charset="-120"/>
              </a:rPr>
              <a:t> primary key </a:t>
            </a:r>
            <a:r>
              <a:rPr lang="en-US" sz="2600" b="1" dirty="0" err="1">
                <a:solidFill>
                  <a:srgbClr val="2C3932"/>
                </a:solidFill>
                <a:latin typeface="Helvetica Neue" pitchFamily="34" charset="0"/>
                <a:ea typeface="Helvetica Neue" pitchFamily="34" charset="-122"/>
                <a:cs typeface="Helvetica Neue" pitchFamily="34" charset="-120"/>
              </a:rPr>
              <a:t>og</a:t>
            </a:r>
            <a:r>
              <a:rPr lang="en-US" sz="2600" b="1" dirty="0">
                <a:solidFill>
                  <a:srgbClr val="2C3932"/>
                </a:solidFill>
                <a:latin typeface="Helvetica Neue" pitchFamily="34" charset="0"/>
                <a:ea typeface="Helvetica Neue" pitchFamily="34" charset="-122"/>
                <a:cs typeface="Helvetica Neue" pitchFamily="34" charset="-120"/>
              </a:rPr>
              <a:t> foreign key</a:t>
            </a:r>
            <a:endParaRPr lang="en-US" sz="2600" dirty="0"/>
          </a:p>
        </p:txBody>
      </p:sp>
    </p:spTree>
    <p:extLst>
      <p:ext uri="{BB962C8B-B14F-4D97-AF65-F5344CB8AC3E}">
        <p14:creationId xmlns:p14="http://schemas.microsoft.com/office/powerpoint/2010/main" val="2420638286"/>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7D341C545B0A44A26A103333756E90" ma:contentTypeVersion="3" ma:contentTypeDescription="Create a new document." ma:contentTypeScope="" ma:versionID="a048252bedefebc66d7f5c57a58c1ff5">
  <xsd:schema xmlns:xsd="http://www.w3.org/2001/XMLSchema" xmlns:xs="http://www.w3.org/2001/XMLSchema" xmlns:p="http://schemas.microsoft.com/office/2006/metadata/properties" xmlns:ns2="324ab4a6-501d-4b19-a031-862034374e5f" targetNamespace="http://schemas.microsoft.com/office/2006/metadata/properties" ma:root="true" ma:fieldsID="804db9cd4e91f417006555e3fc5175ad" ns2:_="">
    <xsd:import namespace="324ab4a6-501d-4b19-a031-862034374e5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4ab4a6-501d-4b19-a031-862034374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E22D32-91E9-4778-9B54-0D87370F2D8E}">
  <ds:schemaRefs>
    <ds:schemaRef ds:uri="324ab4a6-501d-4b19-a031-862034374e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77E7482-DA75-4171-88B6-86C3C4B9F21B}">
  <ds:schemaRefs>
    <ds:schemaRef ds:uri="http://schemas.microsoft.com/sharepoint/v3/contenttype/forms"/>
  </ds:schemaRefs>
</ds:datastoreItem>
</file>

<file path=customXml/itemProps3.xml><?xml version="1.0" encoding="utf-8"?>
<ds:datastoreItem xmlns:ds="http://schemas.openxmlformats.org/officeDocument/2006/customXml" ds:itemID="{C947A2A5-DCAD-426B-8FE1-991D888F8327}">
  <ds:schemaRefs>
    <ds:schemaRef ds:uri="324ab4a6-501d-4b19-a031-862034374e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Madison</Template>
  <TotalTime>118</TotalTime>
  <Words>2068</Words>
  <Application>Microsoft Macintosh PowerPoint</Application>
  <PresentationFormat>On-screen Show (16:9)</PresentationFormat>
  <Paragraphs>371</Paragraphs>
  <Slides>49</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Times</vt:lpstr>
      <vt:lpstr>Aptos</vt:lpstr>
      <vt:lpstr>Arial</vt:lpstr>
      <vt:lpstr>Calibri</vt:lpstr>
      <vt:lpstr>Courier New</vt:lpstr>
      <vt:lpstr>Helvetica Neue</vt:lpstr>
      <vt:lpstr>Neue Haas Grotesk Text Pro</vt:lpstr>
      <vt:lpstr>Trebuchet MS</vt:lpstr>
      <vt:lpstr>VanillaVTI</vt:lpstr>
      <vt:lpstr>PowerPoint Presentation</vt:lpstr>
      <vt:lpstr>PowerPoint Presentation</vt:lpstr>
      <vt:lpstr>PowerPoint Presentation</vt:lpstr>
      <vt:lpstr>PowerPoint Presentation</vt:lpstr>
      <vt:lpstr>PowerPoint Presentation</vt:lpstr>
      <vt:lpstr>Filbaseret database</vt:lpstr>
      <vt:lpstr>Database Management System (DBMS) </vt:lpstr>
      <vt:lpstr>Populære DBMS </vt:lpstr>
      <vt:lpstr>PowerPoint Presentation</vt:lpstr>
      <vt:lpstr>PowerPoint Presentation</vt:lpstr>
      <vt:lpstr>PowerPoint Presentation</vt:lpstr>
      <vt:lpstr>PowerPoint Presentation</vt:lpstr>
      <vt:lpstr>PowerPoint Presentation</vt:lpstr>
      <vt:lpstr>PowerPoint Presentation</vt:lpstr>
      <vt:lpstr>MySQL installed directly vs. MySQL in Docker</vt:lpstr>
      <vt:lpstr>PowerPoint Presentation</vt:lpstr>
      <vt:lpstr>Docker</vt:lpstr>
      <vt:lpstr>Introduktion til MySQL Workbench</vt:lpstr>
      <vt:lpstr>PowerPoint Presentation</vt:lpstr>
      <vt:lpstr>PowerPoint Presentation</vt:lpstr>
      <vt:lpstr>PowerPoint Presentation</vt:lpstr>
      <vt:lpstr>Historien om relationsdatamodellen</vt:lpstr>
      <vt:lpstr>PowerPoint Presentation</vt:lpstr>
      <vt:lpstr>Terminologi i den relationelle model  ( firma branch og medarbejde)</vt:lpstr>
      <vt:lpstr>Relationsdatabase </vt:lpstr>
      <vt:lpstr>PowerPoint Presentation</vt:lpstr>
      <vt:lpstr>PowerPoint Presentation</vt:lpstr>
      <vt:lpstr>PowerPoint Presentation</vt:lpstr>
      <vt:lpstr>PowerPoint Presentation</vt:lpstr>
      <vt:lpstr>PowerPoint Presentation</vt:lpstr>
      <vt:lpstr>SQL øvelse – forklar. kode</vt:lpstr>
      <vt:lpstr>E-R diagram</vt:lpstr>
      <vt:lpstr>1:m m:m</vt:lpstr>
      <vt:lpstr>1:m</vt:lpstr>
      <vt:lpstr>øvelse</vt:lpstr>
      <vt:lpstr>ERD- CROW’S FOOT MODEL</vt:lpstr>
      <vt:lpstr>ERD: CROWS FOOT MODEL</vt:lpstr>
      <vt:lpstr>PowerPoint Presentation</vt:lpstr>
      <vt:lpstr>CROWS FOOT NOTATION</vt:lpstr>
      <vt:lpstr>              </vt:lpstr>
      <vt:lpstr>PowerPoint Presentation</vt:lpstr>
      <vt:lpstr>PowerPoint Presentation</vt:lpstr>
      <vt:lpstr>PowerPoint Presentation</vt:lpstr>
      <vt:lpstr>SQL-udvikling i MySQL Workbench</vt:lpstr>
      <vt:lpstr>PowerPoint Presentation</vt:lpstr>
      <vt:lpstr>Hands-on-1 Opdatering og sletning af data</vt:lpstr>
      <vt:lpstr>Hands-on-2</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Xiaolei Bi</cp:lastModifiedBy>
  <cp:revision>16</cp:revision>
  <dcterms:created xsi:type="dcterms:W3CDTF">2023-11-06T12:35:31Z</dcterms:created>
  <dcterms:modified xsi:type="dcterms:W3CDTF">2026-10-29T10:36:01Z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2021-11-12T00:00:00Z</vt:filetime>
  </property>
  <property fmtid="{D5CDD505-2E9C-101B-9397-08002B2CF9AE}" pid="3" name="LastSaved">
    <vt:filetime>2023-11-06T00:00:00Z</vt:filetime>
  </property>
  <property fmtid="{D5CDD505-2E9C-101B-9397-08002B2CF9AE}" pid="4" name="Producer">
    <vt:lpwstr>macOS Version 12.0.1 (Build 21A559) Quartz PDFContext</vt:lpwstr>
  </property>
  <property fmtid="{D5CDD505-2E9C-101B-9397-08002B2CF9AE}" pid="5" name="ContentTypeId">
    <vt:lpwstr>0x010100E57D341C545B0A44A26A103333756E90</vt:lpwstr>
  </property>
</Properties>
</file>