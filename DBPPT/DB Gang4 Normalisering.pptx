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28"/>
  </p:notesMasterIdLst>
  <p:sldIdLst>
    <p:sldId id="388" r:id="rId5"/>
    <p:sldId id="386" r:id="rId6"/>
    <p:sldId id="274" r:id="rId7"/>
    <p:sldId id="256" r:id="rId8"/>
    <p:sldId id="2574" r:id="rId9"/>
    <p:sldId id="258" r:id="rId10"/>
    <p:sldId id="259" r:id="rId11"/>
    <p:sldId id="261" r:id="rId12"/>
    <p:sldId id="262" r:id="rId13"/>
    <p:sldId id="264" r:id="rId14"/>
    <p:sldId id="389" r:id="rId15"/>
    <p:sldId id="267" r:id="rId16"/>
    <p:sldId id="385" r:id="rId17"/>
    <p:sldId id="260" r:id="rId18"/>
    <p:sldId id="391" r:id="rId19"/>
    <p:sldId id="2577" r:id="rId20"/>
    <p:sldId id="2578" r:id="rId21"/>
    <p:sldId id="2579" r:id="rId22"/>
    <p:sldId id="2580" r:id="rId23"/>
    <p:sldId id="272" r:id="rId24"/>
    <p:sldId id="273" r:id="rId25"/>
    <p:sldId id="387" r:id="rId26"/>
    <p:sldId id="394" r:id="rId27"/>
  </p:sldIdLst>
  <p:sldSz cx="12192000" cy="6858000"/>
  <p:notesSz cx="12192000" cy="6858000"/>
  <p:defaultTextStyle>
    <a:defPPr>
      <a:defRPr kern="0"/>
    </a:defPPr>
  </p:defaultTextStyle>
  <p:extLst>
    <p:ext uri="{521415D9-36F7-43E2-AB2F-B90AF26B5E84}">
      <p14:sectionLst xmlns:p14="http://schemas.microsoft.com/office/powerpoint/2010/main">
        <p14:section name="Default Section" id="{D559DEED-3E7B-43F9-B3CD-1CAFFB643829}">
          <p14:sldIdLst>
            <p14:sldId id="388"/>
            <p14:sldId id="386"/>
            <p14:sldId id="274"/>
            <p14:sldId id="256"/>
            <p14:sldId id="2574"/>
            <p14:sldId id="258"/>
            <p14:sldId id="259"/>
            <p14:sldId id="261"/>
            <p14:sldId id="262"/>
            <p14:sldId id="264"/>
            <p14:sldId id="389"/>
            <p14:sldId id="267"/>
            <p14:sldId id="385"/>
          </p14:sldIdLst>
        </p14:section>
        <p14:section name="reduce mang-mange relation" id="{973F369F-1015-4AC7-B1C6-FD755A51364B}">
          <p14:sldIdLst>
            <p14:sldId id="260"/>
            <p14:sldId id="391"/>
            <p14:sldId id="2577"/>
            <p14:sldId id="2578"/>
            <p14:sldId id="2579"/>
            <p14:sldId id="2580"/>
            <p14:sldId id="272"/>
            <p14:sldId id="273"/>
            <p14:sldId id="387"/>
            <p14:sldId id="39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CF3159-B257-4978-8BEB-EF708261E056}" v="5" dt="2025-11-17T08:54:11.914"/>
    <p1510:client id="{7407BB05-4853-46E4-ACCE-C4BD7E3BE776}" v="68" dt="2025-11-17T08:04:51.467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917"/>
    <p:restoredTop sz="84680"/>
  </p:normalViewPr>
  <p:slideViewPr>
    <p:cSldViewPr>
      <p:cViewPr varScale="1">
        <p:scale>
          <a:sx n="74" d="100"/>
          <a:sy n="74" d="100"/>
        </p:scale>
        <p:origin x="176" y="41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iaolei Bi" userId="S::xbi@eamv.dk::4defdd0b-eb6b-464a-acc0-49fc44ef47a7" providerId="AD" clId="Web-{3BDA6E35-ADF0-4DC7-B1E3-9B39061C070A}"/>
    <pc:docChg chg="modSld">
      <pc:chgData name="Xiaolei Bi" userId="S::xbi@eamv.dk::4defdd0b-eb6b-464a-acc0-49fc44ef47a7" providerId="AD" clId="Web-{3BDA6E35-ADF0-4DC7-B1E3-9B39061C070A}" dt="2025-10-28T11:22:16.534" v="12"/>
      <pc:docMkLst>
        <pc:docMk/>
      </pc:docMkLst>
      <pc:sldChg chg="modNotes">
        <pc:chgData name="Xiaolei Bi" userId="S::xbi@eamv.dk::4defdd0b-eb6b-464a-acc0-49fc44ef47a7" providerId="AD" clId="Web-{3BDA6E35-ADF0-4DC7-B1E3-9B39061C070A}" dt="2025-10-28T11:22:16.534" v="12"/>
        <pc:sldMkLst>
          <pc:docMk/>
          <pc:sldMk cId="255257706" sldId="391"/>
        </pc:sldMkLst>
      </pc:sldChg>
    </pc:docChg>
  </pc:docChgLst>
  <pc:docChgLst>
    <pc:chgData name="Xiaolei Bi" userId="S::xbi@eamv.dk::4defdd0b-eb6b-464a-acc0-49fc44ef47a7" providerId="AD" clId="Web-{7407BB05-4853-46E4-ACCE-C4BD7E3BE776}"/>
    <pc:docChg chg="addSld delSld modSld addSection modSection">
      <pc:chgData name="Xiaolei Bi" userId="S::xbi@eamv.dk::4defdd0b-eb6b-464a-acc0-49fc44ef47a7" providerId="AD" clId="Web-{7407BB05-4853-46E4-ACCE-C4BD7E3BE776}" dt="2025-11-17T08:04:51.451" v="55" actId="20577"/>
      <pc:docMkLst>
        <pc:docMk/>
      </pc:docMkLst>
      <pc:sldChg chg="addSp delSp modSp">
        <pc:chgData name="Xiaolei Bi" userId="S::xbi@eamv.dk::4defdd0b-eb6b-464a-acc0-49fc44ef47a7" providerId="AD" clId="Web-{7407BB05-4853-46E4-ACCE-C4BD7E3BE776}" dt="2025-11-17T07:59:57.743" v="1"/>
        <pc:sldMkLst>
          <pc:docMk/>
          <pc:sldMk cId="0" sldId="256"/>
        </pc:sldMkLst>
        <pc:spChg chg="del">
          <ac:chgData name="Xiaolei Bi" userId="S::xbi@eamv.dk::4defdd0b-eb6b-464a-acc0-49fc44ef47a7" providerId="AD" clId="Web-{7407BB05-4853-46E4-ACCE-C4BD7E3BE776}" dt="2025-11-17T07:59:56.353" v="0"/>
          <ac:spMkLst>
            <pc:docMk/>
            <pc:sldMk cId="0" sldId="256"/>
            <ac:spMk id="2" creationId="{00000000-0000-0000-0000-000000000000}"/>
          </ac:spMkLst>
        </pc:spChg>
        <pc:picChg chg="add mod">
          <ac:chgData name="Xiaolei Bi" userId="S::xbi@eamv.dk::4defdd0b-eb6b-464a-acc0-49fc44ef47a7" providerId="AD" clId="Web-{7407BB05-4853-46E4-ACCE-C4BD7E3BE776}" dt="2025-11-17T07:59:57.743" v="1"/>
          <ac:picMkLst>
            <pc:docMk/>
            <pc:sldMk cId="0" sldId="256"/>
            <ac:picMk id="3" creationId="{F8D3E160-6A35-F570-CA45-901388954C07}"/>
          </ac:picMkLst>
        </pc:picChg>
      </pc:sldChg>
      <pc:sldChg chg="modSp add">
        <pc:chgData name="Xiaolei Bi" userId="S::xbi@eamv.dk::4defdd0b-eb6b-464a-acc0-49fc44ef47a7" providerId="AD" clId="Web-{7407BB05-4853-46E4-ACCE-C4BD7E3BE776}" dt="2025-11-17T08:03:01.465" v="35" actId="20577"/>
        <pc:sldMkLst>
          <pc:docMk/>
          <pc:sldMk cId="0" sldId="260"/>
        </pc:sldMkLst>
        <pc:spChg chg="mod">
          <ac:chgData name="Xiaolei Bi" userId="S::xbi@eamv.dk::4defdd0b-eb6b-464a-acc0-49fc44ef47a7" providerId="AD" clId="Web-{7407BB05-4853-46E4-ACCE-C4BD7E3BE776}" dt="2025-11-17T08:02:55.012" v="34" actId="14100"/>
          <ac:spMkLst>
            <pc:docMk/>
            <pc:sldMk cId="0" sldId="260"/>
            <ac:spMk id="2" creationId="{00000000-0000-0000-0000-000000000000}"/>
          </ac:spMkLst>
        </pc:spChg>
        <pc:spChg chg="mod">
          <ac:chgData name="Xiaolei Bi" userId="S::xbi@eamv.dk::4defdd0b-eb6b-464a-acc0-49fc44ef47a7" providerId="AD" clId="Web-{7407BB05-4853-46E4-ACCE-C4BD7E3BE776}" dt="2025-11-17T08:03:01.465" v="35" actId="20577"/>
          <ac:spMkLst>
            <pc:docMk/>
            <pc:sldMk cId="0" sldId="260"/>
            <ac:spMk id="3" creationId="{00000000-0000-0000-0000-000000000000}"/>
          </ac:spMkLst>
        </pc:spChg>
      </pc:sldChg>
      <pc:sldChg chg="del">
        <pc:chgData name="Xiaolei Bi" userId="S::xbi@eamv.dk::4defdd0b-eb6b-464a-acc0-49fc44ef47a7" providerId="AD" clId="Web-{7407BB05-4853-46E4-ACCE-C4BD7E3BE776}" dt="2025-11-17T08:02:09.527" v="19"/>
        <pc:sldMkLst>
          <pc:docMk/>
          <pc:sldMk cId="0" sldId="271"/>
        </pc:sldMkLst>
      </pc:sldChg>
      <pc:sldChg chg="del">
        <pc:chgData name="Xiaolei Bi" userId="S::xbi@eamv.dk::4defdd0b-eb6b-464a-acc0-49fc44ef47a7" providerId="AD" clId="Web-{7407BB05-4853-46E4-ACCE-C4BD7E3BE776}" dt="2025-11-17T08:00:15.353" v="2"/>
        <pc:sldMkLst>
          <pc:docMk/>
          <pc:sldMk cId="0" sldId="356"/>
        </pc:sldMkLst>
      </pc:sldChg>
      <pc:sldChg chg="modSp">
        <pc:chgData name="Xiaolei Bi" userId="S::xbi@eamv.dk::4defdd0b-eb6b-464a-acc0-49fc44ef47a7" providerId="AD" clId="Web-{7407BB05-4853-46E4-ACCE-C4BD7E3BE776}" dt="2025-11-17T08:04:51.451" v="55" actId="20577"/>
        <pc:sldMkLst>
          <pc:docMk/>
          <pc:sldMk cId="0" sldId="387"/>
        </pc:sldMkLst>
        <pc:spChg chg="mod">
          <ac:chgData name="Xiaolei Bi" userId="S::xbi@eamv.dk::4defdd0b-eb6b-464a-acc0-49fc44ef47a7" providerId="AD" clId="Web-{7407BB05-4853-46E4-ACCE-C4BD7E3BE776}" dt="2025-11-17T08:04:51.451" v="55" actId="20577"/>
          <ac:spMkLst>
            <pc:docMk/>
            <pc:sldMk cId="0" sldId="387"/>
            <ac:spMk id="3" creationId="{00000000-0000-0000-0000-000000000000}"/>
          </ac:spMkLst>
        </pc:spChg>
      </pc:sldChg>
      <pc:sldChg chg="del">
        <pc:chgData name="Xiaolei Bi" userId="S::xbi@eamv.dk::4defdd0b-eb6b-464a-acc0-49fc44ef47a7" providerId="AD" clId="Web-{7407BB05-4853-46E4-ACCE-C4BD7E3BE776}" dt="2025-11-17T08:02:05.449" v="18"/>
        <pc:sldMkLst>
          <pc:docMk/>
          <pc:sldMk cId="1627220470" sldId="390"/>
        </pc:sldMkLst>
      </pc:sldChg>
      <pc:sldChg chg="modSp add del">
        <pc:chgData name="Xiaolei Bi" userId="S::xbi@eamv.dk::4defdd0b-eb6b-464a-acc0-49fc44ef47a7" providerId="AD" clId="Web-{7407BB05-4853-46E4-ACCE-C4BD7E3BE776}" dt="2025-11-17T08:04:10.826" v="53" actId="20577"/>
        <pc:sldMkLst>
          <pc:docMk/>
          <pc:sldMk cId="255257706" sldId="391"/>
        </pc:sldMkLst>
        <pc:spChg chg="mod">
          <ac:chgData name="Xiaolei Bi" userId="S::xbi@eamv.dk::4defdd0b-eb6b-464a-acc0-49fc44ef47a7" providerId="AD" clId="Web-{7407BB05-4853-46E4-ACCE-C4BD7E3BE776}" dt="2025-11-17T08:04:10.826" v="53" actId="20577"/>
          <ac:spMkLst>
            <pc:docMk/>
            <pc:sldMk cId="255257706" sldId="391"/>
            <ac:spMk id="2" creationId="{F49C75FF-DB33-A793-A31B-477C54624101}"/>
          </ac:spMkLst>
        </pc:spChg>
      </pc:sldChg>
      <pc:sldChg chg="del">
        <pc:chgData name="Xiaolei Bi" userId="S::xbi@eamv.dk::4defdd0b-eb6b-464a-acc0-49fc44ef47a7" providerId="AD" clId="Web-{7407BB05-4853-46E4-ACCE-C4BD7E3BE776}" dt="2025-11-17T08:02:05.449" v="16"/>
        <pc:sldMkLst>
          <pc:docMk/>
          <pc:sldMk cId="3694144113" sldId="392"/>
        </pc:sldMkLst>
      </pc:sldChg>
      <pc:sldChg chg="del">
        <pc:chgData name="Xiaolei Bi" userId="S::xbi@eamv.dk::4defdd0b-eb6b-464a-acc0-49fc44ef47a7" providerId="AD" clId="Web-{7407BB05-4853-46E4-ACCE-C4BD7E3BE776}" dt="2025-11-17T08:02:05.449" v="15"/>
        <pc:sldMkLst>
          <pc:docMk/>
          <pc:sldMk cId="1513473403" sldId="393"/>
        </pc:sldMkLst>
      </pc:sldChg>
      <pc:sldChg chg="modSp add">
        <pc:chgData name="Xiaolei Bi" userId="S::xbi@eamv.dk::4defdd0b-eb6b-464a-acc0-49fc44ef47a7" providerId="AD" clId="Web-{7407BB05-4853-46E4-ACCE-C4BD7E3BE776}" dt="2025-11-17T08:01:52.574" v="14" actId="20577"/>
        <pc:sldMkLst>
          <pc:docMk/>
          <pc:sldMk cId="3069163414" sldId="2574"/>
        </pc:sldMkLst>
        <pc:spChg chg="mod">
          <ac:chgData name="Xiaolei Bi" userId="S::xbi@eamv.dk::4defdd0b-eb6b-464a-acc0-49fc44ef47a7" providerId="AD" clId="Web-{7407BB05-4853-46E4-ACCE-C4BD7E3BE776}" dt="2025-11-17T08:01:52.574" v="14" actId="20577"/>
          <ac:spMkLst>
            <pc:docMk/>
            <pc:sldMk cId="3069163414" sldId="2574"/>
            <ac:spMk id="2" creationId="{FAF128F2-3484-E58D-0332-617CD575EBB4}"/>
          </ac:spMkLst>
        </pc:spChg>
        <pc:spChg chg="mod">
          <ac:chgData name="Xiaolei Bi" userId="S::xbi@eamv.dk::4defdd0b-eb6b-464a-acc0-49fc44ef47a7" providerId="AD" clId="Web-{7407BB05-4853-46E4-ACCE-C4BD7E3BE776}" dt="2025-11-17T08:00:32.213" v="5" actId="20577"/>
          <ac:spMkLst>
            <pc:docMk/>
            <pc:sldMk cId="3069163414" sldId="2574"/>
            <ac:spMk id="3" creationId="{C3DD1FB2-FD47-5ADF-7475-03E21DE3D38F}"/>
          </ac:spMkLst>
        </pc:spChg>
        <pc:spChg chg="mod">
          <ac:chgData name="Xiaolei Bi" userId="S::xbi@eamv.dk::4defdd0b-eb6b-464a-acc0-49fc44ef47a7" providerId="AD" clId="Web-{7407BB05-4853-46E4-ACCE-C4BD7E3BE776}" dt="2025-11-17T08:01:26.854" v="8" actId="20577"/>
          <ac:spMkLst>
            <pc:docMk/>
            <pc:sldMk cId="3069163414" sldId="2574"/>
            <ac:spMk id="4" creationId="{C62E6DFE-82E9-B11E-EE90-947F1444C57D}"/>
          </ac:spMkLst>
        </pc:spChg>
      </pc:sldChg>
      <pc:sldChg chg="new del">
        <pc:chgData name="Xiaolei Bi" userId="S::xbi@eamv.dk::4defdd0b-eb6b-464a-acc0-49fc44ef47a7" providerId="AD" clId="Web-{7407BB05-4853-46E4-ACCE-C4BD7E3BE776}" dt="2025-11-17T08:03:37.778" v="42"/>
        <pc:sldMkLst>
          <pc:docMk/>
          <pc:sldMk cId="4141809345" sldId="2575"/>
        </pc:sldMkLst>
      </pc:sldChg>
      <pc:sldChg chg="add">
        <pc:chgData name="Xiaolei Bi" userId="S::xbi@eamv.dk::4defdd0b-eb6b-464a-acc0-49fc44ef47a7" providerId="AD" clId="Web-{7407BB05-4853-46E4-ACCE-C4BD7E3BE776}" dt="2025-11-17T08:03:28.075" v="38"/>
        <pc:sldMkLst>
          <pc:docMk/>
          <pc:sldMk cId="3078733812" sldId="2577"/>
        </pc:sldMkLst>
      </pc:sldChg>
      <pc:sldChg chg="add">
        <pc:chgData name="Xiaolei Bi" userId="S::xbi@eamv.dk::4defdd0b-eb6b-464a-acc0-49fc44ef47a7" providerId="AD" clId="Web-{7407BB05-4853-46E4-ACCE-C4BD7E3BE776}" dt="2025-11-17T08:03:28.263" v="39"/>
        <pc:sldMkLst>
          <pc:docMk/>
          <pc:sldMk cId="1453240731" sldId="2578"/>
        </pc:sldMkLst>
      </pc:sldChg>
      <pc:sldChg chg="add">
        <pc:chgData name="Xiaolei Bi" userId="S::xbi@eamv.dk::4defdd0b-eb6b-464a-acc0-49fc44ef47a7" providerId="AD" clId="Web-{7407BB05-4853-46E4-ACCE-C4BD7E3BE776}" dt="2025-11-17T08:03:28.310" v="40"/>
        <pc:sldMkLst>
          <pc:docMk/>
          <pc:sldMk cId="1385783409" sldId="2579"/>
        </pc:sldMkLst>
      </pc:sldChg>
      <pc:sldChg chg="add">
        <pc:chgData name="Xiaolei Bi" userId="S::xbi@eamv.dk::4defdd0b-eb6b-464a-acc0-49fc44ef47a7" providerId="AD" clId="Web-{7407BB05-4853-46E4-ACCE-C4BD7E3BE776}" dt="2025-11-17T08:03:28.435" v="41"/>
        <pc:sldMkLst>
          <pc:docMk/>
          <pc:sldMk cId="879751863" sldId="2580"/>
        </pc:sldMkLst>
      </pc:sldChg>
      <pc:sldMasterChg chg="addSldLayout">
        <pc:chgData name="Xiaolei Bi" userId="S::xbi@eamv.dk::4defdd0b-eb6b-464a-acc0-49fc44ef47a7" providerId="AD" clId="Web-{7407BB05-4853-46E4-ACCE-C4BD7E3BE776}" dt="2025-11-17T08:00:26.166" v="3"/>
        <pc:sldMasterMkLst>
          <pc:docMk/>
          <pc:sldMasterMk cId="0" sldId="2147483648"/>
        </pc:sldMasterMkLst>
        <pc:sldLayoutChg chg="add">
          <pc:chgData name="Xiaolei Bi" userId="S::xbi@eamv.dk::4defdd0b-eb6b-464a-acc0-49fc44ef47a7" providerId="AD" clId="Web-{7407BB05-4853-46E4-ACCE-C4BD7E3BE776}" dt="2025-11-17T08:00:26.166" v="3"/>
          <pc:sldLayoutMkLst>
            <pc:docMk/>
            <pc:sldMasterMk cId="0" sldId="2147483648"/>
            <pc:sldLayoutMk cId="2223890384" sldId="2147483666"/>
          </pc:sldLayoutMkLst>
        </pc:sldLayoutChg>
      </pc:sldMasterChg>
    </pc:docChg>
  </pc:docChgLst>
  <pc:docChgLst>
    <pc:chgData name="Xiaolei Bi" userId="S::xbi@eamv.dk::4defdd0b-eb6b-464a-acc0-49fc44ef47a7" providerId="AD" clId="Web-{51CF3159-B257-4978-8BEB-EF708261E056}"/>
    <pc:docChg chg="modSld">
      <pc:chgData name="Xiaolei Bi" userId="S::xbi@eamv.dk::4defdd0b-eb6b-464a-acc0-49fc44ef47a7" providerId="AD" clId="Web-{51CF3159-B257-4978-8BEB-EF708261E056}" dt="2025-11-17T08:54:11.914" v="1" actId="20577"/>
      <pc:docMkLst>
        <pc:docMk/>
      </pc:docMkLst>
      <pc:sldChg chg="modSp">
        <pc:chgData name="Xiaolei Bi" userId="S::xbi@eamv.dk::4defdd0b-eb6b-464a-acc0-49fc44ef47a7" providerId="AD" clId="Web-{51CF3159-B257-4978-8BEB-EF708261E056}" dt="2025-11-17T08:54:11.914" v="1" actId="20577"/>
        <pc:sldMkLst>
          <pc:docMk/>
          <pc:sldMk cId="541702222" sldId="394"/>
        </pc:sldMkLst>
        <pc:spChg chg="mod">
          <ac:chgData name="Xiaolei Bi" userId="S::xbi@eamv.dk::4defdd0b-eb6b-464a-acc0-49fc44ef47a7" providerId="AD" clId="Web-{51CF3159-B257-4978-8BEB-EF708261E056}" dt="2025-11-17T08:54:11.914" v="1" actId="20577"/>
          <ac:spMkLst>
            <pc:docMk/>
            <pc:sldMk cId="541702222" sldId="394"/>
            <ac:spMk id="2" creationId="{C1293F3D-1D86-47B7-7C46-02BE0B13C3E4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0:30:42.409"/>
    </inkml:context>
    <inkml:brush xml:id="br0">
      <inkml:brushProperty name="width" value="0.35" units="cm"/>
      <inkml:brushProperty name="height" value="0.35" units="cm"/>
      <inkml:brushProperty name="color" value="#008C3A"/>
    </inkml:brush>
  </inkml:definitions>
  <inkml:trace contextRef="#ctx0" brushRef="#br0">0 1 24575,'52'0'0,"0"0"0,5 0 0,2 0 0,-1 0 0,0 0 0,1 0 0,-2 0 0,-4 0 0,-4 0 0,25 0 0,-15 0 0,-19 0 0,-8 0 0,0 0 0,-7 0 0,3 0 0,-2 0 0,0 0 0,2 0 0,5 0 0,7 0 0,7 0 0,-1 0 0,-8 0 0,-6 0 0,-3 0 0,0 0 0,-1 0 0,-6 0 0,-5 0 0,-6 0 0,-2 0 0,0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0:30:44.434"/>
    </inkml:context>
    <inkml:brush xml:id="br0">
      <inkml:brushProperty name="width" value="0.35" units="cm"/>
      <inkml:brushProperty name="height" value="0.35" units="cm"/>
      <inkml:brushProperty name="color" value="#008C3A"/>
    </inkml:brush>
  </inkml:definitions>
  <inkml:trace contextRef="#ctx0" brushRef="#br0">0 0 24575,'56'0'0,"0"0"0,15 0 0,7 0 0,11 0 0,-2 0 0,-16 0 0,-7 0 0,-12 0 0,-5 0 0,-2 0 0,-3 0 0,17 0 0,-16 0 0,12 0 0,-10 0 0,0 0 0,4 0 0,-11 0 0,-10 0 0,-2 0 0,2 0 0,6 0 0,0 0 0,-2 0 0,-7 0 0,-6 0 0,-2 0 0,-5 0 0,-1 0 0,-2 0 0,0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4349B2-4305-FC42-8181-E39093703ACF}" type="datetimeFigureOut">
              <a:rPr lang="en-DK" smtClean="0"/>
              <a:t>11/17/2025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CC5023-13F6-9041-BF4B-14169DEB61F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8088234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instead of designing the entire database from the big picture down (which would be </a:t>
            </a:r>
            <a:r>
              <a:rPr lang="en-GB" b="1" dirty="0"/>
              <a:t>top-down design</a:t>
            </a:r>
            <a:r>
              <a:rPr lang="en-GB" dirty="0"/>
              <a:t>), you </a:t>
            </a:r>
            <a:r>
              <a:rPr lang="en-GB" b="1" dirty="0"/>
              <a:t>build the database from the details up</a:t>
            </a:r>
            <a:r>
              <a:rPr lang="en-GB" dirty="0"/>
              <a:t>.</a:t>
            </a:r>
          </a:p>
          <a:p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CC5023-13F6-9041-BF4B-14169DEB61F2}" type="slidenum">
              <a:rPr lang="en-DK" smtClean="0"/>
              <a:t>3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929070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Second normal form applies to relations with composite keys, that is, relations with a primary key composed of two or more attributes. A relation with a single-attribute primary key is automatically in at least 2NF</a:t>
            </a:r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CC5023-13F6-9041-BF4B-14169DEB61F2}" type="slidenum">
              <a:rPr lang="en-DK" smtClean="0"/>
              <a:t>10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5452313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CC5023-13F6-9041-BF4B-14169DEB61F2}" type="slidenum">
              <a:rPr lang="en-DK" smtClean="0"/>
              <a:t>12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2405054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CC5023-13F6-9041-BF4B-14169DEB61F2}" type="slidenum">
              <a:rPr lang="en-DK" smtClean="0"/>
              <a:t>13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2852041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Atomic values (no lists). No repeating groups. Each row represents one fact…. We identify </a:t>
            </a:r>
            <a:r>
              <a:rPr lang="en-GB" b="1" dirty="0"/>
              <a:t>entities</a:t>
            </a:r>
            <a:r>
              <a:rPr lang="en-GB" dirty="0"/>
              <a:t> (Client, Property,) and separate them into their own tables.</a:t>
            </a:r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CC5023-13F6-9041-BF4B-14169DEB61F2}" type="slidenum">
              <a:rPr lang="en-DK" smtClean="0"/>
              <a:t>15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2953128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/>
              <a:t>Efter</a:t>
            </a:r>
            <a:r>
              <a:rPr lang="en-GB" dirty="0"/>
              <a:t> </a:t>
            </a:r>
            <a:r>
              <a:rPr lang="en-GB" dirty="0" err="1"/>
              <a:t>opdelingen</a:t>
            </a:r>
            <a:r>
              <a:rPr lang="en-GB" dirty="0"/>
              <a:t> er Employee- </a:t>
            </a:r>
            <a:r>
              <a:rPr lang="en-GB" dirty="0" err="1"/>
              <a:t>og</a:t>
            </a:r>
            <a:r>
              <a:rPr lang="en-GB" dirty="0"/>
              <a:t> Project-</a:t>
            </a:r>
            <a:r>
              <a:rPr lang="en-GB" dirty="0" err="1"/>
              <a:t>tabellerne</a:t>
            </a:r>
            <a:r>
              <a:rPr lang="en-GB" dirty="0"/>
              <a:t> </a:t>
            </a:r>
            <a:r>
              <a:rPr lang="en-GB" b="1" dirty="0" err="1"/>
              <a:t>uafhængige</a:t>
            </a:r>
            <a:r>
              <a:rPr lang="en-GB" dirty="0"/>
              <a:t>.</a:t>
            </a:r>
          </a:p>
          <a:p>
            <a:r>
              <a:rPr lang="en-GB" dirty="0"/>
              <a:t>Vi mangler </a:t>
            </a:r>
            <a:r>
              <a:rPr lang="en-GB" dirty="0" err="1"/>
              <a:t>stadig</a:t>
            </a:r>
            <a:r>
              <a:rPr lang="en-GB" dirty="0"/>
              <a:t> information om </a:t>
            </a:r>
            <a:r>
              <a:rPr lang="en-GB" b="1" dirty="0" err="1"/>
              <a:t>hvilken</a:t>
            </a:r>
            <a:r>
              <a:rPr lang="en-GB" b="1" dirty="0"/>
              <a:t> </a:t>
            </a:r>
            <a:r>
              <a:rPr lang="en-GB" b="1" dirty="0" err="1"/>
              <a:t>medarbejder</a:t>
            </a:r>
            <a:r>
              <a:rPr lang="en-GB" b="1" dirty="0"/>
              <a:t> </a:t>
            </a:r>
            <a:r>
              <a:rPr lang="en-GB" b="1" dirty="0" err="1"/>
              <a:t>arbejder</a:t>
            </a:r>
            <a:r>
              <a:rPr lang="en-GB" b="1" dirty="0"/>
              <a:t> </a:t>
            </a:r>
            <a:r>
              <a:rPr lang="en-GB" b="1" dirty="0" err="1"/>
              <a:t>på</a:t>
            </a:r>
            <a:r>
              <a:rPr lang="en-GB" b="1" dirty="0"/>
              <a:t> </a:t>
            </a:r>
            <a:r>
              <a:rPr lang="en-GB" b="1" dirty="0" err="1"/>
              <a:t>hvilket</a:t>
            </a:r>
            <a:r>
              <a:rPr lang="en-GB" b="1" dirty="0"/>
              <a:t> </a:t>
            </a:r>
            <a:r>
              <a:rPr lang="en-GB" b="1" dirty="0" err="1"/>
              <a:t>projekt</a:t>
            </a:r>
            <a:r>
              <a:rPr lang="en-GB" dirty="0"/>
              <a:t>.</a:t>
            </a:r>
          </a:p>
          <a:p>
            <a:r>
              <a:rPr lang="en-GB" dirty="0"/>
              <a:t>Dette er </a:t>
            </a:r>
            <a:r>
              <a:rPr lang="en-GB" dirty="0" err="1"/>
              <a:t>en</a:t>
            </a:r>
            <a:r>
              <a:rPr lang="en-GB" dirty="0"/>
              <a:t> </a:t>
            </a:r>
            <a:r>
              <a:rPr lang="en-GB" b="1" dirty="0"/>
              <a:t>many-to-many-relation</a:t>
            </a:r>
            <a:r>
              <a:rPr lang="en-GB" dirty="0"/>
              <a:t>, </a:t>
            </a:r>
            <a:r>
              <a:rPr lang="en-GB" dirty="0" err="1"/>
              <a:t>som</a:t>
            </a:r>
            <a:r>
              <a:rPr lang="en-GB" dirty="0"/>
              <a:t> </a:t>
            </a:r>
            <a:r>
              <a:rPr lang="en-GB" dirty="0" err="1"/>
              <a:t>kun</a:t>
            </a:r>
            <a:r>
              <a:rPr lang="en-GB" dirty="0"/>
              <a:t> </a:t>
            </a:r>
            <a:r>
              <a:rPr lang="en-GB" dirty="0" err="1"/>
              <a:t>kan</a:t>
            </a:r>
            <a:r>
              <a:rPr lang="en-GB" dirty="0"/>
              <a:t> </a:t>
            </a:r>
            <a:r>
              <a:rPr lang="en-GB" dirty="0" err="1"/>
              <a:t>repræsenteres</a:t>
            </a:r>
            <a:r>
              <a:rPr lang="en-GB" dirty="0"/>
              <a:t> </a:t>
            </a:r>
            <a:r>
              <a:rPr lang="en-GB" dirty="0" err="1"/>
              <a:t>ved</a:t>
            </a:r>
            <a:r>
              <a:rPr lang="en-GB" dirty="0"/>
              <a:t> </a:t>
            </a:r>
            <a:r>
              <a:rPr lang="en-GB" dirty="0" err="1"/>
              <a:t>en</a:t>
            </a:r>
            <a:r>
              <a:rPr lang="en-GB" dirty="0"/>
              <a:t> </a:t>
            </a:r>
            <a:r>
              <a:rPr lang="en-GB" dirty="0" err="1"/>
              <a:t>separat</a:t>
            </a:r>
            <a:r>
              <a:rPr lang="en-GB" dirty="0"/>
              <a:t> </a:t>
            </a:r>
            <a:r>
              <a:rPr lang="en-GB" dirty="0" err="1"/>
              <a:t>tabel</a:t>
            </a:r>
            <a:r>
              <a:rPr lang="en-GB" dirty="0"/>
              <a:t>, </a:t>
            </a:r>
            <a:r>
              <a:rPr lang="en-GB" dirty="0" err="1"/>
              <a:t>hvor</a:t>
            </a:r>
            <a:r>
              <a:rPr lang="en-GB" dirty="0"/>
              <a:t> vi </a:t>
            </a:r>
            <a:r>
              <a:rPr lang="en-GB" dirty="0" err="1"/>
              <a:t>kun</a:t>
            </a:r>
            <a:r>
              <a:rPr lang="en-GB" dirty="0"/>
              <a:t> </a:t>
            </a:r>
            <a:r>
              <a:rPr lang="en-GB" dirty="0" err="1"/>
              <a:t>gemmer</a:t>
            </a:r>
            <a:r>
              <a:rPr lang="en-GB" dirty="0"/>
              <a:t> </a:t>
            </a:r>
            <a:r>
              <a:rPr lang="en-GB" dirty="0" err="1"/>
              <a:t>EmployeeID</a:t>
            </a:r>
            <a:r>
              <a:rPr lang="en-GB" dirty="0"/>
              <a:t> </a:t>
            </a:r>
            <a:r>
              <a:rPr lang="en-GB" dirty="0" err="1"/>
              <a:t>og</a:t>
            </a:r>
            <a:r>
              <a:rPr lang="en-GB" dirty="0"/>
              <a:t> </a:t>
            </a:r>
            <a:r>
              <a:rPr lang="en-GB" dirty="0" err="1"/>
              <a:t>ProjectID</a:t>
            </a:r>
            <a:r>
              <a:rPr lang="en-GB" dirty="0"/>
              <a:t>.</a:t>
            </a:r>
          </a:p>
          <a:p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CC5023-13F6-9041-BF4B-14169DEB61F2}" type="slidenum">
              <a:rPr lang="en-DK" smtClean="0"/>
              <a:t>17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5638039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273380" y="247649"/>
            <a:ext cx="4459605" cy="6306820"/>
          </a:xfrm>
          <a:custGeom>
            <a:avLst/>
            <a:gdLst/>
            <a:ahLst/>
            <a:cxnLst/>
            <a:rect l="l" t="t" r="r" b="b"/>
            <a:pathLst>
              <a:path w="4459605" h="6306820">
                <a:moveTo>
                  <a:pt x="4408500" y="50800"/>
                </a:moveTo>
                <a:lnTo>
                  <a:pt x="50800" y="50800"/>
                </a:lnTo>
                <a:lnTo>
                  <a:pt x="50800" y="127000"/>
                </a:lnTo>
                <a:lnTo>
                  <a:pt x="63500" y="127000"/>
                </a:lnTo>
                <a:lnTo>
                  <a:pt x="63500" y="6243358"/>
                </a:lnTo>
                <a:lnTo>
                  <a:pt x="4395800" y="6243358"/>
                </a:lnTo>
                <a:lnTo>
                  <a:pt x="4395800" y="127000"/>
                </a:lnTo>
                <a:lnTo>
                  <a:pt x="4408500" y="127000"/>
                </a:lnTo>
                <a:lnTo>
                  <a:pt x="4408500" y="50800"/>
                </a:lnTo>
                <a:close/>
              </a:path>
              <a:path w="4459605" h="6306820">
                <a:moveTo>
                  <a:pt x="4459300" y="0"/>
                </a:moveTo>
                <a:lnTo>
                  <a:pt x="0" y="0"/>
                </a:lnTo>
                <a:lnTo>
                  <a:pt x="0" y="25400"/>
                </a:lnTo>
                <a:lnTo>
                  <a:pt x="0" y="6281420"/>
                </a:lnTo>
                <a:lnTo>
                  <a:pt x="0" y="6306820"/>
                </a:lnTo>
                <a:lnTo>
                  <a:pt x="4459300" y="6306820"/>
                </a:lnTo>
                <a:lnTo>
                  <a:pt x="4459300" y="6281458"/>
                </a:lnTo>
                <a:lnTo>
                  <a:pt x="4459300" y="25704"/>
                </a:lnTo>
                <a:lnTo>
                  <a:pt x="4433900" y="25704"/>
                </a:lnTo>
                <a:lnTo>
                  <a:pt x="4433900" y="6281420"/>
                </a:lnTo>
                <a:lnTo>
                  <a:pt x="25400" y="6281420"/>
                </a:lnTo>
                <a:lnTo>
                  <a:pt x="25400" y="25400"/>
                </a:lnTo>
                <a:lnTo>
                  <a:pt x="4459300" y="25400"/>
                </a:lnTo>
                <a:lnTo>
                  <a:pt x="4459300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11/17/2025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11/17/2025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11/17/2025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5"/>
            <a:ext cx="3595635" cy="2212313"/>
          </a:xfrm>
        </p:spPr>
        <p:txBody>
          <a:bodyPr anchor="t">
            <a:normAutofit/>
          </a:bodyPr>
          <a:lstStyle>
            <a:lvl1pPr>
              <a:defRPr sz="6637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063321" y="657103"/>
            <a:ext cx="6483687" cy="1167243"/>
          </a:xfrm>
        </p:spPr>
        <p:txBody>
          <a:bodyPr anchor="t"/>
          <a:lstStyle>
            <a:lvl1pPr marL="0" indent="0">
              <a:buNone/>
              <a:defRPr sz="7585"/>
            </a:lvl1pPr>
            <a:lvl2pPr marL="1083720" indent="0">
              <a:buNone/>
              <a:defRPr sz="6637"/>
            </a:lvl2pPr>
            <a:lvl3pPr marL="2167439" indent="0">
              <a:buNone/>
              <a:defRPr sz="5689"/>
            </a:lvl3pPr>
            <a:lvl4pPr marL="3251159" indent="0">
              <a:buNone/>
              <a:defRPr sz="4741"/>
            </a:lvl4pPr>
            <a:lvl5pPr marL="4334880" indent="0">
              <a:buNone/>
              <a:defRPr sz="4741"/>
            </a:lvl5pPr>
            <a:lvl6pPr marL="5418599" indent="0">
              <a:buNone/>
              <a:defRPr sz="4741"/>
            </a:lvl6pPr>
            <a:lvl7pPr marL="6502319" indent="0">
              <a:buNone/>
              <a:defRPr sz="4741"/>
            </a:lvl7pPr>
            <a:lvl8pPr marL="7586038" indent="0">
              <a:buNone/>
              <a:defRPr sz="4741"/>
            </a:lvl8pPr>
            <a:lvl9pPr marL="8669758" indent="0">
              <a:buNone/>
              <a:defRPr sz="4741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4510105"/>
            <a:ext cx="3585587" cy="1750672"/>
          </a:xfrm>
        </p:spPr>
        <p:txBody>
          <a:bodyPr anchor="b"/>
          <a:lstStyle>
            <a:lvl1pPr marL="0" indent="0">
              <a:buNone/>
              <a:defRPr sz="3792"/>
            </a:lvl1pPr>
            <a:lvl2pPr marL="1083720" indent="0">
              <a:buNone/>
              <a:defRPr sz="3319"/>
            </a:lvl2pPr>
            <a:lvl3pPr marL="2167439" indent="0">
              <a:buNone/>
              <a:defRPr sz="2844"/>
            </a:lvl3pPr>
            <a:lvl4pPr marL="3251159" indent="0">
              <a:buNone/>
              <a:defRPr sz="2371"/>
            </a:lvl4pPr>
            <a:lvl5pPr marL="4334880" indent="0">
              <a:buNone/>
              <a:defRPr sz="2371"/>
            </a:lvl5pPr>
            <a:lvl6pPr marL="5418599" indent="0">
              <a:buNone/>
              <a:defRPr sz="2371"/>
            </a:lvl6pPr>
            <a:lvl7pPr marL="6502319" indent="0">
              <a:buNone/>
              <a:defRPr sz="2371"/>
            </a:lvl7pPr>
            <a:lvl8pPr marL="7586038" indent="0">
              <a:buNone/>
              <a:defRPr sz="2371"/>
            </a:lvl8pPr>
            <a:lvl9pPr marL="8669758" indent="0">
              <a:buNone/>
              <a:defRPr sz="237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77940"/>
            <a:ext cx="2804160" cy="276999"/>
          </a:xfrm>
        </p:spPr>
        <p:txBody>
          <a:bodyPr/>
          <a:lstStyle/>
          <a:p>
            <a:fld id="{F39F93E5-AFB6-485C-8E3C-32F92A07875F}" type="datetimeFigureOut">
              <a:rPr lang="en-US" dirty="0"/>
              <a:t>11/17/2025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45280" y="6377940"/>
            <a:ext cx="3901440" cy="553998"/>
          </a:xfrm>
        </p:spPr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78240" y="6377940"/>
            <a:ext cx="2804160" cy="276999"/>
          </a:xfrm>
        </p:spPr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8903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478024" y="576579"/>
            <a:ext cx="5535295" cy="124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033890" y="2486659"/>
            <a:ext cx="6622415" cy="15741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customXml" Target="../ink/ink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microsoft.com/en-us/ef/core/modeling/relationships/many-to-many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B5B0058-AF13-4859-B429-4EDDE2A26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98831B-D440-9705-FEF2-242BD688F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2903" y="949325"/>
            <a:ext cx="8071706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rtl="0">
              <a:lnSpc>
                <a:spcPct val="90000"/>
              </a:lnSpc>
              <a:spcBef>
                <a:spcPct val="0"/>
              </a:spcBef>
            </a:pPr>
            <a:r>
              <a:rPr lang="en-GB" sz="6600" dirty="0" err="1">
                <a:solidFill>
                  <a:schemeClr val="bg1"/>
                </a:solidFill>
              </a:rPr>
              <a:t>Normalisering</a:t>
            </a:r>
            <a:endParaRPr lang="en-US" sz="66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C4521DE-248E-440D-AAD6-FD9E7D34B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5285" y="0"/>
            <a:ext cx="0" cy="685800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42C13FA-4C0F-42D0-9626-5BA6040D8C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6252485"/>
            <a:ext cx="1219200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36926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Læringsmål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Efter</a:t>
            </a:r>
            <a:r>
              <a:rPr dirty="0"/>
              <a:t> </a:t>
            </a:r>
            <a:r>
              <a:rPr dirty="0" err="1"/>
              <a:t>denne</a:t>
            </a:r>
            <a:r>
              <a:rPr dirty="0"/>
              <a:t> </a:t>
            </a:r>
            <a:r>
              <a:rPr dirty="0" err="1"/>
              <a:t>præsentation</a:t>
            </a:r>
            <a:r>
              <a:rPr dirty="0"/>
              <a:t> </a:t>
            </a:r>
            <a:r>
              <a:rPr dirty="0" err="1"/>
              <a:t>skal</a:t>
            </a:r>
            <a:r>
              <a:rPr dirty="0"/>
              <a:t> du </a:t>
            </a:r>
            <a:r>
              <a:rPr dirty="0" err="1"/>
              <a:t>kunne</a:t>
            </a:r>
            <a:r>
              <a:rPr dirty="0"/>
              <a:t>:</a:t>
            </a:r>
          </a:p>
          <a:p>
            <a:r>
              <a:rPr dirty="0" err="1"/>
              <a:t>Forstå</a:t>
            </a:r>
            <a:r>
              <a:rPr dirty="0"/>
              <a:t> </a:t>
            </a:r>
            <a:r>
              <a:rPr dirty="0" err="1"/>
              <a:t>begrebet</a:t>
            </a:r>
            <a:r>
              <a:rPr dirty="0"/>
              <a:t> </a:t>
            </a:r>
            <a:r>
              <a:rPr dirty="0" err="1"/>
              <a:t>normalisering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databaser</a:t>
            </a:r>
            <a:endParaRPr dirty="0"/>
          </a:p>
          <a:p>
            <a:r>
              <a:rPr dirty="0" err="1"/>
              <a:t>Identificere</a:t>
            </a:r>
            <a:r>
              <a:rPr dirty="0"/>
              <a:t> </a:t>
            </a:r>
            <a:r>
              <a:rPr dirty="0" err="1"/>
              <a:t>forskellige</a:t>
            </a:r>
            <a:r>
              <a:rPr dirty="0"/>
              <a:t> </a:t>
            </a:r>
            <a:r>
              <a:rPr dirty="0" err="1"/>
              <a:t>normalformer</a:t>
            </a:r>
            <a:endParaRPr dirty="0"/>
          </a:p>
          <a:p>
            <a:r>
              <a:rPr dirty="0" err="1"/>
              <a:t>Anvende</a:t>
            </a:r>
            <a:r>
              <a:rPr dirty="0"/>
              <a:t> </a:t>
            </a:r>
            <a:r>
              <a:rPr dirty="0" err="1"/>
              <a:t>normaliseringsteknikker</a:t>
            </a:r>
            <a:r>
              <a:rPr dirty="0"/>
              <a:t> </a:t>
            </a:r>
            <a:r>
              <a:rPr dirty="0" err="1"/>
              <a:t>til</a:t>
            </a:r>
            <a:r>
              <a:rPr dirty="0"/>
              <a:t> at </a:t>
            </a:r>
            <a:r>
              <a:rPr dirty="0" err="1"/>
              <a:t>forbedre</a:t>
            </a:r>
            <a:r>
              <a:rPr dirty="0"/>
              <a:t> </a:t>
            </a:r>
            <a:r>
              <a:rPr dirty="0" err="1"/>
              <a:t>databasedesign</a:t>
            </a:r>
            <a:endParaRPr dirty="0"/>
          </a:p>
          <a:p>
            <a:r>
              <a:rPr dirty="0" err="1"/>
              <a:t>Vurdere</a:t>
            </a:r>
            <a:r>
              <a:rPr dirty="0"/>
              <a:t> </a:t>
            </a:r>
            <a:r>
              <a:rPr dirty="0" err="1"/>
              <a:t>fordele</a:t>
            </a:r>
            <a:r>
              <a:rPr dirty="0"/>
              <a:t> </a:t>
            </a:r>
            <a:r>
              <a:rPr dirty="0" err="1"/>
              <a:t>og</a:t>
            </a:r>
            <a:r>
              <a:rPr dirty="0"/>
              <a:t> </a:t>
            </a:r>
            <a:r>
              <a:rPr dirty="0" err="1"/>
              <a:t>ulemper</a:t>
            </a:r>
            <a:r>
              <a:rPr dirty="0"/>
              <a:t> </a:t>
            </a:r>
            <a:r>
              <a:rPr dirty="0" err="1"/>
              <a:t>ved</a:t>
            </a:r>
            <a:r>
              <a:rPr dirty="0"/>
              <a:t> </a:t>
            </a:r>
            <a:r>
              <a:rPr dirty="0" err="1"/>
              <a:t>normalisering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1C6BE-7865-A40C-2265-53416C87BE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553998"/>
          </a:xfrm>
        </p:spPr>
        <p:txBody>
          <a:bodyPr/>
          <a:lstStyle/>
          <a:p>
            <a:r>
              <a:rPr lang="en-DK" dirty="0"/>
              <a:t>Database design-</a:t>
            </a:r>
            <a:r>
              <a:rPr lang="en-GB" dirty="0" err="1"/>
              <a:t>Normalisering</a:t>
            </a:r>
            <a:endParaRPr lang="en-D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D4405C-E189-2C1E-FB99-DECF3294A4E1}"/>
              </a:ext>
            </a:extLst>
          </p:cNvPr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>
            <a:r>
              <a:rPr lang="en-GB" b="1" dirty="0"/>
              <a:t> </a:t>
            </a:r>
            <a:endParaRPr lang="en-GB" dirty="0"/>
          </a:p>
          <a:p>
            <a:r>
              <a:rPr lang="en-GB" dirty="0"/>
              <a:t> </a:t>
            </a:r>
          </a:p>
          <a:p>
            <a:r>
              <a:rPr lang="en-GB" b="1" dirty="0" err="1"/>
              <a:t>Tilgang</a:t>
            </a:r>
            <a:r>
              <a:rPr lang="en-GB" b="1" dirty="0"/>
              <a:t>  – </a:t>
            </a:r>
            <a:r>
              <a:rPr lang="en-GB" b="1" dirty="0" err="1"/>
              <a:t>Validering</a:t>
            </a:r>
            <a:r>
              <a:rPr lang="en-GB" b="1" dirty="0"/>
              <a:t>:</a:t>
            </a:r>
            <a:endParaRPr lang="en-GB" dirty="0"/>
          </a:p>
          <a:p>
            <a:r>
              <a:rPr lang="en-GB" dirty="0" err="1"/>
              <a:t>Normalisering</a:t>
            </a:r>
            <a:r>
              <a:rPr lang="en-GB" dirty="0"/>
              <a:t> </a:t>
            </a:r>
            <a:r>
              <a:rPr lang="en-GB" dirty="0" err="1"/>
              <a:t>anvendes</a:t>
            </a:r>
            <a:r>
              <a:rPr lang="en-GB" dirty="0"/>
              <a:t> </a:t>
            </a:r>
            <a:r>
              <a:rPr lang="en-GB" dirty="0" err="1"/>
              <a:t>som</a:t>
            </a:r>
            <a:r>
              <a:rPr lang="en-GB" dirty="0"/>
              <a:t> </a:t>
            </a:r>
            <a:r>
              <a:rPr lang="en-GB" dirty="0" err="1"/>
              <a:t>en</a:t>
            </a:r>
            <a:r>
              <a:rPr lang="en-GB" dirty="0"/>
              <a:t> </a:t>
            </a:r>
            <a:r>
              <a:rPr lang="en-GB" b="1" dirty="0" err="1"/>
              <a:t>valideringsteknik</a:t>
            </a:r>
            <a:r>
              <a:rPr lang="en-GB" dirty="0"/>
              <a:t> </a:t>
            </a:r>
            <a:r>
              <a:rPr lang="en-GB" dirty="0" err="1"/>
              <a:t>til</a:t>
            </a:r>
            <a:r>
              <a:rPr lang="en-GB" dirty="0"/>
              <a:t> at </a:t>
            </a:r>
            <a:r>
              <a:rPr lang="en-GB" dirty="0" err="1"/>
              <a:t>kontrollere</a:t>
            </a:r>
            <a:r>
              <a:rPr lang="en-GB" dirty="0"/>
              <a:t> </a:t>
            </a:r>
            <a:r>
              <a:rPr lang="en-GB" b="1" dirty="0" err="1"/>
              <a:t>struktur</a:t>
            </a:r>
            <a:r>
              <a:rPr lang="en-GB" b="1" dirty="0"/>
              <a:t> </a:t>
            </a:r>
            <a:r>
              <a:rPr lang="en-GB" b="1" dirty="0" err="1"/>
              <a:t>og</a:t>
            </a:r>
            <a:r>
              <a:rPr lang="en-GB" b="1" dirty="0"/>
              <a:t> </a:t>
            </a:r>
            <a:r>
              <a:rPr lang="en-GB" b="1" dirty="0" err="1"/>
              <a:t>relationer</a:t>
            </a:r>
            <a:r>
              <a:rPr lang="en-GB" dirty="0"/>
              <a:t> </a:t>
            </a:r>
            <a:r>
              <a:rPr lang="en-GB" dirty="0" err="1"/>
              <a:t>i</a:t>
            </a:r>
            <a:r>
              <a:rPr lang="en-GB" dirty="0"/>
              <a:t> </a:t>
            </a:r>
            <a:r>
              <a:rPr lang="en-GB" dirty="0" err="1"/>
              <a:t>databasen</a:t>
            </a:r>
            <a:r>
              <a:rPr lang="en-GB" dirty="0"/>
              <a:t>.</a:t>
            </a:r>
          </a:p>
          <a:p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35538864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table with numbers and letters&#10;&#10;AI-generated content may be incorrect.">
            <a:extLst>
              <a:ext uri="{FF2B5EF4-FFF2-40B4-BE49-F238E27FC236}">
                <a16:creationId xmlns:a16="http://schemas.microsoft.com/office/drawing/2014/main" id="{F8D3E160-6A35-F570-CA45-901388954C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2243138"/>
            <a:ext cx="8382000" cy="23717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128F2-3484-E58D-0332-617CD575E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5"/>
            <a:ext cx="5120640" cy="2212313"/>
          </a:xfrm>
        </p:spPr>
        <p:txBody>
          <a:bodyPr>
            <a:normAutofit/>
          </a:bodyPr>
          <a:lstStyle/>
          <a:p>
            <a:r>
              <a:rPr lang="en-US" sz="3600" err="1">
                <a:ea typeface="Calibri"/>
                <a:cs typeface="Calibri"/>
              </a:rPr>
              <a:t>Redundans</a:t>
            </a:r>
            <a:endParaRPr lang="en-US" sz="360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DD1FB2-FD47-5ADF-7475-03E21DE3D3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94360" y="2153283"/>
            <a:ext cx="6483687" cy="1505797"/>
          </a:xfrm>
        </p:spPr>
        <p:txBody>
          <a:bodyPr/>
          <a:lstStyle/>
          <a:p>
            <a:endParaRPr lang="en-GB" sz="2200" dirty="0"/>
          </a:p>
          <a:p>
            <a:endParaRPr lang="en-DK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2E6DFE-82E9-B11E-EE90-947F1444C5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3221483"/>
            <a:ext cx="3585587" cy="3039294"/>
          </a:xfrm>
        </p:spPr>
        <p:txBody>
          <a:bodyPr/>
          <a:lstStyle/>
          <a:p>
            <a:pPr algn="l"/>
            <a:r>
              <a:rPr lang="en-US" sz="3200" dirty="0"/>
              <a:t>•</a:t>
            </a:r>
            <a:r>
              <a:rPr lang="en-US" sz="3200" dirty="0" err="1">
                <a:latin typeface="Calibri"/>
                <a:ea typeface="Calibri"/>
                <a:cs typeface="Calibri"/>
              </a:rPr>
              <a:t>Redundans</a:t>
            </a:r>
            <a:r>
              <a:rPr lang="en-US" sz="3200" dirty="0">
                <a:latin typeface="Calibri"/>
                <a:ea typeface="Calibri"/>
                <a:cs typeface="Calibri"/>
              </a:rPr>
              <a:t> </a:t>
            </a:r>
            <a:r>
              <a:rPr lang="en-US" sz="3200" dirty="0" err="1">
                <a:latin typeface="Calibri"/>
                <a:ea typeface="Calibri"/>
                <a:cs typeface="Calibri"/>
              </a:rPr>
              <a:t>opstår</a:t>
            </a:r>
            <a:r>
              <a:rPr lang="en-US" sz="3200" dirty="0">
                <a:latin typeface="Calibri"/>
                <a:ea typeface="Calibri"/>
                <a:cs typeface="Calibri"/>
              </a:rPr>
              <a:t>, </a:t>
            </a:r>
            <a:r>
              <a:rPr lang="en-US" sz="3200" dirty="0" err="1">
                <a:latin typeface="Calibri"/>
                <a:ea typeface="Calibri"/>
                <a:cs typeface="Calibri"/>
              </a:rPr>
              <a:t>når</a:t>
            </a:r>
            <a:r>
              <a:rPr lang="en-US" sz="3200" dirty="0">
                <a:latin typeface="Calibri"/>
                <a:ea typeface="Calibri"/>
                <a:cs typeface="Calibri"/>
              </a:rPr>
              <a:t> de </a:t>
            </a:r>
            <a:r>
              <a:rPr lang="en-US" sz="3200" dirty="0" err="1">
                <a:latin typeface="Calibri"/>
                <a:ea typeface="Calibri"/>
                <a:cs typeface="Calibri"/>
              </a:rPr>
              <a:t>samme</a:t>
            </a:r>
            <a:r>
              <a:rPr lang="en-US" sz="3200" dirty="0">
                <a:latin typeface="Calibri"/>
                <a:ea typeface="Calibri"/>
                <a:cs typeface="Calibri"/>
              </a:rPr>
              <a:t> data </a:t>
            </a:r>
            <a:r>
              <a:rPr lang="en-US" sz="3200" dirty="0" err="1">
                <a:latin typeface="Calibri"/>
                <a:ea typeface="Calibri"/>
                <a:cs typeface="Calibri"/>
              </a:rPr>
              <a:t>forekommer</a:t>
            </a:r>
            <a:r>
              <a:rPr lang="en-US" sz="3200" dirty="0">
                <a:latin typeface="Calibri"/>
                <a:ea typeface="Calibri"/>
                <a:cs typeface="Calibri"/>
              </a:rPr>
              <a:t> </a:t>
            </a:r>
            <a:r>
              <a:rPr lang="en-US" sz="3200" dirty="0" err="1">
                <a:latin typeface="Calibri"/>
                <a:ea typeface="Calibri"/>
                <a:cs typeface="Calibri"/>
              </a:rPr>
              <a:t>flere</a:t>
            </a:r>
            <a:r>
              <a:rPr lang="en-US" sz="3200" dirty="0">
                <a:latin typeface="Calibri"/>
                <a:ea typeface="Calibri"/>
                <a:cs typeface="Calibri"/>
              </a:rPr>
              <a:t> </a:t>
            </a:r>
            <a:r>
              <a:rPr lang="en-US" sz="3200" dirty="0" err="1">
                <a:latin typeface="Calibri"/>
                <a:ea typeface="Calibri"/>
                <a:cs typeface="Calibri"/>
              </a:rPr>
              <a:t>steder</a:t>
            </a:r>
            <a:r>
              <a:rPr lang="en-US" sz="3200" dirty="0">
                <a:latin typeface="Calibri"/>
                <a:ea typeface="Calibri"/>
                <a:cs typeface="Calibri"/>
              </a:rPr>
              <a:t> </a:t>
            </a:r>
            <a:r>
              <a:rPr lang="en-US" sz="3200" dirty="0" err="1">
                <a:latin typeface="Calibri"/>
                <a:ea typeface="Calibri"/>
                <a:cs typeface="Calibri"/>
              </a:rPr>
              <a:t>i</a:t>
            </a:r>
            <a:r>
              <a:rPr lang="en-US" sz="3200" dirty="0">
                <a:latin typeface="Calibri"/>
                <a:ea typeface="Calibri"/>
                <a:cs typeface="Calibri"/>
              </a:rPr>
              <a:t> </a:t>
            </a:r>
            <a:r>
              <a:rPr lang="en-US" sz="3200" dirty="0" err="1">
                <a:latin typeface="Calibri"/>
                <a:ea typeface="Calibri"/>
                <a:cs typeface="Calibri"/>
              </a:rPr>
              <a:t>en</a:t>
            </a:r>
            <a:r>
              <a:rPr lang="en-US" sz="3200" dirty="0">
                <a:latin typeface="Calibri"/>
                <a:ea typeface="Calibri"/>
                <a:cs typeface="Calibri"/>
              </a:rPr>
              <a:t> database </a:t>
            </a:r>
            <a:r>
              <a:rPr lang="en-US" sz="3200" dirty="0" err="1">
                <a:latin typeface="Calibri"/>
                <a:ea typeface="Calibri"/>
                <a:cs typeface="Calibri"/>
              </a:rPr>
              <a:t>uden</a:t>
            </a:r>
            <a:r>
              <a:rPr lang="en-US" sz="3200" dirty="0">
                <a:latin typeface="Calibri"/>
                <a:ea typeface="Calibri"/>
                <a:cs typeface="Calibri"/>
              </a:rPr>
              <a:t> </a:t>
            </a:r>
            <a:r>
              <a:rPr lang="en-US" sz="3200" dirty="0" err="1">
                <a:latin typeface="Calibri"/>
                <a:ea typeface="Calibri"/>
                <a:cs typeface="Calibri"/>
              </a:rPr>
              <a:t>nødvendighed</a:t>
            </a:r>
            <a:r>
              <a:rPr lang="en-US" sz="3200" dirty="0">
                <a:latin typeface="Calibri"/>
                <a:ea typeface="Calibri"/>
                <a:cs typeface="Calibri"/>
              </a:rPr>
              <a:t>.</a:t>
            </a:r>
            <a:endParaRPr lang="en-US" dirty="0"/>
          </a:p>
          <a:p>
            <a:endParaRPr lang="en-DK" sz="3750" dirty="0"/>
          </a:p>
        </p:txBody>
      </p:sp>
    </p:spTree>
    <p:extLst>
      <p:ext uri="{BB962C8B-B14F-4D97-AF65-F5344CB8AC3E}">
        <p14:creationId xmlns:p14="http://schemas.microsoft.com/office/powerpoint/2010/main" val="30691634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22468" y="10"/>
              <a:ext cx="8669531" cy="685798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9756648" cy="6857999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61898" y="1780539"/>
            <a:ext cx="314769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20" dirty="0">
                <a:solidFill>
                  <a:srgbClr val="FFFFFF"/>
                </a:solidFill>
              </a:rPr>
              <a:t>Normaliseringsformer</a:t>
            </a:r>
            <a:endParaRPr sz="2800"/>
          </a:p>
        </p:txBody>
      </p:sp>
      <p:grpSp>
        <p:nvGrpSpPr>
          <p:cNvPr id="6" name="object 6"/>
          <p:cNvGrpSpPr/>
          <p:nvPr/>
        </p:nvGrpSpPr>
        <p:grpSpPr>
          <a:xfrm>
            <a:off x="424815" y="843533"/>
            <a:ext cx="3304540" cy="1618615"/>
            <a:chOff x="424815" y="843533"/>
            <a:chExt cx="3304540" cy="1618615"/>
          </a:xfrm>
        </p:grpSpPr>
        <p:sp>
          <p:nvSpPr>
            <p:cNvPr id="7" name="object 7"/>
            <p:cNvSpPr/>
            <p:nvPr/>
          </p:nvSpPr>
          <p:spPr>
            <a:xfrm>
              <a:off x="424815" y="843533"/>
              <a:ext cx="548640" cy="73660"/>
            </a:xfrm>
            <a:custGeom>
              <a:avLst/>
              <a:gdLst/>
              <a:ahLst/>
              <a:cxnLst/>
              <a:rect l="l" t="t" r="r" b="b"/>
              <a:pathLst>
                <a:path w="548640" h="73659">
                  <a:moveTo>
                    <a:pt x="548640" y="0"/>
                  </a:moveTo>
                  <a:lnTo>
                    <a:pt x="0" y="0"/>
                  </a:lnTo>
                  <a:lnTo>
                    <a:pt x="0" y="73151"/>
                  </a:lnTo>
                  <a:lnTo>
                    <a:pt x="548640" y="73151"/>
                  </a:lnTo>
                  <a:lnTo>
                    <a:pt x="548640" y="0"/>
                  </a:lnTo>
                  <a:close/>
                </a:path>
              </a:pathLst>
            </a:custGeom>
            <a:solidFill>
              <a:srgbClr val="ED7D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28244" y="2443480"/>
              <a:ext cx="3301365" cy="18415"/>
            </a:xfrm>
            <a:custGeom>
              <a:avLst/>
              <a:gdLst/>
              <a:ahLst/>
              <a:cxnLst/>
              <a:rect l="l" t="t" r="r" b="b"/>
              <a:pathLst>
                <a:path w="3301365" h="18414">
                  <a:moveTo>
                    <a:pt x="3300983" y="0"/>
                  </a:moveTo>
                  <a:lnTo>
                    <a:pt x="0" y="0"/>
                  </a:lnTo>
                  <a:lnTo>
                    <a:pt x="0" y="18287"/>
                  </a:lnTo>
                  <a:lnTo>
                    <a:pt x="3300983" y="18287"/>
                  </a:lnTo>
                  <a:lnTo>
                    <a:pt x="33009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977519" y="3077972"/>
            <a:ext cx="2591435" cy="1882139"/>
          </a:xfrm>
          <a:prstGeom prst="rect">
            <a:avLst/>
          </a:prstGeom>
        </p:spPr>
        <p:txBody>
          <a:bodyPr vert="horz" wrap="square" lIns="0" tIns="104140" rIns="0" bIns="0" rtlCol="0">
            <a:spAutoFit/>
          </a:bodyPr>
          <a:lstStyle/>
          <a:p>
            <a:pPr marL="314325" indent="-301625">
              <a:lnSpc>
                <a:spcPct val="100000"/>
              </a:lnSpc>
              <a:spcBef>
                <a:spcPts val="820"/>
              </a:spcBef>
              <a:buAutoNum type="arabicPeriod"/>
              <a:tabLst>
                <a:tab pos="314325" algn="l"/>
              </a:tabLst>
            </a:pPr>
            <a:r>
              <a:rPr sz="2400" b="1" spc="-150" dirty="0">
                <a:solidFill>
                  <a:srgbClr val="FFFFFF"/>
                </a:solidFill>
                <a:latin typeface="Arial"/>
                <a:cs typeface="Arial"/>
              </a:rPr>
              <a:t>normalform</a:t>
            </a:r>
            <a:r>
              <a:rPr sz="24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140" dirty="0">
                <a:solidFill>
                  <a:srgbClr val="FFFFFF"/>
                </a:solidFill>
                <a:latin typeface="Arial"/>
                <a:cs typeface="Arial"/>
              </a:rPr>
              <a:t>(1NF)</a:t>
            </a:r>
            <a:endParaRPr sz="2400">
              <a:latin typeface="Arial"/>
              <a:cs typeface="Arial"/>
            </a:endParaRPr>
          </a:p>
          <a:p>
            <a:pPr marL="314325" indent="-301625">
              <a:lnSpc>
                <a:spcPct val="100000"/>
              </a:lnSpc>
              <a:spcBef>
                <a:spcPts val="720"/>
              </a:spcBef>
              <a:buAutoNum type="arabicPeriod"/>
              <a:tabLst>
                <a:tab pos="314325" algn="l"/>
              </a:tabLst>
            </a:pPr>
            <a:r>
              <a:rPr sz="2400" b="1" spc="-150" dirty="0">
                <a:solidFill>
                  <a:srgbClr val="FFFFFF"/>
                </a:solidFill>
                <a:latin typeface="Arial"/>
                <a:cs typeface="Arial"/>
              </a:rPr>
              <a:t>normalform</a:t>
            </a:r>
            <a:r>
              <a:rPr sz="24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140" dirty="0">
                <a:solidFill>
                  <a:srgbClr val="FFFFFF"/>
                </a:solidFill>
                <a:latin typeface="Arial"/>
                <a:cs typeface="Arial"/>
              </a:rPr>
              <a:t>(2NF)</a:t>
            </a:r>
            <a:endParaRPr sz="2400">
              <a:latin typeface="Arial"/>
              <a:cs typeface="Arial"/>
            </a:endParaRPr>
          </a:p>
          <a:p>
            <a:pPr marL="12700" marR="5080" indent="301625">
              <a:lnSpc>
                <a:spcPts val="3720"/>
              </a:lnSpc>
              <a:spcBef>
                <a:spcPts val="75"/>
              </a:spcBef>
              <a:buAutoNum type="arabicPeriod"/>
              <a:tabLst>
                <a:tab pos="314325" algn="l"/>
              </a:tabLst>
            </a:pPr>
            <a:r>
              <a:rPr sz="2400" b="1" spc="-150" dirty="0">
                <a:solidFill>
                  <a:srgbClr val="FFFFFF"/>
                </a:solidFill>
                <a:latin typeface="Arial"/>
                <a:cs typeface="Arial"/>
              </a:rPr>
              <a:t>normalform</a:t>
            </a:r>
            <a:r>
              <a:rPr sz="24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160" dirty="0">
                <a:solidFill>
                  <a:srgbClr val="FFFFFF"/>
                </a:solidFill>
                <a:latin typeface="Arial"/>
                <a:cs typeface="Arial"/>
              </a:rPr>
              <a:t>(3NF) </a:t>
            </a:r>
            <a:r>
              <a:rPr sz="2400" spc="-25" dirty="0">
                <a:solidFill>
                  <a:srgbClr val="FFFFFF"/>
                </a:solidFill>
                <a:latin typeface="Arial"/>
                <a:cs typeface="Arial"/>
              </a:rPr>
              <a:t>De/normalisering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22468" y="10"/>
              <a:ext cx="8669531" cy="685798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9756648" cy="6857999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62533" y="1396491"/>
            <a:ext cx="2418080" cy="833119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2700" marR="5080">
              <a:lnSpc>
                <a:spcPts val="3000"/>
              </a:lnSpc>
              <a:spcBef>
                <a:spcPts val="500"/>
              </a:spcBef>
            </a:pPr>
            <a:r>
              <a:rPr sz="2800" spc="-130" dirty="0">
                <a:solidFill>
                  <a:srgbClr val="FFFFFF"/>
                </a:solidFill>
              </a:rPr>
              <a:t>1st</a:t>
            </a:r>
            <a:r>
              <a:rPr sz="2800" spc="-120" dirty="0">
                <a:solidFill>
                  <a:srgbClr val="FFFFFF"/>
                </a:solidFill>
              </a:rPr>
              <a:t> </a:t>
            </a:r>
            <a:r>
              <a:rPr sz="2800" spc="-140" dirty="0">
                <a:solidFill>
                  <a:srgbClr val="FFFFFF"/>
                </a:solidFill>
              </a:rPr>
              <a:t>Normal</a:t>
            </a:r>
            <a:r>
              <a:rPr sz="2800" spc="-120" dirty="0">
                <a:solidFill>
                  <a:srgbClr val="FFFFFF"/>
                </a:solidFill>
              </a:rPr>
              <a:t> </a:t>
            </a:r>
            <a:r>
              <a:rPr sz="2800" spc="-165" dirty="0">
                <a:solidFill>
                  <a:srgbClr val="FFFFFF"/>
                </a:solidFill>
              </a:rPr>
              <a:t>Form </a:t>
            </a:r>
            <a:r>
              <a:rPr sz="2800" spc="-25" dirty="0">
                <a:solidFill>
                  <a:srgbClr val="FFFFFF"/>
                </a:solidFill>
              </a:rPr>
              <a:t>(1NF)</a:t>
            </a:r>
            <a:endParaRPr sz="2800"/>
          </a:p>
        </p:txBody>
      </p:sp>
      <p:grpSp>
        <p:nvGrpSpPr>
          <p:cNvPr id="6" name="object 6"/>
          <p:cNvGrpSpPr/>
          <p:nvPr/>
        </p:nvGrpSpPr>
        <p:grpSpPr>
          <a:xfrm>
            <a:off x="424815" y="843533"/>
            <a:ext cx="3304540" cy="1618615"/>
            <a:chOff x="424815" y="843533"/>
            <a:chExt cx="3304540" cy="1618615"/>
          </a:xfrm>
        </p:grpSpPr>
        <p:sp>
          <p:nvSpPr>
            <p:cNvPr id="7" name="object 7"/>
            <p:cNvSpPr/>
            <p:nvPr/>
          </p:nvSpPr>
          <p:spPr>
            <a:xfrm>
              <a:off x="424815" y="843533"/>
              <a:ext cx="548640" cy="73660"/>
            </a:xfrm>
            <a:custGeom>
              <a:avLst/>
              <a:gdLst/>
              <a:ahLst/>
              <a:cxnLst/>
              <a:rect l="l" t="t" r="r" b="b"/>
              <a:pathLst>
                <a:path w="548640" h="73659">
                  <a:moveTo>
                    <a:pt x="548640" y="0"/>
                  </a:moveTo>
                  <a:lnTo>
                    <a:pt x="0" y="0"/>
                  </a:lnTo>
                  <a:lnTo>
                    <a:pt x="0" y="73151"/>
                  </a:lnTo>
                  <a:lnTo>
                    <a:pt x="548640" y="73151"/>
                  </a:lnTo>
                  <a:lnTo>
                    <a:pt x="548640" y="0"/>
                  </a:lnTo>
                  <a:close/>
                </a:path>
              </a:pathLst>
            </a:custGeom>
            <a:solidFill>
              <a:srgbClr val="ED7D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28244" y="2443480"/>
              <a:ext cx="3301365" cy="18415"/>
            </a:xfrm>
            <a:custGeom>
              <a:avLst/>
              <a:gdLst/>
              <a:ahLst/>
              <a:cxnLst/>
              <a:rect l="l" t="t" r="r" b="b"/>
              <a:pathLst>
                <a:path w="3301365" h="18414">
                  <a:moveTo>
                    <a:pt x="3300983" y="0"/>
                  </a:moveTo>
                  <a:lnTo>
                    <a:pt x="0" y="0"/>
                  </a:lnTo>
                  <a:lnTo>
                    <a:pt x="0" y="18287"/>
                  </a:lnTo>
                  <a:lnTo>
                    <a:pt x="3300983" y="18287"/>
                  </a:lnTo>
                  <a:lnTo>
                    <a:pt x="33009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64133" y="2660396"/>
            <a:ext cx="2805430" cy="223520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2400" spc="-204" dirty="0">
                <a:solidFill>
                  <a:srgbClr val="FFFFFF"/>
                </a:solidFill>
                <a:latin typeface="Arial"/>
                <a:cs typeface="Arial"/>
              </a:rPr>
              <a:t>Krav</a:t>
            </a:r>
            <a:r>
              <a:rPr sz="24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til</a:t>
            </a:r>
            <a:r>
              <a:rPr sz="24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95" dirty="0">
                <a:solidFill>
                  <a:srgbClr val="FFFFFF"/>
                </a:solidFill>
                <a:latin typeface="Arial"/>
                <a:cs typeface="Arial"/>
              </a:rPr>
              <a:t>1.</a:t>
            </a:r>
            <a:r>
              <a:rPr sz="24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35" dirty="0">
                <a:solidFill>
                  <a:srgbClr val="FFFFFF"/>
                </a:solidFill>
                <a:latin typeface="Arial"/>
                <a:cs typeface="Arial"/>
              </a:rPr>
              <a:t>normalform:</a:t>
            </a:r>
            <a:endParaRPr sz="2400">
              <a:latin typeface="Arial"/>
              <a:cs typeface="Arial"/>
            </a:endParaRPr>
          </a:p>
          <a:p>
            <a:pPr marL="240029" marR="5080" indent="-227329">
              <a:lnSpc>
                <a:spcPts val="2620"/>
              </a:lnSpc>
              <a:spcBef>
                <a:spcPts val="615"/>
              </a:spcBef>
              <a:buChar char="•"/>
              <a:tabLst>
                <a:tab pos="241300" algn="l"/>
              </a:tabLst>
            </a:pPr>
            <a:r>
              <a:rPr sz="2400" spc="-145" dirty="0">
                <a:solidFill>
                  <a:srgbClr val="FFFFFF"/>
                </a:solidFill>
                <a:latin typeface="Arial"/>
                <a:cs typeface="Arial"/>
              </a:rPr>
              <a:t>Tabellen</a:t>
            </a:r>
            <a:r>
              <a:rPr sz="2400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165" dirty="0">
                <a:solidFill>
                  <a:srgbClr val="FFFFFF"/>
                </a:solidFill>
                <a:latin typeface="Arial"/>
                <a:cs typeface="Arial"/>
              </a:rPr>
              <a:t>skal</a:t>
            </a:r>
            <a:r>
              <a:rPr sz="24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160" dirty="0">
                <a:solidFill>
                  <a:srgbClr val="FFFFFF"/>
                </a:solidFill>
                <a:latin typeface="Arial"/>
                <a:cs typeface="Arial"/>
              </a:rPr>
              <a:t>have</a:t>
            </a:r>
            <a:r>
              <a:rPr sz="24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Arial"/>
                <a:cs typeface="Arial"/>
              </a:rPr>
              <a:t>et 	</a:t>
            </a:r>
            <a:r>
              <a:rPr sz="2400" spc="-10" dirty="0">
                <a:solidFill>
                  <a:srgbClr val="FFFFFF"/>
                </a:solidFill>
                <a:latin typeface="Arial"/>
                <a:cs typeface="Arial"/>
              </a:rPr>
              <a:t>nøglefelt.</a:t>
            </a:r>
            <a:endParaRPr sz="2400">
              <a:latin typeface="Arial"/>
              <a:cs typeface="Arial"/>
            </a:endParaRPr>
          </a:p>
          <a:p>
            <a:pPr marL="240029" marR="23495" indent="-227329">
              <a:lnSpc>
                <a:spcPct val="90400"/>
              </a:lnSpc>
              <a:spcBef>
                <a:spcPts val="540"/>
              </a:spcBef>
              <a:buChar char="•"/>
              <a:tabLst>
                <a:tab pos="241300" algn="l"/>
              </a:tabLst>
            </a:pPr>
            <a:r>
              <a:rPr sz="2400" spc="-100" dirty="0">
                <a:solidFill>
                  <a:srgbClr val="FFFFFF"/>
                </a:solidFill>
                <a:latin typeface="Arial"/>
                <a:cs typeface="Arial"/>
              </a:rPr>
              <a:t>Alle </a:t>
            </a:r>
            <a:r>
              <a:rPr sz="2400" spc="-90" dirty="0">
                <a:solidFill>
                  <a:srgbClr val="FFFFFF"/>
                </a:solidFill>
                <a:latin typeface="Arial"/>
                <a:cs typeface="Arial"/>
              </a:rPr>
              <a:t>tabellens</a:t>
            </a:r>
            <a:r>
              <a:rPr sz="2400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"/>
                <a:cs typeface="Arial"/>
              </a:rPr>
              <a:t>felter 	</a:t>
            </a:r>
            <a:r>
              <a:rPr sz="2400" spc="-70" dirty="0">
                <a:solidFill>
                  <a:srgbClr val="FFFFFF"/>
                </a:solidFill>
                <a:latin typeface="Arial"/>
                <a:cs typeface="Arial"/>
              </a:rPr>
              <a:t>indeholder</a:t>
            </a:r>
            <a:r>
              <a:rPr sz="24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70" dirty="0">
                <a:solidFill>
                  <a:srgbClr val="FFFFFF"/>
                </a:solidFill>
                <a:latin typeface="Arial"/>
                <a:cs typeface="Arial"/>
              </a:rPr>
              <a:t>netop</a:t>
            </a:r>
            <a:r>
              <a:rPr sz="2400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65" dirty="0">
                <a:solidFill>
                  <a:srgbClr val="FFFFFF"/>
                </a:solidFill>
                <a:latin typeface="Arial"/>
                <a:cs typeface="Arial"/>
              </a:rPr>
              <a:t>én 	</a:t>
            </a:r>
            <a:r>
              <a:rPr sz="2400" spc="-10" dirty="0">
                <a:solidFill>
                  <a:srgbClr val="FFFFFF"/>
                </a:solidFill>
                <a:latin typeface="Arial"/>
                <a:cs typeface="Arial"/>
              </a:rPr>
              <a:t>værdi.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9A618B2-014C-259B-AB43-A2DDCA87B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810" y="2960716"/>
            <a:ext cx="4036334" cy="23876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rtl="0">
              <a:lnSpc>
                <a:spcPct val="90000"/>
              </a:lnSpc>
              <a:spcBef>
                <a:spcPct val="0"/>
              </a:spcBef>
            </a:pPr>
            <a:r>
              <a:rPr lang="en-US" sz="50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Unnormalized Table (UNF)</a:t>
            </a:r>
            <a:endParaRPr lang="en-US" sz="50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 algn="l" rtl="0">
              <a:lnSpc>
                <a:spcPct val="90000"/>
              </a:lnSpc>
              <a:spcBef>
                <a:spcPct val="0"/>
              </a:spcBef>
            </a:pPr>
            <a:endParaRPr lang="en-US" sz="50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449718A-64B2-7469-7E88-612E8621B5CF}"/>
              </a:ext>
            </a:extLst>
          </p:cNvPr>
          <p:cNvGraphicFramePr>
            <a:graphicFrameLocks noGrp="1"/>
          </p:cNvGraphicFramePr>
          <p:nvPr/>
        </p:nvGraphicFramePr>
        <p:xfrm>
          <a:off x="5922492" y="2581894"/>
          <a:ext cx="5536004" cy="16354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9066">
                  <a:extLst>
                    <a:ext uri="{9D8B030D-6E8A-4147-A177-3AD203B41FA5}">
                      <a16:colId xmlns:a16="http://schemas.microsoft.com/office/drawing/2014/main" val="221976934"/>
                    </a:ext>
                  </a:extLst>
                </a:gridCol>
                <a:gridCol w="1162992">
                  <a:extLst>
                    <a:ext uri="{9D8B030D-6E8A-4147-A177-3AD203B41FA5}">
                      <a16:colId xmlns:a16="http://schemas.microsoft.com/office/drawing/2014/main" val="2073170867"/>
                    </a:ext>
                  </a:extLst>
                </a:gridCol>
                <a:gridCol w="1297973">
                  <a:extLst>
                    <a:ext uri="{9D8B030D-6E8A-4147-A177-3AD203B41FA5}">
                      <a16:colId xmlns:a16="http://schemas.microsoft.com/office/drawing/2014/main" val="1439205449"/>
                    </a:ext>
                  </a:extLst>
                </a:gridCol>
                <a:gridCol w="912829">
                  <a:extLst>
                    <a:ext uri="{9D8B030D-6E8A-4147-A177-3AD203B41FA5}">
                      <a16:colId xmlns:a16="http://schemas.microsoft.com/office/drawing/2014/main" val="2600835905"/>
                    </a:ext>
                  </a:extLst>
                </a:gridCol>
                <a:gridCol w="1006415">
                  <a:extLst>
                    <a:ext uri="{9D8B030D-6E8A-4147-A177-3AD203B41FA5}">
                      <a16:colId xmlns:a16="http://schemas.microsoft.com/office/drawing/2014/main" val="3000603069"/>
                    </a:ext>
                  </a:extLst>
                </a:gridCol>
                <a:gridCol w="496729">
                  <a:extLst>
                    <a:ext uri="{9D8B030D-6E8A-4147-A177-3AD203B41FA5}">
                      <a16:colId xmlns:a16="http://schemas.microsoft.com/office/drawing/2014/main" val="3497340836"/>
                    </a:ext>
                  </a:extLst>
                </a:gridCol>
              </a:tblGrid>
              <a:tr h="24231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OrderID</a:t>
                      </a:r>
                    </a:p>
                  </a:txBody>
                  <a:tcPr marL="10798" marR="10798" marT="10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CustomerName</a:t>
                      </a:r>
                    </a:p>
                  </a:txBody>
                  <a:tcPr marL="10798" marR="10798" marT="10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CustomerAddress</a:t>
                      </a:r>
                    </a:p>
                  </a:txBody>
                  <a:tcPr marL="10798" marR="10798" marT="10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ProductList</a:t>
                      </a:r>
                    </a:p>
                  </a:txBody>
                  <a:tcPr marL="10798" marR="10798" marT="10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TotalAmount</a:t>
                      </a:r>
                    </a:p>
                  </a:txBody>
                  <a:tcPr marL="10798" marR="10798" marT="10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798" marR="10798" marT="1079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2104009"/>
                  </a:ext>
                </a:extLst>
              </a:tr>
              <a:tr h="432370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10798" marR="10798" marT="1079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Alice</a:t>
                      </a:r>
                    </a:p>
                  </a:txBody>
                  <a:tcPr marL="10798" marR="10798" marT="1079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123 Elm Street</a:t>
                      </a:r>
                    </a:p>
                  </a:txBody>
                  <a:tcPr marL="10798" marR="10798" marT="1079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Laptop:1, Mouse:2</a:t>
                      </a:r>
                    </a:p>
                  </a:txBody>
                  <a:tcPr marL="10798" marR="10798" marT="1079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1500</a:t>
                      </a:r>
                    </a:p>
                  </a:txBody>
                  <a:tcPr marL="10798" marR="10798" marT="1079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798" marR="10798" marT="107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9077164"/>
                  </a:ext>
                </a:extLst>
              </a:tr>
              <a:tr h="432370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10798" marR="10798" marT="107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Bob</a:t>
                      </a:r>
                    </a:p>
                  </a:txBody>
                  <a:tcPr marL="10798" marR="10798" marT="107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456 Oak Avenue</a:t>
                      </a:r>
                    </a:p>
                  </a:txBody>
                  <a:tcPr marL="10798" marR="10798" marT="107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Keyboard:1, Monitor:1</a:t>
                      </a:r>
                    </a:p>
                  </a:txBody>
                  <a:tcPr marL="10798" marR="10798" marT="107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300</a:t>
                      </a:r>
                    </a:p>
                  </a:txBody>
                  <a:tcPr marL="10798" marR="10798" marT="107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798" marR="10798" marT="107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7438734"/>
                  </a:ext>
                </a:extLst>
              </a:tr>
              <a:tr h="264202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798" marR="10798" marT="107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798" marR="10798" marT="107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798" marR="10798" marT="107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798" marR="10798" marT="107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798" marR="10798" marT="107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798" marR="10798" marT="107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2887347"/>
                  </a:ext>
                </a:extLst>
              </a:tr>
              <a:tr h="264202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798" marR="10798" marT="107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798" marR="10798" marT="107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798" marR="10798" marT="107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798" marR="10798" marT="107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798" marR="10798" marT="107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798" marR="10798" marT="107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130739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" y="0"/>
            <a:ext cx="6083935" cy="6858000"/>
          </a:xfrm>
          <a:custGeom>
            <a:avLst/>
            <a:gdLst/>
            <a:ahLst/>
            <a:cxnLst/>
            <a:rect l="l" t="t" r="r" b="b"/>
            <a:pathLst>
              <a:path w="6083935" h="6858000">
                <a:moveTo>
                  <a:pt x="6083446" y="0"/>
                </a:moveTo>
                <a:lnTo>
                  <a:pt x="0" y="0"/>
                </a:lnTo>
                <a:lnTo>
                  <a:pt x="0" y="6858000"/>
                </a:lnTo>
                <a:lnTo>
                  <a:pt x="6083446" y="6858000"/>
                </a:lnTo>
                <a:lnTo>
                  <a:pt x="6083446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41237" y="1438147"/>
            <a:ext cx="4072890" cy="1041311"/>
          </a:xfrm>
          <a:prstGeom prst="rect">
            <a:avLst/>
          </a:prstGeom>
        </p:spPr>
        <p:txBody>
          <a:bodyPr vert="horz" wrap="square" lIns="0" tIns="129540" rIns="0" bIns="0" rtlCol="0" anchor="t">
            <a:spAutoFit/>
          </a:bodyPr>
          <a:lstStyle/>
          <a:p>
            <a:pPr marL="12700" marR="5080">
              <a:lnSpc>
                <a:spcPts val="7100"/>
              </a:lnSpc>
              <a:spcBef>
                <a:spcPts val="1020"/>
              </a:spcBef>
            </a:pPr>
            <a:r>
              <a:rPr lang="en-US" sz="6600" spc="-570" dirty="0">
                <a:solidFill>
                  <a:srgbClr val="D0CECE"/>
                </a:solidFill>
              </a:rPr>
              <a:t> </a:t>
            </a:r>
            <a:r>
              <a:rPr sz="6600" spc="-355" dirty="0">
                <a:solidFill>
                  <a:srgbClr val="D0CECE"/>
                </a:solidFill>
              </a:rPr>
              <a:t> </a:t>
            </a:r>
            <a:r>
              <a:rPr sz="6600" spc="-200" dirty="0">
                <a:solidFill>
                  <a:srgbClr val="D0CECE"/>
                </a:solidFill>
              </a:rPr>
              <a:t>tabel </a:t>
            </a:r>
            <a:r>
              <a:rPr sz="6600" dirty="0">
                <a:solidFill>
                  <a:srgbClr val="D0CECE"/>
                </a:solidFill>
              </a:rPr>
              <a:t>i</a:t>
            </a:r>
            <a:r>
              <a:rPr sz="6600" spc="-370" dirty="0">
                <a:solidFill>
                  <a:srgbClr val="D0CECE"/>
                </a:solidFill>
              </a:rPr>
              <a:t> </a:t>
            </a:r>
            <a:r>
              <a:rPr sz="6600" spc="-670" dirty="0">
                <a:solidFill>
                  <a:srgbClr val="D0CECE"/>
                </a:solidFill>
              </a:rPr>
              <a:t>1NF</a:t>
            </a:r>
            <a:r>
              <a:rPr sz="6600" spc="-430" dirty="0">
                <a:solidFill>
                  <a:srgbClr val="D0CECE"/>
                </a:solidFill>
              </a:rPr>
              <a:t> </a:t>
            </a:r>
            <a:r>
              <a:rPr lang="en-US" sz="6600" spc="-675">
                <a:solidFill>
                  <a:srgbClr val="D0CECE"/>
                </a:solidFill>
              </a:rPr>
              <a:t> </a:t>
            </a:r>
            <a:endParaRPr sz="6600"/>
          </a:p>
        </p:txBody>
      </p:sp>
      <p:pic>
        <p:nvPicPr>
          <p:cNvPr id="10" name="Picture 9" descr="A screenshot of a computer&#10;&#10;Description automatically generated">
            <a:extLst>
              <a:ext uri="{FF2B5EF4-FFF2-40B4-BE49-F238E27FC236}">
                <a16:creationId xmlns:a16="http://schemas.microsoft.com/office/drawing/2014/main" id="{A599B40F-5E3D-20DE-0BB0-98064817E91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729" t="31323" r="21271" b="40172"/>
          <a:stretch/>
        </p:blipFill>
        <p:spPr>
          <a:xfrm>
            <a:off x="6560713" y="2393324"/>
            <a:ext cx="4389132" cy="195483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58064" y="256539"/>
            <a:ext cx="11676380" cy="6344920"/>
          </a:xfrm>
          <a:custGeom>
            <a:avLst/>
            <a:gdLst/>
            <a:ahLst/>
            <a:cxnLst/>
            <a:rect l="l" t="t" r="r" b="b"/>
            <a:pathLst>
              <a:path w="11676380" h="6344920">
                <a:moveTo>
                  <a:pt x="11625072" y="50800"/>
                </a:moveTo>
                <a:lnTo>
                  <a:pt x="50800" y="50800"/>
                </a:lnTo>
                <a:lnTo>
                  <a:pt x="50800" y="127000"/>
                </a:lnTo>
                <a:lnTo>
                  <a:pt x="63500" y="127000"/>
                </a:lnTo>
                <a:lnTo>
                  <a:pt x="63500" y="6217920"/>
                </a:lnTo>
                <a:lnTo>
                  <a:pt x="50800" y="6217920"/>
                </a:lnTo>
                <a:lnTo>
                  <a:pt x="50800" y="6294120"/>
                </a:lnTo>
                <a:lnTo>
                  <a:pt x="11625072" y="6294120"/>
                </a:lnTo>
                <a:lnTo>
                  <a:pt x="11625072" y="6217920"/>
                </a:lnTo>
                <a:lnTo>
                  <a:pt x="11612372" y="6217920"/>
                </a:lnTo>
                <a:lnTo>
                  <a:pt x="11612372" y="127000"/>
                </a:lnTo>
                <a:lnTo>
                  <a:pt x="11625072" y="127000"/>
                </a:lnTo>
                <a:lnTo>
                  <a:pt x="11625072" y="50800"/>
                </a:lnTo>
                <a:close/>
              </a:path>
              <a:path w="11676380" h="6344920">
                <a:moveTo>
                  <a:pt x="11675872" y="0"/>
                </a:moveTo>
                <a:lnTo>
                  <a:pt x="0" y="0"/>
                </a:lnTo>
                <a:lnTo>
                  <a:pt x="0" y="25400"/>
                </a:lnTo>
                <a:lnTo>
                  <a:pt x="0" y="6319520"/>
                </a:lnTo>
                <a:lnTo>
                  <a:pt x="0" y="6344920"/>
                </a:lnTo>
                <a:lnTo>
                  <a:pt x="11675872" y="6344920"/>
                </a:lnTo>
                <a:lnTo>
                  <a:pt x="11675872" y="6319520"/>
                </a:lnTo>
                <a:lnTo>
                  <a:pt x="11675872" y="25412"/>
                </a:lnTo>
                <a:lnTo>
                  <a:pt x="11650472" y="25412"/>
                </a:lnTo>
                <a:lnTo>
                  <a:pt x="11650472" y="6319520"/>
                </a:lnTo>
                <a:lnTo>
                  <a:pt x="25400" y="6319520"/>
                </a:lnTo>
                <a:lnTo>
                  <a:pt x="25400" y="25400"/>
                </a:lnTo>
                <a:lnTo>
                  <a:pt x="11675872" y="25400"/>
                </a:lnTo>
                <a:lnTo>
                  <a:pt x="11675872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29639" y="884080"/>
            <a:ext cx="3261995" cy="6832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300" spc="-150" dirty="0">
                <a:solidFill>
                  <a:srgbClr val="FFFFFF"/>
                </a:solidFill>
              </a:rPr>
              <a:t>2.</a:t>
            </a:r>
            <a:r>
              <a:rPr sz="4300" spc="-180" dirty="0">
                <a:solidFill>
                  <a:srgbClr val="FFFFFF"/>
                </a:solidFill>
              </a:rPr>
              <a:t> </a:t>
            </a:r>
            <a:r>
              <a:rPr sz="4300" spc="-60" dirty="0">
                <a:solidFill>
                  <a:srgbClr val="FFFFFF"/>
                </a:solidFill>
              </a:rPr>
              <a:t>normalform</a:t>
            </a:r>
            <a:endParaRPr sz="4300"/>
          </a:p>
        </p:txBody>
      </p:sp>
      <p:sp>
        <p:nvSpPr>
          <p:cNvPr id="4" name="object 4"/>
          <p:cNvSpPr/>
          <p:nvPr/>
        </p:nvSpPr>
        <p:spPr>
          <a:xfrm>
            <a:off x="897636" y="1957387"/>
            <a:ext cx="10396855" cy="0"/>
          </a:xfrm>
          <a:custGeom>
            <a:avLst/>
            <a:gdLst/>
            <a:ahLst/>
            <a:cxnLst/>
            <a:rect l="l" t="t" r="r" b="b"/>
            <a:pathLst>
              <a:path w="10396855">
                <a:moveTo>
                  <a:pt x="0" y="0"/>
                </a:moveTo>
                <a:lnTo>
                  <a:pt x="10396728" y="1"/>
                </a:lnTo>
              </a:path>
            </a:pathLst>
          </a:custGeom>
          <a:ln w="222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16939" y="2251964"/>
            <a:ext cx="10122535" cy="1927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4" dirty="0">
                <a:solidFill>
                  <a:srgbClr val="FFFFFF"/>
                </a:solidFill>
                <a:latin typeface="Arial"/>
                <a:cs typeface="Arial"/>
              </a:rPr>
              <a:t>Krav</a:t>
            </a:r>
            <a:r>
              <a:rPr sz="24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til</a:t>
            </a:r>
            <a:r>
              <a:rPr sz="24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95" dirty="0">
                <a:solidFill>
                  <a:srgbClr val="FFFFFF"/>
                </a:solidFill>
                <a:latin typeface="Arial"/>
                <a:cs typeface="Arial"/>
              </a:rPr>
              <a:t>2.</a:t>
            </a:r>
            <a:r>
              <a:rPr sz="24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"/>
                <a:cs typeface="Arial"/>
              </a:rPr>
              <a:t>normalform: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45"/>
              </a:spcBef>
            </a:pPr>
            <a:endParaRPr sz="2400">
              <a:latin typeface="Arial"/>
              <a:cs typeface="Arial"/>
            </a:endParaRPr>
          </a:p>
          <a:p>
            <a:pPr marL="240029" indent="-227329">
              <a:lnSpc>
                <a:spcPct val="100000"/>
              </a:lnSpc>
              <a:buChar char="•"/>
              <a:tabLst>
                <a:tab pos="240029" algn="l"/>
              </a:tabLst>
            </a:pPr>
            <a:r>
              <a:rPr sz="2400" spc="-95" dirty="0">
                <a:solidFill>
                  <a:srgbClr val="FFFFFF"/>
                </a:solidFill>
                <a:latin typeface="Arial"/>
                <a:cs typeface="Arial"/>
              </a:rPr>
              <a:t>1.</a:t>
            </a:r>
            <a:r>
              <a:rPr sz="2400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60" dirty="0">
                <a:solidFill>
                  <a:srgbClr val="FFFFFF"/>
                </a:solidFill>
                <a:latin typeface="Arial"/>
                <a:cs typeface="Arial"/>
              </a:rPr>
              <a:t>normalform</a:t>
            </a:r>
            <a:r>
              <a:rPr sz="2400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165" dirty="0">
                <a:solidFill>
                  <a:srgbClr val="FFFFFF"/>
                </a:solidFill>
                <a:latin typeface="Arial"/>
                <a:cs typeface="Arial"/>
              </a:rPr>
              <a:t>skal</a:t>
            </a:r>
            <a:r>
              <a:rPr sz="2400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155" dirty="0">
                <a:solidFill>
                  <a:srgbClr val="FFFFFF"/>
                </a:solidFill>
                <a:latin typeface="Arial"/>
                <a:cs typeface="Arial"/>
              </a:rPr>
              <a:t>være</a:t>
            </a:r>
            <a:r>
              <a:rPr sz="24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"/>
                <a:cs typeface="Arial"/>
              </a:rPr>
              <a:t>opfyldt.</a:t>
            </a:r>
            <a:endParaRPr sz="2400">
              <a:latin typeface="Arial"/>
              <a:cs typeface="Arial"/>
            </a:endParaRPr>
          </a:p>
          <a:p>
            <a:pPr marL="12700" marR="5080" indent="227329">
              <a:lnSpc>
                <a:spcPts val="2590"/>
              </a:lnSpc>
              <a:spcBef>
                <a:spcPts val="665"/>
              </a:spcBef>
              <a:buChar char="•"/>
              <a:tabLst>
                <a:tab pos="240029" algn="l"/>
              </a:tabLst>
            </a:pPr>
            <a:r>
              <a:rPr sz="2400" spc="-90" dirty="0">
                <a:solidFill>
                  <a:srgbClr val="FFFFFF"/>
                </a:solidFill>
                <a:latin typeface="Arial"/>
                <a:cs typeface="Arial"/>
              </a:rPr>
              <a:t>Felter</a:t>
            </a:r>
            <a:r>
              <a:rPr sz="2400" spc="-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70" dirty="0">
                <a:solidFill>
                  <a:srgbClr val="FFFFFF"/>
                </a:solidFill>
                <a:latin typeface="Arial"/>
                <a:cs typeface="Arial"/>
              </a:rPr>
              <a:t>der</a:t>
            </a:r>
            <a:r>
              <a:rPr sz="2400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125" dirty="0">
                <a:solidFill>
                  <a:srgbClr val="FFFFFF"/>
                </a:solidFill>
                <a:latin typeface="Arial"/>
                <a:cs typeface="Arial"/>
              </a:rPr>
              <a:t>ikke</a:t>
            </a:r>
            <a:r>
              <a:rPr sz="2400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5" dirty="0">
                <a:solidFill>
                  <a:srgbClr val="FFFFFF"/>
                </a:solidFill>
                <a:latin typeface="Arial"/>
                <a:cs typeface="Arial"/>
              </a:rPr>
              <a:t>er</a:t>
            </a:r>
            <a:r>
              <a:rPr sz="2400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130" dirty="0">
                <a:solidFill>
                  <a:srgbClr val="FFFFFF"/>
                </a:solidFill>
                <a:latin typeface="Arial"/>
                <a:cs typeface="Arial"/>
              </a:rPr>
              <a:t>en</a:t>
            </a:r>
            <a:r>
              <a:rPr sz="2400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75" dirty="0">
                <a:solidFill>
                  <a:srgbClr val="FFFFFF"/>
                </a:solidFill>
                <a:latin typeface="Arial"/>
                <a:cs typeface="Arial"/>
              </a:rPr>
              <a:t>del</a:t>
            </a:r>
            <a:r>
              <a:rPr sz="2400" spc="-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75" dirty="0">
                <a:solidFill>
                  <a:srgbClr val="FFFFFF"/>
                </a:solidFill>
                <a:latin typeface="Arial"/>
                <a:cs typeface="Arial"/>
              </a:rPr>
              <a:t>af</a:t>
            </a:r>
            <a:r>
              <a:rPr sz="2400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114" dirty="0">
                <a:solidFill>
                  <a:srgbClr val="FFFFFF"/>
                </a:solidFill>
                <a:latin typeface="Arial"/>
                <a:cs typeface="Arial"/>
              </a:rPr>
              <a:t>den</a:t>
            </a:r>
            <a:r>
              <a:rPr sz="2400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90" dirty="0">
                <a:solidFill>
                  <a:srgbClr val="FFFFFF"/>
                </a:solidFill>
                <a:latin typeface="Arial"/>
                <a:cs typeface="Arial"/>
              </a:rPr>
              <a:t>primære</a:t>
            </a:r>
            <a:r>
              <a:rPr sz="2400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120" dirty="0">
                <a:solidFill>
                  <a:srgbClr val="FFFFFF"/>
                </a:solidFill>
                <a:latin typeface="Arial"/>
                <a:cs typeface="Arial"/>
              </a:rPr>
              <a:t>nøgle,</a:t>
            </a:r>
            <a:r>
              <a:rPr sz="2400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160" dirty="0">
                <a:solidFill>
                  <a:srgbClr val="FFFFFF"/>
                </a:solidFill>
                <a:latin typeface="Arial"/>
                <a:cs typeface="Arial"/>
              </a:rPr>
              <a:t>må</a:t>
            </a:r>
            <a:r>
              <a:rPr sz="2400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125" dirty="0">
                <a:solidFill>
                  <a:srgbClr val="FFFFFF"/>
                </a:solidFill>
                <a:latin typeface="Arial"/>
                <a:cs typeface="Arial"/>
              </a:rPr>
              <a:t>ikke</a:t>
            </a:r>
            <a:r>
              <a:rPr sz="2400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114" dirty="0">
                <a:solidFill>
                  <a:srgbClr val="FFFFFF"/>
                </a:solidFill>
                <a:latin typeface="Arial"/>
                <a:cs typeface="Arial"/>
              </a:rPr>
              <a:t>kun</a:t>
            </a:r>
            <a:r>
              <a:rPr sz="2400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150" dirty="0">
                <a:solidFill>
                  <a:srgbClr val="FFFFFF"/>
                </a:solidFill>
                <a:latin typeface="Arial"/>
                <a:cs typeface="Arial"/>
              </a:rPr>
              <a:t>afhænge</a:t>
            </a:r>
            <a:r>
              <a:rPr sz="2400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75" dirty="0">
                <a:solidFill>
                  <a:srgbClr val="FFFFFF"/>
                </a:solidFill>
                <a:latin typeface="Arial"/>
                <a:cs typeface="Arial"/>
              </a:rPr>
              <a:t>af</a:t>
            </a:r>
            <a:r>
              <a:rPr sz="2400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130" dirty="0">
                <a:solidFill>
                  <a:srgbClr val="FFFFFF"/>
                </a:solidFill>
                <a:latin typeface="Arial"/>
                <a:cs typeface="Arial"/>
              </a:rPr>
              <a:t>en</a:t>
            </a:r>
            <a:r>
              <a:rPr sz="2400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75" dirty="0">
                <a:solidFill>
                  <a:srgbClr val="FFFFFF"/>
                </a:solidFill>
                <a:latin typeface="Arial"/>
                <a:cs typeface="Arial"/>
              </a:rPr>
              <a:t>del</a:t>
            </a:r>
            <a:r>
              <a:rPr sz="2400" spc="-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Arial"/>
                <a:cs typeface="Arial"/>
              </a:rPr>
              <a:t>af </a:t>
            </a:r>
            <a:r>
              <a:rPr sz="2400" spc="-114" dirty="0">
                <a:solidFill>
                  <a:srgbClr val="FFFFFF"/>
                </a:solidFill>
                <a:latin typeface="Arial"/>
                <a:cs typeface="Arial"/>
              </a:rPr>
              <a:t>den</a:t>
            </a:r>
            <a:r>
              <a:rPr sz="2400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90" dirty="0">
                <a:solidFill>
                  <a:srgbClr val="FFFFFF"/>
                </a:solidFill>
                <a:latin typeface="Arial"/>
                <a:cs typeface="Arial"/>
              </a:rPr>
              <a:t>primære</a:t>
            </a:r>
            <a:r>
              <a:rPr sz="2400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"/>
                <a:cs typeface="Arial"/>
              </a:rPr>
              <a:t>nøgle.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69D47016-023F-44BD-981C-50E7A10A6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4F142E-D65B-C7E2-B86C-FD3A0E1F4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457200"/>
            <a:ext cx="4343400" cy="1929384"/>
          </a:xfrm>
        </p:spPr>
        <p:txBody>
          <a:bodyPr anchor="ctr">
            <a:normAutofit/>
          </a:bodyPr>
          <a:lstStyle/>
          <a:p>
            <a:r>
              <a:rPr lang="en-DK" sz="4800" dirty="0"/>
              <a:t>1 NF</a:t>
            </a:r>
          </a:p>
        </p:txBody>
      </p:sp>
      <p:sp>
        <p:nvSpPr>
          <p:cNvPr id="18" name="sketchy line">
            <a:extLst>
              <a:ext uri="{FF2B5EF4-FFF2-40B4-BE49-F238E27FC236}">
                <a16:creationId xmlns:a16="http://schemas.microsoft.com/office/drawing/2014/main" id="{6D8B37B0-0682-433E-BC8D-498C04ABD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471415" y="1412748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7E2472-66B7-2206-20AA-7F500E7BF5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1263" y="457200"/>
            <a:ext cx="6007608" cy="1929384"/>
          </a:xfrm>
        </p:spPr>
        <p:txBody>
          <a:bodyPr anchor="ctr">
            <a:normAutofit/>
          </a:bodyPr>
          <a:lstStyle/>
          <a:p>
            <a:r>
              <a:rPr lang="en-DK" sz="4800" dirty="0">
                <a:ea typeface="+mj-ea"/>
              </a:rPr>
              <a:t>  2NF</a:t>
            </a:r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08C7E1A-B034-DC87-E680-DD184A4316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9912" y="2569464"/>
            <a:ext cx="3540975" cy="3678936"/>
          </a:xfrm>
          <a:prstGeom prst="rect">
            <a:avLst/>
          </a:prstGeom>
        </p:spPr>
      </p:pic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89A5B35-28CE-AE50-14F1-4E69E902D4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6452" y="2569464"/>
            <a:ext cx="3924199" cy="3678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4202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58064" y="256539"/>
            <a:ext cx="11676380" cy="6344920"/>
          </a:xfrm>
          <a:custGeom>
            <a:avLst/>
            <a:gdLst/>
            <a:ahLst/>
            <a:cxnLst/>
            <a:rect l="l" t="t" r="r" b="b"/>
            <a:pathLst>
              <a:path w="11676380" h="6344920">
                <a:moveTo>
                  <a:pt x="11625072" y="50800"/>
                </a:moveTo>
                <a:lnTo>
                  <a:pt x="50800" y="50800"/>
                </a:lnTo>
                <a:lnTo>
                  <a:pt x="50800" y="127000"/>
                </a:lnTo>
                <a:lnTo>
                  <a:pt x="63500" y="127000"/>
                </a:lnTo>
                <a:lnTo>
                  <a:pt x="63500" y="6217920"/>
                </a:lnTo>
                <a:lnTo>
                  <a:pt x="50800" y="6217920"/>
                </a:lnTo>
                <a:lnTo>
                  <a:pt x="50800" y="6294120"/>
                </a:lnTo>
                <a:lnTo>
                  <a:pt x="11625072" y="6294120"/>
                </a:lnTo>
                <a:lnTo>
                  <a:pt x="11625072" y="6217920"/>
                </a:lnTo>
                <a:lnTo>
                  <a:pt x="11612372" y="6217920"/>
                </a:lnTo>
                <a:lnTo>
                  <a:pt x="11612372" y="127000"/>
                </a:lnTo>
                <a:lnTo>
                  <a:pt x="11625072" y="127000"/>
                </a:lnTo>
                <a:lnTo>
                  <a:pt x="11625072" y="50800"/>
                </a:lnTo>
                <a:close/>
              </a:path>
              <a:path w="11676380" h="6344920">
                <a:moveTo>
                  <a:pt x="11675872" y="0"/>
                </a:moveTo>
                <a:lnTo>
                  <a:pt x="0" y="0"/>
                </a:lnTo>
                <a:lnTo>
                  <a:pt x="0" y="25400"/>
                </a:lnTo>
                <a:lnTo>
                  <a:pt x="0" y="6319520"/>
                </a:lnTo>
                <a:lnTo>
                  <a:pt x="0" y="6344920"/>
                </a:lnTo>
                <a:lnTo>
                  <a:pt x="11675872" y="6344920"/>
                </a:lnTo>
                <a:lnTo>
                  <a:pt x="11675872" y="6319520"/>
                </a:lnTo>
                <a:lnTo>
                  <a:pt x="11675872" y="25412"/>
                </a:lnTo>
                <a:lnTo>
                  <a:pt x="11650472" y="25412"/>
                </a:lnTo>
                <a:lnTo>
                  <a:pt x="11650472" y="6319520"/>
                </a:lnTo>
                <a:lnTo>
                  <a:pt x="25400" y="6319520"/>
                </a:lnTo>
                <a:lnTo>
                  <a:pt x="25400" y="25400"/>
                </a:lnTo>
                <a:lnTo>
                  <a:pt x="11675872" y="25400"/>
                </a:lnTo>
                <a:lnTo>
                  <a:pt x="11675872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9" y="884080"/>
            <a:ext cx="3261360" cy="6832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300" spc="-145" dirty="0">
                <a:solidFill>
                  <a:srgbClr val="FFFFFF"/>
                </a:solidFill>
              </a:rPr>
              <a:t>3.</a:t>
            </a:r>
            <a:r>
              <a:rPr sz="4300" spc="-195" dirty="0">
                <a:solidFill>
                  <a:srgbClr val="FFFFFF"/>
                </a:solidFill>
              </a:rPr>
              <a:t> </a:t>
            </a:r>
            <a:r>
              <a:rPr sz="4300" spc="-60" dirty="0">
                <a:solidFill>
                  <a:srgbClr val="FFFFFF"/>
                </a:solidFill>
              </a:rPr>
              <a:t>normalform</a:t>
            </a:r>
            <a:endParaRPr sz="4300"/>
          </a:p>
        </p:txBody>
      </p:sp>
      <p:sp>
        <p:nvSpPr>
          <p:cNvPr id="4" name="object 4"/>
          <p:cNvSpPr/>
          <p:nvPr/>
        </p:nvSpPr>
        <p:spPr>
          <a:xfrm>
            <a:off x="897636" y="1957387"/>
            <a:ext cx="10396855" cy="0"/>
          </a:xfrm>
          <a:custGeom>
            <a:avLst/>
            <a:gdLst/>
            <a:ahLst/>
            <a:cxnLst/>
            <a:rect l="l" t="t" r="r" b="b"/>
            <a:pathLst>
              <a:path w="10396855">
                <a:moveTo>
                  <a:pt x="0" y="0"/>
                </a:moveTo>
                <a:lnTo>
                  <a:pt x="10396728" y="1"/>
                </a:lnTo>
              </a:path>
            </a:pathLst>
          </a:custGeom>
          <a:ln w="222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16939" y="2212340"/>
            <a:ext cx="10178415" cy="156210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2400" spc="-204" dirty="0">
                <a:solidFill>
                  <a:srgbClr val="FFFFFF"/>
                </a:solidFill>
                <a:latin typeface="Arial"/>
                <a:cs typeface="Arial"/>
              </a:rPr>
              <a:t>Krav</a:t>
            </a:r>
            <a:r>
              <a:rPr sz="24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til</a:t>
            </a:r>
            <a:r>
              <a:rPr sz="24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95" dirty="0">
                <a:solidFill>
                  <a:srgbClr val="FFFFFF"/>
                </a:solidFill>
                <a:latin typeface="Arial"/>
                <a:cs typeface="Arial"/>
              </a:rPr>
              <a:t>3.</a:t>
            </a:r>
            <a:r>
              <a:rPr sz="24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"/>
                <a:cs typeface="Arial"/>
              </a:rPr>
              <a:t>normalform:</a:t>
            </a:r>
            <a:endParaRPr sz="2400">
              <a:latin typeface="Arial"/>
              <a:cs typeface="Arial"/>
            </a:endParaRPr>
          </a:p>
          <a:p>
            <a:pPr marL="240029" indent="-227329">
              <a:lnSpc>
                <a:spcPct val="100000"/>
              </a:lnSpc>
              <a:spcBef>
                <a:spcPts val="310"/>
              </a:spcBef>
              <a:buChar char="•"/>
              <a:tabLst>
                <a:tab pos="240029" algn="l"/>
              </a:tabLst>
            </a:pPr>
            <a:r>
              <a:rPr sz="2400" spc="-95" dirty="0">
                <a:solidFill>
                  <a:srgbClr val="FFFFFF"/>
                </a:solidFill>
                <a:latin typeface="Arial"/>
                <a:cs typeface="Arial"/>
              </a:rPr>
              <a:t>2.</a:t>
            </a:r>
            <a:r>
              <a:rPr sz="2400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60" dirty="0">
                <a:solidFill>
                  <a:srgbClr val="FFFFFF"/>
                </a:solidFill>
                <a:latin typeface="Arial"/>
                <a:cs typeface="Arial"/>
              </a:rPr>
              <a:t>normalform</a:t>
            </a:r>
            <a:r>
              <a:rPr sz="2400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165" dirty="0">
                <a:solidFill>
                  <a:srgbClr val="FFFFFF"/>
                </a:solidFill>
                <a:latin typeface="Arial"/>
                <a:cs typeface="Arial"/>
              </a:rPr>
              <a:t>skal</a:t>
            </a:r>
            <a:r>
              <a:rPr sz="2400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155" dirty="0">
                <a:solidFill>
                  <a:srgbClr val="FFFFFF"/>
                </a:solidFill>
                <a:latin typeface="Arial"/>
                <a:cs typeface="Arial"/>
              </a:rPr>
              <a:t>være</a:t>
            </a:r>
            <a:r>
              <a:rPr sz="24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"/>
                <a:cs typeface="Arial"/>
              </a:rPr>
              <a:t>opfyldt.</a:t>
            </a:r>
            <a:endParaRPr sz="2400">
              <a:latin typeface="Arial"/>
              <a:cs typeface="Arial"/>
            </a:endParaRPr>
          </a:p>
          <a:p>
            <a:pPr marL="12700" marR="5080" indent="227329">
              <a:lnSpc>
                <a:spcPts val="2620"/>
              </a:lnSpc>
              <a:spcBef>
                <a:spcPts val="520"/>
              </a:spcBef>
              <a:buChar char="•"/>
              <a:tabLst>
                <a:tab pos="240029" algn="l"/>
              </a:tabLst>
            </a:pPr>
            <a:r>
              <a:rPr sz="2400" spc="-140" dirty="0">
                <a:solidFill>
                  <a:srgbClr val="FFFFFF"/>
                </a:solidFill>
                <a:latin typeface="Arial"/>
                <a:cs typeface="Arial"/>
              </a:rPr>
              <a:t>Der</a:t>
            </a:r>
            <a:r>
              <a:rPr sz="2400" spc="-1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160" dirty="0">
                <a:solidFill>
                  <a:srgbClr val="FFFFFF"/>
                </a:solidFill>
                <a:latin typeface="Arial"/>
                <a:cs typeface="Arial"/>
              </a:rPr>
              <a:t>må</a:t>
            </a:r>
            <a:r>
              <a:rPr sz="2400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125" dirty="0">
                <a:solidFill>
                  <a:srgbClr val="FFFFFF"/>
                </a:solidFill>
                <a:latin typeface="Arial"/>
                <a:cs typeface="Arial"/>
              </a:rPr>
              <a:t>ikke</a:t>
            </a:r>
            <a:r>
              <a:rPr sz="2400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155" dirty="0">
                <a:solidFill>
                  <a:srgbClr val="FFFFFF"/>
                </a:solidFill>
                <a:latin typeface="Arial"/>
                <a:cs typeface="Arial"/>
              </a:rPr>
              <a:t>være</a:t>
            </a:r>
            <a:r>
              <a:rPr sz="2400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Arial"/>
                <a:cs typeface="Arial"/>
              </a:rPr>
              <a:t>felter</a:t>
            </a:r>
            <a:r>
              <a:rPr sz="2400" spc="-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70" dirty="0">
                <a:solidFill>
                  <a:srgbClr val="FFFFFF"/>
                </a:solidFill>
                <a:latin typeface="Arial"/>
                <a:cs typeface="Arial"/>
              </a:rPr>
              <a:t>der</a:t>
            </a:r>
            <a:r>
              <a:rPr sz="2400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65" dirty="0">
                <a:solidFill>
                  <a:srgbClr val="FFFFFF"/>
                </a:solidFill>
                <a:latin typeface="Arial"/>
                <a:cs typeface="Arial"/>
              </a:rPr>
              <a:t>entydigt</a:t>
            </a:r>
            <a:r>
              <a:rPr sz="2400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150" dirty="0">
                <a:solidFill>
                  <a:srgbClr val="FFFFFF"/>
                </a:solidFill>
                <a:latin typeface="Arial"/>
                <a:cs typeface="Arial"/>
              </a:rPr>
              <a:t>kan</a:t>
            </a:r>
            <a:r>
              <a:rPr sz="2400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135" dirty="0">
                <a:solidFill>
                  <a:srgbClr val="FFFFFF"/>
                </a:solidFill>
                <a:latin typeface="Arial"/>
                <a:cs typeface="Arial"/>
              </a:rPr>
              <a:t>bestemmes</a:t>
            </a:r>
            <a:r>
              <a:rPr sz="2400" spc="-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140" dirty="0">
                <a:solidFill>
                  <a:srgbClr val="FFFFFF"/>
                </a:solidFill>
                <a:latin typeface="Arial"/>
                <a:cs typeface="Arial"/>
              </a:rPr>
              <a:t>på</a:t>
            </a:r>
            <a:r>
              <a:rPr sz="2400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114" dirty="0">
                <a:solidFill>
                  <a:srgbClr val="FFFFFF"/>
                </a:solidFill>
                <a:latin typeface="Arial"/>
                <a:cs typeface="Arial"/>
              </a:rPr>
              <a:t>baggrund</a:t>
            </a:r>
            <a:r>
              <a:rPr sz="2400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75" dirty="0">
                <a:solidFill>
                  <a:srgbClr val="FFFFFF"/>
                </a:solidFill>
                <a:latin typeface="Arial"/>
                <a:cs typeface="Arial"/>
              </a:rPr>
              <a:t>af</a:t>
            </a:r>
            <a:r>
              <a:rPr sz="2400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100" dirty="0">
                <a:solidFill>
                  <a:srgbClr val="FFFFFF"/>
                </a:solidFill>
                <a:latin typeface="Arial"/>
                <a:cs typeface="Arial"/>
              </a:rPr>
              <a:t>andre </a:t>
            </a:r>
            <a:r>
              <a:rPr sz="2400" spc="-10" dirty="0">
                <a:solidFill>
                  <a:srgbClr val="FFFFFF"/>
                </a:solidFill>
                <a:latin typeface="Arial"/>
                <a:cs typeface="Arial"/>
              </a:rPr>
              <a:t>felter </a:t>
            </a:r>
            <a:r>
              <a:rPr sz="2400" spc="-114" dirty="0">
                <a:solidFill>
                  <a:srgbClr val="FFFFFF"/>
                </a:solidFill>
                <a:latin typeface="Arial"/>
                <a:cs typeface="Arial"/>
              </a:rPr>
              <a:t>end</a:t>
            </a:r>
            <a:r>
              <a:rPr sz="2400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40" dirty="0">
                <a:solidFill>
                  <a:srgbClr val="FFFFFF"/>
                </a:solidFill>
                <a:latin typeface="Arial"/>
                <a:cs typeface="Arial"/>
              </a:rPr>
              <a:t>det</a:t>
            </a:r>
            <a:r>
              <a:rPr sz="2400" spc="-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90" dirty="0">
                <a:solidFill>
                  <a:srgbClr val="FFFFFF"/>
                </a:solidFill>
                <a:latin typeface="Arial"/>
                <a:cs typeface="Arial"/>
              </a:rPr>
              <a:t>primære</a:t>
            </a:r>
            <a:r>
              <a:rPr sz="2400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"/>
                <a:cs typeface="Arial"/>
              </a:rPr>
              <a:t>nøglefelt.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BF086-FAB3-3A69-676E-DEB5BB43D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8024" y="576579"/>
            <a:ext cx="5535295" cy="553998"/>
          </a:xfrm>
        </p:spPr>
        <p:txBody>
          <a:bodyPr/>
          <a:lstStyle/>
          <a:p>
            <a:r>
              <a:rPr lang="en-US" dirty="0"/>
              <a:t>2NF- 3NF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A28406-A964-10A2-E11F-DE9BFB45E1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33890" y="2486659"/>
            <a:ext cx="6622415" cy="276999"/>
          </a:xfrm>
        </p:spPr>
        <p:txBody>
          <a:bodyPr/>
          <a:lstStyle/>
          <a:p>
            <a:r>
              <a:rPr lang="en-US" dirty="0" err="1"/>
              <a:t>Postnr</a:t>
            </a:r>
            <a:r>
              <a:rPr lang="en-US" dirty="0"/>
              <a:t>. </a:t>
            </a:r>
            <a:r>
              <a:rPr lang="en-US" dirty="0" err="1"/>
              <a:t>bynavn</a:t>
            </a:r>
            <a:endParaRPr lang="en-US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7123670-2F76-2253-7292-3B8BFA4912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577" y="1821179"/>
            <a:ext cx="3924199" cy="3678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3061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8024" y="576579"/>
            <a:ext cx="6402398" cy="1107996"/>
          </a:xfrm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err="1"/>
              <a:t>Normalisering</a:t>
            </a:r>
            <a:r>
              <a:rPr lang="en-US" dirty="0"/>
              <a:t> (1NF, 2NF, 3NF)</a:t>
            </a:r>
          </a:p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33890" y="2486659"/>
            <a:ext cx="6622415" cy="553998"/>
          </a:xfrm>
        </p:spPr>
        <p:txBody>
          <a:bodyPr wrap="square" lIns="0" tIns="0" rIns="0" bIns="0" anchor="t">
            <a:spAutoFit/>
          </a:bodyPr>
          <a:lstStyle/>
          <a:p>
            <a:pPr lvl="1"/>
            <a:r>
              <a:rPr dirty="0">
                <a:latin typeface="Calibri"/>
                <a:ea typeface="Calibri"/>
                <a:cs typeface="Calibri"/>
              </a:rPr>
              <a:t>• </a:t>
            </a:r>
            <a:r>
              <a:rPr dirty="0" err="1"/>
              <a:t>Eliminering</a:t>
            </a:r>
            <a:r>
              <a:rPr dirty="0"/>
              <a:t> </a:t>
            </a:r>
            <a:r>
              <a:rPr dirty="0" err="1"/>
              <a:t>af</a:t>
            </a:r>
            <a:r>
              <a:rPr dirty="0"/>
              <a:t> M-M-</a:t>
            </a:r>
            <a:r>
              <a:rPr dirty="0" err="1"/>
              <a:t>relationer</a:t>
            </a:r>
            <a:r>
              <a:rPr dirty="0"/>
              <a:t> </a:t>
            </a:r>
            <a:r>
              <a:rPr dirty="0" err="1"/>
              <a:t>gennem</a:t>
            </a:r>
            <a:r>
              <a:rPr dirty="0"/>
              <a:t> </a:t>
            </a:r>
            <a:r>
              <a:rPr dirty="0" err="1"/>
              <a:t>koblingstabeller</a:t>
            </a:r>
            <a:endParaRPr lang="en-US" dirty="0"/>
          </a:p>
          <a:p>
            <a:pPr lvl="1"/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C75FF-DB33-A793-A31B-477C54624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5631" y="1441938"/>
            <a:ext cx="7080738" cy="39741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rtl="0">
              <a:lnSpc>
                <a:spcPct val="90000"/>
              </a:lnSpc>
              <a:spcBef>
                <a:spcPct val="0"/>
              </a:spcBef>
            </a:pPr>
            <a:r>
              <a:rPr lang="en-US" sz="5400" kern="1200" dirty="0">
                <a:solidFill>
                  <a:schemeClr val="bg1">
                    <a:lumMod val="95000"/>
                    <a:lumOff val="5000"/>
                  </a:schemeClr>
                </a:solidFill>
                <a:latin typeface="+mj-lt"/>
                <a:cs typeface="+mj-cs"/>
              </a:rPr>
              <a:t>unnormalized </a:t>
            </a:r>
            <a:r>
              <a:rPr lang="en-US" sz="5400" kern="1200" dirty="0" err="1">
                <a:solidFill>
                  <a:schemeClr val="bg1">
                    <a:lumMod val="95000"/>
                    <a:lumOff val="5000"/>
                  </a:schemeClr>
                </a:solidFill>
                <a:latin typeface="+mj-lt"/>
                <a:cs typeface="+mj-cs"/>
              </a:rPr>
              <a:t>tabel</a:t>
            </a:r>
            <a:r>
              <a:rPr lang="en-US" sz="5400" kern="1200" dirty="0">
                <a:solidFill>
                  <a:schemeClr val="bg1">
                    <a:lumMod val="95000"/>
                    <a:lumOff val="5000"/>
                  </a:schemeClr>
                </a:solidFill>
                <a:latin typeface="+mj-lt"/>
                <a:cs typeface="+mj-cs"/>
              </a:rPr>
              <a:t>.-  </a:t>
            </a:r>
            <a:r>
              <a:rPr lang="en-GB" sz="5400" b="1" dirty="0" err="1">
                <a:solidFill>
                  <a:schemeClr val="bg1"/>
                </a:solidFill>
              </a:rPr>
              <a:t>Medarbejder</a:t>
            </a:r>
            <a:br>
              <a:rPr lang="en-GB" sz="5400" b="1" dirty="0">
                <a:solidFill>
                  <a:schemeClr val="bg1"/>
                </a:solidFill>
              </a:rPr>
            </a:br>
            <a:r>
              <a:rPr lang="en-GB" sz="5400" b="1" dirty="0">
                <a:solidFill>
                  <a:schemeClr val="bg1"/>
                </a:solidFill>
              </a:rPr>
              <a:t>Projekt register</a:t>
            </a:r>
            <a:br>
              <a:rPr lang="en-GB" sz="5400" dirty="0">
                <a:solidFill>
                  <a:schemeClr val="bg1"/>
                </a:solidFill>
              </a:rPr>
            </a:br>
            <a:br>
              <a:rPr lang="en-US" sz="5400" kern="1200" dirty="0">
                <a:solidFill>
                  <a:schemeClr val="bg1">
                    <a:lumMod val="95000"/>
                    <a:lumOff val="5000"/>
                  </a:schemeClr>
                </a:solidFill>
                <a:latin typeface="+mj-lt"/>
                <a:cs typeface="+mj-cs"/>
              </a:rPr>
            </a:br>
            <a:endParaRPr lang="en-US" sz="5400" kern="1200" dirty="0">
              <a:solidFill>
                <a:schemeClr val="bg1">
                  <a:lumMod val="95000"/>
                  <a:lumOff val="5000"/>
                </a:schemeClr>
              </a:solidFill>
              <a:latin typeface="+mj-lt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552577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B0DC5-828A-326A-116C-EA51E0099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rtl="0">
              <a:lnSpc>
                <a:spcPct val="90000"/>
              </a:lnSpc>
              <a:spcBef>
                <a:spcPct val="0"/>
              </a:spcBef>
            </a:pPr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Table start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0DEDDC4-3A0F-5390-FDA5-62D3434FE8B5}"/>
              </a:ext>
            </a:extLst>
          </p:cNvPr>
          <p:cNvGraphicFramePr>
            <a:graphicFrameLocks noGrp="1"/>
          </p:cNvGraphicFramePr>
          <p:nvPr/>
        </p:nvGraphicFramePr>
        <p:xfrm>
          <a:off x="643467" y="2110831"/>
          <a:ext cx="10905069" cy="3523000"/>
        </p:xfrm>
        <a:graphic>
          <a:graphicData uri="http://schemas.openxmlformats.org/drawingml/2006/table">
            <a:tbl>
              <a:tblPr>
                <a:solidFill>
                  <a:srgbClr val="F2F2F2">
                    <a:alpha val="30196"/>
                  </a:srgbClr>
                </a:solidFill>
              </a:tblPr>
              <a:tblGrid>
                <a:gridCol w="566455">
                  <a:extLst>
                    <a:ext uri="{9D8B030D-6E8A-4147-A177-3AD203B41FA5}">
                      <a16:colId xmlns:a16="http://schemas.microsoft.com/office/drawing/2014/main" val="4021872316"/>
                    </a:ext>
                  </a:extLst>
                </a:gridCol>
                <a:gridCol w="761647">
                  <a:extLst>
                    <a:ext uri="{9D8B030D-6E8A-4147-A177-3AD203B41FA5}">
                      <a16:colId xmlns:a16="http://schemas.microsoft.com/office/drawing/2014/main" val="1711518764"/>
                    </a:ext>
                  </a:extLst>
                </a:gridCol>
                <a:gridCol w="1751552">
                  <a:extLst>
                    <a:ext uri="{9D8B030D-6E8A-4147-A177-3AD203B41FA5}">
                      <a16:colId xmlns:a16="http://schemas.microsoft.com/office/drawing/2014/main" val="1534899300"/>
                    </a:ext>
                  </a:extLst>
                </a:gridCol>
                <a:gridCol w="1488391">
                  <a:extLst>
                    <a:ext uri="{9D8B030D-6E8A-4147-A177-3AD203B41FA5}">
                      <a16:colId xmlns:a16="http://schemas.microsoft.com/office/drawing/2014/main" val="3811686439"/>
                    </a:ext>
                  </a:extLst>
                </a:gridCol>
                <a:gridCol w="766875">
                  <a:extLst>
                    <a:ext uri="{9D8B030D-6E8A-4147-A177-3AD203B41FA5}">
                      <a16:colId xmlns:a16="http://schemas.microsoft.com/office/drawing/2014/main" val="573257178"/>
                    </a:ext>
                  </a:extLst>
                </a:gridCol>
                <a:gridCol w="2342358">
                  <a:extLst>
                    <a:ext uri="{9D8B030D-6E8A-4147-A177-3AD203B41FA5}">
                      <a16:colId xmlns:a16="http://schemas.microsoft.com/office/drawing/2014/main" val="2822854899"/>
                    </a:ext>
                  </a:extLst>
                </a:gridCol>
                <a:gridCol w="665793">
                  <a:extLst>
                    <a:ext uri="{9D8B030D-6E8A-4147-A177-3AD203B41FA5}">
                      <a16:colId xmlns:a16="http://schemas.microsoft.com/office/drawing/2014/main" val="4070851679"/>
                    </a:ext>
                  </a:extLst>
                </a:gridCol>
                <a:gridCol w="1280999">
                  <a:extLst>
                    <a:ext uri="{9D8B030D-6E8A-4147-A177-3AD203B41FA5}">
                      <a16:colId xmlns:a16="http://schemas.microsoft.com/office/drawing/2014/main" val="3686627850"/>
                    </a:ext>
                  </a:extLst>
                </a:gridCol>
                <a:gridCol w="1280999">
                  <a:extLst>
                    <a:ext uri="{9D8B030D-6E8A-4147-A177-3AD203B41FA5}">
                      <a16:colId xmlns:a16="http://schemas.microsoft.com/office/drawing/2014/main" val="3485448258"/>
                    </a:ext>
                  </a:extLst>
                </a:gridCol>
              </a:tblGrid>
              <a:tr h="3523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K" sz="1100" cap="none" spc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96758" marR="9221" marT="74429" marB="74429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E001</a:t>
                      </a:r>
                    </a:p>
                  </a:txBody>
                  <a:tcPr marL="96758" marR="9221" marT="74429" marB="7442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Anna Jensen</a:t>
                      </a:r>
                    </a:p>
                  </a:txBody>
                  <a:tcPr marL="96758" marR="9221" marT="74429" marB="7442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Data Engineer</a:t>
                      </a:r>
                    </a:p>
                  </a:txBody>
                  <a:tcPr marL="96758" marR="9221" marT="74429" marB="7442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P101</a:t>
                      </a:r>
                    </a:p>
                  </a:txBody>
                  <a:tcPr marL="96758" marR="9221" marT="74429" marB="7442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Analytics Upgrade</a:t>
                      </a:r>
                    </a:p>
                  </a:txBody>
                  <a:tcPr marL="96758" marR="9221" marT="74429" marB="7442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K" sz="1100" cap="none" spc="0">
                          <a:solidFill>
                            <a:schemeClr val="tx1"/>
                          </a:solidFill>
                        </a:rPr>
                        <a:t>750</a:t>
                      </a:r>
                    </a:p>
                  </a:txBody>
                  <a:tcPr marL="96758" marR="9221" marT="74429" marB="7442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K" sz="1100" cap="none" spc="0">
                          <a:solidFill>
                            <a:schemeClr val="tx1"/>
                          </a:solidFill>
                        </a:rPr>
                        <a:t>2025-01-10</a:t>
                      </a:r>
                    </a:p>
                  </a:txBody>
                  <a:tcPr marL="96758" marR="9221" marT="74429" marB="7442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K" sz="1100" cap="none" spc="0">
                          <a:solidFill>
                            <a:schemeClr val="tx1"/>
                          </a:solidFill>
                        </a:rPr>
                        <a:t>2025-04-30</a:t>
                      </a:r>
                    </a:p>
                  </a:txBody>
                  <a:tcPr marL="96758" marR="9221" marT="74429" marB="7442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3446254"/>
                  </a:ext>
                </a:extLst>
              </a:tr>
              <a:tr h="3523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K" sz="1100" cap="none" spc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96758" marR="9221" marT="74429" marB="74429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E002</a:t>
                      </a:r>
                    </a:p>
                  </a:txBody>
                  <a:tcPr marL="96758" marR="9221" marT="74429" marB="7442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Mark Larsen</a:t>
                      </a:r>
                    </a:p>
                  </a:txBody>
                  <a:tcPr marL="96758" marR="9221" marT="74429" marB="7442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Sys Admin</a:t>
                      </a:r>
                    </a:p>
                  </a:txBody>
                  <a:tcPr marL="96758" marR="9221" marT="74429" marB="7442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P102</a:t>
                      </a:r>
                    </a:p>
                  </a:txBody>
                  <a:tcPr marL="96758" marR="9221" marT="74429" marB="7442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Server Migration</a:t>
                      </a:r>
                    </a:p>
                  </a:txBody>
                  <a:tcPr marL="96758" marR="9221" marT="74429" marB="7442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K" sz="1100" cap="none" spc="0">
                          <a:solidFill>
                            <a:schemeClr val="tx1"/>
                          </a:solidFill>
                        </a:rPr>
                        <a:t>680</a:t>
                      </a:r>
                    </a:p>
                  </a:txBody>
                  <a:tcPr marL="96758" marR="9221" marT="74429" marB="7442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K" sz="1100" cap="none" spc="0">
                          <a:solidFill>
                            <a:schemeClr val="tx1"/>
                          </a:solidFill>
                        </a:rPr>
                        <a:t>2025-02-01</a:t>
                      </a:r>
                    </a:p>
                  </a:txBody>
                  <a:tcPr marL="96758" marR="9221" marT="74429" marB="7442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K" sz="1100" cap="none" spc="0">
                          <a:solidFill>
                            <a:schemeClr val="tx1"/>
                          </a:solidFill>
                        </a:rPr>
                        <a:t>2025-03-15</a:t>
                      </a:r>
                    </a:p>
                  </a:txBody>
                  <a:tcPr marL="96758" marR="9221" marT="74429" marB="7442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9228112"/>
                  </a:ext>
                </a:extLst>
              </a:tr>
              <a:tr h="3523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K" sz="1100" cap="none" spc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96758" marR="9221" marT="74429" marB="74429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E003</a:t>
                      </a:r>
                    </a:p>
                  </a:txBody>
                  <a:tcPr marL="96758" marR="9221" marT="74429" marB="7442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Sofie Madsen</a:t>
                      </a:r>
                    </a:p>
                  </a:txBody>
                  <a:tcPr marL="96758" marR="9221" marT="74429" marB="7442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Programmer</a:t>
                      </a:r>
                    </a:p>
                  </a:txBody>
                  <a:tcPr marL="96758" marR="9221" marT="74429" marB="7442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P103</a:t>
                      </a:r>
                    </a:p>
                  </a:txBody>
                  <a:tcPr marL="96758" marR="9221" marT="74429" marB="7442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API Modernisation</a:t>
                      </a:r>
                    </a:p>
                  </a:txBody>
                  <a:tcPr marL="96758" marR="9221" marT="74429" marB="7442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K" sz="1100" cap="none" spc="0">
                          <a:solidFill>
                            <a:schemeClr val="tx1"/>
                          </a:solidFill>
                        </a:rPr>
                        <a:t>720</a:t>
                      </a:r>
                    </a:p>
                  </a:txBody>
                  <a:tcPr marL="96758" marR="9221" marT="74429" marB="7442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K" sz="1100" cap="none" spc="0">
                          <a:solidFill>
                            <a:schemeClr val="tx1"/>
                          </a:solidFill>
                        </a:rPr>
                        <a:t>2025-01-05</a:t>
                      </a:r>
                    </a:p>
                  </a:txBody>
                  <a:tcPr marL="96758" marR="9221" marT="74429" marB="7442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K" sz="1100" cap="none" spc="0">
                          <a:solidFill>
                            <a:schemeClr val="tx1"/>
                          </a:solidFill>
                        </a:rPr>
                        <a:t>2025-06-01</a:t>
                      </a:r>
                    </a:p>
                  </a:txBody>
                  <a:tcPr marL="96758" marR="9221" marT="74429" marB="7442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9757309"/>
                  </a:ext>
                </a:extLst>
              </a:tr>
              <a:tr h="3523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K" sz="1100" cap="none" spc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96758" marR="9221" marT="74429" marB="74429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E004</a:t>
                      </a:r>
                    </a:p>
                  </a:txBody>
                  <a:tcPr marL="96758" marR="9221" marT="74429" marB="7442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Jonas Møller</a:t>
                      </a:r>
                    </a:p>
                  </a:txBody>
                  <a:tcPr marL="96758" marR="9221" marT="74429" marB="7442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Data Engineer</a:t>
                      </a:r>
                    </a:p>
                  </a:txBody>
                  <a:tcPr marL="96758" marR="9221" marT="74429" marB="7442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P104</a:t>
                      </a:r>
                    </a:p>
                  </a:txBody>
                  <a:tcPr marL="96758" marR="9221" marT="74429" marB="7442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Data Warehouse Build</a:t>
                      </a:r>
                    </a:p>
                  </a:txBody>
                  <a:tcPr marL="96758" marR="9221" marT="74429" marB="7442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K" sz="1100" cap="none" spc="0">
                          <a:solidFill>
                            <a:schemeClr val="tx1"/>
                          </a:solidFill>
                        </a:rPr>
                        <a:t>800</a:t>
                      </a:r>
                    </a:p>
                  </a:txBody>
                  <a:tcPr marL="96758" marR="9221" marT="74429" marB="7442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K" sz="1100" cap="none" spc="0">
                          <a:solidFill>
                            <a:schemeClr val="tx1"/>
                          </a:solidFill>
                        </a:rPr>
                        <a:t>2025-03-01</a:t>
                      </a:r>
                    </a:p>
                  </a:txBody>
                  <a:tcPr marL="96758" marR="9221" marT="74429" marB="7442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K" sz="1100" cap="none" spc="0">
                          <a:solidFill>
                            <a:schemeClr val="tx1"/>
                          </a:solidFill>
                        </a:rPr>
                        <a:t>2025-08-15</a:t>
                      </a:r>
                    </a:p>
                  </a:txBody>
                  <a:tcPr marL="96758" marR="9221" marT="74429" marB="7442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9873732"/>
                  </a:ext>
                </a:extLst>
              </a:tr>
              <a:tr h="3523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K" sz="1100" cap="none" spc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96758" marR="9221" marT="74429" marB="74429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E005</a:t>
                      </a:r>
                    </a:p>
                  </a:txBody>
                  <a:tcPr marL="96758" marR="9221" marT="74429" marB="7442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Emma Høeg</a:t>
                      </a:r>
                    </a:p>
                  </a:txBody>
                  <a:tcPr marL="96758" marR="9221" marT="74429" marB="7442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Programmer</a:t>
                      </a:r>
                    </a:p>
                  </a:txBody>
                  <a:tcPr marL="96758" marR="9221" marT="74429" marB="7442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P105</a:t>
                      </a:r>
                    </a:p>
                  </a:txBody>
                  <a:tcPr marL="96758" marR="9221" marT="74429" marB="7442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Frontend Redesign</a:t>
                      </a:r>
                    </a:p>
                  </a:txBody>
                  <a:tcPr marL="96758" marR="9221" marT="74429" marB="7442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K" sz="1100" cap="none" spc="0">
                          <a:solidFill>
                            <a:schemeClr val="tx1"/>
                          </a:solidFill>
                        </a:rPr>
                        <a:t>650</a:t>
                      </a:r>
                    </a:p>
                  </a:txBody>
                  <a:tcPr marL="96758" marR="9221" marT="74429" marB="7442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K" sz="1100" cap="none" spc="0">
                          <a:solidFill>
                            <a:schemeClr val="tx1"/>
                          </a:solidFill>
                        </a:rPr>
                        <a:t>2025-02-20</a:t>
                      </a:r>
                    </a:p>
                  </a:txBody>
                  <a:tcPr marL="96758" marR="9221" marT="74429" marB="7442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K" sz="1100" cap="none" spc="0">
                          <a:solidFill>
                            <a:schemeClr val="tx1"/>
                          </a:solidFill>
                        </a:rPr>
                        <a:t>2025-05-20</a:t>
                      </a:r>
                    </a:p>
                  </a:txBody>
                  <a:tcPr marL="96758" marR="9221" marT="74429" marB="7442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4423133"/>
                  </a:ext>
                </a:extLst>
              </a:tr>
              <a:tr h="3523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K" sz="1100" cap="none" spc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marL="96758" marR="9221" marT="74429" marB="74429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E006</a:t>
                      </a:r>
                    </a:p>
                  </a:txBody>
                  <a:tcPr marL="96758" marR="9221" marT="74429" marB="7442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Daniel Kristensen</a:t>
                      </a:r>
                    </a:p>
                  </a:txBody>
                  <a:tcPr marL="96758" marR="9221" marT="74429" marB="7442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Sys Admin</a:t>
                      </a:r>
                    </a:p>
                  </a:txBody>
                  <a:tcPr marL="96758" marR="9221" marT="74429" marB="7442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P106</a:t>
                      </a:r>
                    </a:p>
                  </a:txBody>
                  <a:tcPr marL="96758" marR="9221" marT="74429" marB="7442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Cloud Security Audit</a:t>
                      </a:r>
                    </a:p>
                  </a:txBody>
                  <a:tcPr marL="96758" marR="9221" marT="74429" marB="7442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K" sz="1100" cap="none" spc="0">
                          <a:solidFill>
                            <a:schemeClr val="tx1"/>
                          </a:solidFill>
                        </a:rPr>
                        <a:t>700</a:t>
                      </a:r>
                    </a:p>
                  </a:txBody>
                  <a:tcPr marL="96758" marR="9221" marT="74429" marB="7442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K" sz="1100" cap="none" spc="0">
                          <a:solidFill>
                            <a:schemeClr val="tx1"/>
                          </a:solidFill>
                        </a:rPr>
                        <a:t>2025-04-01</a:t>
                      </a:r>
                    </a:p>
                  </a:txBody>
                  <a:tcPr marL="96758" marR="9221" marT="74429" marB="7442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K" sz="1100" cap="none" spc="0">
                          <a:solidFill>
                            <a:schemeClr val="tx1"/>
                          </a:solidFill>
                        </a:rPr>
                        <a:t>2025-06-30</a:t>
                      </a:r>
                    </a:p>
                  </a:txBody>
                  <a:tcPr marL="96758" marR="9221" marT="74429" marB="7442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8768559"/>
                  </a:ext>
                </a:extLst>
              </a:tr>
              <a:tr h="3523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K" sz="1100" cap="none" spc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marL="96758" marR="9221" marT="74429" marB="74429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E007</a:t>
                      </a:r>
                    </a:p>
                  </a:txBody>
                  <a:tcPr marL="96758" marR="9221" marT="74429" marB="7442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Laura Holm</a:t>
                      </a:r>
                    </a:p>
                  </a:txBody>
                  <a:tcPr marL="96758" marR="9221" marT="74429" marB="7442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Data Engineer</a:t>
                      </a:r>
                    </a:p>
                  </a:txBody>
                  <a:tcPr marL="96758" marR="9221" marT="74429" marB="7442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P107</a:t>
                      </a:r>
                    </a:p>
                  </a:txBody>
                  <a:tcPr marL="96758" marR="9221" marT="74429" marB="7442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ETL Stabilisation</a:t>
                      </a:r>
                    </a:p>
                  </a:txBody>
                  <a:tcPr marL="96758" marR="9221" marT="74429" marB="7442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K" sz="1100" cap="none" spc="0">
                          <a:solidFill>
                            <a:schemeClr val="tx1"/>
                          </a:solidFill>
                        </a:rPr>
                        <a:t>770</a:t>
                      </a:r>
                    </a:p>
                  </a:txBody>
                  <a:tcPr marL="96758" marR="9221" marT="74429" marB="7442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K" sz="1100" cap="none" spc="0">
                          <a:solidFill>
                            <a:schemeClr val="tx1"/>
                          </a:solidFill>
                        </a:rPr>
                        <a:t>2025-01-18</a:t>
                      </a:r>
                    </a:p>
                  </a:txBody>
                  <a:tcPr marL="96758" marR="9221" marT="74429" marB="7442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K" sz="1100" cap="none" spc="0">
                          <a:solidFill>
                            <a:schemeClr val="tx1"/>
                          </a:solidFill>
                        </a:rPr>
                        <a:t>2025-04-10</a:t>
                      </a:r>
                    </a:p>
                  </a:txBody>
                  <a:tcPr marL="96758" marR="9221" marT="74429" marB="7442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5420995"/>
                  </a:ext>
                </a:extLst>
              </a:tr>
              <a:tr h="3523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K" sz="1100" cap="none" spc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marL="96758" marR="9221" marT="74429" marB="74429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E008</a:t>
                      </a:r>
                    </a:p>
                  </a:txBody>
                  <a:tcPr marL="96758" marR="9221" marT="74429" marB="7442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Victor Thomsen</a:t>
                      </a:r>
                    </a:p>
                  </a:txBody>
                  <a:tcPr marL="96758" marR="9221" marT="74429" marB="7442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Programmer</a:t>
                      </a:r>
                    </a:p>
                  </a:txBody>
                  <a:tcPr marL="96758" marR="9221" marT="74429" marB="7442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P108</a:t>
                      </a:r>
                    </a:p>
                  </a:txBody>
                  <a:tcPr marL="96758" marR="9221" marT="74429" marB="7442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IoT Pipeline Setup</a:t>
                      </a:r>
                    </a:p>
                  </a:txBody>
                  <a:tcPr marL="96758" marR="9221" marT="74429" marB="7442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K" sz="1100" cap="none" spc="0">
                          <a:solidFill>
                            <a:schemeClr val="tx1"/>
                          </a:solidFill>
                        </a:rPr>
                        <a:t>780</a:t>
                      </a:r>
                    </a:p>
                  </a:txBody>
                  <a:tcPr marL="96758" marR="9221" marT="74429" marB="7442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K" sz="1100" cap="none" spc="0">
                          <a:solidFill>
                            <a:schemeClr val="tx1"/>
                          </a:solidFill>
                        </a:rPr>
                        <a:t>2025-03-12</a:t>
                      </a:r>
                    </a:p>
                  </a:txBody>
                  <a:tcPr marL="96758" marR="9221" marT="74429" marB="7442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K" sz="1100" cap="none" spc="0">
                          <a:solidFill>
                            <a:schemeClr val="tx1"/>
                          </a:solidFill>
                        </a:rPr>
                        <a:t>2025-07-01</a:t>
                      </a:r>
                    </a:p>
                  </a:txBody>
                  <a:tcPr marL="96758" marR="9221" marT="74429" marB="7442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2954877"/>
                  </a:ext>
                </a:extLst>
              </a:tr>
              <a:tr h="3523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K" sz="1100" cap="none" spc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marL="96758" marR="9221" marT="74429" marB="74429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E009</a:t>
                      </a:r>
                    </a:p>
                  </a:txBody>
                  <a:tcPr marL="96758" marR="9221" marT="74429" marB="7442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Olivia Jensen</a:t>
                      </a:r>
                    </a:p>
                  </a:txBody>
                  <a:tcPr marL="96758" marR="9221" marT="74429" marB="7442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Sys Admin</a:t>
                      </a:r>
                    </a:p>
                  </a:txBody>
                  <a:tcPr marL="96758" marR="9221" marT="74429" marB="7442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P109</a:t>
                      </a:r>
                    </a:p>
                  </a:txBody>
                  <a:tcPr marL="96758" marR="9221" marT="74429" marB="7442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Infrastructure Hardening</a:t>
                      </a:r>
                    </a:p>
                  </a:txBody>
                  <a:tcPr marL="96758" marR="9221" marT="74429" marB="7442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K" sz="1100" cap="none" spc="0">
                          <a:solidFill>
                            <a:schemeClr val="tx1"/>
                          </a:solidFill>
                        </a:rPr>
                        <a:t>690</a:t>
                      </a:r>
                    </a:p>
                  </a:txBody>
                  <a:tcPr marL="96758" marR="9221" marT="74429" marB="7442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K" sz="1100" cap="none" spc="0">
                          <a:solidFill>
                            <a:schemeClr val="tx1"/>
                          </a:solidFill>
                        </a:rPr>
                        <a:t>2025-02-25</a:t>
                      </a:r>
                    </a:p>
                  </a:txBody>
                  <a:tcPr marL="96758" marR="9221" marT="74429" marB="7442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K" sz="1100" cap="none" spc="0">
                          <a:solidFill>
                            <a:schemeClr val="tx1"/>
                          </a:solidFill>
                        </a:rPr>
                        <a:t>2025-05-05</a:t>
                      </a:r>
                    </a:p>
                  </a:txBody>
                  <a:tcPr marL="96758" marR="9221" marT="74429" marB="7442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1426130"/>
                  </a:ext>
                </a:extLst>
              </a:tr>
              <a:tr h="3523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K" sz="1100" cap="none" spc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L="96758" marR="9221" marT="74429" marB="74429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E010</a:t>
                      </a:r>
                    </a:p>
                  </a:txBody>
                  <a:tcPr marL="96758" marR="9221" marT="74429" marB="7442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Henrik Bøjgaard</a:t>
                      </a:r>
                    </a:p>
                  </a:txBody>
                  <a:tcPr marL="96758" marR="9221" marT="74429" marB="7442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Data Engineer</a:t>
                      </a:r>
                    </a:p>
                  </a:txBody>
                  <a:tcPr marL="96758" marR="9221" marT="74429" marB="7442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P110</a:t>
                      </a:r>
                    </a:p>
                  </a:txBody>
                  <a:tcPr marL="96758" marR="9221" marT="74429" marB="7442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Data Quality Review</a:t>
                      </a:r>
                    </a:p>
                  </a:txBody>
                  <a:tcPr marL="96758" marR="9221" marT="74429" marB="7442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K" sz="1100" cap="none" spc="0">
                          <a:solidFill>
                            <a:schemeClr val="tx1"/>
                          </a:solidFill>
                        </a:rPr>
                        <a:t>755</a:t>
                      </a:r>
                    </a:p>
                  </a:txBody>
                  <a:tcPr marL="96758" marR="9221" marT="74429" marB="7442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K" sz="1100" cap="none" spc="0">
                          <a:solidFill>
                            <a:schemeClr val="tx1"/>
                          </a:solidFill>
                        </a:rPr>
                        <a:t>2025-03-03</a:t>
                      </a:r>
                    </a:p>
                  </a:txBody>
                  <a:tcPr marL="96758" marR="9221" marT="74429" marB="7442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K" sz="1100" cap="none" spc="0" dirty="0">
                          <a:solidFill>
                            <a:schemeClr val="tx1"/>
                          </a:solidFill>
                        </a:rPr>
                        <a:t>2025-06-22</a:t>
                      </a:r>
                    </a:p>
                  </a:txBody>
                  <a:tcPr marL="96758" marR="9221" marT="74429" marB="7442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0081663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4F23EF1-53A8-3F6A-C0AE-1961AD2807D4}"/>
                  </a:ext>
                </a:extLst>
              </p14:cNvPr>
              <p14:cNvContentPartPr/>
              <p14:nvPr/>
            </p14:nvContentPartPr>
            <p14:xfrm>
              <a:off x="1264680" y="2434640"/>
              <a:ext cx="47340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74F23EF1-53A8-3F6A-C0AE-1961AD2807D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01680" y="2371640"/>
                <a:ext cx="59904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2AAAD6E3-416A-E95B-E803-F3C27A3B4A92}"/>
                  </a:ext>
                </a:extLst>
              </p14:cNvPr>
              <p14:cNvContentPartPr/>
              <p14:nvPr/>
            </p14:nvContentPartPr>
            <p14:xfrm>
              <a:off x="5286960" y="2415920"/>
              <a:ext cx="495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2AAAD6E3-416A-E95B-E803-F3C27A3B4A9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224006" y="2352920"/>
                <a:ext cx="620909" cy="12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787338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D2241-B364-3146-8D3F-E8DA074616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8024" y="576579"/>
            <a:ext cx="5535295" cy="553998"/>
          </a:xfrm>
        </p:spPr>
        <p:txBody>
          <a:bodyPr/>
          <a:lstStyle/>
          <a:p>
            <a:r>
              <a:rPr lang="en-GB" dirty="0"/>
              <a:t>E</a:t>
            </a:r>
            <a:r>
              <a:rPr lang="en-DK" dirty="0"/>
              <a:t>fter 2NF</a:t>
            </a:r>
          </a:p>
        </p:txBody>
      </p:sp>
      <p:pic>
        <p:nvPicPr>
          <p:cNvPr id="12" name="Picture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9A88C13-0FF6-DB9D-2FD7-357249F417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1295400"/>
            <a:ext cx="6337300" cy="452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2407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31756-4F19-CA2D-D087-BE1F18264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8024" y="576579"/>
            <a:ext cx="5535295" cy="553998"/>
          </a:xfrm>
        </p:spPr>
        <p:txBody>
          <a:bodyPr/>
          <a:lstStyle/>
          <a:p>
            <a:r>
              <a:rPr lang="en-DK" dirty="0"/>
              <a:t>JOIN TABLE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3D69B4-F535-7FA6-F0EB-2EC7B2661A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28800" y="3441700"/>
            <a:ext cx="6622415" cy="830997"/>
          </a:xfrm>
        </p:spPr>
        <p:txBody>
          <a:bodyPr/>
          <a:lstStyle/>
          <a:p>
            <a:r>
              <a:rPr lang="en-GB" dirty="0"/>
              <a:t>K</a:t>
            </a:r>
            <a:r>
              <a:rPr lang="en-DK" dirty="0"/>
              <a:t>ilder: </a:t>
            </a:r>
            <a:r>
              <a:rPr lang="en-GB" dirty="0">
                <a:hlinkClick r:id="rId2"/>
              </a:rPr>
              <a:t>https://learn.microsoft.com/en-us/ef/core/modeling/relationships/many-to-many</a:t>
            </a:r>
            <a:endParaRPr lang="en-GB" dirty="0"/>
          </a:p>
          <a:p>
            <a:endParaRPr lang="en-DK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CB0F68-D672-4F96-986D-B21A3A543348}"/>
              </a:ext>
            </a:extLst>
          </p:cNvPr>
          <p:cNvSpPr txBox="1"/>
          <p:nvPr/>
        </p:nvSpPr>
        <p:spPr>
          <a:xfrm>
            <a:off x="1676400" y="160142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dirty="0"/>
              <a:t>En </a:t>
            </a:r>
            <a:r>
              <a:rPr lang="en-GB" b="1" dirty="0"/>
              <a:t>join table</a:t>
            </a:r>
            <a:r>
              <a:rPr lang="en-GB" dirty="0"/>
              <a:t>  </a:t>
            </a:r>
            <a:r>
              <a:rPr lang="en-GB" dirty="0" err="1"/>
              <a:t>bruges</a:t>
            </a:r>
            <a:r>
              <a:rPr lang="en-GB" dirty="0"/>
              <a:t> </a:t>
            </a:r>
            <a:r>
              <a:rPr lang="en-GB" dirty="0" err="1"/>
              <a:t>i</a:t>
            </a:r>
            <a:r>
              <a:rPr lang="en-GB" dirty="0"/>
              <a:t> </a:t>
            </a:r>
            <a:r>
              <a:rPr lang="en-GB" dirty="0" err="1"/>
              <a:t>databaser</a:t>
            </a:r>
            <a:r>
              <a:rPr lang="en-GB" dirty="0"/>
              <a:t> </a:t>
            </a:r>
            <a:r>
              <a:rPr lang="en-GB" dirty="0" err="1"/>
              <a:t>til</a:t>
            </a:r>
            <a:r>
              <a:rPr lang="en-GB" dirty="0"/>
              <a:t> at </a:t>
            </a:r>
            <a:r>
              <a:rPr lang="en-GB" b="1" dirty="0" err="1"/>
              <a:t>omdanne</a:t>
            </a:r>
            <a:r>
              <a:rPr lang="en-GB" b="1" dirty="0"/>
              <a:t> </a:t>
            </a:r>
            <a:r>
              <a:rPr lang="en-GB" b="1" dirty="0" err="1"/>
              <a:t>en</a:t>
            </a:r>
            <a:r>
              <a:rPr lang="en-GB" b="1" dirty="0"/>
              <a:t> many-to-many-relation </a:t>
            </a:r>
            <a:r>
              <a:rPr lang="en-GB" b="1" dirty="0" err="1"/>
              <a:t>til</a:t>
            </a:r>
            <a:r>
              <a:rPr lang="en-GB" b="1" dirty="0"/>
              <a:t> to one-to-many-</a:t>
            </a:r>
            <a:r>
              <a:rPr lang="en-GB" b="1" dirty="0" err="1"/>
              <a:t>relationer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857834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F191B-737F-86D7-B5E7-2E88ADB2C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8024" y="576579"/>
            <a:ext cx="5535295" cy="553998"/>
          </a:xfrm>
        </p:spPr>
        <p:txBody>
          <a:bodyPr/>
          <a:lstStyle/>
          <a:p>
            <a:r>
              <a:rPr lang="en-DK" dirty="0"/>
              <a:t>Efter 3NF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241F7B-A2BA-BF64-94DF-53596F3AAF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9386202-F3E2-C419-987F-7CA34988F2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3800" y="538479"/>
            <a:ext cx="4991100" cy="520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7518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528623" y="4593150"/>
            <a:ext cx="2162810" cy="2009775"/>
          </a:xfrm>
          <a:custGeom>
            <a:avLst/>
            <a:gdLst/>
            <a:ahLst/>
            <a:cxnLst/>
            <a:rect l="l" t="t" r="r" b="b"/>
            <a:pathLst>
              <a:path w="2162809" h="2009775">
                <a:moveTo>
                  <a:pt x="364841" y="1859458"/>
                </a:moveTo>
                <a:lnTo>
                  <a:pt x="314735" y="1866469"/>
                </a:lnTo>
                <a:lnTo>
                  <a:pt x="314557" y="1866469"/>
                </a:lnTo>
                <a:lnTo>
                  <a:pt x="265037" y="1872130"/>
                </a:lnTo>
                <a:lnTo>
                  <a:pt x="264807" y="1872130"/>
                </a:lnTo>
                <a:lnTo>
                  <a:pt x="214969" y="1876556"/>
                </a:lnTo>
                <a:lnTo>
                  <a:pt x="214647" y="1876556"/>
                </a:lnTo>
                <a:lnTo>
                  <a:pt x="164545" y="1879731"/>
                </a:lnTo>
                <a:lnTo>
                  <a:pt x="164011" y="1879731"/>
                </a:lnTo>
                <a:lnTo>
                  <a:pt x="113781" y="1881640"/>
                </a:lnTo>
                <a:lnTo>
                  <a:pt x="112168" y="1881640"/>
                </a:lnTo>
                <a:lnTo>
                  <a:pt x="62691" y="1882266"/>
                </a:lnTo>
                <a:lnTo>
                  <a:pt x="18029" y="1901431"/>
                </a:lnTo>
                <a:lnTo>
                  <a:pt x="71" y="1946188"/>
                </a:lnTo>
                <a:lnTo>
                  <a:pt x="0" y="1946564"/>
                </a:lnTo>
                <a:lnTo>
                  <a:pt x="5302" y="1971216"/>
                </a:lnTo>
                <a:lnTo>
                  <a:pt x="19165" y="1991226"/>
                </a:lnTo>
                <a:lnTo>
                  <a:pt x="39520" y="2004578"/>
                </a:lnTo>
                <a:lnTo>
                  <a:pt x="64298" y="2009255"/>
                </a:lnTo>
                <a:lnTo>
                  <a:pt x="117800" y="2008578"/>
                </a:lnTo>
                <a:lnTo>
                  <a:pt x="171775" y="2006528"/>
                </a:lnTo>
                <a:lnTo>
                  <a:pt x="225402" y="2003129"/>
                </a:lnTo>
                <a:lnTo>
                  <a:pt x="278664" y="1998400"/>
                </a:lnTo>
                <a:lnTo>
                  <a:pt x="331542" y="1992355"/>
                </a:lnTo>
                <a:lnTo>
                  <a:pt x="384018" y="1985012"/>
                </a:lnTo>
                <a:lnTo>
                  <a:pt x="436078" y="1976387"/>
                </a:lnTo>
                <a:lnTo>
                  <a:pt x="477596" y="1963351"/>
                </a:lnTo>
                <a:lnTo>
                  <a:pt x="504426" y="1923803"/>
                </a:lnTo>
                <a:lnTo>
                  <a:pt x="504648" y="1901431"/>
                </a:lnTo>
                <a:lnTo>
                  <a:pt x="504676" y="1898589"/>
                </a:lnTo>
                <a:lnTo>
                  <a:pt x="495124" y="1875252"/>
                </a:lnTo>
                <a:lnTo>
                  <a:pt x="479551" y="1859589"/>
                </a:lnTo>
                <a:lnTo>
                  <a:pt x="364049" y="1859589"/>
                </a:lnTo>
                <a:lnTo>
                  <a:pt x="364841" y="1859458"/>
                </a:lnTo>
                <a:close/>
              </a:path>
              <a:path w="2162809" h="2009775">
                <a:moveTo>
                  <a:pt x="430361" y="1848172"/>
                </a:moveTo>
                <a:lnTo>
                  <a:pt x="413800" y="1851356"/>
                </a:lnTo>
                <a:lnTo>
                  <a:pt x="364049" y="1859589"/>
                </a:lnTo>
                <a:lnTo>
                  <a:pt x="479551" y="1859589"/>
                </a:lnTo>
                <a:lnTo>
                  <a:pt x="477961" y="1857989"/>
                </a:lnTo>
                <a:lnTo>
                  <a:pt x="455576" y="1848422"/>
                </a:lnTo>
                <a:lnTo>
                  <a:pt x="430361" y="1848172"/>
                </a:lnTo>
                <a:close/>
              </a:path>
              <a:path w="2162809" h="2009775">
                <a:moveTo>
                  <a:pt x="921090" y="1687203"/>
                </a:moveTo>
                <a:lnTo>
                  <a:pt x="898411" y="1697456"/>
                </a:lnTo>
                <a:lnTo>
                  <a:pt x="877945" y="1712185"/>
                </a:lnTo>
                <a:lnTo>
                  <a:pt x="865159" y="1732900"/>
                </a:lnTo>
                <a:lnTo>
                  <a:pt x="861073" y="1756898"/>
                </a:lnTo>
                <a:lnTo>
                  <a:pt x="866708" y="1781476"/>
                </a:lnTo>
                <a:lnTo>
                  <a:pt x="881438" y="1801943"/>
                </a:lnTo>
                <a:lnTo>
                  <a:pt x="902153" y="1814729"/>
                </a:lnTo>
                <a:lnTo>
                  <a:pt x="926151" y="1818814"/>
                </a:lnTo>
                <a:lnTo>
                  <a:pt x="950729" y="1813179"/>
                </a:lnTo>
                <a:lnTo>
                  <a:pt x="976232" y="1801649"/>
                </a:lnTo>
                <a:lnTo>
                  <a:pt x="1067015" y="1755153"/>
                </a:lnTo>
                <a:lnTo>
                  <a:pt x="1155180" y="1704459"/>
                </a:lnTo>
                <a:lnTo>
                  <a:pt x="1180999" y="1687907"/>
                </a:lnTo>
                <a:lnTo>
                  <a:pt x="919716" y="1687907"/>
                </a:lnTo>
                <a:lnTo>
                  <a:pt x="921090" y="1687203"/>
                </a:lnTo>
                <a:close/>
              </a:path>
              <a:path w="2162809" h="2009775">
                <a:moveTo>
                  <a:pt x="1183095" y="1686563"/>
                </a:moveTo>
                <a:lnTo>
                  <a:pt x="922505" y="1686563"/>
                </a:lnTo>
                <a:lnTo>
                  <a:pt x="919716" y="1687907"/>
                </a:lnTo>
                <a:lnTo>
                  <a:pt x="1180999" y="1687907"/>
                </a:lnTo>
                <a:lnTo>
                  <a:pt x="1183095" y="1686563"/>
                </a:lnTo>
                <a:close/>
              </a:path>
              <a:path w="2162809" h="2009775">
                <a:moveTo>
                  <a:pt x="1006384" y="1643518"/>
                </a:moveTo>
                <a:lnTo>
                  <a:pt x="921090" y="1687203"/>
                </a:lnTo>
                <a:lnTo>
                  <a:pt x="922505" y="1686563"/>
                </a:lnTo>
                <a:lnTo>
                  <a:pt x="1183095" y="1686563"/>
                </a:lnTo>
                <a:lnTo>
                  <a:pt x="1240594" y="1649702"/>
                </a:lnTo>
                <a:lnTo>
                  <a:pt x="1248207" y="1644288"/>
                </a:lnTo>
                <a:lnTo>
                  <a:pt x="1005046" y="1644288"/>
                </a:lnTo>
                <a:lnTo>
                  <a:pt x="1006384" y="1643518"/>
                </a:lnTo>
                <a:close/>
              </a:path>
              <a:path w="2162809" h="2009775">
                <a:moveTo>
                  <a:pt x="1250274" y="1642818"/>
                </a:moveTo>
                <a:lnTo>
                  <a:pt x="1007751" y="1642818"/>
                </a:lnTo>
                <a:lnTo>
                  <a:pt x="1005046" y="1644288"/>
                </a:lnTo>
                <a:lnTo>
                  <a:pt x="1248207" y="1644288"/>
                </a:lnTo>
                <a:lnTo>
                  <a:pt x="1250274" y="1642818"/>
                </a:lnTo>
                <a:close/>
              </a:path>
              <a:path w="2162809" h="2009775">
                <a:moveTo>
                  <a:pt x="1307362" y="1595126"/>
                </a:moveTo>
                <a:lnTo>
                  <a:pt x="1090546" y="1595126"/>
                </a:lnTo>
                <a:lnTo>
                  <a:pt x="1087927" y="1596717"/>
                </a:lnTo>
                <a:lnTo>
                  <a:pt x="1087779" y="1596717"/>
                </a:lnTo>
                <a:lnTo>
                  <a:pt x="1006384" y="1643518"/>
                </a:lnTo>
                <a:lnTo>
                  <a:pt x="1007751" y="1642818"/>
                </a:lnTo>
                <a:lnTo>
                  <a:pt x="1250274" y="1642818"/>
                </a:lnTo>
                <a:lnTo>
                  <a:pt x="1289612" y="1614844"/>
                </a:lnTo>
                <a:lnTo>
                  <a:pt x="1306616" y="1596717"/>
                </a:lnTo>
                <a:lnTo>
                  <a:pt x="1087927" y="1596717"/>
                </a:lnTo>
                <a:lnTo>
                  <a:pt x="1088338" y="1596453"/>
                </a:lnTo>
                <a:lnTo>
                  <a:pt x="1306863" y="1596453"/>
                </a:lnTo>
                <a:lnTo>
                  <a:pt x="1307362" y="1595126"/>
                </a:lnTo>
                <a:close/>
              </a:path>
              <a:path w="2162809" h="2009775">
                <a:moveTo>
                  <a:pt x="1169482" y="1544433"/>
                </a:moveTo>
                <a:lnTo>
                  <a:pt x="1089218" y="1595889"/>
                </a:lnTo>
                <a:lnTo>
                  <a:pt x="1090546" y="1595126"/>
                </a:lnTo>
                <a:lnTo>
                  <a:pt x="1307362" y="1595126"/>
                </a:lnTo>
                <a:lnTo>
                  <a:pt x="1315426" y="1573665"/>
                </a:lnTo>
                <a:lnTo>
                  <a:pt x="1314819" y="1549330"/>
                </a:lnTo>
                <a:lnTo>
                  <a:pt x="1313032" y="1545318"/>
                </a:lnTo>
                <a:lnTo>
                  <a:pt x="1168238" y="1545318"/>
                </a:lnTo>
                <a:lnTo>
                  <a:pt x="1169482" y="1544433"/>
                </a:lnTo>
                <a:close/>
              </a:path>
              <a:path w="2162809" h="2009775">
                <a:moveTo>
                  <a:pt x="1263383" y="1500480"/>
                </a:moveTo>
                <a:lnTo>
                  <a:pt x="1239047" y="1501087"/>
                </a:lnTo>
                <a:lnTo>
                  <a:pt x="1216012" y="1511345"/>
                </a:lnTo>
                <a:lnTo>
                  <a:pt x="1170767" y="1543610"/>
                </a:lnTo>
                <a:lnTo>
                  <a:pt x="1168238" y="1545318"/>
                </a:lnTo>
                <a:lnTo>
                  <a:pt x="1313032" y="1545318"/>
                </a:lnTo>
                <a:lnTo>
                  <a:pt x="1304561" y="1526295"/>
                </a:lnTo>
                <a:lnTo>
                  <a:pt x="1286171" y="1509043"/>
                </a:lnTo>
                <a:lnTo>
                  <a:pt x="1263383" y="1500480"/>
                </a:lnTo>
                <a:close/>
              </a:path>
              <a:path w="2162809" h="2009775">
                <a:moveTo>
                  <a:pt x="1849571" y="843688"/>
                </a:moveTo>
                <a:lnTo>
                  <a:pt x="1803431" y="856139"/>
                </a:lnTo>
                <a:lnTo>
                  <a:pt x="1764136" y="914469"/>
                </a:lnTo>
                <a:lnTo>
                  <a:pt x="1756167" y="928477"/>
                </a:lnTo>
                <a:lnTo>
                  <a:pt x="1755381" y="929772"/>
                </a:lnTo>
                <a:lnTo>
                  <a:pt x="1754488" y="931096"/>
                </a:lnTo>
                <a:lnTo>
                  <a:pt x="1713052" y="995729"/>
                </a:lnTo>
                <a:lnTo>
                  <a:pt x="1704769" y="1008787"/>
                </a:lnTo>
                <a:lnTo>
                  <a:pt x="1703916" y="1010049"/>
                </a:lnTo>
                <a:lnTo>
                  <a:pt x="1702971" y="1011316"/>
                </a:lnTo>
                <a:lnTo>
                  <a:pt x="1653315" y="1081143"/>
                </a:lnTo>
                <a:lnTo>
                  <a:pt x="1649666" y="1086400"/>
                </a:lnTo>
                <a:lnTo>
                  <a:pt x="1648776" y="1087591"/>
                </a:lnTo>
                <a:lnTo>
                  <a:pt x="1647752" y="1088836"/>
                </a:lnTo>
                <a:lnTo>
                  <a:pt x="1590986" y="1161190"/>
                </a:lnTo>
                <a:lnTo>
                  <a:pt x="1590034" y="1162343"/>
                </a:lnTo>
                <a:lnTo>
                  <a:pt x="1588959" y="1163530"/>
                </a:lnTo>
                <a:lnTo>
                  <a:pt x="1576802" y="1177563"/>
                </a:lnTo>
                <a:lnTo>
                  <a:pt x="1564391" y="1199513"/>
                </a:lnTo>
                <a:lnTo>
                  <a:pt x="1561461" y="1223680"/>
                </a:lnTo>
                <a:lnTo>
                  <a:pt x="1567808" y="1247181"/>
                </a:lnTo>
                <a:lnTo>
                  <a:pt x="1583223" y="1267136"/>
                </a:lnTo>
                <a:lnTo>
                  <a:pt x="1605173" y="1279547"/>
                </a:lnTo>
                <a:lnTo>
                  <a:pt x="1629339" y="1282477"/>
                </a:lnTo>
                <a:lnTo>
                  <a:pt x="1652841" y="1276130"/>
                </a:lnTo>
                <a:lnTo>
                  <a:pt x="1687973" y="1243194"/>
                </a:lnTo>
                <a:lnTo>
                  <a:pt x="1750462" y="1163675"/>
                </a:lnTo>
                <a:lnTo>
                  <a:pt x="1809151" y="1081143"/>
                </a:lnTo>
                <a:lnTo>
                  <a:pt x="1863910" y="995729"/>
                </a:lnTo>
                <a:lnTo>
                  <a:pt x="1896883" y="938383"/>
                </a:lnTo>
                <a:lnTo>
                  <a:pt x="1904877" y="914469"/>
                </a:lnTo>
                <a:lnTo>
                  <a:pt x="1903140" y="890187"/>
                </a:lnTo>
                <a:lnTo>
                  <a:pt x="1892426" y="868329"/>
                </a:lnTo>
                <a:lnTo>
                  <a:pt x="1873486" y="851683"/>
                </a:lnTo>
                <a:lnTo>
                  <a:pt x="1849571" y="843688"/>
                </a:lnTo>
                <a:close/>
              </a:path>
              <a:path w="2162809" h="2009775">
                <a:moveTo>
                  <a:pt x="2104687" y="0"/>
                </a:moveTo>
                <a:lnTo>
                  <a:pt x="2058316" y="14553"/>
                </a:lnTo>
                <a:lnTo>
                  <a:pt x="2035818" y="57633"/>
                </a:lnTo>
                <a:lnTo>
                  <a:pt x="2031580" y="105586"/>
                </a:lnTo>
                <a:lnTo>
                  <a:pt x="2025920" y="155284"/>
                </a:lnTo>
                <a:lnTo>
                  <a:pt x="2019039" y="204598"/>
                </a:lnTo>
                <a:lnTo>
                  <a:pt x="2010813" y="254308"/>
                </a:lnTo>
                <a:lnTo>
                  <a:pt x="2001525" y="302789"/>
                </a:lnTo>
                <a:lnTo>
                  <a:pt x="1991060" y="350861"/>
                </a:lnTo>
                <a:lnTo>
                  <a:pt x="1979446" y="398454"/>
                </a:lnTo>
                <a:lnTo>
                  <a:pt x="1973179" y="421577"/>
                </a:lnTo>
                <a:lnTo>
                  <a:pt x="1971540" y="446740"/>
                </a:lnTo>
                <a:lnTo>
                  <a:pt x="1979404" y="469778"/>
                </a:lnTo>
                <a:lnTo>
                  <a:pt x="1995333" y="488186"/>
                </a:lnTo>
                <a:lnTo>
                  <a:pt x="2017889" y="499459"/>
                </a:lnTo>
                <a:lnTo>
                  <a:pt x="2043051" y="501098"/>
                </a:lnTo>
                <a:lnTo>
                  <a:pt x="2066089" y="493234"/>
                </a:lnTo>
                <a:lnTo>
                  <a:pt x="2095770" y="454750"/>
                </a:lnTo>
                <a:lnTo>
                  <a:pt x="2114807" y="379422"/>
                </a:lnTo>
                <a:lnTo>
                  <a:pt x="2125946" y="328251"/>
                </a:lnTo>
                <a:lnTo>
                  <a:pt x="2135837" y="276627"/>
                </a:lnTo>
                <a:lnTo>
                  <a:pt x="2144462" y="224569"/>
                </a:lnTo>
                <a:lnTo>
                  <a:pt x="2151805" y="172091"/>
                </a:lnTo>
                <a:lnTo>
                  <a:pt x="2157850" y="119213"/>
                </a:lnTo>
                <a:lnTo>
                  <a:pt x="2162321" y="68867"/>
                </a:lnTo>
                <a:lnTo>
                  <a:pt x="2159536" y="43805"/>
                </a:lnTo>
                <a:lnTo>
                  <a:pt x="2147766" y="22496"/>
                </a:lnTo>
                <a:lnTo>
                  <a:pt x="2128865" y="7156"/>
                </a:lnTo>
                <a:lnTo>
                  <a:pt x="2104687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530"/>
              </a:spcBef>
              <a:buChar char="•"/>
              <a:tabLst>
                <a:tab pos="240665" algn="l"/>
              </a:tabLst>
            </a:pPr>
            <a:r>
              <a:rPr spc="-90" dirty="0"/>
              <a:t>Fordelen</a:t>
            </a:r>
            <a:r>
              <a:rPr spc="-60" dirty="0"/>
              <a:t> </a:t>
            </a:r>
            <a:r>
              <a:rPr spc="-105" dirty="0"/>
              <a:t>ved</a:t>
            </a:r>
            <a:r>
              <a:rPr spc="-60" dirty="0"/>
              <a:t> </a:t>
            </a:r>
            <a:r>
              <a:rPr spc="-55" dirty="0"/>
              <a:t>tabel-</a:t>
            </a:r>
            <a:r>
              <a:rPr spc="-65" dirty="0"/>
              <a:t>normalisering</a:t>
            </a:r>
            <a:r>
              <a:rPr spc="-55" dirty="0"/>
              <a:t> </a:t>
            </a:r>
            <a:r>
              <a:rPr spc="-70" dirty="0"/>
              <a:t>ligger </a:t>
            </a:r>
            <a:r>
              <a:rPr spc="-105" dirty="0"/>
              <a:t>på</a:t>
            </a:r>
            <a:r>
              <a:rPr spc="-60" dirty="0"/>
              <a:t> </a:t>
            </a:r>
            <a:r>
              <a:rPr spc="-35" dirty="0"/>
              <a:t>flere</a:t>
            </a:r>
            <a:r>
              <a:rPr spc="-65" dirty="0"/>
              <a:t> </a:t>
            </a:r>
            <a:r>
              <a:rPr spc="-10" dirty="0"/>
              <a:t>områder:</a:t>
            </a:r>
          </a:p>
          <a:p>
            <a:pPr marL="355600" marR="5080" lvl="1" indent="-228600">
              <a:lnSpc>
                <a:spcPts val="1900"/>
              </a:lnSpc>
              <a:spcBef>
                <a:spcPts val="715"/>
              </a:spcBef>
              <a:buChar char="•"/>
              <a:tabLst>
                <a:tab pos="355600" algn="l"/>
              </a:tabLst>
            </a:pPr>
            <a:r>
              <a:rPr sz="1800" spc="-90" dirty="0">
                <a:latin typeface="Arial"/>
                <a:cs typeface="Arial"/>
              </a:rPr>
              <a:t>Vedligeholdelse</a:t>
            </a:r>
            <a:r>
              <a:rPr sz="1800" spc="-60" dirty="0"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lettes,</a:t>
            </a:r>
            <a:r>
              <a:rPr sz="1800" spc="-6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</a:t>
            </a:r>
            <a:r>
              <a:rPr sz="1800" spc="-60" dirty="0">
                <a:latin typeface="Arial"/>
                <a:cs typeface="Arial"/>
              </a:rPr>
              <a:t> </a:t>
            </a:r>
            <a:r>
              <a:rPr sz="1800" spc="-35" dirty="0">
                <a:latin typeface="Arial"/>
                <a:cs typeface="Arial"/>
              </a:rPr>
              <a:t>form</a:t>
            </a:r>
            <a:r>
              <a:rPr sz="1800" spc="-60" dirty="0">
                <a:latin typeface="Arial"/>
                <a:cs typeface="Arial"/>
              </a:rPr>
              <a:t> af </a:t>
            </a:r>
            <a:r>
              <a:rPr sz="1800" spc="-80" dirty="0">
                <a:latin typeface="Arial"/>
                <a:cs typeface="Arial"/>
              </a:rPr>
              <a:t>indsættelse</a:t>
            </a:r>
            <a:r>
              <a:rPr sz="1800" spc="-60" dirty="0">
                <a:latin typeface="Arial"/>
                <a:cs typeface="Arial"/>
              </a:rPr>
              <a:t> af </a:t>
            </a:r>
            <a:r>
              <a:rPr sz="1800" spc="-114" dirty="0">
                <a:latin typeface="Arial"/>
                <a:cs typeface="Arial"/>
              </a:rPr>
              <a:t>nye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spc="-70" dirty="0">
                <a:latin typeface="Arial"/>
                <a:cs typeface="Arial"/>
              </a:rPr>
              <a:t>data,</a:t>
            </a:r>
            <a:r>
              <a:rPr sz="1800" spc="-60" dirty="0">
                <a:latin typeface="Arial"/>
                <a:cs typeface="Arial"/>
              </a:rPr>
              <a:t> </a:t>
            </a:r>
            <a:r>
              <a:rPr sz="1800" spc="-30" dirty="0">
                <a:latin typeface="Arial"/>
                <a:cs typeface="Arial"/>
              </a:rPr>
              <a:t>opdatering </a:t>
            </a:r>
            <a:r>
              <a:rPr sz="1800" spc="-110" dirty="0">
                <a:latin typeface="Arial"/>
                <a:cs typeface="Arial"/>
              </a:rPr>
              <a:t>og</a:t>
            </a:r>
            <a:r>
              <a:rPr sz="1800" spc="-9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sletning.</a:t>
            </a:r>
            <a:endParaRPr sz="1800">
              <a:latin typeface="Arial"/>
              <a:cs typeface="Arial"/>
            </a:endParaRPr>
          </a:p>
          <a:p>
            <a:pPr marL="354965" lvl="1" indent="-227965">
              <a:lnSpc>
                <a:spcPct val="100000"/>
              </a:lnSpc>
              <a:spcBef>
                <a:spcPts val="405"/>
              </a:spcBef>
              <a:buChar char="•"/>
              <a:tabLst>
                <a:tab pos="354965" algn="l"/>
              </a:tabLst>
            </a:pPr>
            <a:r>
              <a:rPr sz="1800" spc="-60" dirty="0">
                <a:latin typeface="Arial"/>
                <a:cs typeface="Arial"/>
              </a:rPr>
              <a:t>Fleksibilitet</a:t>
            </a:r>
            <a:r>
              <a:rPr sz="1800" spc="-75" dirty="0">
                <a:latin typeface="Arial"/>
                <a:cs typeface="Arial"/>
              </a:rPr>
              <a:t> </a:t>
            </a:r>
            <a:r>
              <a:rPr sz="1800" spc="-110" dirty="0">
                <a:latin typeface="Arial"/>
                <a:cs typeface="Arial"/>
              </a:rPr>
              <a:t>og</a:t>
            </a:r>
            <a:r>
              <a:rPr sz="1800" spc="-70" dirty="0">
                <a:latin typeface="Arial"/>
                <a:cs typeface="Arial"/>
              </a:rPr>
              <a:t> </a:t>
            </a:r>
            <a:r>
              <a:rPr sz="1800" spc="-55" dirty="0">
                <a:latin typeface="Arial"/>
                <a:cs typeface="Arial"/>
              </a:rPr>
              <a:t>overblik,</a:t>
            </a:r>
            <a:r>
              <a:rPr sz="1800" spc="-70" dirty="0">
                <a:latin typeface="Arial"/>
                <a:cs typeface="Arial"/>
              </a:rPr>
              <a:t> </a:t>
            </a:r>
            <a:r>
              <a:rPr sz="1800" spc="-90" dirty="0">
                <a:latin typeface="Arial"/>
                <a:cs typeface="Arial"/>
              </a:rPr>
              <a:t>men</a:t>
            </a:r>
            <a:r>
              <a:rPr sz="1800" spc="-6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det</a:t>
            </a:r>
            <a:r>
              <a:rPr sz="1800" spc="-75" dirty="0">
                <a:latin typeface="Arial"/>
                <a:cs typeface="Arial"/>
              </a:rPr>
              <a:t> </a:t>
            </a:r>
            <a:r>
              <a:rPr sz="1800" spc="-114" dirty="0">
                <a:latin typeface="Arial"/>
                <a:cs typeface="Arial"/>
              </a:rPr>
              <a:t>kan</a:t>
            </a:r>
            <a:r>
              <a:rPr sz="1800" spc="-60" dirty="0">
                <a:latin typeface="Arial"/>
                <a:cs typeface="Arial"/>
              </a:rPr>
              <a:t> </a:t>
            </a:r>
            <a:r>
              <a:rPr sz="1800" spc="-145" dirty="0">
                <a:latin typeface="Arial"/>
                <a:cs typeface="Arial"/>
              </a:rPr>
              <a:t>også</a:t>
            </a:r>
            <a:r>
              <a:rPr sz="1800" spc="-70" dirty="0">
                <a:latin typeface="Arial"/>
                <a:cs typeface="Arial"/>
              </a:rPr>
              <a:t> </a:t>
            </a:r>
            <a:r>
              <a:rPr sz="1800" spc="-100" dirty="0">
                <a:latin typeface="Arial"/>
                <a:cs typeface="Arial"/>
              </a:rPr>
              <a:t>give</a:t>
            </a:r>
            <a:r>
              <a:rPr sz="1800" spc="-6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et</a:t>
            </a:r>
            <a:r>
              <a:rPr sz="1800" spc="-70" dirty="0"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mindre</a:t>
            </a:r>
            <a:r>
              <a:rPr sz="1800" spc="-6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overblik.</a:t>
            </a:r>
            <a:endParaRPr sz="1800">
              <a:latin typeface="Arial"/>
              <a:cs typeface="Arial"/>
            </a:endParaRPr>
          </a:p>
          <a:p>
            <a:pPr marL="354965" lvl="1" indent="-227965">
              <a:lnSpc>
                <a:spcPct val="100000"/>
              </a:lnSpc>
              <a:spcBef>
                <a:spcPts val="360"/>
              </a:spcBef>
              <a:buChar char="•"/>
              <a:tabLst>
                <a:tab pos="354965" algn="l"/>
              </a:tabLst>
            </a:pPr>
            <a:r>
              <a:rPr sz="1800" spc="-120" dirty="0">
                <a:latin typeface="Arial"/>
                <a:cs typeface="Arial"/>
              </a:rPr>
              <a:t>Pladsbesparelse</a:t>
            </a:r>
            <a:r>
              <a:rPr sz="1800" spc="-40" dirty="0">
                <a:latin typeface="Arial"/>
                <a:cs typeface="Arial"/>
              </a:rPr>
              <a:t> </a:t>
            </a:r>
            <a:r>
              <a:rPr sz="1800" spc="-60" dirty="0">
                <a:latin typeface="Arial"/>
                <a:cs typeface="Arial"/>
              </a:rPr>
              <a:t>(fjernelse</a:t>
            </a:r>
            <a:r>
              <a:rPr sz="1800" spc="-40" dirty="0">
                <a:latin typeface="Arial"/>
                <a:cs typeface="Arial"/>
              </a:rPr>
              <a:t> </a:t>
            </a:r>
            <a:r>
              <a:rPr sz="1800" spc="-60" dirty="0">
                <a:latin typeface="Arial"/>
                <a:cs typeface="Arial"/>
              </a:rPr>
              <a:t>af</a:t>
            </a:r>
            <a:r>
              <a:rPr sz="1800" spc="-50" dirty="0">
                <a:latin typeface="Arial"/>
                <a:cs typeface="Arial"/>
              </a:rPr>
              <a:t> </a:t>
            </a:r>
            <a:r>
              <a:rPr sz="1800" spc="-60" dirty="0">
                <a:latin typeface="Arial"/>
                <a:cs typeface="Arial"/>
              </a:rPr>
              <a:t>redundante</a:t>
            </a:r>
            <a:r>
              <a:rPr sz="1800" spc="-4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data).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777190" cy="68580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185471" y="2506424"/>
            <a:ext cx="2863850" cy="1206500"/>
          </a:xfrm>
          <a:prstGeom prst="rect">
            <a:avLst/>
          </a:prstGeom>
          <a:solidFill>
            <a:srgbClr val="008000"/>
          </a:solidFill>
        </p:spPr>
        <p:txBody>
          <a:bodyPr vert="horz" wrap="square" lIns="0" tIns="39370" rIns="0" bIns="0" rtlCol="0">
            <a:spAutoFit/>
          </a:bodyPr>
          <a:lstStyle/>
          <a:p>
            <a:pPr>
              <a:lnSpc>
                <a:spcPts val="4490"/>
              </a:lnSpc>
              <a:spcBef>
                <a:spcPts val="310"/>
              </a:spcBef>
            </a:pPr>
            <a:r>
              <a:rPr sz="4100" spc="-220" dirty="0">
                <a:solidFill>
                  <a:srgbClr val="FFFFFF"/>
                </a:solidFill>
              </a:rPr>
              <a:t>Fordelen</a:t>
            </a:r>
            <a:r>
              <a:rPr sz="4100" spc="-210" dirty="0">
                <a:solidFill>
                  <a:srgbClr val="FFFFFF"/>
                </a:solidFill>
              </a:rPr>
              <a:t> </a:t>
            </a:r>
            <a:r>
              <a:rPr sz="4100" spc="-25" dirty="0">
                <a:solidFill>
                  <a:srgbClr val="FFFFFF"/>
                </a:solidFill>
              </a:rPr>
              <a:t>ved </a:t>
            </a:r>
            <a:r>
              <a:rPr sz="4100" spc="-160" dirty="0">
                <a:solidFill>
                  <a:srgbClr val="FFFFFF"/>
                </a:solidFill>
              </a:rPr>
              <a:t>normalisering</a:t>
            </a:r>
            <a:endParaRPr sz="41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33695" y="2283459"/>
            <a:ext cx="4319905" cy="1557478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12700" marR="5080">
              <a:lnSpc>
                <a:spcPts val="5690"/>
              </a:lnSpc>
              <a:spcBef>
                <a:spcPts val="745"/>
              </a:spcBef>
            </a:pPr>
            <a:r>
              <a:rPr sz="5200" spc="-235" dirty="0"/>
              <a:t>Ulemper</a:t>
            </a:r>
            <a:r>
              <a:rPr sz="5200" spc="-240" dirty="0"/>
              <a:t> </a:t>
            </a:r>
            <a:r>
              <a:rPr sz="5200" spc="-330" dirty="0" err="1"/>
              <a:t>ved</a:t>
            </a:r>
            <a:r>
              <a:rPr sz="5200" spc="-330" dirty="0"/>
              <a:t> </a:t>
            </a:r>
            <a:r>
              <a:rPr sz="5200" spc="-120" dirty="0"/>
              <a:t>nor</a:t>
            </a:r>
            <a:r>
              <a:rPr lang="da-DK" sz="5200" spc="-120" dirty="0"/>
              <a:t>ma</a:t>
            </a:r>
            <a:r>
              <a:rPr sz="5200" spc="-120" dirty="0" err="1"/>
              <a:t>lisering</a:t>
            </a:r>
            <a:r>
              <a:rPr sz="5200" spc="-120" dirty="0"/>
              <a:t>?</a:t>
            </a:r>
            <a:endParaRPr sz="520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72088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Quiz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33890" y="2486659"/>
            <a:ext cx="6622415" cy="1938992"/>
          </a:xfrm>
        </p:spPr>
        <p:txBody>
          <a:bodyPr wrap="square" lIns="0" tIns="0" rIns="0" bIns="0" anchor="t">
            <a:spAutoFit/>
          </a:bodyPr>
          <a:lstStyle/>
          <a:p>
            <a:r>
              <a:rPr dirty="0"/>
              <a:t>Test din </a:t>
            </a:r>
            <a:r>
              <a:rPr dirty="0" err="1"/>
              <a:t>forståelse</a:t>
            </a:r>
            <a:r>
              <a:rPr dirty="0"/>
              <a:t>:</a:t>
            </a:r>
          </a:p>
          <a:p>
            <a:r>
              <a:rPr dirty="0"/>
              <a:t>1. </a:t>
            </a:r>
            <a:r>
              <a:rPr dirty="0" err="1"/>
              <a:t>Hvad</a:t>
            </a:r>
            <a:r>
              <a:rPr dirty="0"/>
              <a:t> er </a:t>
            </a:r>
            <a:r>
              <a:rPr dirty="0" err="1"/>
              <a:t>formålet</a:t>
            </a:r>
            <a:r>
              <a:rPr dirty="0"/>
              <a:t> med </a:t>
            </a:r>
            <a:r>
              <a:rPr dirty="0" err="1"/>
              <a:t>normalisering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databaser</a:t>
            </a:r>
            <a:r>
              <a:rPr dirty="0"/>
              <a:t>?</a:t>
            </a:r>
          </a:p>
          <a:p>
            <a:r>
              <a:rPr dirty="0"/>
              <a:t>2. </a:t>
            </a:r>
            <a:r>
              <a:rPr dirty="0" err="1"/>
              <a:t>Nævn</a:t>
            </a:r>
            <a:r>
              <a:rPr dirty="0"/>
              <a:t> to </a:t>
            </a:r>
            <a:r>
              <a:rPr dirty="0" err="1"/>
              <a:t>normalformer</a:t>
            </a:r>
            <a:r>
              <a:rPr dirty="0"/>
              <a:t> </a:t>
            </a:r>
            <a:r>
              <a:rPr dirty="0" err="1"/>
              <a:t>og</a:t>
            </a:r>
            <a:r>
              <a:rPr dirty="0"/>
              <a:t> </a:t>
            </a:r>
            <a:r>
              <a:rPr dirty="0" err="1"/>
              <a:t>deres</a:t>
            </a:r>
            <a:r>
              <a:rPr dirty="0"/>
              <a:t> </a:t>
            </a:r>
            <a:r>
              <a:rPr dirty="0" err="1"/>
              <a:t>karakteristika</a:t>
            </a:r>
            <a:r>
              <a:rPr dirty="0"/>
              <a:t>.</a:t>
            </a:r>
          </a:p>
          <a:p>
            <a:r>
              <a:rPr dirty="0"/>
              <a:t>3. </a:t>
            </a:r>
            <a:r>
              <a:rPr dirty="0" err="1"/>
              <a:t>Hvordan</a:t>
            </a:r>
            <a:r>
              <a:rPr dirty="0"/>
              <a:t> </a:t>
            </a:r>
            <a:r>
              <a:rPr dirty="0" err="1"/>
              <a:t>hjælper</a:t>
            </a:r>
            <a:r>
              <a:rPr dirty="0"/>
              <a:t> </a:t>
            </a:r>
            <a:r>
              <a:rPr dirty="0" err="1"/>
              <a:t>normalisering</a:t>
            </a:r>
            <a:r>
              <a:rPr dirty="0"/>
              <a:t> med at </a:t>
            </a:r>
            <a:r>
              <a:rPr dirty="0" err="1"/>
              <a:t>reducere</a:t>
            </a:r>
            <a:r>
              <a:rPr dirty="0"/>
              <a:t> </a:t>
            </a:r>
            <a:r>
              <a:rPr dirty="0" err="1"/>
              <a:t>redundans</a:t>
            </a:r>
            <a:r>
              <a:rPr dirty="0"/>
              <a:t> </a:t>
            </a:r>
            <a:r>
              <a:rPr dirty="0" err="1"/>
              <a:t>og</a:t>
            </a:r>
            <a:r>
              <a:rPr dirty="0"/>
              <a:t> </a:t>
            </a:r>
            <a:r>
              <a:rPr dirty="0" err="1"/>
              <a:t>inkonsistens</a:t>
            </a:r>
            <a:r>
              <a:rPr dirty="0"/>
              <a:t>?</a:t>
            </a:r>
          </a:p>
          <a:p>
            <a:r>
              <a:rPr dirty="0"/>
              <a:t>4. </a:t>
            </a:r>
            <a:r>
              <a:rPr dirty="0" err="1"/>
              <a:t>Hvad</a:t>
            </a:r>
            <a:r>
              <a:rPr dirty="0"/>
              <a:t> er </a:t>
            </a:r>
            <a:r>
              <a:rPr dirty="0" err="1"/>
              <a:t>forskellen</a:t>
            </a:r>
            <a:r>
              <a:rPr dirty="0"/>
              <a:t> </a:t>
            </a:r>
            <a:r>
              <a:rPr dirty="0" err="1"/>
              <a:t>mellem</a:t>
            </a:r>
            <a:r>
              <a:rPr dirty="0"/>
              <a:t> 2NF </a:t>
            </a:r>
            <a:r>
              <a:rPr dirty="0" err="1"/>
              <a:t>og</a:t>
            </a:r>
            <a:r>
              <a:rPr dirty="0"/>
              <a:t> 3NF?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93F3D-1D86-47B7-7C46-02BE0B13C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8024" y="576579"/>
            <a:ext cx="5535295" cy="553998"/>
          </a:xfrm>
        </p:spPr>
        <p:txBody>
          <a:bodyPr wrap="square" lIns="0" tIns="0" rIns="0" bIns="0" anchor="t">
            <a:spAutoFit/>
          </a:bodyPr>
          <a:lstStyle/>
          <a:p>
            <a:r>
              <a:rPr lang="en-DK"/>
              <a:t>Gruppe </a:t>
            </a:r>
            <a:r>
              <a:rPr lang="en-DK" dirty="0" err="1"/>
              <a:t>Opgaver</a:t>
            </a:r>
            <a:endParaRPr lang="en-US" dirty="0" err="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0D29A3-0A27-D319-3D91-C8D7297575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5417022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563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57D341C545B0A44A26A103333756E90" ma:contentTypeVersion="3" ma:contentTypeDescription="Create a new document." ma:contentTypeScope="" ma:versionID="f91149fe5975474b8481cda37e53905a">
  <xsd:schema xmlns:xsd="http://www.w3.org/2001/XMLSchema" xmlns:xs="http://www.w3.org/2001/XMLSchema" xmlns:p="http://schemas.microsoft.com/office/2006/metadata/properties" xmlns:ns2="324ab4a6-501d-4b19-a031-862034374e5f" targetNamespace="http://schemas.microsoft.com/office/2006/metadata/properties" ma:root="true" ma:fieldsID="e67414c6d20753f4c4237bfbb5db7a82" ns2:_="">
    <xsd:import namespace="324ab4a6-501d-4b19-a031-862034374e5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24ab4a6-501d-4b19-a031-862034374e5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1E001BC-96E3-4F43-94DB-B84FED5D260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24ab4a6-501d-4b19-a031-862034374e5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68575DC-53A0-4681-8BA9-6A48520D79F3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04A006F0-0772-4A23-A33B-EFA6739068B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225</TotalTime>
  <Words>489</Words>
  <Application>Microsoft Office PowerPoint</Application>
  <PresentationFormat>Widescreen</PresentationFormat>
  <Paragraphs>90</Paragraphs>
  <Slides>23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Office Theme</vt:lpstr>
      <vt:lpstr>Normalisering</vt:lpstr>
      <vt:lpstr>Læringsmål</vt:lpstr>
      <vt:lpstr>Database design-Normalisering</vt:lpstr>
      <vt:lpstr>PowerPoint Presentation</vt:lpstr>
      <vt:lpstr>Redundans</vt:lpstr>
      <vt:lpstr>Normaliseringsformer</vt:lpstr>
      <vt:lpstr>1st Normal Form (1NF)</vt:lpstr>
      <vt:lpstr>Unnormalized Table (UNF) </vt:lpstr>
      <vt:lpstr>  tabel i 1NF  </vt:lpstr>
      <vt:lpstr>2. normalform</vt:lpstr>
      <vt:lpstr>1 NF</vt:lpstr>
      <vt:lpstr>3. normalform</vt:lpstr>
      <vt:lpstr>2NF- 3NF</vt:lpstr>
      <vt:lpstr>Normalisering (1NF, 2NF, 3NF) </vt:lpstr>
      <vt:lpstr>unnormalized tabel.-  Medarbejder Projekt register  </vt:lpstr>
      <vt:lpstr>Table start</vt:lpstr>
      <vt:lpstr>Efter 2NF</vt:lpstr>
      <vt:lpstr>JOIN TABLE</vt:lpstr>
      <vt:lpstr>Efter 3NF </vt:lpstr>
      <vt:lpstr>Fordelen ved normalisering</vt:lpstr>
      <vt:lpstr>Ulemper ved normalisering?</vt:lpstr>
      <vt:lpstr>Quiz</vt:lpstr>
      <vt:lpstr>Gruppe Opgaver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Xiaolei Bi</cp:lastModifiedBy>
  <cp:revision>84</cp:revision>
  <dcterms:created xsi:type="dcterms:W3CDTF">2024-10-22T12:08:09Z</dcterms:created>
  <dcterms:modified xsi:type="dcterms:W3CDTF">2025-11-17T08:54:12Z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2021-10-04T00:00:00Z</vt:filetime>
  </property>
  <property fmtid="{D5CDD505-2E9C-101B-9397-08002B2CF9AE}" pid="3" name="LastSaved">
    <vt:filetime>2024-10-22T00:00:00Z</vt:filetime>
  </property>
  <property fmtid="{D5CDD505-2E9C-101B-9397-08002B2CF9AE}" pid="4" name="Producer">
    <vt:lpwstr>macOS Version 11.6 (Build 20G165) Quartz PDFContext</vt:lpwstr>
  </property>
  <property fmtid="{D5CDD505-2E9C-101B-9397-08002B2CF9AE}" pid="5" name="ContentTypeId">
    <vt:lpwstr>0x010100E57D341C545B0A44A26A103333756E90</vt:lpwstr>
  </property>
</Properties>
</file>