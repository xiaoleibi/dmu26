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5" r:id="rId6"/>
    <p:sldId id="286" r:id="rId7"/>
    <p:sldId id="287" r:id="rId8"/>
    <p:sldId id="288" r:id="rId9"/>
    <p:sldId id="293" r:id="rId10"/>
    <p:sldId id="294" r:id="rId11"/>
    <p:sldId id="295" r:id="rId12"/>
    <p:sldId id="296" r:id="rId13"/>
    <p:sldId id="297" r:id="rId14"/>
    <p:sldId id="273" r:id="rId15"/>
    <p:sldId id="298" r:id="rId16"/>
    <p:sldId id="299" r:id="rId17"/>
    <p:sldId id="300" r:id="rId18"/>
    <p:sldId id="301" r:id="rId19"/>
    <p:sldId id="303" r:id="rId20"/>
    <p:sldId id="304" r:id="rId21"/>
    <p:sldId id="280" r:id="rId22"/>
    <p:sldId id="306" r:id="rId23"/>
    <p:sldId id="283" r:id="rId24"/>
    <p:sldId id="305" r:id="rId25"/>
    <p:sldId id="308" r:id="rId26"/>
    <p:sldId id="307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78"/>
    <p:restoredTop sz="94610"/>
  </p:normalViewPr>
  <p:slideViewPr>
    <p:cSldViewPr snapToGrid="0" snapToObjects="1">
      <p:cViewPr>
        <p:scale>
          <a:sx n="104" d="100"/>
          <a:sy n="104" d="100"/>
        </p:scale>
        <p:origin x="154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79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648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2124" y="470915"/>
            <a:ext cx="303593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751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190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433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35443B"/>
          </a:solidFill>
          <a:ln w="6350">
            <a:solidFill>
              <a:srgbClr val="35443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5989320" y="3063240"/>
            <a:ext cx="3154680" cy="2080260"/>
          </a:xfrm>
          <a:prstGeom prst="rect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A9A4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 OG MYSQL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Datamodellering</a:t>
            </a:r>
            <a:endParaRPr lang="en-US" sz="3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og E-R-modellen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8D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Entiteter · attributter · relationer · kardinalitet · associativer · notation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9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Kapitel 2 · Grundlæggende programmering og database · DMU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69C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OVERBLIK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Dagens indhold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92608" cy="292608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50976" y="1380744"/>
            <a:ext cx="7690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Grundlaget for datamodellering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Hvorfor modellen er det vigtigste skridt — og hvad forretningsregler styrer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92608" cy="292608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2203704"/>
            <a:ext cx="7690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Entiteter og attributter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Typer, instanser, stærke og svage entiteter samt attributklassifikation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292608" cy="292608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0976" y="3026664"/>
            <a:ext cx="76901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Relationer og kardinalitet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Relationsgrader, associative entiteter, min./maks.-kardinalitet og notation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49056" y="4590288"/>
            <a:ext cx="329184" cy="329184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8449056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69C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377440" y="184708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Grundlaget for datamodellering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250545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8D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E-R-model er broen mellem forretningens sprog og databasens tabeller. Den skal bygges rigtigt fra starten.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449056" y="4590288"/>
            <a:ext cx="329184" cy="329184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449056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69C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GRUNDLAGET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Hvorfor datamodellering?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FFF6E8"/>
          </a:solidFill>
          <a:ln w="9525">
            <a:solidFill>
              <a:srgbClr val="FA9A42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04088" y="14813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Fejl fanget tidligt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 billige at rette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4088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fejl i datamodellen koster typisk 10–100 gange mere at rette, når databasen er i drift.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9080" y="1371600"/>
            <a:ext cx="292608" cy="292608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40690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17136" y="1289304"/>
            <a:ext cx="4123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Høj afkastning på investeringen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Mange udviklere og forretningsledere anser datamodellering for den vigtigste del af udviklingsprocessen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2139696"/>
            <a:ext cx="292608" cy="292608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406908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17136" y="2057400"/>
            <a:ext cx="4123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Fælles sprog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Modellen gør det muligt for forretning og teknikere at tale om de samme begreber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69080" y="2907792"/>
            <a:ext cx="292608" cy="292608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40690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17136" y="2825496"/>
            <a:ext cx="4123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Grundlag for designet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E-R-modellen oversættes senere direkte til tabeller, nøgler og relationer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69080" y="3675888"/>
            <a:ext cx="292608" cy="292608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406908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17136" y="3593592"/>
            <a:ext cx="4123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Dokumentation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Modellen er levende dokumentation af, hvad organisationen ønsker at gemme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49056" y="4590288"/>
            <a:ext cx="329184" cy="329184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 18"/>
          <p:cNvSpPr/>
          <p:nvPr/>
        </p:nvSpPr>
        <p:spPr>
          <a:xfrm>
            <a:off x="8449056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57600" y="4747259"/>
            <a:ext cx="1829435" cy="2603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4130" marR="5080" indent="-12065">
              <a:lnSpc>
                <a:spcPts val="890"/>
              </a:lnSpc>
              <a:spcBef>
                <a:spcPts val="185"/>
              </a:spcBef>
            </a:pPr>
            <a:r>
              <a:rPr sz="800" spc="-95" dirty="0">
                <a:solidFill>
                  <a:srgbClr val="999999"/>
                </a:solidFill>
                <a:latin typeface="Arial"/>
                <a:cs typeface="Arial"/>
              </a:rPr>
              <a:t>ISBN:</a:t>
            </a:r>
            <a:r>
              <a:rPr sz="800" spc="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"/>
                <a:cs typeface="Arial"/>
              </a:rPr>
              <a:t>9788761696670</a:t>
            </a:r>
            <a:r>
              <a:rPr sz="800" spc="1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999999"/>
                </a:solidFill>
                <a:latin typeface="Arial"/>
                <a:cs typeface="Arial"/>
              </a:rPr>
              <a:t>–</a:t>
            </a:r>
            <a:r>
              <a:rPr sz="800" spc="2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55" dirty="0">
                <a:solidFill>
                  <a:srgbClr val="999999"/>
                </a:solidFill>
                <a:latin typeface="Arial"/>
                <a:cs typeface="Arial"/>
              </a:rPr>
              <a:t>Erhvervsinformatik</a:t>
            </a:r>
            <a:r>
              <a:rPr sz="800" spc="50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999999"/>
                </a:solidFill>
                <a:latin typeface="Arial"/>
                <a:cs typeface="Arial"/>
              </a:rPr>
              <a:t>Copyright</a:t>
            </a:r>
            <a:r>
              <a:rPr sz="800" spc="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999999"/>
                </a:solidFill>
                <a:latin typeface="Arial"/>
                <a:cs typeface="Arial"/>
              </a:rPr>
              <a:t>forfatterne</a:t>
            </a:r>
            <a:r>
              <a:rPr sz="800" spc="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"/>
                <a:cs typeface="Arial"/>
              </a:rPr>
              <a:t>og</a:t>
            </a:r>
            <a:r>
              <a:rPr sz="800" spc="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80" dirty="0">
                <a:solidFill>
                  <a:srgbClr val="999999"/>
                </a:solidFill>
                <a:latin typeface="Arial"/>
                <a:cs typeface="Arial"/>
              </a:rPr>
              <a:t>Systime</a:t>
            </a:r>
            <a:r>
              <a:rPr sz="800" spc="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999999"/>
                </a:solidFill>
                <a:latin typeface="Arial"/>
                <a:cs typeface="Arial"/>
              </a:rPr>
              <a:t>A/S</a:t>
            </a:r>
            <a:r>
              <a:rPr sz="800" spc="1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"/>
                <a:cs typeface="Arial"/>
              </a:rPr>
              <a:t>2020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462" y="575120"/>
            <a:ext cx="1214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latin typeface="Arial"/>
                <a:cs typeface="Arial"/>
              </a:rPr>
              <a:t>E/R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95" dirty="0">
                <a:latin typeface="Arial"/>
                <a:cs typeface="Arial"/>
              </a:rPr>
              <a:t>diagram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462" y="1058513"/>
            <a:ext cx="5669280" cy="12771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231" y="3075431"/>
            <a:ext cx="8479536" cy="112166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57600" y="4747259"/>
            <a:ext cx="1829435" cy="2603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4130" marR="5080" indent="-12065">
              <a:lnSpc>
                <a:spcPts val="890"/>
              </a:lnSpc>
              <a:spcBef>
                <a:spcPts val="185"/>
              </a:spcBef>
            </a:pPr>
            <a:r>
              <a:rPr sz="800" spc="-95" dirty="0">
                <a:solidFill>
                  <a:srgbClr val="999999"/>
                </a:solidFill>
                <a:latin typeface="Arial"/>
                <a:cs typeface="Arial"/>
              </a:rPr>
              <a:t>ISBN:</a:t>
            </a:r>
            <a:r>
              <a:rPr sz="800" spc="2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"/>
                <a:cs typeface="Arial"/>
              </a:rPr>
              <a:t>9788761696670</a:t>
            </a:r>
            <a:r>
              <a:rPr sz="800" spc="1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999999"/>
                </a:solidFill>
                <a:latin typeface="Arial"/>
                <a:cs typeface="Arial"/>
              </a:rPr>
              <a:t>–</a:t>
            </a:r>
            <a:r>
              <a:rPr sz="800" spc="2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55" dirty="0">
                <a:solidFill>
                  <a:srgbClr val="999999"/>
                </a:solidFill>
                <a:latin typeface="Arial"/>
                <a:cs typeface="Arial"/>
              </a:rPr>
              <a:t>Erhvervsinformatik</a:t>
            </a:r>
            <a:r>
              <a:rPr sz="800" spc="50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999999"/>
                </a:solidFill>
                <a:latin typeface="Arial"/>
                <a:cs typeface="Arial"/>
              </a:rPr>
              <a:t>Copyright</a:t>
            </a:r>
            <a:r>
              <a:rPr sz="800" spc="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999999"/>
                </a:solidFill>
                <a:latin typeface="Arial"/>
                <a:cs typeface="Arial"/>
              </a:rPr>
              <a:t>forfatterne</a:t>
            </a:r>
            <a:r>
              <a:rPr sz="800" spc="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"/>
                <a:cs typeface="Arial"/>
              </a:rPr>
              <a:t>og</a:t>
            </a:r>
            <a:r>
              <a:rPr sz="800" spc="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80" dirty="0">
                <a:solidFill>
                  <a:srgbClr val="999999"/>
                </a:solidFill>
                <a:latin typeface="Arial"/>
                <a:cs typeface="Arial"/>
              </a:rPr>
              <a:t>Systime</a:t>
            </a:r>
            <a:r>
              <a:rPr sz="800" spc="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999999"/>
                </a:solidFill>
                <a:latin typeface="Arial"/>
                <a:cs typeface="Arial"/>
              </a:rPr>
              <a:t>A/S</a:t>
            </a:r>
            <a:r>
              <a:rPr sz="800" spc="1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"/>
                <a:cs typeface="Arial"/>
              </a:rPr>
              <a:t>2020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800" y="1224788"/>
            <a:ext cx="313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Arial"/>
                <a:cs typeface="Arial"/>
              </a:rPr>
              <a:t>Relationsdatabase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med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tabeller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791" y="1481327"/>
            <a:ext cx="6659880" cy="250545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0837" y="1192238"/>
            <a:ext cx="5420419" cy="247984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304880" y="3915159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685800"/>
                </a:moveTo>
                <a:lnTo>
                  <a:pt x="1" y="0"/>
                </a:lnTo>
              </a:path>
            </a:pathLst>
          </a:custGeom>
          <a:ln w="19050">
            <a:solidFill>
              <a:srgbClr val="D2EF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14876"/>
            <a:ext cx="9144000" cy="4586605"/>
            <a:chOff x="0" y="14876"/>
            <a:chExt cx="9144000" cy="4586605"/>
          </a:xfrm>
        </p:grpSpPr>
        <p:sp>
          <p:nvSpPr>
            <p:cNvPr id="7" name="object 7"/>
            <p:cNvSpPr/>
            <p:nvPr/>
          </p:nvSpPr>
          <p:spPr>
            <a:xfrm>
              <a:off x="6304880" y="3915158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685800"/>
                  </a:moveTo>
                  <a:lnTo>
                    <a:pt x="1" y="0"/>
                  </a:lnTo>
                </a:path>
              </a:pathLst>
            </a:custGeom>
            <a:ln w="19050">
              <a:solidFill>
                <a:srgbClr val="D2EF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4876"/>
              <a:ext cx="9144000" cy="3705225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1316228"/>
            <a:ext cx="5713095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800" dirty="0">
                <a:latin typeface="Arial"/>
                <a:cs typeface="Arial"/>
              </a:rPr>
              <a:t>Vi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løser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dette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ved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opbygge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60" dirty="0">
                <a:latin typeface="Arial"/>
                <a:cs typeface="Arial"/>
              </a:rPr>
              <a:t>en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ny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tabel </a:t>
            </a:r>
            <a:r>
              <a:rPr sz="1800" spc="-145" dirty="0">
                <a:latin typeface="Arial"/>
                <a:cs typeface="Arial"/>
              </a:rPr>
              <a:t>med</a:t>
            </a:r>
            <a:r>
              <a:rPr sz="1800" spc="-10" dirty="0">
                <a:latin typeface="Arial"/>
                <a:cs typeface="Arial"/>
              </a:rPr>
              <a:t> relevante </a:t>
            </a:r>
            <a:r>
              <a:rPr sz="1800" spc="-20" dirty="0">
                <a:latin typeface="Arial"/>
                <a:cs typeface="Arial"/>
              </a:rPr>
              <a:t>data.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80" dirty="0">
                <a:latin typeface="Arial"/>
                <a:cs typeface="Arial"/>
              </a:rPr>
              <a:t>Denne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tabel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skal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oprettes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mellem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tabeller,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der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har </a:t>
            </a:r>
            <a:r>
              <a:rPr sz="1800" spc="-165" dirty="0">
                <a:latin typeface="Arial"/>
                <a:cs typeface="Arial"/>
              </a:rPr>
              <a:t>m-</a:t>
            </a:r>
            <a:r>
              <a:rPr sz="1800" spc="-30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relationen,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hvorefter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stedet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får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nye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1-</a:t>
            </a:r>
            <a:r>
              <a:rPr sz="1800" spc="-30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relationer.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9144000" cy="47720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6753" y="1498091"/>
            <a:ext cx="5864225" cy="16865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66675" algn="just">
              <a:lnSpc>
                <a:spcPct val="97900"/>
              </a:lnSpc>
              <a:spcBef>
                <a:spcPts val="135"/>
              </a:spcBef>
            </a:pPr>
            <a:r>
              <a:rPr sz="1400" spc="-30" dirty="0">
                <a:latin typeface="Arial"/>
                <a:cs typeface="Arial"/>
              </a:rPr>
              <a:t>Primærnøglen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felt,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entydigt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identificerer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hver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tabel.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Uden </a:t>
            </a:r>
            <a:r>
              <a:rPr sz="1400" spc="-30" dirty="0">
                <a:latin typeface="Arial"/>
                <a:cs typeface="Arial"/>
              </a:rPr>
              <a:t>primærnøglen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vil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ved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søgning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databasen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være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tvivl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om,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hvilken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vi præcis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ønsker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identificere.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1400" dirty="0">
              <a:latin typeface="Arial"/>
              <a:cs typeface="Arial"/>
            </a:endParaRPr>
          </a:p>
          <a:p>
            <a:pPr marL="12700" algn="just">
              <a:lnSpc>
                <a:spcPts val="1645"/>
              </a:lnSpc>
            </a:pPr>
            <a:r>
              <a:rPr sz="1400" b="1" dirty="0">
                <a:latin typeface="Arial"/>
                <a:cs typeface="Arial"/>
              </a:rPr>
              <a:t>PRIMÆRNØGLE </a:t>
            </a:r>
            <a:r>
              <a:rPr sz="1400" dirty="0">
                <a:latin typeface="Arial"/>
                <a:cs typeface="Arial"/>
              </a:rPr>
              <a:t>-</a:t>
            </a:r>
          </a:p>
          <a:p>
            <a:pPr marL="12700" marR="5080" algn="just">
              <a:lnSpc>
                <a:spcPts val="17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Det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felt,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entydigt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identificerer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enkelte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databasen.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Vi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siger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også,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primærnøglen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gør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hver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tabellen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unik.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" y="540050"/>
            <a:ext cx="7230532" cy="285455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950" y="1546351"/>
            <a:ext cx="7599680" cy="240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15"/>
              </a:lnSpc>
              <a:spcBef>
                <a:spcPts val="100"/>
              </a:spcBef>
            </a:pPr>
            <a:r>
              <a:rPr sz="2700" b="1" spc="50" dirty="0">
                <a:latin typeface="Trebuchet MS"/>
                <a:cs typeface="Trebuchet MS"/>
              </a:rPr>
              <a:t>FREMMEDNØGLE</a:t>
            </a:r>
            <a:r>
              <a:rPr sz="2700" b="1" spc="150" dirty="0">
                <a:latin typeface="Trebuchet MS"/>
                <a:cs typeface="Trebuchet MS"/>
              </a:rPr>
              <a:t> </a:t>
            </a:r>
            <a:r>
              <a:rPr sz="2700" b="1" spc="55" dirty="0">
                <a:latin typeface="Trebuchet MS"/>
                <a:cs typeface="Trebuchet MS"/>
              </a:rPr>
              <a:t>(FOREIGN</a:t>
            </a:r>
            <a:r>
              <a:rPr sz="2700" b="1" spc="155" dirty="0">
                <a:latin typeface="Trebuchet MS"/>
                <a:cs typeface="Trebuchet MS"/>
              </a:rPr>
              <a:t> </a:t>
            </a:r>
            <a:r>
              <a:rPr sz="2700" b="1" spc="45" dirty="0">
                <a:latin typeface="Trebuchet MS"/>
                <a:cs typeface="Trebuchet MS"/>
              </a:rPr>
              <a:t>KEY</a:t>
            </a:r>
            <a:r>
              <a:rPr sz="2700" b="1" spc="95" dirty="0">
                <a:latin typeface="Trebuchet MS"/>
                <a:cs typeface="Trebuchet MS"/>
              </a:rPr>
              <a:t> </a:t>
            </a:r>
            <a:r>
              <a:rPr sz="2700" b="1" dirty="0">
                <a:latin typeface="Trebuchet MS"/>
                <a:cs typeface="Trebuchet MS"/>
              </a:rPr>
              <a:t>/</a:t>
            </a:r>
            <a:r>
              <a:rPr sz="2700" b="1" spc="150" dirty="0">
                <a:latin typeface="Trebuchet MS"/>
                <a:cs typeface="Trebuchet MS"/>
              </a:rPr>
              <a:t> </a:t>
            </a:r>
            <a:r>
              <a:rPr sz="2700" b="1" spc="45" dirty="0">
                <a:latin typeface="Trebuchet MS"/>
                <a:cs typeface="Trebuchet MS"/>
              </a:rPr>
              <a:t>FK)</a:t>
            </a:r>
            <a:endParaRPr sz="2700" dirty="0">
              <a:latin typeface="Trebuchet MS"/>
              <a:cs typeface="Trebuchet MS"/>
            </a:endParaRPr>
          </a:p>
          <a:p>
            <a:pPr marL="12700" marR="159385">
              <a:lnSpc>
                <a:spcPct val="78900"/>
              </a:lnSpc>
              <a:spcBef>
                <a:spcPts val="359"/>
              </a:spcBef>
            </a:pPr>
            <a:r>
              <a:rPr sz="2700" spc="45" dirty="0">
                <a:latin typeface="Trebuchet MS"/>
                <a:cs typeface="Trebuchet MS"/>
              </a:rPr>
              <a:t>DET</a:t>
            </a:r>
            <a:r>
              <a:rPr sz="2700" spc="12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FELT</a:t>
            </a:r>
            <a:r>
              <a:rPr sz="2700" spc="12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</a:t>
            </a:r>
            <a:r>
              <a:rPr sz="2700" spc="180" dirty="0">
                <a:latin typeface="Trebuchet MS"/>
                <a:cs typeface="Trebuchet MS"/>
              </a:rPr>
              <a:t> </a:t>
            </a:r>
            <a:r>
              <a:rPr sz="2700" spc="65" dirty="0">
                <a:latin typeface="Trebuchet MS"/>
                <a:cs typeface="Trebuchet MS"/>
              </a:rPr>
              <a:t>"MANGE"-</a:t>
            </a:r>
            <a:r>
              <a:rPr sz="2700" dirty="0">
                <a:latin typeface="Trebuchet MS"/>
                <a:cs typeface="Trebuchet MS"/>
              </a:rPr>
              <a:t>TABELLEN</a:t>
            </a:r>
            <a:r>
              <a:rPr sz="2700" spc="18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</a:t>
            </a:r>
            <a:r>
              <a:rPr sz="2700" spc="18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EN</a:t>
            </a:r>
            <a:r>
              <a:rPr sz="2700" spc="18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DATABASE, </a:t>
            </a:r>
            <a:r>
              <a:rPr sz="2700" dirty="0">
                <a:latin typeface="Trebuchet MS"/>
                <a:cs typeface="Trebuchet MS"/>
              </a:rPr>
              <a:t>DER</a:t>
            </a:r>
            <a:r>
              <a:rPr sz="2700" spc="21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ER</a:t>
            </a:r>
            <a:r>
              <a:rPr sz="2700" spc="220" dirty="0">
                <a:latin typeface="Trebuchet MS"/>
                <a:cs typeface="Trebuchet MS"/>
              </a:rPr>
              <a:t> </a:t>
            </a:r>
            <a:r>
              <a:rPr sz="2700" spc="55" dirty="0">
                <a:latin typeface="Trebuchet MS"/>
                <a:cs typeface="Trebuchet MS"/>
              </a:rPr>
              <a:t>IDENTISK</a:t>
            </a:r>
            <a:r>
              <a:rPr sz="2700" spc="21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MED</a:t>
            </a:r>
            <a:r>
              <a:rPr sz="2700" spc="210" dirty="0">
                <a:latin typeface="Trebuchet MS"/>
                <a:cs typeface="Trebuchet MS"/>
              </a:rPr>
              <a:t> </a:t>
            </a:r>
            <a:r>
              <a:rPr sz="2700" spc="45" dirty="0">
                <a:latin typeface="Trebuchet MS"/>
                <a:cs typeface="Trebuchet MS"/>
              </a:rPr>
              <a:t>PRIMÆRNØGLEFELTET</a:t>
            </a:r>
            <a:r>
              <a:rPr sz="2700" spc="155" dirty="0">
                <a:latin typeface="Trebuchet MS"/>
                <a:cs typeface="Trebuchet MS"/>
              </a:rPr>
              <a:t> </a:t>
            </a:r>
            <a:r>
              <a:rPr sz="2700" spc="-50" dirty="0">
                <a:latin typeface="Trebuchet MS"/>
                <a:cs typeface="Trebuchet MS"/>
              </a:rPr>
              <a:t>I </a:t>
            </a:r>
            <a:r>
              <a:rPr sz="2700" spc="60" dirty="0">
                <a:latin typeface="Trebuchet MS"/>
                <a:cs typeface="Trebuchet MS"/>
              </a:rPr>
              <a:t>"EN"-</a:t>
            </a:r>
            <a:r>
              <a:rPr sz="2700" spc="-10" dirty="0">
                <a:latin typeface="Trebuchet MS"/>
                <a:cs typeface="Trebuchet MS"/>
              </a:rPr>
              <a:t>TABELLEN.</a:t>
            </a:r>
            <a:endParaRPr sz="2700" dirty="0">
              <a:latin typeface="Trebuchet MS"/>
              <a:cs typeface="Trebuchet MS"/>
            </a:endParaRPr>
          </a:p>
          <a:p>
            <a:pPr marL="12700" marR="5080">
              <a:lnSpc>
                <a:spcPct val="80000"/>
              </a:lnSpc>
            </a:pPr>
            <a:r>
              <a:rPr sz="2700" dirty="0">
                <a:latin typeface="Trebuchet MS"/>
                <a:cs typeface="Trebuchet MS"/>
              </a:rPr>
              <a:t>EN</a:t>
            </a:r>
            <a:r>
              <a:rPr sz="2700" spc="204" dirty="0">
                <a:latin typeface="Trebuchet MS"/>
                <a:cs typeface="Trebuchet MS"/>
              </a:rPr>
              <a:t> </a:t>
            </a:r>
            <a:r>
              <a:rPr sz="2700" spc="55" dirty="0">
                <a:latin typeface="Trebuchet MS"/>
                <a:cs typeface="Trebuchet MS"/>
              </a:rPr>
              <a:t>PRIMÆRNØGLE</a:t>
            </a:r>
            <a:r>
              <a:rPr sz="2700" spc="204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OG</a:t>
            </a:r>
            <a:r>
              <a:rPr sz="2700" spc="195" dirty="0">
                <a:latin typeface="Trebuchet MS"/>
                <a:cs typeface="Trebuchet MS"/>
              </a:rPr>
              <a:t> </a:t>
            </a:r>
            <a:r>
              <a:rPr sz="2700" spc="60" dirty="0">
                <a:latin typeface="Trebuchet MS"/>
                <a:cs typeface="Trebuchet MS"/>
              </a:rPr>
              <a:t>FREMMEDNØGLE,</a:t>
            </a:r>
            <a:r>
              <a:rPr sz="2700" spc="20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DER</a:t>
            </a:r>
            <a:r>
              <a:rPr sz="2700" spc="204" dirty="0">
                <a:latin typeface="Trebuchet MS"/>
                <a:cs typeface="Trebuchet MS"/>
              </a:rPr>
              <a:t> </a:t>
            </a:r>
            <a:r>
              <a:rPr sz="2700" spc="-25" dirty="0">
                <a:latin typeface="Trebuchet MS"/>
                <a:cs typeface="Trebuchet MS"/>
              </a:rPr>
              <a:t>ER </a:t>
            </a:r>
            <a:r>
              <a:rPr sz="2700" spc="50" dirty="0">
                <a:latin typeface="Trebuchet MS"/>
                <a:cs typeface="Trebuchet MS"/>
              </a:rPr>
              <a:t>KOBLET</a:t>
            </a:r>
            <a:r>
              <a:rPr sz="2700" spc="140" dirty="0">
                <a:latin typeface="Trebuchet MS"/>
                <a:cs typeface="Trebuchet MS"/>
              </a:rPr>
              <a:t> </a:t>
            </a:r>
            <a:r>
              <a:rPr sz="2700" spc="55" dirty="0">
                <a:latin typeface="Trebuchet MS"/>
                <a:cs typeface="Trebuchet MS"/>
              </a:rPr>
              <a:t>SAMMEN,</a:t>
            </a:r>
            <a:r>
              <a:rPr sz="2700" spc="20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SKAL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ALTID</a:t>
            </a:r>
            <a:r>
              <a:rPr sz="2700" spc="190" dirty="0">
                <a:latin typeface="Trebuchet MS"/>
                <a:cs typeface="Trebuchet MS"/>
              </a:rPr>
              <a:t> </a:t>
            </a:r>
            <a:r>
              <a:rPr sz="2700" spc="-20" dirty="0">
                <a:latin typeface="Trebuchet MS"/>
                <a:cs typeface="Trebuchet MS"/>
              </a:rPr>
              <a:t>HAVE</a:t>
            </a:r>
            <a:endParaRPr sz="2700" dirty="0">
              <a:latin typeface="Trebuchet MS"/>
              <a:cs typeface="Trebuchet MS"/>
            </a:endParaRPr>
          </a:p>
          <a:p>
            <a:pPr marL="12700">
              <a:lnSpc>
                <a:spcPts val="2615"/>
              </a:lnSpc>
            </a:pPr>
            <a:r>
              <a:rPr sz="2700" spc="50" dirty="0">
                <a:latin typeface="Trebuchet MS"/>
                <a:cs typeface="Trebuchet MS"/>
              </a:rPr>
              <a:t>SAMME</a:t>
            </a:r>
            <a:r>
              <a:rPr sz="2700" spc="16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DATATYPE</a:t>
            </a:r>
            <a:endParaRPr sz="2700" dirty="0">
              <a:latin typeface="Trebuchet MS"/>
              <a:cs typeface="Trebuchet M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5844" y="0"/>
            <a:ext cx="7072630" cy="5143500"/>
            <a:chOff x="1035844" y="0"/>
            <a:chExt cx="7072630" cy="51435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5844" y="0"/>
              <a:ext cx="7072312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19034" y="186267"/>
              <a:ext cx="1634489" cy="3141345"/>
            </a:xfrm>
            <a:custGeom>
              <a:avLst/>
              <a:gdLst/>
              <a:ahLst/>
              <a:cxnLst/>
              <a:rect l="l" t="t" r="r" b="b"/>
              <a:pathLst>
                <a:path w="1634489" h="3141345">
                  <a:moveTo>
                    <a:pt x="76200" y="2912532"/>
                  </a:moveTo>
                  <a:lnTo>
                    <a:pt x="0" y="2912532"/>
                  </a:lnTo>
                  <a:lnTo>
                    <a:pt x="114300" y="3141132"/>
                  </a:lnTo>
                  <a:lnTo>
                    <a:pt x="209550" y="2950632"/>
                  </a:lnTo>
                  <a:lnTo>
                    <a:pt x="76200" y="2950632"/>
                  </a:lnTo>
                  <a:lnTo>
                    <a:pt x="76200" y="2912532"/>
                  </a:lnTo>
                  <a:close/>
                </a:path>
                <a:path w="1634489" h="3141345">
                  <a:moveTo>
                    <a:pt x="1557867" y="1532465"/>
                  </a:moveTo>
                  <a:lnTo>
                    <a:pt x="114300" y="1532465"/>
                  </a:lnTo>
                  <a:lnTo>
                    <a:pt x="99469" y="1535460"/>
                  </a:lnTo>
                  <a:lnTo>
                    <a:pt x="87359" y="1543625"/>
                  </a:lnTo>
                  <a:lnTo>
                    <a:pt x="79194" y="1555735"/>
                  </a:lnTo>
                  <a:lnTo>
                    <a:pt x="76200" y="1570565"/>
                  </a:lnTo>
                  <a:lnTo>
                    <a:pt x="76200" y="2950632"/>
                  </a:lnTo>
                  <a:lnTo>
                    <a:pt x="152400" y="2950632"/>
                  </a:lnTo>
                  <a:lnTo>
                    <a:pt x="152400" y="1608665"/>
                  </a:lnTo>
                  <a:lnTo>
                    <a:pt x="114300" y="1608665"/>
                  </a:lnTo>
                  <a:lnTo>
                    <a:pt x="152400" y="1570565"/>
                  </a:lnTo>
                  <a:lnTo>
                    <a:pt x="1557867" y="1570565"/>
                  </a:lnTo>
                  <a:lnTo>
                    <a:pt x="1557867" y="1532465"/>
                  </a:lnTo>
                  <a:close/>
                </a:path>
                <a:path w="1634489" h="3141345">
                  <a:moveTo>
                    <a:pt x="228600" y="2912532"/>
                  </a:moveTo>
                  <a:lnTo>
                    <a:pt x="152400" y="2912532"/>
                  </a:lnTo>
                  <a:lnTo>
                    <a:pt x="152400" y="2950632"/>
                  </a:lnTo>
                  <a:lnTo>
                    <a:pt x="209550" y="2950632"/>
                  </a:lnTo>
                  <a:lnTo>
                    <a:pt x="228600" y="2912532"/>
                  </a:lnTo>
                  <a:close/>
                </a:path>
                <a:path w="1634489" h="3141345">
                  <a:moveTo>
                    <a:pt x="152400" y="1570565"/>
                  </a:moveTo>
                  <a:lnTo>
                    <a:pt x="114300" y="1608665"/>
                  </a:lnTo>
                  <a:lnTo>
                    <a:pt x="152400" y="1608665"/>
                  </a:lnTo>
                  <a:lnTo>
                    <a:pt x="152400" y="1570565"/>
                  </a:lnTo>
                  <a:close/>
                </a:path>
                <a:path w="1634489" h="3141345">
                  <a:moveTo>
                    <a:pt x="1634067" y="1532465"/>
                  </a:moveTo>
                  <a:lnTo>
                    <a:pt x="1595967" y="1532465"/>
                  </a:lnTo>
                  <a:lnTo>
                    <a:pt x="1557867" y="1570565"/>
                  </a:lnTo>
                  <a:lnTo>
                    <a:pt x="152400" y="1570565"/>
                  </a:lnTo>
                  <a:lnTo>
                    <a:pt x="152400" y="1608665"/>
                  </a:lnTo>
                  <a:lnTo>
                    <a:pt x="1595967" y="1608665"/>
                  </a:lnTo>
                  <a:lnTo>
                    <a:pt x="1610797" y="1605671"/>
                  </a:lnTo>
                  <a:lnTo>
                    <a:pt x="1622907" y="1597506"/>
                  </a:lnTo>
                  <a:lnTo>
                    <a:pt x="1631072" y="1585396"/>
                  </a:lnTo>
                  <a:lnTo>
                    <a:pt x="1634067" y="1570565"/>
                  </a:lnTo>
                  <a:lnTo>
                    <a:pt x="1634067" y="1532465"/>
                  </a:lnTo>
                  <a:close/>
                </a:path>
                <a:path w="1634489" h="3141345">
                  <a:moveTo>
                    <a:pt x="1634067" y="0"/>
                  </a:moveTo>
                  <a:lnTo>
                    <a:pt x="1557867" y="0"/>
                  </a:lnTo>
                  <a:lnTo>
                    <a:pt x="1557867" y="1570565"/>
                  </a:lnTo>
                  <a:lnTo>
                    <a:pt x="1595967" y="1532465"/>
                  </a:lnTo>
                  <a:lnTo>
                    <a:pt x="1634067" y="1532465"/>
                  </a:lnTo>
                  <a:lnTo>
                    <a:pt x="1634067" y="0"/>
                  </a:lnTo>
                  <a:close/>
                </a:path>
              </a:pathLst>
            </a:custGeom>
            <a:solidFill>
              <a:srgbClr val="8DD6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69C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377440" y="184708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Relationer og kardinalitet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250545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8D3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Relationerne binder entiteterne sammen — og kardinaliteten bestemmer, hvor mange der må være forbundet.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449056" y="4590288"/>
            <a:ext cx="329184" cy="329184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449056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" y="6"/>
            <a:ext cx="9143984" cy="51434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56860" y="3315716"/>
            <a:ext cx="5020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ERD-</a:t>
            </a:r>
            <a:r>
              <a:rPr sz="3000" spc="3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CROW’S</a:t>
            </a:r>
            <a:r>
              <a:rPr sz="3000" spc="3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FOOT</a:t>
            </a:r>
            <a:r>
              <a:rPr sz="3000" spc="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endParaRPr sz="3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178830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84678" y="23876"/>
            <a:ext cx="30645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0" spc="-10" dirty="0">
                <a:solidFill>
                  <a:srgbClr val="000000"/>
                </a:solidFill>
                <a:latin typeface="Trebuchet MS"/>
                <a:cs typeface="Trebuchet MS"/>
              </a:rPr>
              <a:t>ERD:</a:t>
            </a:r>
            <a:r>
              <a:rPr sz="3000" b="0" spc="-19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000" b="0" spc="-85" dirty="0">
                <a:solidFill>
                  <a:srgbClr val="000000"/>
                </a:solidFill>
                <a:latin typeface="Trebuchet MS"/>
                <a:cs typeface="Trebuchet MS"/>
              </a:rPr>
              <a:t>CROWS</a:t>
            </a:r>
            <a:r>
              <a:rPr sz="3000" b="0" spc="-1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000" b="0" spc="-80" dirty="0">
                <a:solidFill>
                  <a:srgbClr val="000000"/>
                </a:solidFill>
                <a:latin typeface="Trebuchet MS"/>
                <a:cs typeface="Trebuchet MS"/>
              </a:rPr>
              <a:t>FOOT </a:t>
            </a:r>
            <a:r>
              <a:rPr sz="3000" b="0" spc="-10" dirty="0">
                <a:solidFill>
                  <a:srgbClr val="000000"/>
                </a:solidFill>
                <a:latin typeface="Trebuchet MS"/>
                <a:cs typeface="Trebuchet MS"/>
              </a:rPr>
              <a:t>MODEL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398587"/>
            <a:ext cx="9144000" cy="2346325"/>
            <a:chOff x="0" y="1398587"/>
            <a:chExt cx="9144000" cy="2346325"/>
          </a:xfrm>
        </p:grpSpPr>
        <p:sp>
          <p:nvSpPr>
            <p:cNvPr id="4" name="object 4"/>
            <p:cNvSpPr/>
            <p:nvPr/>
          </p:nvSpPr>
          <p:spPr>
            <a:xfrm>
              <a:off x="2193930" y="2263049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30">
                  <a:moveTo>
                    <a:pt x="24749" y="0"/>
                  </a:moveTo>
                  <a:lnTo>
                    <a:pt x="15115" y="1944"/>
                  </a:lnTo>
                  <a:lnTo>
                    <a:pt x="7249" y="7249"/>
                  </a:lnTo>
                  <a:lnTo>
                    <a:pt x="1944" y="15115"/>
                  </a:lnTo>
                  <a:lnTo>
                    <a:pt x="0" y="24749"/>
                  </a:lnTo>
                  <a:lnTo>
                    <a:pt x="1944" y="34383"/>
                  </a:lnTo>
                  <a:lnTo>
                    <a:pt x="7249" y="42250"/>
                  </a:lnTo>
                  <a:lnTo>
                    <a:pt x="15115" y="47554"/>
                  </a:lnTo>
                  <a:lnTo>
                    <a:pt x="24749" y="49499"/>
                  </a:lnTo>
                  <a:lnTo>
                    <a:pt x="34383" y="47554"/>
                  </a:lnTo>
                  <a:lnTo>
                    <a:pt x="42250" y="42250"/>
                  </a:lnTo>
                  <a:lnTo>
                    <a:pt x="47554" y="34383"/>
                  </a:lnTo>
                  <a:lnTo>
                    <a:pt x="49499" y="24749"/>
                  </a:lnTo>
                  <a:lnTo>
                    <a:pt x="47554" y="15115"/>
                  </a:lnTo>
                  <a:lnTo>
                    <a:pt x="42250" y="7249"/>
                  </a:lnTo>
                  <a:lnTo>
                    <a:pt x="34383" y="1944"/>
                  </a:lnTo>
                  <a:lnTo>
                    <a:pt x="24749" y="0"/>
                  </a:lnTo>
                  <a:close/>
                </a:path>
              </a:pathLst>
            </a:custGeom>
            <a:solidFill>
              <a:srgbClr val="66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98587"/>
              <a:ext cx="9144000" cy="2346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7969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9250" y="361950"/>
            <a:ext cx="3657600" cy="416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87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98930" y="-88900"/>
            <a:ext cx="2171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0" spc="-85" dirty="0">
                <a:solidFill>
                  <a:srgbClr val="696464"/>
                </a:solidFill>
                <a:latin typeface="Trebuchet MS"/>
                <a:cs typeface="Trebuchet MS"/>
              </a:rPr>
              <a:t>CROWS</a:t>
            </a:r>
            <a:r>
              <a:rPr sz="3000" b="0" spc="-190" dirty="0">
                <a:solidFill>
                  <a:srgbClr val="696464"/>
                </a:solidFill>
                <a:latin typeface="Trebuchet MS"/>
                <a:cs typeface="Trebuchet MS"/>
              </a:rPr>
              <a:t> </a:t>
            </a:r>
            <a:r>
              <a:rPr sz="3000" b="0" spc="-95" dirty="0">
                <a:solidFill>
                  <a:srgbClr val="696464"/>
                </a:solidFill>
                <a:latin typeface="Trebuchet MS"/>
                <a:cs typeface="Trebuchet MS"/>
              </a:rPr>
              <a:t>FOOT </a:t>
            </a:r>
            <a:r>
              <a:rPr sz="3000" b="0" spc="-50" dirty="0">
                <a:solidFill>
                  <a:srgbClr val="696464"/>
                </a:solidFill>
                <a:latin typeface="Trebuchet MS"/>
                <a:cs typeface="Trebuchet MS"/>
              </a:rPr>
              <a:t>NOTATION</a:t>
            </a:r>
            <a:endParaRPr sz="30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7106" y="783010"/>
            <a:ext cx="5891411" cy="38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68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0"/>
            <a:ext cx="0" cy="1307536"/>
          </a:xfrm>
          <a:prstGeom prst="rect">
            <a:avLst/>
          </a:prstGeom>
        </p:spPr>
        <p:txBody>
          <a:bodyPr vert="horz" wrap="square" lIns="0" tIns="715771" rIns="0" bIns="0" rtlCol="0">
            <a:spAutoFit/>
          </a:bodyPr>
          <a:lstStyle/>
          <a:p>
            <a:pPr marL="941069">
              <a:lnSpc>
                <a:spcPct val="100000"/>
              </a:lnSpc>
              <a:spcBef>
                <a:spcPts val="100"/>
              </a:spcBef>
            </a:pPr>
            <a:endParaRPr sz="38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912" y="2402465"/>
            <a:ext cx="7208143" cy="1572685"/>
          </a:xfrm>
          <a:prstGeom prst="rect">
            <a:avLst/>
          </a:prstGeom>
        </p:spPr>
      </p:pic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B27D04B1-F965-3A77-9B50-63C2A0D08D9C}"/>
              </a:ext>
            </a:extLst>
          </p:cNvPr>
          <p:cNvSpPr txBox="1">
            <a:spLocks/>
          </p:cNvSpPr>
          <p:nvPr/>
        </p:nvSpPr>
        <p:spPr>
          <a:xfrm>
            <a:off x="1598930" y="-88900"/>
            <a:ext cx="2171700" cy="235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i="0" kern="1200">
                <a:solidFill>
                  <a:srgbClr val="007FA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GB" sz="3000" b="0" spc="-85" dirty="0">
                <a:solidFill>
                  <a:srgbClr val="696464"/>
                </a:solidFill>
                <a:latin typeface="Trebuchet MS"/>
                <a:cs typeface="Trebuchet MS"/>
              </a:rPr>
              <a:t>CROWS</a:t>
            </a:r>
            <a:r>
              <a:rPr lang="en-GB" sz="3000" b="0" spc="-190" dirty="0">
                <a:solidFill>
                  <a:srgbClr val="696464"/>
                </a:solidFill>
                <a:latin typeface="Trebuchet MS"/>
                <a:cs typeface="Trebuchet MS"/>
              </a:rPr>
              <a:t> </a:t>
            </a:r>
            <a:r>
              <a:rPr lang="en-GB" sz="3000" b="0" spc="-95" dirty="0">
                <a:solidFill>
                  <a:srgbClr val="696464"/>
                </a:solidFill>
                <a:latin typeface="Trebuchet MS"/>
                <a:cs typeface="Trebuchet MS"/>
              </a:rPr>
              <a:t>FOOT </a:t>
            </a:r>
            <a:r>
              <a:rPr lang="en-GB" sz="3000" b="0" spc="-50" dirty="0">
                <a:solidFill>
                  <a:srgbClr val="696464"/>
                </a:solidFill>
                <a:latin typeface="Trebuchet MS"/>
                <a:cs typeface="Trebuchet MS"/>
              </a:rPr>
              <a:t>NOTATION</a:t>
            </a:r>
          </a:p>
          <a:p>
            <a:pPr marL="12700" marR="5080">
              <a:spcBef>
                <a:spcPts val="100"/>
              </a:spcBef>
            </a:pPr>
            <a:r>
              <a:rPr lang="en-GB" sz="3000" b="0" spc="-50" dirty="0">
                <a:solidFill>
                  <a:srgbClr val="696464"/>
                </a:solidFill>
                <a:latin typeface="Trebuchet MS"/>
                <a:cs typeface="Trebuchet MS"/>
              </a:rPr>
              <a:t>Entity-with</a:t>
            </a:r>
          </a:p>
          <a:p>
            <a:pPr marL="12700" marR="5080">
              <a:spcBef>
                <a:spcPts val="100"/>
              </a:spcBef>
            </a:pPr>
            <a:r>
              <a:rPr lang="en-GB" sz="3000" b="0" spc="-50" dirty="0">
                <a:solidFill>
                  <a:srgbClr val="696464"/>
                </a:solidFill>
                <a:latin typeface="Trebuchet MS"/>
                <a:cs typeface="Trebuchet MS"/>
              </a:rPr>
              <a:t>Attributes </a:t>
            </a:r>
          </a:p>
          <a:p>
            <a:pPr marL="12700" marR="5080">
              <a:spcBef>
                <a:spcPts val="100"/>
              </a:spcBef>
            </a:pPr>
            <a:endParaRPr lang="en-GB" sz="3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45904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9CC0-CD71-4704-9DF1-954D3B62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DK" dirty="0"/>
              <a:t>            </a:t>
            </a:r>
            <a:br>
              <a:rPr lang="en-DK" dirty="0"/>
            </a:br>
            <a:br>
              <a:rPr lang="en-DK" dirty="0"/>
            </a:br>
            <a:endParaRPr lang="en-DK" dirty="0"/>
          </a:p>
        </p:txBody>
      </p:sp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9683231D-3837-D7A9-FEE3-06F58AAFEA33}"/>
              </a:ext>
            </a:extLst>
          </p:cNvPr>
          <p:cNvSpPr txBox="1">
            <a:spLocks/>
          </p:cNvSpPr>
          <p:nvPr/>
        </p:nvSpPr>
        <p:spPr>
          <a:xfrm>
            <a:off x="1598930" y="-88900"/>
            <a:ext cx="2171700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i="0" kern="1200">
                <a:solidFill>
                  <a:srgbClr val="007FA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GB" sz="3000" b="0" spc="-85" dirty="0" err="1">
                <a:solidFill>
                  <a:srgbClr val="696464"/>
                </a:solidFill>
                <a:latin typeface="Trebuchet MS"/>
                <a:cs typeface="Trebuchet MS"/>
              </a:rPr>
              <a:t>øvelse</a:t>
            </a:r>
            <a:endParaRPr lang="en-GB" sz="3000" b="0" spc="-50" dirty="0">
              <a:solidFill>
                <a:srgbClr val="696464"/>
              </a:solidFill>
              <a:latin typeface="Trebuchet MS"/>
              <a:cs typeface="Trebuchet MS"/>
            </a:endParaRPr>
          </a:p>
          <a:p>
            <a:pPr marL="12700" marR="5080">
              <a:spcBef>
                <a:spcPts val="100"/>
              </a:spcBef>
            </a:pPr>
            <a:endParaRPr lang="en-GB" sz="3000" dirty="0"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CF9D4-ABC5-572C-F5E4-42BAFFC30A6A}"/>
              </a:ext>
            </a:extLst>
          </p:cNvPr>
          <p:cNvSpPr txBox="1"/>
          <p:nvPr/>
        </p:nvSpPr>
        <p:spPr>
          <a:xfrm>
            <a:off x="2692800" y="1382400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/>
              <a:t>7.6</a:t>
            </a:r>
          </a:p>
          <a:p>
            <a:r>
              <a:rPr lang="en-DK" dirty="0"/>
              <a:t>7.7</a:t>
            </a:r>
          </a:p>
        </p:txBody>
      </p:sp>
    </p:spTree>
    <p:extLst>
      <p:ext uri="{BB962C8B-B14F-4D97-AF65-F5344CB8AC3E}">
        <p14:creationId xmlns:p14="http://schemas.microsoft.com/office/powerpoint/2010/main" val="2292176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69C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EKSEMPEL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</a:t>
            </a:r>
            <a:r>
              <a:rPr lang="en-US" sz="2600" b="1" dirty="0" err="1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fuld</a:t>
            </a:r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E-R-model</a:t>
            </a:r>
          </a:p>
          <a:p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Til Furniture Company</a:t>
            </a:r>
          </a:p>
        </p:txBody>
      </p:sp>
      <p:sp>
        <p:nvSpPr>
          <p:cNvPr id="41" name="Shape 39"/>
          <p:cNvSpPr/>
          <p:nvPr/>
        </p:nvSpPr>
        <p:spPr>
          <a:xfrm>
            <a:off x="8449056" y="4590288"/>
            <a:ext cx="329184" cy="329184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2" name="Text 40"/>
          <p:cNvSpPr/>
          <p:nvPr/>
        </p:nvSpPr>
        <p:spPr>
          <a:xfrm>
            <a:off x="8449056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100" dirty="0"/>
          </a:p>
        </p:txBody>
      </p:sp>
      <p:pic>
        <p:nvPicPr>
          <p:cNvPr id="43" name="Picture 42" descr="A diagram depicts a data model for Pine Valley Furniture Company in Microsoft Visio notation.&#10;&#10;For long description in Notes pane, press F6.">
            <a:extLst>
              <a:ext uri="{FF2B5EF4-FFF2-40B4-BE49-F238E27FC236}">
                <a16:creationId xmlns:a16="http://schemas.microsoft.com/office/drawing/2014/main" id="{A69C15EE-D430-C614-0097-606F8F683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695" y="438758"/>
            <a:ext cx="4464061" cy="52482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0970-23D9-0579-A09F-447E3EBB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BB5A4-7274-1FC3-5A06-6B00FC820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54931-D965-B866-1CF9-D489180A182F}"/>
              </a:ext>
            </a:extLst>
          </p:cNvPr>
          <p:cNvSpPr txBox="1"/>
          <p:nvPr/>
        </p:nvSpPr>
        <p:spPr>
          <a:xfrm>
            <a:off x="1180215" y="4376701"/>
            <a:ext cx="5365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https://barzeer.github.io/database/identifying.html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65C28-D6AB-8112-5C10-59196CC82867}"/>
              </a:ext>
            </a:extLst>
          </p:cNvPr>
          <p:cNvSpPr txBox="1"/>
          <p:nvPr/>
        </p:nvSpPr>
        <p:spPr>
          <a:xfrm>
            <a:off x="1095154" y="2335250"/>
            <a:ext cx="5365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DK" b="1" dirty="0"/>
              <a:t>Identifying Relationship (Solid Line) VS</a:t>
            </a:r>
          </a:p>
          <a:p>
            <a:pPr marL="342900" indent="-342900">
              <a:buFontTx/>
              <a:buAutoNum type="arabicPeriod"/>
            </a:pPr>
            <a:r>
              <a:rPr lang="en-DK" b="1" dirty="0"/>
              <a:t> Non-Identifying Relationship (Dashed Line)</a:t>
            </a:r>
          </a:p>
          <a:p>
            <a:pPr marL="342900" indent="-342900">
              <a:buAutoNum type="arabicPeriod"/>
            </a:pPr>
            <a:endParaRPr lang="en-DK" b="1" dirty="0"/>
          </a:p>
        </p:txBody>
      </p:sp>
    </p:spTree>
    <p:extLst>
      <p:ext uri="{BB962C8B-B14F-4D97-AF65-F5344CB8AC3E}">
        <p14:creationId xmlns:p14="http://schemas.microsoft.com/office/powerpoint/2010/main" val="3139575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69C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OPGAVE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Gruppeøvelse</a:t>
            </a:r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tegn en E-R-model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8463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7DFCE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722376" y="14630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Case: </a:t>
            </a:r>
            <a:r>
              <a:rPr lang="en-US" sz="1350" b="1" dirty="0" err="1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skolens</a:t>
            </a:r>
            <a:r>
              <a:rPr lang="en-US" sz="135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350" b="1" dirty="0" err="1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kursusadministration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2376" y="1801368"/>
            <a:ext cx="4434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skole vil gemme data om kurser, studerende og lærere.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  <a:p>
            <a:pPr marL="228600" indent="-228600">
              <a:lnSpc>
                <a:spcPct val="110000"/>
              </a:lnSpc>
              <a:buAutoNum type="arabicPeriod"/>
            </a:pPr>
            <a:r>
              <a:rPr lang="en-US" sz="1050" dirty="0" err="1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Identificér</a:t>
            </a: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050" dirty="0" err="1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entitet</a:t>
            </a: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050" dirty="0" err="1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og</a:t>
            </a: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relation</a:t>
            </a:r>
          </a:p>
          <a:p>
            <a:pPr marL="228600" indent="-228600">
              <a:lnSpc>
                <a:spcPct val="110000"/>
              </a:lnSpc>
              <a:buAutoNum type="arabicPeriod"/>
            </a:pPr>
            <a:endParaRPr lang="en-US" sz="1050" dirty="0"/>
          </a:p>
          <a:p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 Angiv attributter for hver entitet, og </a:t>
            </a:r>
            <a:r>
              <a:rPr lang="en-US" sz="1050" dirty="0" err="1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klassificér</a:t>
            </a: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dem (</a:t>
            </a:r>
            <a:r>
              <a:rPr lang="en-DK" sz="1050" dirty="0"/>
              <a:t>Hvilke nøglefelter skal der være i de enkelte tabeller?</a:t>
            </a: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 Tegn relationerne, og </a:t>
            </a:r>
            <a:r>
              <a:rPr lang="en-US" sz="1050" dirty="0" err="1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sæt</a:t>
            </a: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050" dirty="0" err="1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kardinalitet</a:t>
            </a:r>
            <a:r>
              <a:rPr lang="en-US" sz="1050" dirty="0">
                <a:solidFill>
                  <a:srgbClr val="6B7A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på.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32120" y="1325880"/>
            <a:ext cx="3108960" cy="3017520"/>
          </a:xfrm>
          <a:prstGeom prst="roundRect">
            <a:avLst>
              <a:gd name="adj" fmla="val 2727"/>
            </a:avLst>
          </a:prstGeom>
          <a:solidFill>
            <a:srgbClr val="FFF6E8"/>
          </a:solidFill>
          <a:ln w="9525">
            <a:solidFill>
              <a:srgbClr val="FA9A42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5733288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Levering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33288" y="1819656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Et E-R-diagram (håndtegnet eller i et værktøj)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En liste med entiteter, </a:t>
            </a:r>
            <a:r>
              <a:rPr lang="en-US" sz="1100" dirty="0" err="1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attributter</a:t>
            </a:r>
            <a:r>
              <a:rPr lang="en-US" sz="1100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</a:t>
            </a:r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Kort begrundelse for hvert valg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49056" y="4590288"/>
            <a:ext cx="329184" cy="329184"/>
          </a:xfrm>
          <a:prstGeom prst="ellipse">
            <a:avLst/>
          </a:prstGeom>
          <a:solidFill>
            <a:srgbClr val="169C9A"/>
          </a:solidFill>
          <a:ln w="6350">
            <a:solidFill>
              <a:srgbClr val="169C9A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8449056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E4AB-0870-7279-4ECB-9D0CA4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Hands-on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013E9-1F47-EEFA-B3D6-B355AA415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8DF1B-A0DC-EDA4-5202-6D910F407019}"/>
              </a:ext>
            </a:extLst>
          </p:cNvPr>
          <p:cNvSpPr txBox="1"/>
          <p:nvPr/>
        </p:nvSpPr>
        <p:spPr>
          <a:xfrm>
            <a:off x="1506071" y="1918918"/>
            <a:ext cx="5091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K" b="1" dirty="0"/>
              <a:t>Generér ER-diagrammet</a:t>
            </a:r>
          </a:p>
          <a:p>
            <a:pPr>
              <a:buNone/>
            </a:pPr>
            <a:r>
              <a:rPr lang="en-DK" dirty="0"/>
              <a:t>Følg disse trin i MySQL Workbench: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DK" dirty="0"/>
              <a:t>Klik på </a:t>
            </a:r>
            <a:r>
              <a:rPr lang="en-DK" b="1" dirty="0"/>
              <a:t>Database</a:t>
            </a:r>
            <a:r>
              <a:rPr lang="en-DK" dirty="0"/>
              <a:t> i menulinjen.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DK" dirty="0"/>
              <a:t>Vælg </a:t>
            </a:r>
            <a:r>
              <a:rPr lang="en-DK" b="1" dirty="0"/>
              <a:t>Reverse Engineer</a:t>
            </a:r>
            <a:r>
              <a:rPr lang="en-DK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A0671-3708-89E8-F6A4-CD9E187E6768}"/>
              </a:ext>
            </a:extLst>
          </p:cNvPr>
          <p:cNvSpPr txBox="1"/>
          <p:nvPr/>
        </p:nvSpPr>
        <p:spPr>
          <a:xfrm>
            <a:off x="1873624" y="4405263"/>
            <a:ext cx="5091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https://dev.mysql.com/doc/index-other.html</a:t>
            </a:r>
          </a:p>
        </p:txBody>
      </p:sp>
    </p:spTree>
    <p:extLst>
      <p:ext uri="{BB962C8B-B14F-4D97-AF65-F5344CB8AC3E}">
        <p14:creationId xmlns:p14="http://schemas.microsoft.com/office/powerpoint/2010/main" val="9553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4098-2660-9296-BF18-BF635187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1311F-A74F-FB48-877A-B856C9E9E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16882-11F4-142E-63F8-AED2A97FDB7A}"/>
              </a:ext>
            </a:extLst>
          </p:cNvPr>
          <p:cNvSpPr txBox="1"/>
          <p:nvPr/>
        </p:nvSpPr>
        <p:spPr>
          <a:xfrm>
            <a:off x="238388" y="1584560"/>
            <a:ext cx="609109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DK" dirty="0">
                <a:latin typeface="+mn-lt"/>
              </a:rPr>
              <a:t>CREATE TABLE Laerer (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    </a:t>
            </a:r>
            <a:r>
              <a:rPr lang="en-DK" dirty="0">
                <a:solidFill>
                  <a:srgbClr val="FF0000"/>
                </a:solidFill>
                <a:latin typeface="+mn-lt"/>
              </a:rPr>
              <a:t>laerer_id INT PRIMARY KEY,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    navn VARCHAR(100),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    email VARCHAR(150)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);</a:t>
            </a:r>
          </a:p>
          <a:p>
            <a:pPr rtl="0">
              <a:buNone/>
            </a:pPr>
            <a:endParaRPr lang="en-DK" dirty="0">
              <a:latin typeface="+mn-lt"/>
            </a:endParaRPr>
          </a:p>
          <a:p>
            <a:pPr rtl="0">
              <a:buNone/>
            </a:pPr>
            <a:r>
              <a:rPr lang="en-DK" dirty="0">
                <a:latin typeface="+mn-lt"/>
              </a:rPr>
              <a:t>CREATE TABLE Klasse (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    klasse_id INT PRIMARY KEY,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    klasse_navn VARCHAR(50),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    laerer_id INT,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    </a:t>
            </a:r>
            <a:r>
              <a:rPr lang="en-DK" dirty="0">
                <a:solidFill>
                  <a:srgbClr val="FF0000"/>
                </a:solidFill>
                <a:latin typeface="+mn-lt"/>
              </a:rPr>
              <a:t>FOREIGN KEY (laerer_id)</a:t>
            </a:r>
          </a:p>
          <a:p>
            <a:pPr rtl="0">
              <a:buNone/>
            </a:pPr>
            <a:r>
              <a:rPr lang="en-DK" dirty="0">
                <a:solidFill>
                  <a:srgbClr val="FF0000"/>
                </a:solidFill>
                <a:latin typeface="+mn-lt"/>
              </a:rPr>
              <a:t>        REFERENCES Laerer(laerer_id)</a:t>
            </a:r>
          </a:p>
          <a:p>
            <a:pPr rtl="0">
              <a:buNone/>
            </a:pPr>
            <a:r>
              <a:rPr lang="en-DK" dirty="0">
                <a:latin typeface="+mn-lt"/>
              </a:rPr>
              <a:t>);</a:t>
            </a:r>
            <a:endParaRPr lang="en-DK" dirty="0">
              <a:latin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D678D8-DB52-E4D5-1D98-DB0DE4B57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928" y="1584560"/>
            <a:ext cx="7772400" cy="24664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0B6901-2809-DB9C-B7B8-6C1EAF7AD67A}"/>
              </a:ext>
            </a:extLst>
          </p:cNvPr>
          <p:cNvSpPr txBox="1"/>
          <p:nvPr/>
        </p:nvSpPr>
        <p:spPr>
          <a:xfrm>
            <a:off x="506628" y="623720"/>
            <a:ext cx="3378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b="1" dirty="0"/>
              <a:t>Hvordan skrives relationen i SQL?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82851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0C3D-B88B-B12D-0364-A21E457D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89AEF-C226-9EFF-92E4-C67EC1A78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A4D310-F781-8A6B-E431-15BF7C783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240479"/>
              </p:ext>
            </p:extLst>
          </p:nvPr>
        </p:nvGraphicFramePr>
        <p:xfrm>
          <a:off x="1513582" y="1366109"/>
          <a:ext cx="6116835" cy="32665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8945">
                  <a:extLst>
                    <a:ext uri="{9D8B030D-6E8A-4147-A177-3AD203B41FA5}">
                      <a16:colId xmlns:a16="http://schemas.microsoft.com/office/drawing/2014/main" val="2833557717"/>
                    </a:ext>
                  </a:extLst>
                </a:gridCol>
                <a:gridCol w="2038945">
                  <a:extLst>
                    <a:ext uri="{9D8B030D-6E8A-4147-A177-3AD203B41FA5}">
                      <a16:colId xmlns:a16="http://schemas.microsoft.com/office/drawing/2014/main" val="2270471244"/>
                    </a:ext>
                  </a:extLst>
                </a:gridCol>
                <a:gridCol w="2038945">
                  <a:extLst>
                    <a:ext uri="{9D8B030D-6E8A-4147-A177-3AD203B41FA5}">
                      <a16:colId xmlns:a16="http://schemas.microsoft.com/office/drawing/2014/main" val="3862025647"/>
                    </a:ext>
                  </a:extLst>
                </a:gridCol>
              </a:tblGrid>
              <a:tr h="283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Database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Difficulty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Best use</a:t>
                      </a:r>
                    </a:p>
                  </a:txBody>
                  <a:tcPr marL="70920" marR="70920" marT="35460" marB="35460" anchor="ctr"/>
                </a:tc>
                <a:extLst>
                  <a:ext uri="{0D108BD9-81ED-4DB2-BD59-A6C34878D82A}">
                    <a16:rowId xmlns:a16="http://schemas.microsoft.com/office/drawing/2014/main" val="324422009"/>
                  </a:ext>
                </a:extLst>
              </a:tr>
              <a:tr h="4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World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Beginner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Basic SELECT </a:t>
                      </a:r>
                    </a:p>
                  </a:txBody>
                  <a:tcPr marL="70920" marR="70920" marT="35460" marB="35460" anchor="ctr"/>
                </a:tc>
                <a:extLst>
                  <a:ext uri="{0D108BD9-81ED-4DB2-BD59-A6C34878D82A}">
                    <a16:rowId xmlns:a16="http://schemas.microsoft.com/office/drawing/2014/main" val="3458857180"/>
                  </a:ext>
                </a:extLst>
              </a:tr>
              <a:tr h="4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albumn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Beginner 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</a:t>
                      </a:r>
                      <a:r>
                        <a:rPr lang="en-DK" sz="1400" dirty="0"/>
                        <a:t>lbumn track</a:t>
                      </a:r>
                    </a:p>
                  </a:txBody>
                  <a:tcPr marL="70920" marR="70920" marT="35460" marB="35460" anchor="ctr"/>
                </a:tc>
                <a:extLst>
                  <a:ext uri="{0D108BD9-81ED-4DB2-BD59-A6C34878D82A}">
                    <a16:rowId xmlns:a16="http://schemas.microsoft.com/office/drawing/2014/main" val="4049944075"/>
                  </a:ext>
                </a:extLst>
              </a:tr>
              <a:tr h="709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Sakila*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Intermediate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ER diagrams, foreign keys, views and stored procedures</a:t>
                      </a:r>
                    </a:p>
                  </a:txBody>
                  <a:tcPr marL="70920" marR="70920" marT="35460" marB="35460" anchor="ctr"/>
                </a:tc>
                <a:extLst>
                  <a:ext uri="{0D108BD9-81ED-4DB2-BD59-A6C34878D82A}">
                    <a16:rowId xmlns:a16="http://schemas.microsoft.com/office/drawing/2014/main" val="2523457253"/>
                  </a:ext>
                </a:extLst>
              </a:tr>
              <a:tr h="4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Scratch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Beginner–intermediate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Business data and order</a:t>
                      </a:r>
                    </a:p>
                  </a:txBody>
                  <a:tcPr marL="70920" marR="70920" marT="35460" marB="35460" anchor="ctr"/>
                </a:tc>
                <a:extLst>
                  <a:ext uri="{0D108BD9-81ED-4DB2-BD59-A6C34878D82A}">
                    <a16:rowId xmlns:a16="http://schemas.microsoft.com/office/drawing/2014/main" val="4196302449"/>
                  </a:ext>
                </a:extLst>
              </a:tr>
              <a:tr h="496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Northwind*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Beginner–intermediate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/>
                        <a:t>Orders, products and customers</a:t>
                      </a:r>
                    </a:p>
                  </a:txBody>
                  <a:tcPr marL="70920" marR="70920" marT="35460" marB="35460" anchor="ctr"/>
                </a:tc>
                <a:extLst>
                  <a:ext uri="{0D108BD9-81ED-4DB2-BD59-A6C34878D82A}">
                    <a16:rowId xmlns:a16="http://schemas.microsoft.com/office/drawing/2014/main" val="2586908708"/>
                  </a:ext>
                </a:extLst>
              </a:tr>
              <a:tr h="283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Employees*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Intermediate–</a:t>
                      </a:r>
                    </a:p>
                  </a:txBody>
                  <a:tcPr marL="70920" marR="70920" marT="35460" marB="354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K" sz="1400" dirty="0"/>
                        <a:t>Comp</a:t>
                      </a:r>
                    </a:p>
                  </a:txBody>
                  <a:tcPr marL="70920" marR="70920" marT="35460" marB="35460" anchor="ctr"/>
                </a:tc>
                <a:extLst>
                  <a:ext uri="{0D108BD9-81ED-4DB2-BD59-A6C34878D82A}">
                    <a16:rowId xmlns:a16="http://schemas.microsoft.com/office/drawing/2014/main" val="1169235874"/>
                  </a:ext>
                </a:extLst>
              </a:tr>
            </a:tbl>
          </a:graphicData>
        </a:graphic>
      </p:graphicFrame>
      <p:sp>
        <p:nvSpPr>
          <p:cNvPr id="5" name="Text 1">
            <a:extLst>
              <a:ext uri="{FF2B5EF4-FFF2-40B4-BE49-F238E27FC236}">
                <a16:creationId xmlns:a16="http://schemas.microsoft.com/office/drawing/2014/main" id="{7AD83619-5CF0-3129-772E-D668A32D1D2F}"/>
              </a:ext>
            </a:extLst>
          </p:cNvPr>
          <p:cNvSpPr/>
          <p:nvPr/>
        </p:nvSpPr>
        <p:spPr>
          <a:xfrm>
            <a:off x="502920" y="4846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Gruppeprojekt</a:t>
            </a:r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</a:t>
            </a:r>
            <a:r>
              <a:rPr lang="en-US" sz="2600" b="1" dirty="0" err="1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forklar</a:t>
            </a:r>
            <a:r>
              <a:rPr lang="en-US" sz="2600" b="1" dirty="0">
                <a:solidFill>
                  <a:srgbClr val="2C39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E-R-model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60405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696</Words>
  <Application>Microsoft Macintosh PowerPoint</Application>
  <PresentationFormat>On-screen Show (16:9)</PresentationFormat>
  <Paragraphs>142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Helvetica Neue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ERD- CROW’S FOOT MODEL</vt:lpstr>
      <vt:lpstr>ERD: CROWS FOOT MODEL</vt:lpstr>
      <vt:lpstr>PowerPoint Presentation</vt:lpstr>
      <vt:lpstr>CROWS FOOT NOTATION</vt:lpstr>
      <vt:lpstr>PowerPoint Presentation</vt:lpstr>
      <vt:lpstr>              </vt:lpstr>
      <vt:lpstr>PowerPoint Presentation</vt:lpstr>
      <vt:lpstr>PowerPoint Presentation</vt:lpstr>
      <vt:lpstr>PowerPoint Presentation</vt:lpstr>
      <vt:lpstr>Hands-on</vt:lpstr>
      <vt:lpstr>PowerPoint Presentation</vt:lpstr>
      <vt:lpstr>PowerPoint Presentation</vt:lpstr>
    </vt:vector>
  </TitlesOfParts>
  <Company>DMU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Datamodellering og E-R-modellen</dc:title>
  <dc:subject>PptxGenJS Presentation</dc:subject>
  <dc:creator>xbi@2025</dc:creator>
  <cp:lastModifiedBy>Xiaolei Bi</cp:lastModifiedBy>
  <cp:revision>8</cp:revision>
  <dcterms:created xsi:type="dcterms:W3CDTF">2026-10-13T11:38:16Z</dcterms:created>
  <dcterms:modified xsi:type="dcterms:W3CDTF">2026-10-15T07:21:34Z</dcterms:modified>
</cp:coreProperties>
</file>