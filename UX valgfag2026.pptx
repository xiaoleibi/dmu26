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  <p:sldMasterId id="2147483696" r:id="rId5"/>
  </p:sldMasterIdLst>
  <p:notesMasterIdLst>
    <p:notesMasterId r:id="rId36"/>
  </p:notesMasterIdLst>
  <p:sldIdLst>
    <p:sldId id="257" r:id="rId6"/>
    <p:sldId id="1021" r:id="rId7"/>
    <p:sldId id="1016" r:id="rId8"/>
    <p:sldId id="1022" r:id="rId9"/>
    <p:sldId id="463" r:id="rId10"/>
    <p:sldId id="464" r:id="rId11"/>
    <p:sldId id="446" r:id="rId12"/>
    <p:sldId id="315" r:id="rId13"/>
    <p:sldId id="1325" r:id="rId14"/>
    <p:sldId id="1324" r:id="rId15"/>
    <p:sldId id="1025" r:id="rId16"/>
    <p:sldId id="1027" r:id="rId17"/>
    <p:sldId id="1330" r:id="rId18"/>
    <p:sldId id="1028" r:id="rId19"/>
    <p:sldId id="1327" r:id="rId20"/>
    <p:sldId id="1332" r:id="rId21"/>
    <p:sldId id="1329" r:id="rId22"/>
    <p:sldId id="1029" r:id="rId23"/>
    <p:sldId id="260" r:id="rId24"/>
    <p:sldId id="261" r:id="rId25"/>
    <p:sldId id="266" r:id="rId26"/>
    <p:sldId id="265" r:id="rId27"/>
    <p:sldId id="262" r:id="rId28"/>
    <p:sldId id="268" r:id="rId29"/>
    <p:sldId id="290" r:id="rId30"/>
    <p:sldId id="289" r:id="rId31"/>
    <p:sldId id="270" r:id="rId32"/>
    <p:sldId id="271" r:id="rId33"/>
    <p:sldId id="1326" r:id="rId34"/>
    <p:sldId id="295" r:id="rId35"/>
  </p:sldIdLst>
  <p:sldSz cx="9144000" cy="5715000" type="screen16x10"/>
  <p:notesSz cx="6858000" cy="9144000"/>
  <p:defaultTextStyle>
    <a:defPPr>
      <a:defRPr lang="da-DK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F92"/>
    <a:srgbClr val="76D6FF"/>
    <a:srgbClr val="D7CFC5"/>
    <a:srgbClr val="F20B6D"/>
    <a:srgbClr val="D883FF"/>
    <a:srgbClr val="FFEE34"/>
    <a:srgbClr val="B37355"/>
    <a:srgbClr val="941100"/>
    <a:srgbClr val="945200"/>
    <a:srgbClr val="BFE8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436"/>
    <p:restoredTop sz="85885"/>
  </p:normalViewPr>
  <p:slideViewPr>
    <p:cSldViewPr snapToGrid="0" snapToObjects="1">
      <p:cViewPr>
        <p:scale>
          <a:sx n="230" d="100"/>
          <a:sy n="230" d="100"/>
        </p:scale>
        <p:origin x="-2752" y="-1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heme" Target="theme/theme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419BB-50EC-A142-B8DD-DBBF27DDB781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E7CD0-851D-0C45-A7E7-41EE6AA4D84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23334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F8F78-E6AE-C02E-EC0B-8D90FD131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6B01F436-E2AD-90C8-569D-242015063C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D5AA9A4-3A52-899E-C772-92D16B9F3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 har været på weekend – holdt fest, og vil meget hellere snakke med hinanden end at høre på mig.</a:t>
            </a:r>
            <a:br>
              <a:rPr lang="da-DK" dirty="0"/>
            </a:br>
            <a:r>
              <a:rPr lang="da-DK" dirty="0"/>
              <a:t>Derfor får I min vigtigste pointe først.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885FD79-52B4-31F6-076F-0EC9F8C55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AE7CD0-851D-0C45-A7E7-41EE6AA4D840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3898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EC840-EECE-AD46-F78C-534F3638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573EE72B-A237-2499-0A86-AFB2CA0DD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CB68D91-25D7-A818-76F8-B69AC1178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16F355E-B1F0-5DFF-E0D5-C934F3C4A4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E7CD0-851D-0C45-A7E7-41EE6AA4D840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53657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DFADB-6DA4-D5DC-233F-F67AEEA35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336D7AA1-3DEB-657E-1F2A-BB5641543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55E5B8A9-B72E-AF19-BD28-C9B5FE794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327D65F-A123-C3D0-43EA-E0C9584466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E7CD0-851D-0C45-A7E7-41EE6AA4D840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5125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E7CD0-851D-0C45-A7E7-41EE6AA4D840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81879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E7CD0-851D-0C45-A7E7-41EE6AA4D840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3733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E7CD0-851D-0C45-A7E7-41EE6AA4D840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29638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E7CD0-851D-0C45-A7E7-41EE6AA4D840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3923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err="1"/>
              <a:t>Beolab</a:t>
            </a:r>
            <a:r>
              <a:rPr lang="da-DK"/>
              <a:t> 90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6ABE2-00A8-584E-92C7-CA70E1DF1536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93788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5C16B-F7D0-474D-AB5B-C20B42093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D76333CB-4BDB-3F76-B9AF-646D39FDA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A268C4E3-5CD9-60B2-C655-8086DCD6C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D823041-8E7A-821E-A8A0-36E53DB9C0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E7CD0-851D-0C45-A7E7-41EE6AA4D840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5511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7C7DB-48DA-6D56-F239-BE7F729E4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66482BA-0701-7EA3-9655-62351F8C1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CA92E6C8-A51E-3835-5081-66FE2FAAF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6BBC3E8-C355-E36B-0B2F-CF85A5443E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E7CD0-851D-0C45-A7E7-41EE6AA4D840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49950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0E2E6-561E-7DDD-383B-DE9C7EEC9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EEBE639-6FC1-1DE7-09C1-9E960A31F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CBC0B90C-AF5F-99B1-BFFE-24F2F01C7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A3DB852-2E30-B053-B134-06C135F4F5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AE7CD0-851D-0C45-A7E7-41EE6AA4D840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3982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53C45-1B4A-3EC3-FCAD-25DD036CF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5072B619-FDD8-AECE-7154-6D4D21067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5925C062-9177-4843-6B57-23BCA3235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b="1" dirty="0"/>
              <a:t>HCI er det bredere akademiske fagområde.</a:t>
            </a:r>
            <a:r>
              <a:rPr lang="en-DK" dirty="0"/>
              <a:t> Det undersøger, hvordan mennesker interagerer med computere, og hvordan vi kan designe teknologi med udgangspunkt i menneskers behov og forudsætninger.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5BC8E4D-1009-7D4D-5E31-E4D1F0F1BC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AE7CD0-851D-0C45-A7E7-41EE6AA4D840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1655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3A962-8AC7-95B6-83CE-AF2F8EAD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C0603F66-D8A5-D5CF-1425-33AC62F9C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B0668263-9119-BD5D-3C00-F28195F5F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K" dirty="0"/>
              <a:t>UX/UI er meget relevant for </a:t>
            </a:r>
            <a:r>
              <a:rPr lang="en-DK" b="1" dirty="0"/>
              <a:t>systemudvikling</a:t>
            </a:r>
            <a:r>
              <a:rPr lang="en-DK" dirty="0"/>
              <a:t>, fordi systemudvikling ikke kun handler om at udvikle funktionalitet, men også om at sikre, at systemet </a:t>
            </a:r>
            <a:r>
              <a:rPr lang="en-DK" b="1" dirty="0"/>
              <a:t>løser brugerens behov og er nemt at anvende</a:t>
            </a:r>
            <a:r>
              <a:rPr lang="en-DK" dirty="0"/>
              <a:t>. </a:t>
            </a:r>
            <a:r>
              <a:rPr lang="en-GB" dirty="0"/>
              <a:t>U</a:t>
            </a:r>
            <a:r>
              <a:rPr lang="en-DK" dirty="0"/>
              <a:t>x designer skal sammen arbejde med system arkiteckt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E591603-8849-7FC4-315B-031A59042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AE7CD0-851D-0C45-A7E7-41EE6AA4D840}" type="slidenum">
              <a:rPr kumimoji="0" lang="da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a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292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62D2-978B-2443-AD00-63B420CAF7CD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24F9-150B-8345-8014-935647B5FD3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34196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teksttypografien i masteren
Andet niveau
Tredje niveau
Fjerde niveau
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62D2-978B-2443-AD00-63B420CAF7CD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24F9-150B-8345-8014-935647B5FD3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717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teksttypografien i masteren
Andet niveau
Tredje niveau
Fjerde niveau
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62D2-978B-2443-AD00-63B420CAF7CD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24F9-150B-8345-8014-935647B5FD3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2937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da-DK"/>
              <a:t>Rediger teksttypografien i masteren
Andet niveau
Tredje niveau
Fjerde niveau
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da-DK"/>
              <a:t>Rediger teksttypografien i masteren
Andet niveau
Tredje niveau
Fjerde niveau
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62D2-978B-2443-AD00-63B420CAF7CD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24F9-150B-8345-8014-935647B5FD3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55137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a-DK"/>
              <a:t>Rediger teksttypografien i masteren
Andet niveau
Tredje niveau
Fjerde niveau
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da-DK"/>
              <a:t>Rediger teksttypografien i masteren
Andet niveau
Tredje niveau
Fjerde niveau
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a-DK"/>
              <a:t>Rediger teksttypografien i masteren
Andet niveau
Tredje niveau
Fjerde niveau
Femte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da-DK"/>
              <a:t>Rediger teksttypografien i masteren
Andet niveau
Tredje niveau
Fjerde niveau
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62D2-978B-2443-AD00-63B420CAF7CD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24F9-150B-8345-8014-935647B5FD3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0932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62D2-978B-2443-AD00-63B420CAF7CD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24F9-150B-8345-8014-935647B5FD3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628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62D2-978B-2443-AD00-63B420CAF7CD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24F9-150B-8345-8014-935647B5FD3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815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a-DK"/>
              <a:t>Rediger teksttypografien i masteren
Andet niveau
Tredje niveau
Fjerde niveau
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a-DK"/>
              <a:t>Rediger teksttypografien i masteren
Andet niveau
Tredje niveau
Fjerde niveau
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62D2-978B-2443-AD00-63B420CAF7CD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24F9-150B-8345-8014-935647B5FD3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3020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a-DK"/>
              <a:t>Rediger teksttypografien i masteren
Andet niveau
Tredje niveau
Fjerde niveau
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62D2-978B-2443-AD00-63B420CAF7CD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24F9-150B-8345-8014-935647B5FD3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0611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teksttypografien i masteren
Andet niveau
Tredje niveau
Fjerde niveau
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62D2-978B-2443-AD00-63B420CAF7CD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24F9-150B-8345-8014-935647B5FD3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2122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da-DK"/>
              <a:t>Rediger teksttypografien i masteren
Andet niveau
Tredje niveau
Fjerde niveau
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662D2-978B-2443-AD00-63B420CAF7CD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124F9-150B-8345-8014-935647B5FD3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10963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2000"/>
            </a:lvl1pPr>
            <a:lvl2pPr marL="380985" indent="0" algn="ctr">
              <a:buNone/>
              <a:defRPr sz="1667"/>
            </a:lvl2pPr>
            <a:lvl3pPr marL="761970" indent="0" algn="ctr">
              <a:buNone/>
              <a:defRPr sz="1500"/>
            </a:lvl3pPr>
            <a:lvl4pPr marL="1142954" indent="0" algn="ctr">
              <a:buNone/>
              <a:defRPr sz="1333"/>
            </a:lvl4pPr>
            <a:lvl5pPr marL="1523939" indent="0" algn="ctr">
              <a:buNone/>
              <a:defRPr sz="1333"/>
            </a:lvl5pPr>
            <a:lvl6pPr marL="1904924" indent="0" algn="ctr">
              <a:buNone/>
              <a:defRPr sz="1333"/>
            </a:lvl6pPr>
            <a:lvl7pPr marL="2285909" indent="0" algn="ctr">
              <a:buNone/>
              <a:defRPr sz="1333"/>
            </a:lvl7pPr>
            <a:lvl8pPr marL="2666893" indent="0" algn="ctr">
              <a:buNone/>
              <a:defRPr sz="1333"/>
            </a:lvl8pPr>
            <a:lvl9pPr marL="3047878" indent="0" algn="ctr">
              <a:buNone/>
              <a:defRPr sz="1333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E790-2633-8F43-A8EB-7A240B8ADA97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2E7F-7CD9-6344-BCF4-FEB60EE1F5A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6904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E790-2633-8F43-A8EB-7A240B8ADA97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2E7F-7CD9-6344-BCF4-FEB60EE1F5A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1330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424784"/>
            <a:ext cx="7886700" cy="2377281"/>
          </a:xfrm>
        </p:spPr>
        <p:txBody>
          <a:bodyPr anchor="b"/>
          <a:lstStyle>
            <a:lvl1pPr>
              <a:defRPr sz="5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3824555"/>
            <a:ext cx="7886700" cy="1250156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1pPr>
            <a:lvl2pPr marL="380985" indent="0">
              <a:buNone/>
              <a:defRPr sz="1667">
                <a:solidFill>
                  <a:schemeClr val="tx1">
                    <a:tint val="82000"/>
                  </a:schemeClr>
                </a:solidFill>
              </a:defRPr>
            </a:lvl2pPr>
            <a:lvl3pPr marL="76197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3pPr>
            <a:lvl4pPr marL="1142954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4pPr>
            <a:lvl5pPr marL="1523939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5pPr>
            <a:lvl6pPr marL="1904924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6pPr>
            <a:lvl7pPr marL="2285909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7pPr>
            <a:lvl8pPr marL="2666893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8pPr>
            <a:lvl9pPr marL="3047878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E790-2633-8F43-A8EB-7A240B8ADA97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2E7F-7CD9-6344-BCF4-FEB60EE1F5A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31973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E790-2633-8F43-A8EB-7A240B8ADA97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2E7F-7CD9-6344-BCF4-FEB60EE1F5A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13161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04273"/>
            <a:ext cx="7886700" cy="1104636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985" indent="0">
              <a:buNone/>
              <a:defRPr sz="1667" b="1"/>
            </a:lvl2pPr>
            <a:lvl3pPr marL="761970" indent="0">
              <a:buNone/>
              <a:defRPr sz="1500" b="1"/>
            </a:lvl3pPr>
            <a:lvl4pPr marL="1142954" indent="0">
              <a:buNone/>
              <a:defRPr sz="1333" b="1"/>
            </a:lvl4pPr>
            <a:lvl5pPr marL="1523939" indent="0">
              <a:buNone/>
              <a:defRPr sz="1333" b="1"/>
            </a:lvl5pPr>
            <a:lvl6pPr marL="1904924" indent="0">
              <a:buNone/>
              <a:defRPr sz="1333" b="1"/>
            </a:lvl6pPr>
            <a:lvl7pPr marL="2285909" indent="0">
              <a:buNone/>
              <a:defRPr sz="1333" b="1"/>
            </a:lvl7pPr>
            <a:lvl8pPr marL="2666893" indent="0">
              <a:buNone/>
              <a:defRPr sz="1333" b="1"/>
            </a:lvl8pPr>
            <a:lvl9pPr marL="3047878" indent="0">
              <a:buNone/>
              <a:defRPr sz="1333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E790-2633-8F43-A8EB-7A240B8ADA97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2E7F-7CD9-6344-BCF4-FEB60EE1F5A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66794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E790-2633-8F43-A8EB-7A240B8ADA97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2E7F-7CD9-6344-BCF4-FEB60EE1F5A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2349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E790-2633-8F43-A8EB-7A240B8ADA97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2E7F-7CD9-6344-BCF4-FEB60EE1F5A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73431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81000"/>
            <a:ext cx="2949178" cy="1333500"/>
          </a:xfrm>
        </p:spPr>
        <p:txBody>
          <a:bodyPr anchor="b"/>
          <a:lstStyle>
            <a:lvl1pPr>
              <a:defRPr sz="2667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6"/>
            <a:ext cx="4629150" cy="4061354"/>
          </a:xfrm>
        </p:spPr>
        <p:txBody>
          <a:bodyPr/>
          <a:lstStyle>
            <a:lvl1pPr>
              <a:defRPr sz="2667"/>
            </a:lvl1pPr>
            <a:lvl2pPr>
              <a:defRPr sz="2333"/>
            </a:lvl2pPr>
            <a:lvl3pPr>
              <a:defRPr sz="2000"/>
            </a:lvl3pPr>
            <a:lvl4pPr>
              <a:defRPr sz="1667"/>
            </a:lvl4pPr>
            <a:lvl5pPr>
              <a:defRPr sz="1667"/>
            </a:lvl5pPr>
            <a:lvl6pPr>
              <a:defRPr sz="1667"/>
            </a:lvl6pPr>
            <a:lvl7pPr>
              <a:defRPr sz="1667"/>
            </a:lvl7pPr>
            <a:lvl8pPr>
              <a:defRPr sz="1667"/>
            </a:lvl8pPr>
            <a:lvl9pPr>
              <a:defRPr sz="1667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1714500"/>
            <a:ext cx="2949178" cy="3176323"/>
          </a:xfrm>
        </p:spPr>
        <p:txBody>
          <a:bodyPr/>
          <a:lstStyle>
            <a:lvl1pPr marL="0" indent="0">
              <a:buNone/>
              <a:defRPr sz="1333"/>
            </a:lvl1pPr>
            <a:lvl2pPr marL="380985" indent="0">
              <a:buNone/>
              <a:defRPr sz="1167"/>
            </a:lvl2pPr>
            <a:lvl3pPr marL="761970" indent="0">
              <a:buNone/>
              <a:defRPr sz="1000"/>
            </a:lvl3pPr>
            <a:lvl4pPr marL="1142954" indent="0">
              <a:buNone/>
              <a:defRPr sz="833"/>
            </a:lvl4pPr>
            <a:lvl5pPr marL="1523939" indent="0">
              <a:buNone/>
              <a:defRPr sz="833"/>
            </a:lvl5pPr>
            <a:lvl6pPr marL="1904924" indent="0">
              <a:buNone/>
              <a:defRPr sz="833"/>
            </a:lvl6pPr>
            <a:lvl7pPr marL="2285909" indent="0">
              <a:buNone/>
              <a:defRPr sz="833"/>
            </a:lvl7pPr>
            <a:lvl8pPr marL="2666893" indent="0">
              <a:buNone/>
              <a:defRPr sz="833"/>
            </a:lvl8pPr>
            <a:lvl9pPr marL="3047878" indent="0">
              <a:buNone/>
              <a:defRPr sz="833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E790-2633-8F43-A8EB-7A240B8ADA97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2E7F-7CD9-6344-BCF4-FEB60EE1F5A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4793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81000"/>
            <a:ext cx="2949178" cy="1333500"/>
          </a:xfrm>
        </p:spPr>
        <p:txBody>
          <a:bodyPr anchor="b"/>
          <a:lstStyle>
            <a:lvl1pPr>
              <a:defRPr sz="2667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6"/>
            <a:ext cx="4629150" cy="4061354"/>
          </a:xfrm>
        </p:spPr>
        <p:txBody>
          <a:bodyPr anchor="t"/>
          <a:lstStyle>
            <a:lvl1pPr marL="0" indent="0">
              <a:buNone/>
              <a:defRPr sz="2667"/>
            </a:lvl1pPr>
            <a:lvl2pPr marL="380985" indent="0">
              <a:buNone/>
              <a:defRPr sz="2333"/>
            </a:lvl2pPr>
            <a:lvl3pPr marL="761970" indent="0">
              <a:buNone/>
              <a:defRPr sz="2000"/>
            </a:lvl3pPr>
            <a:lvl4pPr marL="1142954" indent="0">
              <a:buNone/>
              <a:defRPr sz="1667"/>
            </a:lvl4pPr>
            <a:lvl5pPr marL="1523939" indent="0">
              <a:buNone/>
              <a:defRPr sz="1667"/>
            </a:lvl5pPr>
            <a:lvl6pPr marL="1904924" indent="0">
              <a:buNone/>
              <a:defRPr sz="1667"/>
            </a:lvl6pPr>
            <a:lvl7pPr marL="2285909" indent="0">
              <a:buNone/>
              <a:defRPr sz="1667"/>
            </a:lvl7pPr>
            <a:lvl8pPr marL="2666893" indent="0">
              <a:buNone/>
              <a:defRPr sz="1667"/>
            </a:lvl8pPr>
            <a:lvl9pPr marL="3047878" indent="0">
              <a:buNone/>
              <a:defRPr sz="1667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1714500"/>
            <a:ext cx="2949178" cy="3176323"/>
          </a:xfrm>
        </p:spPr>
        <p:txBody>
          <a:bodyPr/>
          <a:lstStyle>
            <a:lvl1pPr marL="0" indent="0">
              <a:buNone/>
              <a:defRPr sz="1333"/>
            </a:lvl1pPr>
            <a:lvl2pPr marL="380985" indent="0">
              <a:buNone/>
              <a:defRPr sz="1167"/>
            </a:lvl2pPr>
            <a:lvl3pPr marL="761970" indent="0">
              <a:buNone/>
              <a:defRPr sz="1000"/>
            </a:lvl3pPr>
            <a:lvl4pPr marL="1142954" indent="0">
              <a:buNone/>
              <a:defRPr sz="833"/>
            </a:lvl4pPr>
            <a:lvl5pPr marL="1523939" indent="0">
              <a:buNone/>
              <a:defRPr sz="833"/>
            </a:lvl5pPr>
            <a:lvl6pPr marL="1904924" indent="0">
              <a:buNone/>
              <a:defRPr sz="833"/>
            </a:lvl6pPr>
            <a:lvl7pPr marL="2285909" indent="0">
              <a:buNone/>
              <a:defRPr sz="833"/>
            </a:lvl7pPr>
            <a:lvl8pPr marL="2666893" indent="0">
              <a:buNone/>
              <a:defRPr sz="833"/>
            </a:lvl8pPr>
            <a:lvl9pPr marL="3047878" indent="0">
              <a:buNone/>
              <a:defRPr sz="833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E790-2633-8F43-A8EB-7A240B8ADA97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2E7F-7CD9-6344-BCF4-FEB60EE1F5A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64711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E790-2633-8F43-A8EB-7A240B8ADA97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2E7F-7CD9-6344-BCF4-FEB60EE1F5A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66627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1"/>
            <a:ext cx="1971675" cy="484319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04271"/>
            <a:ext cx="5800725" cy="484319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9E790-2633-8F43-A8EB-7A240B8ADA97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E2E7F-7CD9-6344-BCF4-FEB60EE1F5A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04105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teksttypografien i masteren
Andet niveau
Tredje niveau
Fjerde niveau
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662D2-978B-2443-AD00-63B420CAF7CD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124F9-150B-8345-8014-935647B5FD3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875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04273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9E790-2633-8F43-A8EB-7A240B8ADA97}" type="datetimeFigureOut">
              <a:rPr lang="da-DK" smtClean="0"/>
              <a:t>08.10.2026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E2E7F-7CD9-6344-BCF4-FEB60EE1F5A1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74418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492" indent="-190492" algn="l" defTabSz="76197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7147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www.youtube.com/watch?v=5KUNmgt_pvY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interaction-design.org/literature/topics/ux-design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hyperlink" Target="https://www.interaction-design.org/literature/topics/ux-design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rundet rektangel 1">
            <a:extLst>
              <a:ext uri="{FF2B5EF4-FFF2-40B4-BE49-F238E27FC236}">
                <a16:creationId xmlns:a16="http://schemas.microsoft.com/office/drawing/2014/main" id="{54C20B57-C240-BB30-725A-926B4A25F83D}"/>
              </a:ext>
            </a:extLst>
          </p:cNvPr>
          <p:cNvSpPr/>
          <p:nvPr/>
        </p:nvSpPr>
        <p:spPr>
          <a:xfrm>
            <a:off x="293511" y="249116"/>
            <a:ext cx="8568702" cy="5275384"/>
          </a:xfrm>
          <a:prstGeom prst="roundRect">
            <a:avLst/>
          </a:prstGeom>
          <a:solidFill>
            <a:srgbClr val="D7CFC5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125" dirty="0"/>
          </a:p>
        </p:txBody>
      </p:sp>
      <p:sp>
        <p:nvSpPr>
          <p:cNvPr id="5" name="Undertitel 2"/>
          <p:cNvSpPr>
            <a:spLocks noGrp="1"/>
          </p:cNvSpPr>
          <p:nvPr>
            <p:ph type="subTitle" idx="1"/>
          </p:nvPr>
        </p:nvSpPr>
        <p:spPr>
          <a:xfrm>
            <a:off x="661289" y="3396362"/>
            <a:ext cx="8170984" cy="1593423"/>
          </a:xfrm>
        </p:spPr>
        <p:txBody>
          <a:bodyPr>
            <a:normAutofit/>
          </a:bodyPr>
          <a:lstStyle/>
          <a:p>
            <a:pPr algn="l"/>
            <a:r>
              <a:rPr lang="da-DK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UI (UX) - begreber</a:t>
            </a:r>
          </a:p>
          <a:p>
            <a:pPr algn="l"/>
            <a:r>
              <a:rPr lang="da-DK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1747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E7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4B6C86-BA34-3552-700F-A7CC93303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titel 2">
            <a:extLst>
              <a:ext uri="{FF2B5EF4-FFF2-40B4-BE49-F238E27FC236}">
                <a16:creationId xmlns:a16="http://schemas.microsoft.com/office/drawing/2014/main" id="{37208D4F-BB0D-A0AF-FE4F-B3A0858C5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773044"/>
            <a:ext cx="7620000" cy="1802308"/>
          </a:xfrm>
        </p:spPr>
        <p:txBody>
          <a:bodyPr>
            <a:noAutofit/>
          </a:bodyPr>
          <a:lstStyle/>
          <a:p>
            <a:r>
              <a:rPr lang="da-DK" sz="4500" b="1" dirty="0">
                <a:solidFill>
                  <a:schemeClr val="bg1">
                    <a:lumMod val="95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UX, UI &amp;</a:t>
            </a:r>
          </a:p>
          <a:p>
            <a:r>
              <a:rPr lang="da-DK" sz="4500" b="1" dirty="0" err="1">
                <a:solidFill>
                  <a:schemeClr val="bg1">
                    <a:lumMod val="95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Usability</a:t>
            </a:r>
            <a:r>
              <a:rPr lang="da-DK" sz="4500" b="1" dirty="0">
                <a:solidFill>
                  <a:schemeClr val="bg1">
                    <a:lumMod val="95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??</a:t>
            </a:r>
            <a:endParaRPr lang="da-DK" sz="1333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da-DK" sz="1333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da-DK" sz="1333" i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8115" indent="-238115" algn="l">
              <a:buFont typeface="Arial" panose="020B0604020202020204" pitchFamily="34" charset="0"/>
              <a:buChar char="•"/>
            </a:pPr>
            <a:endParaRPr lang="da-DK" sz="1333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1444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F8969-F776-4DDE-7829-6B307E6E7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7D7271-1E1B-0051-7303-68D2DD132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156" y="2857500"/>
            <a:ext cx="7632824" cy="4089620"/>
          </a:xfrm>
        </p:spPr>
        <p:txBody>
          <a:bodyPr anchor="t" anchorCtr="0">
            <a:normAutofit/>
          </a:bodyPr>
          <a:lstStyle/>
          <a:p>
            <a:pPr algn="l"/>
            <a:r>
              <a:rPr lang="da-DK" sz="2000" dirty="0">
                <a:latin typeface="Helvetica" charset="0"/>
                <a:ea typeface="Helvetica" charset="0"/>
                <a:cs typeface="Helvetica" charset="0"/>
              </a:rPr>
              <a:t>Der er tit begrebsforvirring om:</a:t>
            </a:r>
            <a:br>
              <a:rPr lang="da-DK" sz="3200" dirty="0">
                <a:latin typeface="Helvetica" charset="0"/>
                <a:ea typeface="Helvetica" charset="0"/>
                <a:cs typeface="Helvetica" charset="0"/>
              </a:rPr>
            </a:br>
            <a:br>
              <a:rPr lang="da-DK" sz="3200" dirty="0">
                <a:latin typeface="Helvetica" charset="0"/>
                <a:ea typeface="Helvetica" charset="0"/>
                <a:cs typeface="Helvetica" charset="0"/>
              </a:rPr>
            </a:br>
            <a:r>
              <a:rPr lang="da-DK" sz="3200" b="1" dirty="0">
                <a:solidFill>
                  <a:schemeClr val="accent2"/>
                </a:solidFill>
                <a:latin typeface="Helvetica" charset="0"/>
                <a:ea typeface="Helvetica" charset="0"/>
                <a:cs typeface="Helvetica" charset="0"/>
              </a:rPr>
              <a:t>UX, UI &amp; </a:t>
            </a:r>
            <a:r>
              <a:rPr lang="da-DK" sz="3200" b="1" dirty="0" err="1">
                <a:solidFill>
                  <a:schemeClr val="accent2"/>
                </a:solidFill>
                <a:latin typeface="Helvetica" charset="0"/>
                <a:ea typeface="Helvetica" charset="0"/>
                <a:cs typeface="Helvetica" charset="0"/>
              </a:rPr>
              <a:t>Usability</a:t>
            </a:r>
            <a:br>
              <a:rPr lang="da-DK" sz="2400" b="1" dirty="0">
                <a:latin typeface="Helvetica" charset="0"/>
                <a:ea typeface="Helvetica" charset="0"/>
                <a:cs typeface="Helvetica" charset="0"/>
              </a:rPr>
            </a:br>
            <a:endParaRPr lang="da-DK" sz="2000" dirty="0">
              <a:solidFill>
                <a:schemeClr val="accent5"/>
              </a:solidFill>
              <a:latin typeface="Helvetica" charset="0"/>
            </a:endParaRPr>
          </a:p>
        </p:txBody>
      </p:sp>
      <p:pic>
        <p:nvPicPr>
          <p:cNvPr id="4" name="Billede 3" descr="Et billede, der indeholder tekst, clipart&#10;&#10;Automatisk genereret beskrivelse">
            <a:extLst>
              <a:ext uri="{FF2B5EF4-FFF2-40B4-BE49-F238E27FC236}">
                <a16:creationId xmlns:a16="http://schemas.microsoft.com/office/drawing/2014/main" id="{3F140F6C-21AD-AF5A-2887-54765D0A5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129" y="101873"/>
            <a:ext cx="960698" cy="26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421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C2189-0058-DBCE-A476-26FDCFE0A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lede 14" descr="Et billede, der indeholder tekst, clipart&#10;&#10;Automatisk genereret beskrivelse">
            <a:extLst>
              <a:ext uri="{FF2B5EF4-FFF2-40B4-BE49-F238E27FC236}">
                <a16:creationId xmlns:a16="http://schemas.microsoft.com/office/drawing/2014/main" id="{13D47B61-737E-AC3F-81F5-E2832AD78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129" y="101873"/>
            <a:ext cx="960698" cy="267714"/>
          </a:xfrm>
          <a:prstGeom prst="rect">
            <a:avLst/>
          </a:prstGeom>
        </p:spPr>
      </p:pic>
      <p:sp>
        <p:nvSpPr>
          <p:cNvPr id="5" name="Tekstfelt 4">
            <a:extLst>
              <a:ext uri="{FF2B5EF4-FFF2-40B4-BE49-F238E27FC236}">
                <a16:creationId xmlns:a16="http://schemas.microsoft.com/office/drawing/2014/main" id="{9BE0EDBD-4C01-31DE-C5A0-82FF42FFB281}"/>
              </a:ext>
            </a:extLst>
          </p:cNvPr>
          <p:cNvSpPr txBox="1"/>
          <p:nvPr/>
        </p:nvSpPr>
        <p:spPr>
          <a:xfrm>
            <a:off x="158458" y="5414918"/>
            <a:ext cx="457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hlinkClick r:id="rId4"/>
              </a:rPr>
              <a:t>https://www.youtube.com/watch?v=5KUNmgt_pvY</a:t>
            </a:r>
            <a:r>
              <a:rPr lang="da-DK" dirty="0"/>
              <a:t> </a:t>
            </a:r>
          </a:p>
        </p:txBody>
      </p:sp>
      <p:pic>
        <p:nvPicPr>
          <p:cNvPr id="16" name="Billede 15" descr="Et billede, der indeholder tekst, Ansigt, tøj, person&#10;&#10;AI-genereret indhold kan være ukorrekt.">
            <a:extLst>
              <a:ext uri="{FF2B5EF4-FFF2-40B4-BE49-F238E27FC236}">
                <a16:creationId xmlns:a16="http://schemas.microsoft.com/office/drawing/2014/main" id="{E5AFFDE4-1EBA-829C-5B82-64E85C7FD7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747834"/>
            <a:ext cx="7772400" cy="442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74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>
            <a:extLst>
              <a:ext uri="{FF2B5EF4-FFF2-40B4-BE49-F238E27FC236}">
                <a16:creationId xmlns:a16="http://schemas.microsoft.com/office/drawing/2014/main" id="{ED3EC5E3-CCFD-6048-B298-755FA4006220}"/>
              </a:ext>
            </a:extLst>
          </p:cNvPr>
          <p:cNvSpPr/>
          <p:nvPr/>
        </p:nvSpPr>
        <p:spPr>
          <a:xfrm>
            <a:off x="2270412" y="397452"/>
            <a:ext cx="4920095" cy="4920095"/>
          </a:xfrm>
          <a:prstGeom prst="ellipse">
            <a:avLst/>
          </a:prstGeom>
          <a:solidFill>
            <a:schemeClr val="accent4">
              <a:alpha val="44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F8D228A-E6CC-9349-B3F3-473101B270A4}"/>
              </a:ext>
            </a:extLst>
          </p:cNvPr>
          <p:cNvSpPr/>
          <p:nvPr/>
        </p:nvSpPr>
        <p:spPr>
          <a:xfrm>
            <a:off x="4827527" y="2961672"/>
            <a:ext cx="1787059" cy="1766048"/>
          </a:xfrm>
          <a:prstGeom prst="ellipse">
            <a:avLst/>
          </a:prstGeom>
          <a:solidFill>
            <a:schemeClr val="accent4">
              <a:alpha val="44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Undertitel 2">
            <a:extLst>
              <a:ext uri="{FF2B5EF4-FFF2-40B4-BE49-F238E27FC236}">
                <a16:creationId xmlns:a16="http://schemas.microsoft.com/office/drawing/2014/main" id="{260C61CA-C3DD-FB4C-B9F3-111BD5AF6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9860" y="2539195"/>
            <a:ext cx="1981197" cy="636608"/>
          </a:xfrm>
        </p:spPr>
        <p:txBody>
          <a:bodyPr>
            <a:noAutofit/>
          </a:bodyPr>
          <a:lstStyle/>
          <a:p>
            <a:r>
              <a:rPr lang="da-DK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UX</a:t>
            </a:r>
          </a:p>
        </p:txBody>
      </p:sp>
      <p:sp>
        <p:nvSpPr>
          <p:cNvPr id="14" name="Undertitel 2">
            <a:extLst>
              <a:ext uri="{FF2B5EF4-FFF2-40B4-BE49-F238E27FC236}">
                <a16:creationId xmlns:a16="http://schemas.microsoft.com/office/drawing/2014/main" id="{C41D107D-2AE1-604B-96F5-F4642643F490}"/>
              </a:ext>
            </a:extLst>
          </p:cNvPr>
          <p:cNvSpPr txBox="1">
            <a:spLocks/>
          </p:cNvSpPr>
          <p:nvPr/>
        </p:nvSpPr>
        <p:spPr>
          <a:xfrm>
            <a:off x="4640406" y="3633457"/>
            <a:ext cx="2161299" cy="636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2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Usability</a:t>
            </a:r>
            <a:endParaRPr lang="da-DK" sz="2400" b="1" dirty="0">
              <a:solidFill>
                <a:schemeClr val="tx1">
                  <a:lumMod val="50000"/>
                  <a:lumOff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pic>
        <p:nvPicPr>
          <p:cNvPr id="15" name="Billede 14" descr="Et billede, der indeholder tekst, clipart&#10;&#10;Automatisk genereret beskrivelse">
            <a:extLst>
              <a:ext uri="{FF2B5EF4-FFF2-40B4-BE49-F238E27FC236}">
                <a16:creationId xmlns:a16="http://schemas.microsoft.com/office/drawing/2014/main" id="{95E99185-AC4F-0443-BA25-993DD71E2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129" y="101873"/>
            <a:ext cx="960698" cy="267714"/>
          </a:xfrm>
          <a:prstGeom prst="rect">
            <a:avLst/>
          </a:prstGeom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407013D9-A286-A803-F64C-C1884FBABC12}"/>
              </a:ext>
            </a:extLst>
          </p:cNvPr>
          <p:cNvSpPr/>
          <p:nvPr/>
        </p:nvSpPr>
        <p:spPr>
          <a:xfrm>
            <a:off x="3069398" y="3369666"/>
            <a:ext cx="1502602" cy="1484935"/>
          </a:xfrm>
          <a:prstGeom prst="ellipse">
            <a:avLst/>
          </a:prstGeom>
          <a:solidFill>
            <a:schemeClr val="accent4">
              <a:alpha val="44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6FF63D6D-3F8D-DDDE-1196-386F18AD41BD}"/>
              </a:ext>
            </a:extLst>
          </p:cNvPr>
          <p:cNvSpPr txBox="1">
            <a:spLocks/>
          </p:cNvSpPr>
          <p:nvPr/>
        </p:nvSpPr>
        <p:spPr>
          <a:xfrm>
            <a:off x="2976751" y="3951761"/>
            <a:ext cx="1629452" cy="4799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Ui</a:t>
            </a:r>
            <a:br>
              <a:rPr lang="da-DK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endParaRPr lang="da-DK" sz="1400" dirty="0">
              <a:solidFill>
                <a:schemeClr val="tx1">
                  <a:lumMod val="50000"/>
                  <a:lumOff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06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lipse 7">
            <a:extLst>
              <a:ext uri="{FF2B5EF4-FFF2-40B4-BE49-F238E27FC236}">
                <a16:creationId xmlns:a16="http://schemas.microsoft.com/office/drawing/2014/main" id="{ED3EC5E3-CCFD-6048-B298-755FA4006220}"/>
              </a:ext>
            </a:extLst>
          </p:cNvPr>
          <p:cNvSpPr/>
          <p:nvPr/>
        </p:nvSpPr>
        <p:spPr>
          <a:xfrm>
            <a:off x="2270412" y="397452"/>
            <a:ext cx="4920095" cy="4920095"/>
          </a:xfrm>
          <a:prstGeom prst="ellipse">
            <a:avLst/>
          </a:prstGeom>
          <a:solidFill>
            <a:schemeClr val="accent4">
              <a:alpha val="44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F8D228A-E6CC-9349-B3F3-473101B270A4}"/>
              </a:ext>
            </a:extLst>
          </p:cNvPr>
          <p:cNvSpPr/>
          <p:nvPr/>
        </p:nvSpPr>
        <p:spPr>
          <a:xfrm>
            <a:off x="4827527" y="2961672"/>
            <a:ext cx="1787059" cy="1766048"/>
          </a:xfrm>
          <a:prstGeom prst="ellipse">
            <a:avLst/>
          </a:prstGeom>
          <a:solidFill>
            <a:schemeClr val="accent4">
              <a:alpha val="44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3" name="Undertitel 2">
            <a:extLst>
              <a:ext uri="{FF2B5EF4-FFF2-40B4-BE49-F238E27FC236}">
                <a16:creationId xmlns:a16="http://schemas.microsoft.com/office/drawing/2014/main" id="{260C61CA-C3DD-FB4C-B9F3-111BD5AF6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9860" y="2539195"/>
            <a:ext cx="1981197" cy="636608"/>
          </a:xfrm>
        </p:spPr>
        <p:txBody>
          <a:bodyPr>
            <a:noAutofit/>
          </a:bodyPr>
          <a:lstStyle/>
          <a:p>
            <a:r>
              <a:rPr lang="da-DK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UX</a:t>
            </a:r>
          </a:p>
        </p:txBody>
      </p:sp>
      <p:sp>
        <p:nvSpPr>
          <p:cNvPr id="14" name="Undertitel 2">
            <a:extLst>
              <a:ext uri="{FF2B5EF4-FFF2-40B4-BE49-F238E27FC236}">
                <a16:creationId xmlns:a16="http://schemas.microsoft.com/office/drawing/2014/main" id="{C41D107D-2AE1-604B-96F5-F4642643F490}"/>
              </a:ext>
            </a:extLst>
          </p:cNvPr>
          <p:cNvSpPr txBox="1">
            <a:spLocks/>
          </p:cNvSpPr>
          <p:nvPr/>
        </p:nvSpPr>
        <p:spPr>
          <a:xfrm>
            <a:off x="4640406" y="3633457"/>
            <a:ext cx="2161299" cy="636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2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Usability</a:t>
            </a:r>
            <a:endParaRPr lang="da-DK" sz="2400" b="1" dirty="0">
              <a:solidFill>
                <a:schemeClr val="tx1">
                  <a:lumMod val="50000"/>
                  <a:lumOff val="50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647C94C-820F-B34E-A176-972A6C615745}"/>
              </a:ext>
            </a:extLst>
          </p:cNvPr>
          <p:cNvSpPr/>
          <p:nvPr/>
        </p:nvSpPr>
        <p:spPr>
          <a:xfrm>
            <a:off x="3069398" y="3369666"/>
            <a:ext cx="1502602" cy="1484935"/>
          </a:xfrm>
          <a:prstGeom prst="ellipse">
            <a:avLst/>
          </a:prstGeom>
          <a:solidFill>
            <a:schemeClr val="accent4">
              <a:alpha val="44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7" name="Undertitel 2">
            <a:extLst>
              <a:ext uri="{FF2B5EF4-FFF2-40B4-BE49-F238E27FC236}">
                <a16:creationId xmlns:a16="http://schemas.microsoft.com/office/drawing/2014/main" id="{6C879D6D-6AA4-0A44-A3D6-8A2C0AA1BFD9}"/>
              </a:ext>
            </a:extLst>
          </p:cNvPr>
          <p:cNvSpPr txBox="1">
            <a:spLocks/>
          </p:cNvSpPr>
          <p:nvPr/>
        </p:nvSpPr>
        <p:spPr>
          <a:xfrm>
            <a:off x="3003229" y="3619693"/>
            <a:ext cx="1629452" cy="4799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Ui</a:t>
            </a:r>
            <a:br>
              <a:rPr lang="da-DK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r>
              <a:rPr lang="da-DK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Design</a:t>
            </a:r>
          </a:p>
          <a:p>
            <a:r>
              <a:rPr lang="da-DK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Programmering</a:t>
            </a:r>
          </a:p>
          <a:p>
            <a:r>
              <a:rPr lang="da-DK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Indhold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627262D3-AEC0-D748-B291-C9EA3EBA8367}"/>
              </a:ext>
            </a:extLst>
          </p:cNvPr>
          <p:cNvSpPr/>
          <p:nvPr/>
        </p:nvSpPr>
        <p:spPr>
          <a:xfrm>
            <a:off x="2516797" y="1515130"/>
            <a:ext cx="1787059" cy="1766048"/>
          </a:xfrm>
          <a:prstGeom prst="ellipse">
            <a:avLst/>
          </a:prstGeom>
          <a:solidFill>
            <a:schemeClr val="accent4">
              <a:alpha val="44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Undertitel 2">
            <a:extLst>
              <a:ext uri="{FF2B5EF4-FFF2-40B4-BE49-F238E27FC236}">
                <a16:creationId xmlns:a16="http://schemas.microsoft.com/office/drawing/2014/main" id="{1DE684D2-3E18-DF49-AC65-556B5562DB2F}"/>
              </a:ext>
            </a:extLst>
          </p:cNvPr>
          <p:cNvSpPr txBox="1">
            <a:spLocks/>
          </p:cNvSpPr>
          <p:nvPr/>
        </p:nvSpPr>
        <p:spPr>
          <a:xfrm>
            <a:off x="2341251" y="2152190"/>
            <a:ext cx="2161299" cy="636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Relevans og samhørighed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31A07F2-73A0-8A49-BAE9-2FD4CC400913}"/>
              </a:ext>
            </a:extLst>
          </p:cNvPr>
          <p:cNvSpPr/>
          <p:nvPr/>
        </p:nvSpPr>
        <p:spPr>
          <a:xfrm>
            <a:off x="4109488" y="543344"/>
            <a:ext cx="1532771" cy="1514750"/>
          </a:xfrm>
          <a:prstGeom prst="ellipse">
            <a:avLst/>
          </a:prstGeom>
          <a:solidFill>
            <a:schemeClr val="accent4">
              <a:alpha val="44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5" name="Undertitel 2">
            <a:extLst>
              <a:ext uri="{FF2B5EF4-FFF2-40B4-BE49-F238E27FC236}">
                <a16:creationId xmlns:a16="http://schemas.microsoft.com/office/drawing/2014/main" id="{B435641E-B05A-E341-9A47-6EE4C8B12D3D}"/>
              </a:ext>
            </a:extLst>
          </p:cNvPr>
          <p:cNvSpPr txBox="1">
            <a:spLocks/>
          </p:cNvSpPr>
          <p:nvPr/>
        </p:nvSpPr>
        <p:spPr>
          <a:xfrm>
            <a:off x="3975619" y="1054417"/>
            <a:ext cx="1853759" cy="5460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Kontakt med virksomheden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58E93D26-06D9-0D46-B930-BF486E09FCDC}"/>
              </a:ext>
            </a:extLst>
          </p:cNvPr>
          <p:cNvSpPr/>
          <p:nvPr/>
        </p:nvSpPr>
        <p:spPr>
          <a:xfrm>
            <a:off x="5593620" y="1598876"/>
            <a:ext cx="1283332" cy="1268244"/>
          </a:xfrm>
          <a:prstGeom prst="ellipse">
            <a:avLst/>
          </a:prstGeom>
          <a:solidFill>
            <a:schemeClr val="accent4">
              <a:alpha val="44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Undertitel 2">
            <a:extLst>
              <a:ext uri="{FF2B5EF4-FFF2-40B4-BE49-F238E27FC236}">
                <a16:creationId xmlns:a16="http://schemas.microsoft.com/office/drawing/2014/main" id="{947ACDD9-451D-6E43-B0E9-3B121734C333}"/>
              </a:ext>
            </a:extLst>
          </p:cNvPr>
          <p:cNvSpPr txBox="1">
            <a:spLocks/>
          </p:cNvSpPr>
          <p:nvPr/>
        </p:nvSpPr>
        <p:spPr>
          <a:xfrm>
            <a:off x="5344473" y="1950247"/>
            <a:ext cx="1853759" cy="5460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Brug af</a:t>
            </a:r>
            <a:br>
              <a:rPr lang="da-DK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r>
              <a:rPr lang="da-DK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”produktet”</a:t>
            </a:r>
            <a:br>
              <a:rPr lang="da-DK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r>
              <a:rPr lang="da-DK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over tid</a:t>
            </a:r>
          </a:p>
        </p:txBody>
      </p:sp>
      <p:pic>
        <p:nvPicPr>
          <p:cNvPr id="18" name="Billede 17" descr="Et billede, der indeholder tekst, clipart&#10;&#10;Automatisk genereret beskrivelse">
            <a:extLst>
              <a:ext uri="{FF2B5EF4-FFF2-40B4-BE49-F238E27FC236}">
                <a16:creationId xmlns:a16="http://schemas.microsoft.com/office/drawing/2014/main" id="{CFFCC6BD-224F-E043-830F-94758A532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129" y="101873"/>
            <a:ext cx="960698" cy="26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649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0" y="677209"/>
            <a:ext cx="9144000" cy="1257206"/>
          </a:xfrm>
        </p:spPr>
        <p:txBody>
          <a:bodyPr anchor="t" anchorCtr="0">
            <a:normAutofit/>
          </a:bodyPr>
          <a:lstStyle/>
          <a:p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UX – det store brede begreb</a:t>
            </a:r>
          </a:p>
        </p:txBody>
      </p:sp>
      <p:cxnSp>
        <p:nvCxnSpPr>
          <p:cNvPr id="6" name="Lige forbindelse 5"/>
          <p:cNvCxnSpPr/>
          <p:nvPr/>
        </p:nvCxnSpPr>
        <p:spPr>
          <a:xfrm flipV="1">
            <a:off x="973016" y="5201531"/>
            <a:ext cx="7207741" cy="123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ge forbindelse 10"/>
          <p:cNvCxnSpPr/>
          <p:nvPr/>
        </p:nvCxnSpPr>
        <p:spPr>
          <a:xfrm flipV="1">
            <a:off x="984246" y="1590521"/>
            <a:ext cx="7207741" cy="123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Undertitel 2"/>
          <p:cNvSpPr>
            <a:spLocks noGrp="1"/>
          </p:cNvSpPr>
          <p:nvPr>
            <p:ph type="subTitle" idx="1"/>
          </p:nvPr>
        </p:nvSpPr>
        <p:spPr>
          <a:xfrm>
            <a:off x="1078034" y="2015233"/>
            <a:ext cx="7010888" cy="3084562"/>
          </a:xfrm>
        </p:spPr>
        <p:txBody>
          <a:bodyPr>
            <a:normAutofit fontScale="92500" lnSpcReduction="20000"/>
          </a:bodyPr>
          <a:lstStyle/>
          <a:p>
            <a:pPr marL="285739" indent="-285739" algn="l">
              <a:buFont typeface="Arial" panose="020B0604020202020204" pitchFamily="34" charset="0"/>
              <a:buChar char="•"/>
            </a:pPr>
            <a:r>
              <a:rPr lang="da-DK" sz="1667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UX</a:t>
            </a:r>
            <a:r>
              <a:rPr lang="da-DK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er summen af den samlede komplette oplevelse med afsenderen:</a:t>
            </a:r>
            <a:br>
              <a:rPr lang="da-DK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br>
              <a:rPr lang="da-DK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r>
              <a:rPr lang="da-DK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- når vi benytter virksomhedens digitale platforme – giver de mening for os?</a:t>
            </a:r>
            <a:br>
              <a:rPr lang="da-DK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r>
              <a:rPr lang="da-DK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- virksomhedens ydelser – alt det de tilbyder deres kunder</a:t>
            </a:r>
            <a:br>
              <a:rPr lang="da-DK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r>
              <a:rPr lang="da-DK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- interaktionen med virksomheden på alle punkter</a:t>
            </a:r>
          </a:p>
          <a:p>
            <a:pPr marL="285739" indent="-285739" algn="l">
              <a:buFont typeface="Arial" panose="020B0604020202020204" pitchFamily="34" charset="0"/>
              <a:buChar char="•"/>
            </a:pPr>
            <a:endParaRPr lang="da-DK" sz="1667" dirty="0">
              <a:solidFill>
                <a:schemeClr val="tx1">
                  <a:lumMod val="75000"/>
                  <a:lumOff val="25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marL="285739" indent="-285739" algn="l">
              <a:buFont typeface="Arial" panose="020B0604020202020204" pitchFamily="34" charset="0"/>
              <a:buChar char="•"/>
            </a:pPr>
            <a:r>
              <a:rPr lang="da-DK" sz="1667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UI</a:t>
            </a:r>
            <a:r>
              <a:rPr lang="da-DK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er den visuelle præsentation – brugergrænsefladen. Den er ingenting uden det indhold eller den tilknytning som produktet/ydelsen tilbyder</a:t>
            </a:r>
            <a:br>
              <a:rPr lang="da-DK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endParaRPr lang="da-DK" sz="1667" dirty="0">
              <a:solidFill>
                <a:schemeClr val="tx1">
                  <a:lumMod val="75000"/>
                  <a:lumOff val="25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  <a:p>
            <a:pPr marL="285739" indent="-285739" algn="l">
              <a:buFont typeface="Arial" panose="020B0604020202020204" pitchFamily="34" charset="0"/>
              <a:buChar char="•"/>
            </a:pPr>
            <a:r>
              <a:rPr lang="da-DK" sz="1667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</a:rPr>
              <a:t>U</a:t>
            </a:r>
            <a:r>
              <a:rPr lang="da-DK" sz="1667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sability</a:t>
            </a:r>
            <a:r>
              <a:rPr lang="da-DK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 handler om hvorvidt brugerne kan benytte produktet efter hensigten, og indgår samtidig som en del af den samlede oplevelse med UX, men er afgrænset til brugervenligheden</a:t>
            </a:r>
            <a:endParaRPr lang="da-DK" sz="1667" dirty="0">
              <a:solidFill>
                <a:schemeClr val="tx1">
                  <a:lumMod val="75000"/>
                  <a:lumOff val="25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br>
              <a:rPr lang="da-DK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br>
              <a:rPr lang="da-DK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br>
              <a:rPr lang="da-DK" sz="1667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</a:br>
            <a:endParaRPr lang="da-DK" sz="1667" dirty="0">
              <a:solidFill>
                <a:schemeClr val="tx1">
                  <a:lumMod val="75000"/>
                  <a:lumOff val="25000"/>
                </a:schemeClr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pic>
        <p:nvPicPr>
          <p:cNvPr id="7" name="Billede 6" descr="Et billede, der indeholder tekst, clipart&#10;&#10;Automatisk genereret beskrivelse">
            <a:extLst>
              <a:ext uri="{FF2B5EF4-FFF2-40B4-BE49-F238E27FC236}">
                <a16:creationId xmlns:a16="http://schemas.microsoft.com/office/drawing/2014/main" id="{78C216EA-B8E5-904E-88D9-4F170D307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129" y="101873"/>
            <a:ext cx="960698" cy="26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3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68129" y="501155"/>
            <a:ext cx="8175871" cy="852176"/>
          </a:xfrm>
        </p:spPr>
        <p:txBody>
          <a:bodyPr anchor="t" anchorCtr="0">
            <a:normAutofit/>
          </a:bodyPr>
          <a:lstStyle/>
          <a:p>
            <a:pPr algn="l"/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Øvelse i grupper</a:t>
            </a:r>
          </a:p>
        </p:txBody>
      </p:sp>
      <p:cxnSp>
        <p:nvCxnSpPr>
          <p:cNvPr id="6" name="Lige forbindelse 5"/>
          <p:cNvCxnSpPr/>
          <p:nvPr/>
        </p:nvCxnSpPr>
        <p:spPr>
          <a:xfrm flipV="1">
            <a:off x="984245" y="5534041"/>
            <a:ext cx="7207741" cy="123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ge forbindelse 10"/>
          <p:cNvCxnSpPr/>
          <p:nvPr/>
        </p:nvCxnSpPr>
        <p:spPr>
          <a:xfrm flipV="1">
            <a:off x="968129" y="1341017"/>
            <a:ext cx="7207741" cy="123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Undertitel 2"/>
          <p:cNvSpPr>
            <a:spLocks noGrp="1"/>
          </p:cNvSpPr>
          <p:nvPr>
            <p:ph type="subTitle" idx="1"/>
          </p:nvPr>
        </p:nvSpPr>
        <p:spPr>
          <a:xfrm>
            <a:off x="968129" y="1540797"/>
            <a:ext cx="7109315" cy="3897681"/>
          </a:xfrm>
        </p:spPr>
        <p:txBody>
          <a:bodyPr>
            <a:normAutofit fontScale="92500"/>
          </a:bodyPr>
          <a:lstStyle/>
          <a:p>
            <a:pPr algn="l"/>
            <a:r>
              <a:rPr lang="da-DK" sz="1600" dirty="0">
                <a:latin typeface="Helvetica" pitchFamily="2" charset="0"/>
                <a:cs typeface="Arial" panose="020B0604020202020204" pitchFamily="34" charset="0"/>
              </a:rPr>
              <a:t>Om lidt danner jeg nogle grupper - herefter gør I følgende:</a:t>
            </a:r>
            <a:br>
              <a:rPr lang="da-DK" sz="1600" dirty="0">
                <a:latin typeface="Helvetica" pitchFamily="2" charset="0"/>
                <a:cs typeface="Arial" panose="020B0604020202020204" pitchFamily="34" charset="0"/>
              </a:rPr>
            </a:br>
            <a:endParaRPr lang="da-DK" sz="1600" dirty="0">
              <a:latin typeface="Helvetica" pitchFamily="2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latin typeface="Helvetica" pitchFamily="2" charset="0"/>
                <a:cs typeface="Arial" panose="020B0604020202020204" pitchFamily="34" charset="0"/>
              </a:rPr>
              <a:t>Én af gangen præsenterer I, de eksempler på god </a:t>
            </a:r>
            <a:r>
              <a:rPr lang="da-DK" sz="1600">
                <a:latin typeface="Helvetica" pitchFamily="2" charset="0"/>
                <a:cs typeface="Arial" panose="020B0604020202020204" pitchFamily="34" charset="0"/>
              </a:rPr>
              <a:t>UX  </a:t>
            </a:r>
            <a:endParaRPr lang="da-DK" sz="1600" dirty="0">
              <a:latin typeface="Helvetica" pitchFamily="2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latin typeface="Helvetica" pitchFamily="2" charset="0"/>
                <a:cs typeface="Arial" panose="020B0604020202020204" pitchFamily="34" charset="0"/>
              </a:rPr>
              <a:t>Fortæl hvorfor I mener at der er en god UX. Hvad er især med til at skabe den gode UX. Er det en bestemt følelse der vækkes i dig? Er det brugen af ”produktet”? Er det designets udtryk? Er det fordi det er godt at benytte?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latin typeface="Helvetica" pitchFamily="2" charset="0"/>
                <a:cs typeface="Arial" panose="020B0604020202020204" pitchFamily="34" charset="0"/>
              </a:rPr>
              <a:t>Er I andre i gruppen enige? Synes I også de andres eksempler er god UX?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latin typeface="Helvetica" pitchFamily="2" charset="0"/>
                <a:cs typeface="Arial" panose="020B0604020202020204" pitchFamily="34" charset="0"/>
              </a:rPr>
              <a:t>Til sidst ser vi alle, nogle af jeres eksempler på god UX. Vælg nogle stykker ud i hver gruppe </a:t>
            </a:r>
            <a:br>
              <a:rPr lang="da-DK" sz="1600" dirty="0">
                <a:latin typeface="Helvetica" pitchFamily="2" charset="0"/>
                <a:cs typeface="Arial" panose="020B0604020202020204" pitchFamily="34" charset="0"/>
              </a:rPr>
            </a:br>
            <a:endParaRPr lang="da-DK" sz="1600" dirty="0">
              <a:latin typeface="Helvetica" pitchFamily="2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a-DK" sz="1600" dirty="0">
                <a:latin typeface="Helvetica" pitchFamily="2" charset="0"/>
                <a:cs typeface="Arial" panose="020B0604020202020204" pitchFamily="34" charset="0"/>
              </a:rPr>
              <a:t>Vi samler op om 20 min.!!!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a-DK" sz="1667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  <a:ea typeface="Helvetica" charset="0"/>
              <a:cs typeface="Helvetica" charset="0"/>
            </a:endParaRPr>
          </a:p>
        </p:txBody>
      </p:sp>
      <p:pic>
        <p:nvPicPr>
          <p:cNvPr id="7" name="Billede 6" descr="Et billede, der indeholder tekst, clipart&#10;&#10;Automatisk genereret beskrivelse">
            <a:extLst>
              <a:ext uri="{FF2B5EF4-FFF2-40B4-BE49-F238E27FC236}">
                <a16:creationId xmlns:a16="http://schemas.microsoft.com/office/drawing/2014/main" id="{8536B797-FE1F-4347-AB86-810475E72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129" y="101873"/>
            <a:ext cx="960698" cy="26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77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76994-4802-A2E4-D370-637A5E054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7CC60-E0E2-3964-57AA-472235ECD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4" name="Picture 3" descr="Bang &amp; Olufsen | High-end quality | BCOPENHAGEN">
            <a:extLst>
              <a:ext uri="{FF2B5EF4-FFF2-40B4-BE49-F238E27FC236}">
                <a16:creationId xmlns:a16="http://schemas.microsoft.com/office/drawing/2014/main" id="{B7005436-1DC2-2B8C-A8A6-A17489094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567531"/>
            <a:ext cx="8371207" cy="4708804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BD2BC1AA-D7E2-8891-1713-654A15B5681D}"/>
              </a:ext>
            </a:extLst>
          </p:cNvPr>
          <p:cNvSpPr txBox="1">
            <a:spLocks/>
          </p:cNvSpPr>
          <p:nvPr/>
        </p:nvSpPr>
        <p:spPr>
          <a:xfrm>
            <a:off x="6307301" y="567531"/>
            <a:ext cx="2450302" cy="2574516"/>
          </a:xfrm>
          <a:prstGeom prst="rect">
            <a:avLst/>
          </a:prstGeom>
        </p:spPr>
        <p:txBody>
          <a:bodyPr vert="horz" wrap="square" lIns="68547" tIns="34273" rIns="68547" bIns="34273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/>
              <a:t>UX </a:t>
            </a:r>
            <a:r>
              <a:rPr lang="en-US" dirty="0" err="1"/>
              <a:t>projekt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151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714CD3-2159-420F-A873-644FD0265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9029" y="1389710"/>
            <a:ext cx="2450302" cy="2574516"/>
          </a:xfrm>
        </p:spPr>
        <p:txBody>
          <a:bodyPr vert="horz" wrap="square" lIns="68547" tIns="34273" rIns="68547" bIns="34273" rtlCol="0" anchor="b">
            <a:normAutofit/>
          </a:bodyPr>
          <a:lstStyle/>
          <a:p>
            <a:pPr algn="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UI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projekt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Billede 5" descr="Et billede, der indeholder monitor, sidder, side, forskellig&#10;&#10;Automatisk genereret beskrivelse">
            <a:extLst>
              <a:ext uri="{FF2B5EF4-FFF2-40B4-BE49-F238E27FC236}">
                <a16:creationId xmlns:a16="http://schemas.microsoft.com/office/drawing/2014/main" id="{FD64695D-D059-4951-AF6A-7D8F1C3998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" b="17667"/>
          <a:stretch/>
        </p:blipFill>
        <p:spPr>
          <a:xfrm>
            <a:off x="4123928" y="1262513"/>
            <a:ext cx="2165300" cy="1896531"/>
          </a:xfrm>
          <a:custGeom>
            <a:avLst/>
            <a:gdLst/>
            <a:ahLst/>
            <a:cxnLst/>
            <a:rect l="l" t="t" r="r" b="b"/>
            <a:pathLst>
              <a:path w="2298408" h="2013116">
                <a:moveTo>
                  <a:pt x="655742" y="0"/>
                </a:moveTo>
                <a:cubicBezTo>
                  <a:pt x="1644875" y="0"/>
                  <a:pt x="1644875" y="0"/>
                  <a:pt x="1644875" y="0"/>
                </a:cubicBezTo>
                <a:cubicBezTo>
                  <a:pt x="1694920" y="0"/>
                  <a:pt x="1759685" y="34910"/>
                  <a:pt x="1786179" y="78547"/>
                </a:cubicBezTo>
                <a:cubicBezTo>
                  <a:pt x="2280745" y="925103"/>
                  <a:pt x="2280745" y="925103"/>
                  <a:pt x="2280745" y="925103"/>
                </a:cubicBezTo>
                <a:cubicBezTo>
                  <a:pt x="2304296" y="971649"/>
                  <a:pt x="2304296" y="1041468"/>
                  <a:pt x="2280745" y="1088014"/>
                </a:cubicBezTo>
                <a:cubicBezTo>
                  <a:pt x="1786179" y="1934570"/>
                  <a:pt x="1786179" y="1934570"/>
                  <a:pt x="1786179" y="1934570"/>
                </a:cubicBezTo>
                <a:cubicBezTo>
                  <a:pt x="1759685" y="1978207"/>
                  <a:pt x="1694920" y="2013116"/>
                  <a:pt x="1644875" y="2013116"/>
                </a:cubicBezTo>
                <a:lnTo>
                  <a:pt x="655742" y="2013116"/>
                </a:lnTo>
                <a:cubicBezTo>
                  <a:pt x="602753" y="2013116"/>
                  <a:pt x="537989" y="1978207"/>
                  <a:pt x="514438" y="1934570"/>
                </a:cubicBezTo>
                <a:cubicBezTo>
                  <a:pt x="19872" y="1088014"/>
                  <a:pt x="19872" y="1088014"/>
                  <a:pt x="19872" y="1088014"/>
                </a:cubicBezTo>
                <a:cubicBezTo>
                  <a:pt x="-6623" y="1041468"/>
                  <a:pt x="-6623" y="971649"/>
                  <a:pt x="19872" y="925103"/>
                </a:cubicBezTo>
                <a:cubicBezTo>
                  <a:pt x="514438" y="78547"/>
                  <a:pt x="514438" y="78547"/>
                  <a:pt x="514438" y="78547"/>
                </a:cubicBezTo>
                <a:cubicBezTo>
                  <a:pt x="537989" y="34910"/>
                  <a:pt x="602753" y="0"/>
                  <a:pt x="655742" y="0"/>
                </a:cubicBezTo>
                <a:close/>
              </a:path>
            </a:pathLst>
          </a:custGeom>
        </p:spPr>
      </p:pic>
      <p:pic>
        <p:nvPicPr>
          <p:cNvPr id="5" name="Billede 4" descr="Et billede, der indeholder skærmbillede&#10;&#10;Automatisk genereret beskrivelse">
            <a:extLst>
              <a:ext uri="{FF2B5EF4-FFF2-40B4-BE49-F238E27FC236}">
                <a16:creationId xmlns:a16="http://schemas.microsoft.com/office/drawing/2014/main" id="{15F9EF77-4E1C-4892-98C7-D9297F4CE1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012" b="2"/>
          <a:stretch/>
        </p:blipFill>
        <p:spPr>
          <a:xfrm>
            <a:off x="2233" y="287006"/>
            <a:ext cx="5208582" cy="1841610"/>
          </a:xfrm>
          <a:custGeom>
            <a:avLst/>
            <a:gdLst/>
            <a:ahLst/>
            <a:cxnLst/>
            <a:rect l="l" t="t" r="r" b="b"/>
            <a:pathLst>
              <a:path w="6948167" h="2456679">
                <a:moveTo>
                  <a:pt x="6948167" y="603033"/>
                </a:moveTo>
                <a:lnTo>
                  <a:pt x="6948167" y="617220"/>
                </a:lnTo>
                <a:lnTo>
                  <a:pt x="6946213" y="610127"/>
                </a:lnTo>
                <a:close/>
                <a:moveTo>
                  <a:pt x="0" y="0"/>
                </a:moveTo>
                <a:lnTo>
                  <a:pt x="6766605" y="0"/>
                </a:lnTo>
                <a:lnTo>
                  <a:pt x="6638979" y="219780"/>
                </a:lnTo>
                <a:cubicBezTo>
                  <a:pt x="5552228" y="2091240"/>
                  <a:pt x="5552228" y="2091240"/>
                  <a:pt x="5552228" y="2091240"/>
                </a:cubicBezTo>
                <a:cubicBezTo>
                  <a:pt x="5429962" y="2317464"/>
                  <a:pt x="5185434" y="2456679"/>
                  <a:pt x="4932171" y="2456679"/>
                </a:cubicBezTo>
                <a:cubicBezTo>
                  <a:pt x="888708" y="2456679"/>
                  <a:pt x="888708" y="2456679"/>
                  <a:pt x="888708" y="2456679"/>
                </a:cubicBezTo>
                <a:cubicBezTo>
                  <a:pt x="626713" y="2456679"/>
                  <a:pt x="390917" y="2317464"/>
                  <a:pt x="259919" y="2091240"/>
                </a:cubicBezTo>
                <a:cubicBezTo>
                  <a:pt x="196877" y="1982206"/>
                  <a:pt x="135804" y="1876580"/>
                  <a:pt x="76640" y="1774254"/>
                </a:cubicBezTo>
                <a:lnTo>
                  <a:pt x="0" y="1641704"/>
                </a:lnTo>
                <a:close/>
              </a:path>
            </a:pathLst>
          </a:custGeom>
        </p:spPr>
      </p:pic>
      <p:pic>
        <p:nvPicPr>
          <p:cNvPr id="7" name="Billede 6" descr="Et billede, der indeholder elektronik, monitor, foto, skærm&#10;&#10;Automatisk genereret beskrivelse">
            <a:extLst>
              <a:ext uri="{FF2B5EF4-FFF2-40B4-BE49-F238E27FC236}">
                <a16:creationId xmlns:a16="http://schemas.microsoft.com/office/drawing/2014/main" id="{2C0AAE03-3D06-4EAB-8110-35C429AB635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9363" b="-1"/>
          <a:stretch/>
        </p:blipFill>
        <p:spPr>
          <a:xfrm>
            <a:off x="2234" y="2250756"/>
            <a:ext cx="5754620" cy="3177240"/>
          </a:xfrm>
          <a:custGeom>
            <a:avLst/>
            <a:gdLst/>
            <a:ahLst/>
            <a:cxnLst/>
            <a:rect l="l" t="t" r="r" b="b"/>
            <a:pathLst>
              <a:path w="7676573" h="4238389">
                <a:moveTo>
                  <a:pt x="6948167" y="1839459"/>
                </a:moveTo>
                <a:lnTo>
                  <a:pt x="6948167" y="1853646"/>
                </a:lnTo>
                <a:lnTo>
                  <a:pt x="6946213" y="1846552"/>
                </a:lnTo>
                <a:close/>
                <a:moveTo>
                  <a:pt x="888708" y="0"/>
                </a:moveTo>
                <a:cubicBezTo>
                  <a:pt x="888708" y="0"/>
                  <a:pt x="888708" y="0"/>
                  <a:pt x="4932171" y="0"/>
                </a:cubicBezTo>
                <a:cubicBezTo>
                  <a:pt x="5185434" y="0"/>
                  <a:pt x="5429962" y="139215"/>
                  <a:pt x="5552228" y="365439"/>
                </a:cubicBezTo>
                <a:cubicBezTo>
                  <a:pt x="5552228" y="365439"/>
                  <a:pt x="5552228" y="365439"/>
                  <a:pt x="7578324" y="3854515"/>
                </a:cubicBezTo>
                <a:cubicBezTo>
                  <a:pt x="7643823" y="3963277"/>
                  <a:pt x="7676573" y="4087266"/>
                  <a:pt x="7676573" y="4211255"/>
                </a:cubicBezTo>
                <a:lnTo>
                  <a:pt x="7672952" y="4238389"/>
                </a:lnTo>
                <a:lnTo>
                  <a:pt x="0" y="4238389"/>
                </a:lnTo>
                <a:lnTo>
                  <a:pt x="0" y="814976"/>
                </a:lnTo>
                <a:lnTo>
                  <a:pt x="76640" y="682425"/>
                </a:lnTo>
                <a:cubicBezTo>
                  <a:pt x="135804" y="580099"/>
                  <a:pt x="196877" y="474473"/>
                  <a:pt x="259919" y="365439"/>
                </a:cubicBezTo>
                <a:cubicBezTo>
                  <a:pt x="390917" y="139215"/>
                  <a:pt x="626713" y="0"/>
                  <a:pt x="888708" y="0"/>
                </a:cubicBezTo>
                <a:close/>
              </a:path>
            </a:pathLst>
          </a:custGeom>
        </p:spPr>
      </p:pic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3D2F16D-8F2F-44B5-B415-303129876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6890" y="3964227"/>
            <a:ext cx="3122443" cy="462989"/>
          </a:xfrm>
        </p:spPr>
        <p:txBody>
          <a:bodyPr vert="horz" wrap="square" lIns="68547" tIns="34273" rIns="68547" bIns="34273" rtlCol="0">
            <a:normAutofit/>
          </a:bodyPr>
          <a:lstStyle/>
          <a:p>
            <a:pPr algn="r"/>
            <a:r>
              <a:rPr lang="en-US" sz="1799"/>
              <a:t>xbi@B&amp;O Struer</a:t>
            </a:r>
          </a:p>
        </p:txBody>
      </p:sp>
    </p:spTree>
    <p:extLst>
      <p:ext uri="{BB962C8B-B14F-4D97-AF65-F5344CB8AC3E}">
        <p14:creationId xmlns:p14="http://schemas.microsoft.com/office/powerpoint/2010/main" val="95307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127D1-B5A2-38A0-6C9C-9404FE25E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5D1927-FB7B-AA84-E49C-7879CD116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8129" y="501155"/>
            <a:ext cx="8175871" cy="852176"/>
          </a:xfrm>
        </p:spPr>
        <p:txBody>
          <a:bodyPr anchor="t" anchorCtr="0">
            <a:normAutofit/>
          </a:bodyPr>
          <a:lstStyle/>
          <a:p>
            <a:pPr algn="l"/>
            <a:r>
              <a:rPr lang="da-DK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  <a:ea typeface="Helvetica" charset="0"/>
                <a:cs typeface="Helvetica" charset="0"/>
              </a:rPr>
              <a:t>Om UX design</a:t>
            </a:r>
          </a:p>
        </p:txBody>
      </p:sp>
      <p:cxnSp>
        <p:nvCxnSpPr>
          <p:cNvPr id="11" name="Lige forbindelse 10">
            <a:extLst>
              <a:ext uri="{FF2B5EF4-FFF2-40B4-BE49-F238E27FC236}">
                <a16:creationId xmlns:a16="http://schemas.microsoft.com/office/drawing/2014/main" id="{0797E243-EC53-2544-3AF8-D941AFC2F5EB}"/>
              </a:ext>
            </a:extLst>
          </p:cNvPr>
          <p:cNvCxnSpPr/>
          <p:nvPr/>
        </p:nvCxnSpPr>
        <p:spPr>
          <a:xfrm flipV="1">
            <a:off x="968129" y="1341017"/>
            <a:ext cx="7207741" cy="123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Undertitel 2">
            <a:extLst>
              <a:ext uri="{FF2B5EF4-FFF2-40B4-BE49-F238E27FC236}">
                <a16:creationId xmlns:a16="http://schemas.microsoft.com/office/drawing/2014/main" id="{7D072B80-DB9B-891C-4165-C2FE4B9C6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129" y="1762657"/>
            <a:ext cx="7109315" cy="3212977"/>
          </a:xfrm>
        </p:spPr>
        <p:txBody>
          <a:bodyPr>
            <a:normAutofit/>
          </a:bodyPr>
          <a:lstStyle/>
          <a:p>
            <a:pPr algn="l"/>
            <a:r>
              <a:rPr lang="da-DK" sz="1600" dirty="0">
                <a:latin typeface="Helvetica" pitchFamily="2" charset="0"/>
                <a:cs typeface="Arial" panose="020B0604020202020204" pitchFamily="34" charset="0"/>
              </a:rPr>
              <a:t>Fra romertiden besluttede man at når man byggede bygningsværker, så skulle DESIGNET bygges ud fra følgende 3 :</a:t>
            </a:r>
          </a:p>
          <a:p>
            <a:pPr algn="l"/>
            <a:endParaRPr lang="da-DK" sz="1600" dirty="0">
              <a:latin typeface="Helvetica" pitchFamily="2" charset="0"/>
              <a:cs typeface="Arial" panose="020B0604020202020204" pitchFamily="34" charset="0"/>
            </a:endParaRPr>
          </a:p>
          <a:p>
            <a:pPr algn="l"/>
            <a:r>
              <a:rPr lang="da-DK" sz="1600" b="1" dirty="0" err="1">
                <a:solidFill>
                  <a:schemeClr val="accent2"/>
                </a:solidFill>
                <a:latin typeface="Helvetica" pitchFamily="2" charset="0"/>
                <a:cs typeface="Arial" panose="020B0604020202020204" pitchFamily="34" charset="0"/>
              </a:rPr>
              <a:t>Durability</a:t>
            </a:r>
            <a:r>
              <a:rPr lang="da-DK" sz="1600" b="1" dirty="0">
                <a:solidFill>
                  <a:schemeClr val="accent2"/>
                </a:solidFill>
                <a:latin typeface="Helvetica" pitchFamily="2" charset="0"/>
                <a:cs typeface="Arial" panose="020B0604020202020204" pitchFamily="34" charset="0"/>
              </a:rPr>
              <a:t>: </a:t>
            </a:r>
            <a:r>
              <a:rPr lang="da-DK" sz="1600" dirty="0">
                <a:latin typeface="Helvetica" pitchFamily="2" charset="0"/>
                <a:cs typeface="Arial" panose="020B0604020202020204" pitchFamily="34" charset="0"/>
              </a:rPr>
              <a:t>Holdbarhed – have en god levetid. Være relevant over tid</a:t>
            </a:r>
          </a:p>
          <a:p>
            <a:pPr algn="l"/>
            <a:r>
              <a:rPr lang="da-DK" sz="1600" b="1" dirty="0" err="1">
                <a:solidFill>
                  <a:schemeClr val="accent2"/>
                </a:solidFill>
                <a:latin typeface="Helvetica" pitchFamily="2" charset="0"/>
                <a:cs typeface="Arial" panose="020B0604020202020204" pitchFamily="34" charset="0"/>
              </a:rPr>
              <a:t>Usefullness</a:t>
            </a:r>
            <a:r>
              <a:rPr lang="da-DK" sz="1600" b="1" dirty="0">
                <a:solidFill>
                  <a:schemeClr val="accent2"/>
                </a:solidFill>
                <a:latin typeface="Helvetica" pitchFamily="2" charset="0"/>
                <a:cs typeface="Arial" panose="020B0604020202020204" pitchFamily="34" charset="0"/>
              </a:rPr>
              <a:t>: </a:t>
            </a:r>
            <a:r>
              <a:rPr lang="da-DK" sz="1600" dirty="0">
                <a:latin typeface="Helvetica" pitchFamily="2" charset="0"/>
                <a:cs typeface="Arial" panose="020B0604020202020204" pitchFamily="34" charset="0"/>
              </a:rPr>
              <a:t>Brugbarhed – det skulle være godt at benytte</a:t>
            </a:r>
          </a:p>
          <a:p>
            <a:pPr algn="l"/>
            <a:r>
              <a:rPr lang="da-DK" sz="1600" b="1" dirty="0" err="1">
                <a:solidFill>
                  <a:schemeClr val="accent2"/>
                </a:solidFill>
                <a:latin typeface="Helvetica" pitchFamily="2" charset="0"/>
                <a:cs typeface="Arial" panose="020B0604020202020204" pitchFamily="34" charset="0"/>
              </a:rPr>
              <a:t>Aesthetics</a:t>
            </a:r>
            <a:r>
              <a:rPr lang="da-DK" sz="1600" b="1" dirty="0">
                <a:solidFill>
                  <a:schemeClr val="accent2"/>
                </a:solidFill>
                <a:latin typeface="Helvetica" pitchFamily="2" charset="0"/>
                <a:cs typeface="Arial" panose="020B0604020202020204" pitchFamily="34" charset="0"/>
              </a:rPr>
              <a:t>: </a:t>
            </a:r>
            <a:r>
              <a:rPr lang="da-DK" sz="1600" dirty="0" err="1">
                <a:latin typeface="Helvetica" pitchFamily="2" charset="0"/>
                <a:cs typeface="Arial" panose="020B0604020202020204" pitchFamily="34" charset="0"/>
              </a:rPr>
              <a:t>Æstestik</a:t>
            </a:r>
            <a:r>
              <a:rPr lang="da-DK" sz="1600" dirty="0">
                <a:latin typeface="Helvetica" pitchFamily="2" charset="0"/>
                <a:cs typeface="Arial" panose="020B0604020202020204" pitchFamily="34" charset="0"/>
              </a:rPr>
              <a:t> - det skulle tage sig flot ud</a:t>
            </a:r>
          </a:p>
          <a:p>
            <a:pPr algn="l"/>
            <a:endParaRPr lang="da-DK" sz="1600" dirty="0">
              <a:latin typeface="Helvetica" pitchFamily="2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a-DK" sz="1667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  <a:ea typeface="Helvetica" charset="0"/>
              <a:cs typeface="Helvetica" charset="0"/>
            </a:endParaRPr>
          </a:p>
        </p:txBody>
      </p:sp>
      <p:pic>
        <p:nvPicPr>
          <p:cNvPr id="7" name="Billede 6" descr="Et billede, der indeholder tekst, clipart&#10;&#10;Automatisk genereret beskrivelse">
            <a:extLst>
              <a:ext uri="{FF2B5EF4-FFF2-40B4-BE49-F238E27FC236}">
                <a16:creationId xmlns:a16="http://schemas.microsoft.com/office/drawing/2014/main" id="{7C0C7BEF-4865-5720-14B8-EB1D791D7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129" y="101873"/>
            <a:ext cx="960698" cy="267714"/>
          </a:xfrm>
          <a:prstGeom prst="rect">
            <a:avLst/>
          </a:prstGeo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3A1DB2B5-77E2-32A5-D235-508C6C705D9C}"/>
              </a:ext>
            </a:extLst>
          </p:cNvPr>
          <p:cNvSpPr txBox="1"/>
          <p:nvPr/>
        </p:nvSpPr>
        <p:spPr>
          <a:xfrm>
            <a:off x="526774" y="5163100"/>
            <a:ext cx="620201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hlinkClick r:id="rId4"/>
              </a:rPr>
              <a:t>https://www.interaction-design.org/literature/topics/ux-design</a:t>
            </a:r>
            <a:r>
              <a:rPr lang="da-D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4073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493AE-7EC4-4606-A82B-7B779F12B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ndertitel 2">
            <a:extLst>
              <a:ext uri="{FF2B5EF4-FFF2-40B4-BE49-F238E27FC236}">
                <a16:creationId xmlns:a16="http://schemas.microsoft.com/office/drawing/2014/main" id="{F8B4F2B7-FE1F-25EB-3FB1-6C844A81D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129" y="4240926"/>
            <a:ext cx="7109315" cy="734708"/>
          </a:xfrm>
        </p:spPr>
        <p:txBody>
          <a:bodyPr>
            <a:normAutofit/>
          </a:bodyPr>
          <a:lstStyle/>
          <a:p>
            <a:pPr algn="l"/>
            <a:r>
              <a:rPr lang="da-DK" sz="1400" dirty="0">
                <a:latin typeface="Arial" panose="020B0604020202020204" pitchFamily="34" charset="0"/>
                <a:cs typeface="Arial" panose="020B0604020202020204" pitchFamily="34" charset="0"/>
              </a:rPr>
              <a:t>"En persons opfattelser og reaktioner, der er et resultat af brugen eller den forventede brug af et produkt, system eller service."</a:t>
            </a:r>
          </a:p>
          <a:p>
            <a:pPr algn="l"/>
            <a:endParaRPr lang="da-DK" sz="1600" dirty="0">
              <a:latin typeface="Helvetica" pitchFamily="2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a-DK" sz="1667" dirty="0">
              <a:solidFill>
                <a:schemeClr val="tx1">
                  <a:lumMod val="75000"/>
                  <a:lumOff val="25000"/>
                </a:schemeClr>
              </a:solidFill>
              <a:latin typeface="Helvetica" pitchFamily="2" charset="0"/>
              <a:ea typeface="Helvetica" charset="0"/>
              <a:cs typeface="Helvetica" charset="0"/>
            </a:endParaRPr>
          </a:p>
        </p:txBody>
      </p:sp>
      <p:pic>
        <p:nvPicPr>
          <p:cNvPr id="7" name="Billede 6" descr="Et billede, der indeholder tekst, clipart&#10;&#10;Automatisk genereret beskrivelse">
            <a:extLst>
              <a:ext uri="{FF2B5EF4-FFF2-40B4-BE49-F238E27FC236}">
                <a16:creationId xmlns:a16="http://schemas.microsoft.com/office/drawing/2014/main" id="{876B7D88-D193-C852-A5EC-50BC668BC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129" y="101873"/>
            <a:ext cx="960698" cy="267714"/>
          </a:xfrm>
          <a:prstGeom prst="rect">
            <a:avLst/>
          </a:prstGeom>
        </p:spPr>
      </p:pic>
      <p:sp>
        <p:nvSpPr>
          <p:cNvPr id="4" name="Tekstfelt 3">
            <a:extLst>
              <a:ext uri="{FF2B5EF4-FFF2-40B4-BE49-F238E27FC236}">
                <a16:creationId xmlns:a16="http://schemas.microsoft.com/office/drawing/2014/main" id="{9B950341-F770-80B5-B0B3-66E098A9CC06}"/>
              </a:ext>
            </a:extLst>
          </p:cNvPr>
          <p:cNvSpPr txBox="1"/>
          <p:nvPr/>
        </p:nvSpPr>
        <p:spPr>
          <a:xfrm>
            <a:off x="526774" y="5163100"/>
            <a:ext cx="620201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hlinkClick r:id="rId4"/>
              </a:rPr>
              <a:t>https://www.interaction-design.org/literature/topics/ux-design</a:t>
            </a:r>
            <a:r>
              <a:rPr lang="da-DK" dirty="0"/>
              <a:t> </a:t>
            </a:r>
          </a:p>
        </p:txBody>
      </p:sp>
      <p:pic>
        <p:nvPicPr>
          <p:cNvPr id="5" name="Billede 4" descr="Et billede, der indeholder tekst, skærmbillede, Font/skrifttype&#10;&#10;AI-genereret indhold kan være ukorrekt.">
            <a:extLst>
              <a:ext uri="{FF2B5EF4-FFF2-40B4-BE49-F238E27FC236}">
                <a16:creationId xmlns:a16="http://schemas.microsoft.com/office/drawing/2014/main" id="{DD704114-2611-ED60-4CD9-A14F52F5EF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343" y="643140"/>
            <a:ext cx="7302761" cy="332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245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6F343-3187-55D1-549E-13467DA1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DK" sz="4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</a:rPr>
              <a:t>Hvorfor er UX/UI vigtigt for DMU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C19F6-2A74-1671-E1D6-3496C21A4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DK" dirty="0"/>
              <a:t>En programmør kan lave en teknisk perfekt netbank, men hvis brugeren ikke kan finde knappen "Overfør penge", har systemet et UX-problem.</a:t>
            </a:r>
          </a:p>
        </p:txBody>
      </p:sp>
    </p:spTree>
    <p:extLst>
      <p:ext uri="{BB962C8B-B14F-4D97-AF65-F5344CB8AC3E}">
        <p14:creationId xmlns:p14="http://schemas.microsoft.com/office/powerpoint/2010/main" val="3959146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5F5C8-CECD-7109-A07C-4684D3A8F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2669B0-3B90-767D-1349-31D50156C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853441"/>
            <a:ext cx="8061960" cy="4089620"/>
          </a:xfrm>
        </p:spPr>
        <p:txBody>
          <a:bodyPr anchor="t" anchorCtr="0">
            <a:normAutofit/>
          </a:bodyPr>
          <a:lstStyle/>
          <a:p>
            <a:pPr algn="l"/>
            <a:r>
              <a:rPr lang="da-DK" sz="3200" b="1" dirty="0">
                <a:solidFill>
                  <a:schemeClr val="bg1"/>
                </a:solidFill>
                <a:highlight>
                  <a:srgbClr val="F20B6D"/>
                </a:highlight>
                <a:latin typeface="Futura" panose="020B0602020204020303" pitchFamily="34" charset="-79"/>
                <a:cs typeface="Futura" panose="020B0602020204020303" pitchFamily="34" charset="-79"/>
              </a:rPr>
              <a:t>Vigtigt!</a:t>
            </a:r>
            <a:br>
              <a:rPr lang="da-DK" sz="2400" b="1" dirty="0">
                <a:solidFill>
                  <a:srgbClr val="FF2F92"/>
                </a:solidFill>
                <a:latin typeface="Helvetica" charset="0"/>
                <a:ea typeface="Helvetica" charset="0"/>
                <a:cs typeface="Helvetica" charset="0"/>
              </a:rPr>
            </a:br>
            <a:r>
              <a:rPr lang="da-DK" sz="1800" dirty="0">
                <a:solidFill>
                  <a:schemeClr val="bg1"/>
                </a:solidFill>
                <a:highlight>
                  <a:srgbClr val="76D6FF"/>
                </a:highlight>
                <a:latin typeface="Futura Medium" panose="020B0602020204020303" pitchFamily="34" charset="-79"/>
                <a:ea typeface="Helvetica" charset="0"/>
                <a:cs typeface="Futura Medium" panose="020B0602020204020303" pitchFamily="34" charset="-79"/>
              </a:rPr>
              <a:t>Arbejdet med UX er </a:t>
            </a:r>
            <a:r>
              <a:rPr lang="da-DK" sz="1800" u="sng" dirty="0">
                <a:solidFill>
                  <a:schemeClr val="bg1"/>
                </a:solidFill>
                <a:highlight>
                  <a:srgbClr val="76D6FF"/>
                </a:highlight>
                <a:latin typeface="Futura Medium" panose="020B0602020204020303" pitchFamily="34" charset="-79"/>
                <a:ea typeface="Helvetica" charset="0"/>
                <a:cs typeface="Futura Medium" panose="020B0602020204020303" pitchFamily="34" charset="-79"/>
              </a:rPr>
              <a:t>brugercentreret</a:t>
            </a:r>
            <a:endParaRPr lang="da-DK" sz="1800" u="sng" dirty="0">
              <a:solidFill>
                <a:schemeClr val="bg1"/>
              </a:solidFill>
              <a:highlight>
                <a:srgbClr val="76D6FF"/>
              </a:highlight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pic>
        <p:nvPicPr>
          <p:cNvPr id="4" name="Billede 3" descr="Et billede, der indeholder tekst, clipart&#10;&#10;Automatisk genereret beskrivelse">
            <a:extLst>
              <a:ext uri="{FF2B5EF4-FFF2-40B4-BE49-F238E27FC236}">
                <a16:creationId xmlns:a16="http://schemas.microsoft.com/office/drawing/2014/main" id="{D6F921D8-7DFF-8451-77D5-6FD97C0C3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129" y="101873"/>
            <a:ext cx="960698" cy="267714"/>
          </a:xfrm>
          <a:prstGeom prst="rect">
            <a:avLst/>
          </a:prstGeom>
        </p:spPr>
      </p:pic>
      <p:pic>
        <p:nvPicPr>
          <p:cNvPr id="3" name="Billede 2" descr="Et billede, der indeholder tekst, Ansigt, tøj, person&#10;&#10;AI-genereret indhold kan være ukorrekt.">
            <a:extLst>
              <a:ext uri="{FF2B5EF4-FFF2-40B4-BE49-F238E27FC236}">
                <a16:creationId xmlns:a16="http://schemas.microsoft.com/office/drawing/2014/main" id="{E9AF57DF-D558-234A-608B-B13001B04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53847"/>
            <a:ext cx="5384800" cy="3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73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E8036E-35C1-0539-A71B-FC6B3F94E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titel 2">
            <a:extLst>
              <a:ext uri="{FF2B5EF4-FFF2-40B4-BE49-F238E27FC236}">
                <a16:creationId xmlns:a16="http://schemas.microsoft.com/office/drawing/2014/main" id="{4959B0E9-24E7-4AE7-CAE8-E4CDFAC9C5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773044"/>
            <a:ext cx="7620000" cy="1802308"/>
          </a:xfrm>
        </p:spPr>
        <p:txBody>
          <a:bodyPr>
            <a:noAutofit/>
          </a:bodyPr>
          <a:lstStyle/>
          <a:p>
            <a:r>
              <a:rPr lang="da-DK" sz="4500" b="1" dirty="0">
                <a:solidFill>
                  <a:schemeClr val="bg1">
                    <a:lumMod val="95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HCI ??</a:t>
            </a:r>
            <a:endParaRPr lang="da-DK" sz="1333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da-DK" sz="1333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da-DK" sz="1333" i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8115" indent="-238115" algn="l">
              <a:buFont typeface="Arial" panose="020B0604020202020204" pitchFamily="34" charset="0"/>
              <a:buChar char="•"/>
            </a:pPr>
            <a:endParaRPr lang="da-DK" sz="1333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164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A185CD-D7A1-8E09-A3B8-CC57C8C28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86" y="287006"/>
            <a:ext cx="4728019" cy="513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99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C40E9-99E9-77B1-BB63-C94E54DBF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dertitel 2">
            <a:extLst>
              <a:ext uri="{FF2B5EF4-FFF2-40B4-BE49-F238E27FC236}">
                <a16:creationId xmlns:a16="http://schemas.microsoft.com/office/drawing/2014/main" id="{30049CB7-E1B5-4B0F-225F-C14FB9602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1773044"/>
            <a:ext cx="7620000" cy="1802308"/>
          </a:xfrm>
        </p:spPr>
        <p:txBody>
          <a:bodyPr>
            <a:noAutofit/>
          </a:bodyPr>
          <a:lstStyle/>
          <a:p>
            <a:r>
              <a:rPr lang="da-DK" sz="4500" b="1" dirty="0">
                <a:solidFill>
                  <a:schemeClr val="bg1">
                    <a:lumMod val="95000"/>
                  </a:schemeClr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System Udvikling ??</a:t>
            </a:r>
            <a:endParaRPr lang="da-DK" sz="1333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da-DK" sz="1333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da-DK" sz="1333" i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38115" indent="-238115" algn="l">
              <a:buFont typeface="Arial" panose="020B0604020202020204" pitchFamily="34" charset="0"/>
              <a:buChar char="•"/>
            </a:pPr>
            <a:endParaRPr lang="da-DK" sz="1333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6947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AC8D1-FDF9-A2AC-D6E9-8A71AEBED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sz="4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</a:rPr>
              <a:t>Project UI- </a:t>
            </a:r>
            <a:r>
              <a:rPr lang="en-GB" sz="4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</a:rPr>
              <a:t>Torino Pizza</a:t>
            </a:r>
            <a:r>
              <a:rPr lang="en-DK" sz="4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FC2BE-183C-5399-9574-15B5CAC3F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DK" dirty="0"/>
              <a:t>3 uger ---</a:t>
            </a:r>
          </a:p>
          <a:p>
            <a:r>
              <a:rPr lang="en-GB" dirty="0"/>
              <a:t>S</a:t>
            </a:r>
            <a:r>
              <a:rPr lang="en-DK" dirty="0"/>
              <a:t>tart med Wix</a:t>
            </a:r>
          </a:p>
          <a:p>
            <a:r>
              <a:rPr lang="en-DK" dirty="0"/>
              <a:t>(Hands-ON CSS)</a:t>
            </a:r>
          </a:p>
          <a:p>
            <a:r>
              <a:rPr lang="en-DK" dirty="0"/>
              <a:t>Java FX project –tip calculaor</a:t>
            </a:r>
          </a:p>
        </p:txBody>
      </p:sp>
    </p:spTree>
    <p:extLst>
      <p:ext uri="{BB962C8B-B14F-4D97-AF65-F5344CB8AC3E}">
        <p14:creationId xmlns:p14="http://schemas.microsoft.com/office/powerpoint/2010/main" val="3175641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8338" y="838200"/>
            <a:ext cx="59437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00"/>
              </a:lnSpc>
            </a:pPr>
            <a:r>
              <a:rPr lang="en-US" sz="4000" dirty="0">
                <a:solidFill>
                  <a:srgbClr val="000000"/>
                </a:solidFill>
                <a:latin typeface="Amatic SC Bold"/>
              </a:rPr>
              <a:t>VIDEN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5400000">
            <a:off x="197937" y="2353744"/>
            <a:ext cx="3159895" cy="1913173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-111462">
            <a:off x="790070" y="1783004"/>
            <a:ext cx="2082089" cy="3029494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58333" y="1958192"/>
            <a:ext cx="1439103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 spc="36">
                <a:solidFill>
                  <a:srgbClr val="000000"/>
                </a:solidFill>
                <a:latin typeface="Muli Bold"/>
              </a:rPr>
              <a:t> 1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5400000">
            <a:off x="2929671" y="2353744"/>
            <a:ext cx="3159895" cy="1913173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-111462">
            <a:off x="3530955" y="1717559"/>
            <a:ext cx="2082089" cy="3029494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752607" y="1958192"/>
            <a:ext cx="1439103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 spc="36">
                <a:solidFill>
                  <a:srgbClr val="000000"/>
                </a:solidFill>
                <a:latin typeface="Muli Bold"/>
              </a:rPr>
              <a:t> 2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5400000">
            <a:off x="5586486" y="2341164"/>
            <a:ext cx="3159895" cy="191317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-111462">
            <a:off x="6178619" y="1770423"/>
            <a:ext cx="2082089" cy="3029494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446881" y="1945612"/>
            <a:ext cx="1439103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80"/>
              </a:lnSpc>
              <a:spcBef>
                <a:spcPct val="0"/>
              </a:spcBef>
            </a:pPr>
            <a:r>
              <a:rPr lang="en-US" sz="1200" spc="36">
                <a:solidFill>
                  <a:srgbClr val="000000"/>
                </a:solidFill>
                <a:latin typeface="Muli Bold"/>
              </a:rPr>
              <a:t>3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5252589">
            <a:off x="5523306" y="1626075"/>
            <a:ext cx="258286" cy="247954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-6383107">
            <a:off x="6001650" y="4754423"/>
            <a:ext cx="256823" cy="24655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-10154087">
            <a:off x="487313" y="2423773"/>
            <a:ext cx="244575" cy="414534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21299" y="2616752"/>
            <a:ext cx="1807602" cy="6177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29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Muli Regular"/>
              </a:rPr>
              <a:t>central </a:t>
            </a:r>
            <a:r>
              <a:rPr lang="en-US" sz="1200" dirty="0" err="1">
                <a:solidFill>
                  <a:srgbClr val="000000"/>
                </a:solidFill>
                <a:latin typeface="Muli Regular"/>
              </a:rPr>
              <a:t>anvendt</a:t>
            </a:r>
            <a:r>
              <a:rPr lang="en-US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uli Regular"/>
              </a:rPr>
              <a:t>teknologier</a:t>
            </a:r>
            <a:r>
              <a:rPr lang="en-US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uli Regular"/>
              </a:rPr>
              <a:t>og</a:t>
            </a:r>
            <a:r>
              <a:rPr lang="en-US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uli Regular"/>
              </a:rPr>
              <a:t>metode</a:t>
            </a:r>
            <a:r>
              <a:rPr lang="en-US" sz="1200" dirty="0">
                <a:solidFill>
                  <a:srgbClr val="000000"/>
                </a:solidFill>
                <a:latin typeface="Muli Regular"/>
              </a:rPr>
              <a:t> om design </a:t>
            </a:r>
            <a:r>
              <a:rPr lang="en-US" sz="1200" dirty="0" err="1">
                <a:solidFill>
                  <a:srgbClr val="000000"/>
                </a:solidFill>
                <a:latin typeface="Muli Regular"/>
              </a:rPr>
              <a:t>og</a:t>
            </a:r>
            <a:r>
              <a:rPr lang="en-US" sz="1200" dirty="0">
                <a:solidFill>
                  <a:srgbClr val="000000"/>
                </a:solidFill>
                <a:latin typeface="Muli Regular"/>
              </a:rPr>
              <a:t> </a:t>
            </a:r>
          </a:p>
          <a:p>
            <a:pPr algn="ctr">
              <a:lnSpc>
                <a:spcPts val="1229"/>
              </a:lnSpc>
              <a:spcBef>
                <a:spcPct val="0"/>
              </a:spcBef>
            </a:pPr>
            <a:r>
              <a:rPr lang="en-US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uli Regular"/>
              </a:rPr>
              <a:t>dokumentere</a:t>
            </a:r>
            <a:r>
              <a:rPr lang="en-US" sz="1200" dirty="0">
                <a:solidFill>
                  <a:srgbClr val="000000"/>
                </a:solidFill>
                <a:latin typeface="Muli Regular"/>
              </a:rPr>
              <a:t>  --</a:t>
            </a:r>
            <a:r>
              <a:rPr lang="en-US" sz="1200" dirty="0" err="1">
                <a:solidFill>
                  <a:srgbClr val="000000"/>
                </a:solidFill>
                <a:latin typeface="Muli Regular"/>
              </a:rPr>
              <a:t>bruger</a:t>
            </a:r>
            <a:r>
              <a:rPr lang="en-US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uli Regular"/>
              </a:rPr>
              <a:t>grænseflader</a:t>
            </a:r>
            <a:endParaRPr lang="en-US" sz="1200" dirty="0">
              <a:solidFill>
                <a:srgbClr val="000000"/>
              </a:solidFill>
              <a:latin typeface="Muli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707525" y="2278839"/>
            <a:ext cx="191317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br>
              <a:rPr lang="en-GB" sz="1200" dirty="0">
                <a:latin typeface="Calibri" panose="020F0502020204030204" pitchFamily="34" charset="0"/>
              </a:rPr>
            </a:br>
            <a:endParaRPr lang="en-GB" sz="1200" dirty="0">
              <a:latin typeface="Calibri" panose="020F0502020204030204" pitchFamily="34" charset="0"/>
            </a:endParaRPr>
          </a:p>
          <a:p>
            <a:r>
              <a:rPr lang="en-GB" sz="1200" dirty="0" err="1">
                <a:solidFill>
                  <a:srgbClr val="000000"/>
                </a:solidFill>
                <a:latin typeface="Muli Regular"/>
              </a:rPr>
              <a:t>viden</a:t>
            </a:r>
            <a:r>
              <a:rPr lang="en-GB" sz="1200" dirty="0">
                <a:solidFill>
                  <a:srgbClr val="000000"/>
                </a:solidFill>
                <a:latin typeface="Muli Regular"/>
              </a:rPr>
              <a:t> om </a:t>
            </a:r>
            <a:r>
              <a:rPr lang="en-GB" sz="1200" dirty="0" err="1">
                <a:solidFill>
                  <a:srgbClr val="000000"/>
                </a:solidFill>
                <a:latin typeface="Muli Regular"/>
              </a:rPr>
              <a:t>i</a:t>
            </a:r>
            <a:r>
              <a:rPr lang="en-GB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Muli Regular"/>
              </a:rPr>
              <a:t>praksis</a:t>
            </a:r>
            <a:r>
              <a:rPr lang="en-GB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Muli Regular"/>
              </a:rPr>
              <a:t>anvendte</a:t>
            </a:r>
            <a:r>
              <a:rPr lang="en-GB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Muli Regular"/>
              </a:rPr>
              <a:t>principper</a:t>
            </a:r>
            <a:r>
              <a:rPr lang="en-GB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Muli Regular"/>
              </a:rPr>
              <a:t>og</a:t>
            </a:r>
            <a:r>
              <a:rPr lang="en-GB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Muli Regular"/>
              </a:rPr>
              <a:t>teorier</a:t>
            </a:r>
            <a:r>
              <a:rPr lang="en-GB" sz="1200" dirty="0">
                <a:solidFill>
                  <a:srgbClr val="000000"/>
                </a:solidFill>
                <a:latin typeface="Muli Regular"/>
              </a:rPr>
              <a:t> om </a:t>
            </a:r>
            <a:r>
              <a:rPr lang="en-GB" sz="1200" dirty="0" err="1">
                <a:solidFill>
                  <a:srgbClr val="000000"/>
                </a:solidFill>
                <a:latin typeface="Muli Regular"/>
              </a:rPr>
              <a:t>ux</a:t>
            </a:r>
            <a:endParaRPr lang="en-GB" sz="1200" dirty="0">
              <a:solidFill>
                <a:srgbClr val="000000"/>
              </a:solidFill>
              <a:latin typeface="Muli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284554" y="2616752"/>
            <a:ext cx="1601430" cy="1694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1"/>
              </a:lnSpc>
              <a:spcBef>
                <a:spcPct val="0"/>
              </a:spcBef>
            </a:pPr>
            <a:r>
              <a:rPr lang="en-US" sz="1200" dirty="0" err="1">
                <a:solidFill>
                  <a:srgbClr val="000000"/>
                </a:solidFill>
                <a:latin typeface="Muli Regular"/>
              </a:rPr>
              <a:t>viden</a:t>
            </a:r>
            <a:r>
              <a:rPr lang="en-US" sz="1200" dirty="0">
                <a:solidFill>
                  <a:srgbClr val="000000"/>
                </a:solidFill>
                <a:latin typeface="Muli Regular"/>
              </a:rPr>
              <a:t> om “Mobile First”-</a:t>
            </a:r>
            <a:r>
              <a:rPr lang="en-US" sz="1200" dirty="0" err="1">
                <a:solidFill>
                  <a:srgbClr val="000000"/>
                </a:solidFill>
                <a:latin typeface="Muli Regular"/>
              </a:rPr>
              <a:t>udvikling</a:t>
            </a:r>
            <a:r>
              <a:rPr lang="en-US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Muli Regular"/>
              </a:rPr>
              <a:t>samt</a:t>
            </a:r>
            <a:r>
              <a:rPr lang="en-US" sz="1200" dirty="0">
                <a:solidFill>
                  <a:srgbClr val="000000"/>
                </a:solidFill>
                <a:latin typeface="Muli Regular"/>
              </a:rPr>
              <a:t> al </a:t>
            </a:r>
            <a:r>
              <a:rPr lang="en-US" sz="1200" dirty="0" err="1">
                <a:solidFill>
                  <a:srgbClr val="000000"/>
                </a:solidFill>
                <a:latin typeface="Muli Regular"/>
              </a:rPr>
              <a:t>tiltagene</a:t>
            </a:r>
            <a:r>
              <a:rPr lang="en-US" sz="1200" dirty="0">
                <a:solidFill>
                  <a:srgbClr val="000000"/>
                </a:solidFill>
                <a:latin typeface="Muli Regular"/>
              </a:rPr>
              <a:t>,. </a:t>
            </a:r>
            <a:r>
              <a:rPr lang="en-US" sz="1200" dirty="0" err="1">
                <a:solidFill>
                  <a:srgbClr val="000000"/>
                </a:solidFill>
                <a:latin typeface="Muli Regular"/>
              </a:rPr>
              <a:t>eks</a:t>
            </a:r>
            <a:r>
              <a:rPr lang="en-US" sz="1200" dirty="0">
                <a:solidFill>
                  <a:srgbClr val="000000"/>
                </a:solidFill>
                <a:latin typeface="Muli Regular"/>
              </a:rPr>
              <a:t>. responsive web design.</a:t>
            </a:r>
          </a:p>
          <a:p>
            <a:pPr algn="ctr">
              <a:lnSpc>
                <a:spcPts val="1181"/>
              </a:lnSpc>
              <a:spcBef>
                <a:spcPct val="0"/>
              </a:spcBef>
            </a:pPr>
            <a:br>
              <a:rPr lang="en-GB" sz="1200" dirty="0">
                <a:latin typeface="Calibri" panose="020F0502020204030204" pitchFamily="34" charset="0"/>
              </a:rPr>
            </a:br>
            <a:endParaRPr lang="en-GB" sz="1200" dirty="0">
              <a:solidFill>
                <a:srgbClr val="000000"/>
              </a:solidFill>
              <a:latin typeface="Muli Regular"/>
            </a:endParaRPr>
          </a:p>
          <a:p>
            <a:pPr algn="ctr">
              <a:lnSpc>
                <a:spcPts val="1181"/>
              </a:lnSpc>
              <a:spcBef>
                <a:spcPct val="0"/>
              </a:spcBef>
            </a:pPr>
            <a:r>
              <a:rPr lang="en-GB" sz="1200" dirty="0" err="1">
                <a:solidFill>
                  <a:srgbClr val="000000"/>
                </a:solidFill>
                <a:latin typeface="Muli Regular"/>
              </a:rPr>
              <a:t>forståelse</a:t>
            </a:r>
            <a:r>
              <a:rPr lang="en-GB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Muli Regular"/>
              </a:rPr>
              <a:t>af</a:t>
            </a:r>
            <a:r>
              <a:rPr lang="en-GB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Muli Regular"/>
              </a:rPr>
              <a:t>praksisnære</a:t>
            </a:r>
            <a:r>
              <a:rPr lang="en-GB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Muli Regular"/>
              </a:rPr>
              <a:t>principper</a:t>
            </a:r>
            <a:r>
              <a:rPr lang="en-GB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Muli Regular"/>
              </a:rPr>
              <a:t>og</a:t>
            </a:r>
            <a:r>
              <a:rPr lang="en-GB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Muli Regular"/>
              </a:rPr>
              <a:t>metoder</a:t>
            </a:r>
            <a:r>
              <a:rPr lang="en-GB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Muli Regular"/>
              </a:rPr>
              <a:t>til</a:t>
            </a:r>
            <a:r>
              <a:rPr lang="en-GB" sz="1200" dirty="0">
                <a:solidFill>
                  <a:srgbClr val="000000"/>
                </a:solidFill>
                <a:latin typeface="Muli Regular"/>
              </a:rPr>
              <a:t> design et </a:t>
            </a:r>
          </a:p>
          <a:p>
            <a:pPr algn="ctr">
              <a:lnSpc>
                <a:spcPts val="1181"/>
              </a:lnSpc>
              <a:spcBef>
                <a:spcPct val="0"/>
              </a:spcBef>
            </a:pPr>
            <a:r>
              <a:rPr lang="en-GB" sz="1200" dirty="0">
                <a:solidFill>
                  <a:srgbClr val="000000"/>
                </a:solidFill>
                <a:latin typeface="Muli Regular"/>
              </a:rPr>
              <a:t>CMS system</a:t>
            </a:r>
            <a:r>
              <a:rPr lang="zh-CN" altLang="en-US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Muli Regular"/>
              </a:rPr>
              <a:t>I</a:t>
            </a:r>
            <a:r>
              <a:rPr lang="zh-CN" altLang="en-US" sz="1200" dirty="0">
                <a:solidFill>
                  <a:srgbClr val="000000"/>
                </a:solidFill>
                <a:latin typeface="Muli Regular"/>
              </a:rPr>
              <a:t> </a:t>
            </a:r>
            <a:r>
              <a:rPr lang="da-DK" altLang="zh-CN" sz="1200" dirty="0">
                <a:solidFill>
                  <a:srgbClr val="000000"/>
                </a:solidFill>
                <a:latin typeface="Muli Regular"/>
              </a:rPr>
              <a:t>WP</a:t>
            </a:r>
            <a:endParaRPr lang="en-GB" sz="1200" dirty="0">
              <a:solidFill>
                <a:srgbClr val="000000"/>
              </a:solidFill>
              <a:latin typeface="Muli Regular"/>
            </a:endParaRPr>
          </a:p>
          <a:p>
            <a:pPr algn="ctr">
              <a:lnSpc>
                <a:spcPts val="1181"/>
              </a:lnSpc>
              <a:spcBef>
                <a:spcPct val="0"/>
              </a:spcBef>
            </a:pPr>
            <a:endParaRPr lang="en-US" sz="1200" dirty="0">
              <a:solidFill>
                <a:srgbClr val="000000"/>
              </a:solidFill>
              <a:latin typeface="Muli Regula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7739" y="2457953"/>
            <a:ext cx="2430696" cy="282788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3347" y="2457953"/>
            <a:ext cx="2430696" cy="2581361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98954" y="2457953"/>
            <a:ext cx="2430696" cy="2533148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083931" y="2805258"/>
            <a:ext cx="1677428" cy="2017505"/>
            <a:chOff x="-25400" y="-47625"/>
            <a:chExt cx="4473140" cy="5380010"/>
          </a:xfrm>
        </p:grpSpPr>
        <p:sp>
          <p:nvSpPr>
            <p:cNvPr id="6" name="TextBox 6"/>
            <p:cNvSpPr txBox="1"/>
            <p:nvPr/>
          </p:nvSpPr>
          <p:spPr>
            <a:xfrm>
              <a:off x="0" y="-47625"/>
              <a:ext cx="4447740" cy="544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80"/>
                </a:lnSpc>
                <a:spcBef>
                  <a:spcPct val="0"/>
                </a:spcBef>
              </a:pPr>
              <a:r>
                <a:rPr lang="en-US" sz="1200" spc="36">
                  <a:solidFill>
                    <a:srgbClr val="000000"/>
                  </a:solidFill>
                  <a:latin typeface="Muli Bold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-25400" y="1406526"/>
              <a:ext cx="4447740" cy="39258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00"/>
                </a:lnSpc>
              </a:pPr>
              <a:endParaRPr sz="1200" dirty="0"/>
            </a:p>
            <a:p>
              <a:r>
                <a:rPr lang="en-GB" sz="1200" dirty="0">
                  <a:latin typeface="Garamond" panose="02020404030301010803" pitchFamily="18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anvende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praksisnære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metoder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og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værktøjer</a:t>
              </a:r>
              <a:r>
                <a:rPr lang="en-GB" sz="1200" dirty="0">
                  <a:latin typeface="Calibri" panose="020F0502020204030204" pitchFamily="34" charset="0"/>
                </a:rPr>
                <a:t>  </a:t>
              </a:r>
              <a:r>
                <a:rPr lang="en-GB" sz="1200" dirty="0" err="1">
                  <a:latin typeface="Calibri" panose="020F0502020204030204" pitchFamily="34" charset="0"/>
                </a:rPr>
                <a:t>til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varetagelse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af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highlight>
                    <a:srgbClr val="FFFF00"/>
                  </a:highlight>
                  <a:latin typeface="Calibri" panose="020F0502020204030204" pitchFamily="34" charset="0"/>
                </a:rPr>
                <a:t>designprocesser</a:t>
              </a:r>
              <a:r>
                <a:rPr lang="en-GB" sz="1200" dirty="0">
                  <a:latin typeface="Calibri" panose="020F0502020204030204" pitchFamily="34" charset="0"/>
                </a:rPr>
                <a:t> </a:t>
              </a:r>
            </a:p>
            <a:p>
              <a:br>
                <a:rPr lang="en-GB" sz="1200" dirty="0">
                  <a:latin typeface="Calibri" panose="020F0502020204030204" pitchFamily="34" charset="0"/>
                </a:rPr>
              </a:br>
              <a:r>
                <a:rPr lang="en-GB" sz="1200" dirty="0">
                  <a:latin typeface="Calibri" panose="020F0502020204030204" pitchFamily="34" charset="0"/>
                </a:rPr>
                <a:t> </a:t>
              </a:r>
            </a:p>
            <a:p>
              <a:endParaRPr lang="en-GB" sz="1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69064" y="2805258"/>
            <a:ext cx="1667903" cy="1638141"/>
            <a:chOff x="0" y="-47625"/>
            <a:chExt cx="4447740" cy="4368372"/>
          </a:xfrm>
        </p:grpSpPr>
        <p:sp>
          <p:nvSpPr>
            <p:cNvPr id="9" name="TextBox 9"/>
            <p:cNvSpPr txBox="1"/>
            <p:nvPr/>
          </p:nvSpPr>
          <p:spPr>
            <a:xfrm>
              <a:off x="0" y="-47625"/>
              <a:ext cx="4447740" cy="544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80"/>
                </a:lnSpc>
                <a:spcBef>
                  <a:spcPct val="0"/>
                </a:spcBef>
              </a:pPr>
              <a:r>
                <a:rPr lang="en-US" sz="1200" spc="36">
                  <a:solidFill>
                    <a:srgbClr val="000000"/>
                  </a:solidFill>
                  <a:latin typeface="Muli Bold"/>
                </a:rPr>
                <a:t>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81209"/>
              <a:ext cx="4447740" cy="39395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br>
                <a:rPr lang="en-GB" sz="1200" dirty="0">
                  <a:latin typeface="Garamond" panose="02020404030301010803" pitchFamily="18" charset="0"/>
                </a:rPr>
              </a:br>
              <a:endParaRPr lang="en-GB" sz="1200" dirty="0">
                <a:latin typeface="Garamond" panose="02020404030301010803" pitchFamily="18" charset="0"/>
              </a:endParaRPr>
            </a:p>
            <a:p>
              <a:r>
                <a:rPr lang="en-GB" sz="1200" dirty="0">
                  <a:latin typeface="Garamond" panose="02020404030301010803" pitchFamily="18" charset="0"/>
                </a:rPr>
                <a:t>- </a:t>
              </a:r>
              <a:r>
                <a:rPr lang="en-GB" sz="1200" dirty="0" err="1">
                  <a:latin typeface="Calibri" panose="020F0502020204030204" pitchFamily="34" charset="0"/>
                </a:rPr>
                <a:t>dokumentere</a:t>
              </a:r>
              <a:r>
                <a:rPr lang="en-GB" sz="1200" dirty="0">
                  <a:latin typeface="Calibri" panose="020F0502020204030204" pitchFamily="34" charset="0"/>
                </a:rPr>
                <a:t> centrale </a:t>
              </a:r>
              <a:r>
                <a:rPr lang="en-GB" sz="1200" dirty="0" err="1">
                  <a:latin typeface="Calibri" panose="020F0502020204030204" pitchFamily="34" charset="0"/>
                </a:rPr>
                <a:t>udviklings</a:t>
              </a:r>
              <a:r>
                <a:rPr lang="en-GB" sz="1200" dirty="0">
                  <a:latin typeface="Calibri" panose="020F0502020204030204" pitchFamily="34" charset="0"/>
                </a:rPr>
                <a:t>- </a:t>
              </a:r>
              <a:r>
                <a:rPr lang="en-GB" sz="1200" dirty="0" err="1">
                  <a:latin typeface="Calibri" panose="020F0502020204030204" pitchFamily="34" charset="0"/>
                </a:rPr>
                <a:t>og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designprocesser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og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formidle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dem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til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samarbejdspartnere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og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brugere</a:t>
              </a:r>
              <a:r>
                <a:rPr lang="en-GB" sz="1200" dirty="0">
                  <a:latin typeface="Calibri" panose="020F0502020204030204" pitchFamily="34" charset="0"/>
                </a:rPr>
                <a:t> 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44671" y="2805258"/>
            <a:ext cx="1667903" cy="2116376"/>
            <a:chOff x="0" y="-47625"/>
            <a:chExt cx="4447740" cy="564366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47625"/>
              <a:ext cx="4447740" cy="544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80"/>
                </a:lnSpc>
                <a:spcBef>
                  <a:spcPct val="0"/>
                </a:spcBef>
              </a:pPr>
              <a:r>
                <a:rPr lang="en-US" sz="1200" spc="36">
                  <a:solidFill>
                    <a:srgbClr val="000000"/>
                  </a:solidFill>
                  <a:latin typeface="Muli Bold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71620"/>
              <a:ext cx="4447740" cy="4924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endParaRPr lang="en-GB" sz="1200" dirty="0">
                <a:latin typeface="Calibri" panose="020F0502020204030204" pitchFamily="34" charset="0"/>
              </a:endParaRPr>
            </a:p>
            <a:p>
              <a:r>
                <a:rPr lang="en-GB" sz="1200" dirty="0">
                  <a:latin typeface="Calibri" panose="020F0502020204030204" pitchFamily="34" charset="0"/>
                </a:rPr>
                <a:t>- </a:t>
              </a:r>
              <a:r>
                <a:rPr lang="en-GB" sz="1200" dirty="0" err="1">
                  <a:latin typeface="Calibri" panose="020F0502020204030204" pitchFamily="34" charset="0"/>
                </a:rPr>
                <a:t>anvende</a:t>
              </a:r>
              <a:r>
                <a:rPr lang="en-GB" sz="1200" dirty="0">
                  <a:latin typeface="Calibri" panose="020F0502020204030204" pitchFamily="34" charset="0"/>
                </a:rPr>
                <a:t> det </a:t>
              </a:r>
              <a:r>
                <a:rPr lang="en-GB" sz="1200" dirty="0" err="1">
                  <a:latin typeface="Calibri" panose="020F0502020204030204" pitchFamily="34" charset="0"/>
                </a:rPr>
                <a:t>valgte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programmeringssprog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til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realisering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af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da-DK" sz="1200" dirty="0">
                  <a:latin typeface="Calibri" panose="020F0502020204030204" pitchFamily="34" charset="0"/>
                </a:rPr>
                <a:t> </a:t>
              </a:r>
              <a:r>
                <a:rPr lang="en-US" sz="1200" dirty="0">
                  <a:solidFill>
                    <a:srgbClr val="000000"/>
                  </a:solidFill>
                  <a:latin typeface="Muli Regular"/>
                </a:rPr>
                <a:t> UI</a:t>
              </a:r>
            </a:p>
            <a:p>
              <a:r>
                <a:rPr lang="en-US" sz="1200" dirty="0">
                  <a:solidFill>
                    <a:srgbClr val="000000"/>
                  </a:solidFill>
                  <a:latin typeface="Muli Regular"/>
                </a:rPr>
                <a:t>-</a:t>
              </a:r>
              <a:endParaRPr lang="en-GB" sz="1200" dirty="0">
                <a:latin typeface="Calibri" panose="020F0502020204030204" pitchFamily="34" charset="0"/>
              </a:endParaRPr>
            </a:p>
            <a:p>
              <a:r>
                <a:rPr lang="en-GB" sz="1200" dirty="0" err="1">
                  <a:latin typeface="Calibri" panose="020F0502020204030204" pitchFamily="34" charset="0"/>
                </a:rPr>
                <a:t>anvende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praksisnær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metode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til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planlægning</a:t>
              </a:r>
              <a:r>
                <a:rPr lang="en-GB" sz="1200" dirty="0">
                  <a:latin typeface="Calibri" panose="020F0502020204030204" pitchFamily="34" charset="0"/>
                </a:rPr>
                <a:t>, </a:t>
              </a:r>
              <a:r>
                <a:rPr lang="en-GB" sz="1200" dirty="0" err="1">
                  <a:latin typeface="Calibri" panose="020F0502020204030204" pitchFamily="34" charset="0"/>
                </a:rPr>
                <a:t>udførelse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og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formidling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af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brugertest</a:t>
              </a:r>
              <a:r>
                <a:rPr lang="en-GB" sz="1200" dirty="0">
                  <a:latin typeface="Calibri" panose="020F0502020204030204" pitchFamily="34" charset="0"/>
                </a:rPr>
                <a:t> </a:t>
              </a:r>
            </a:p>
            <a:p>
              <a:endParaRPr lang="en-US" sz="1200" dirty="0">
                <a:solidFill>
                  <a:srgbClr val="000000"/>
                </a:solidFill>
                <a:latin typeface="Muli Regula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" y="2352006"/>
            <a:ext cx="579106" cy="629104"/>
            <a:chOff x="0" y="0"/>
            <a:chExt cx="1544282" cy="1677609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 rot="5902287">
              <a:off x="22929" y="168600"/>
              <a:ext cx="1498424" cy="134040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4"/>
            <a:srcRect l="24681" t="19957" r="25654" b="19187"/>
            <a:stretch>
              <a:fillRect/>
            </a:stretch>
          </p:blipFill>
          <p:spPr>
            <a:xfrm rot="489684">
              <a:off x="249959" y="276757"/>
              <a:ext cx="917365" cy="1124095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3289958" y="2352006"/>
            <a:ext cx="579106" cy="629104"/>
            <a:chOff x="0" y="0"/>
            <a:chExt cx="1544282" cy="1677609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 rot="5902287">
              <a:off x="22929" y="168600"/>
              <a:ext cx="1498424" cy="134040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4"/>
            <a:srcRect l="24681" t="19957" r="25654" b="19187"/>
            <a:stretch>
              <a:fillRect/>
            </a:stretch>
          </p:blipFill>
          <p:spPr>
            <a:xfrm rot="489684">
              <a:off x="249959" y="276757"/>
              <a:ext cx="917365" cy="1124095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6065565" y="2352006"/>
            <a:ext cx="579106" cy="629104"/>
            <a:chOff x="0" y="0"/>
            <a:chExt cx="1544282" cy="1677609"/>
          </a:xfrm>
        </p:grpSpPr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 rot="5902287">
              <a:off x="22929" y="168600"/>
              <a:ext cx="1498424" cy="1340409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4"/>
            <a:srcRect l="24681" t="19957" r="25654" b="19187"/>
            <a:stretch>
              <a:fillRect/>
            </a:stretch>
          </p:blipFill>
          <p:spPr>
            <a:xfrm rot="489684">
              <a:off x="249959" y="276757"/>
              <a:ext cx="917365" cy="1124095"/>
            </a:xfrm>
            <a:prstGeom prst="rect">
              <a:avLst/>
            </a:prstGeom>
          </p:spPr>
        </p:pic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262007">
            <a:off x="2431580" y="836695"/>
            <a:ext cx="4280841" cy="1354303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690131" y="832174"/>
            <a:ext cx="3763738" cy="1186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dirty="0">
                <a:solidFill>
                  <a:srgbClr val="000000"/>
                </a:solidFill>
                <a:latin typeface="Amatic SC Bold"/>
              </a:rPr>
              <a:t>FÆRDIGHED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1437957">
            <a:off x="2004384" y="1010450"/>
            <a:ext cx="660550" cy="568073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10359667">
            <a:off x="6487446" y="1553708"/>
            <a:ext cx="660550" cy="56807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7739" y="2457953"/>
            <a:ext cx="2430696" cy="282788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23347" y="2457953"/>
            <a:ext cx="2430696" cy="2581361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99759" y="2458955"/>
            <a:ext cx="2920441" cy="2533148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093456" y="2805258"/>
            <a:ext cx="1667903" cy="1802735"/>
            <a:chOff x="0" y="-47625"/>
            <a:chExt cx="4447740" cy="4807287"/>
          </a:xfrm>
        </p:grpSpPr>
        <p:sp>
          <p:nvSpPr>
            <p:cNvPr id="6" name="TextBox 6"/>
            <p:cNvSpPr txBox="1"/>
            <p:nvPr/>
          </p:nvSpPr>
          <p:spPr>
            <a:xfrm>
              <a:off x="0" y="-47625"/>
              <a:ext cx="4447740" cy="544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80"/>
                </a:lnSpc>
                <a:spcBef>
                  <a:spcPct val="0"/>
                </a:spcBef>
              </a:pPr>
              <a:r>
                <a:rPr lang="en-US" sz="1200" spc="36">
                  <a:solidFill>
                    <a:srgbClr val="000000"/>
                  </a:solidFill>
                  <a:latin typeface="Muli Bold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33806"/>
              <a:ext cx="4447740" cy="39258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00"/>
                </a:lnSpc>
              </a:pPr>
              <a:endParaRPr sz="1200" dirty="0"/>
            </a:p>
            <a:p>
              <a:r>
                <a:rPr lang="en-GB" sz="1200" dirty="0">
                  <a:latin typeface="Garamond" panose="02020404030301010803" pitchFamily="18" charset="0"/>
                </a:rPr>
                <a:t> </a:t>
              </a:r>
              <a:br>
                <a:rPr lang="en-GB" sz="1200" dirty="0">
                  <a:latin typeface="Garamond" panose="02020404030301010803" pitchFamily="18" charset="0"/>
                </a:rPr>
              </a:br>
              <a:endParaRPr lang="en-GB" sz="1200" dirty="0">
                <a:latin typeface="Garamond" panose="02020404030301010803" pitchFamily="18" charset="0"/>
              </a:endParaRPr>
            </a:p>
            <a:p>
              <a:r>
                <a:rPr lang="en-GB" sz="1200" dirty="0">
                  <a:latin typeface="Garamond" panose="02020404030301010803" pitchFamily="18" charset="0"/>
                </a:rPr>
                <a:t>- </a:t>
              </a:r>
              <a:r>
                <a:rPr lang="en-GB" sz="1200" dirty="0" err="1">
                  <a:latin typeface="Calibri" panose="020F0502020204030204" pitchFamily="34" charset="0"/>
                </a:rPr>
                <a:t>deltage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i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praksisnære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tværfaglige</a:t>
              </a:r>
              <a:r>
                <a:rPr lang="en-GB" sz="1200" dirty="0">
                  <a:latin typeface="Calibri" panose="020F0502020204030204" pitchFamily="34" charset="0"/>
                </a:rPr>
                <a:t> project </a:t>
              </a:r>
            </a:p>
            <a:p>
              <a:r>
                <a:rPr lang="en-GB" sz="1200" dirty="0">
                  <a:latin typeface="Calibri" panose="020F0502020204030204" pitchFamily="34" charset="0"/>
                </a:rPr>
                <a:t> </a:t>
              </a:r>
            </a:p>
            <a:p>
              <a:endParaRPr lang="en-GB" sz="1200" dirty="0">
                <a:latin typeface="Calibri" panose="020F0502020204030204" pitchFamily="34" charset="0"/>
              </a:endParaRPr>
            </a:p>
            <a:p>
              <a:endParaRPr lang="en-GB" sz="1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69064" y="2805258"/>
            <a:ext cx="1667903" cy="1822806"/>
            <a:chOff x="0" y="-47625"/>
            <a:chExt cx="4447740" cy="4860816"/>
          </a:xfrm>
        </p:grpSpPr>
        <p:sp>
          <p:nvSpPr>
            <p:cNvPr id="9" name="TextBox 9"/>
            <p:cNvSpPr txBox="1"/>
            <p:nvPr/>
          </p:nvSpPr>
          <p:spPr>
            <a:xfrm>
              <a:off x="0" y="-47625"/>
              <a:ext cx="4447740" cy="544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80"/>
                </a:lnSpc>
                <a:spcBef>
                  <a:spcPct val="0"/>
                </a:spcBef>
              </a:pPr>
              <a:r>
                <a:rPr lang="en-US" sz="1200" spc="36">
                  <a:solidFill>
                    <a:srgbClr val="000000"/>
                  </a:solidFill>
                  <a:latin typeface="Muli Bold"/>
                </a:rPr>
                <a:t>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81210"/>
              <a:ext cx="4447740" cy="44319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br>
                <a:rPr lang="en-GB" sz="1200" dirty="0">
                  <a:latin typeface="Garamond" panose="02020404030301010803" pitchFamily="18" charset="0"/>
                </a:rPr>
              </a:br>
              <a:endParaRPr lang="en-GB" sz="1200" dirty="0">
                <a:latin typeface="Garamond" panose="02020404030301010803" pitchFamily="18" charset="0"/>
              </a:endParaRPr>
            </a:p>
            <a:p>
              <a:r>
                <a:rPr lang="en-GB" sz="1200" dirty="0">
                  <a:latin typeface="Garamond" panose="02020404030301010803" pitchFamily="18" charset="0"/>
                </a:rPr>
                <a:t>- 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br>
                <a:rPr lang="en-GB" sz="1200" dirty="0">
                  <a:latin typeface="Garamond" panose="02020404030301010803" pitchFamily="18" charset="0"/>
                </a:rPr>
              </a:br>
              <a:endParaRPr lang="en-GB" sz="1200" dirty="0">
                <a:latin typeface="Garamond" panose="02020404030301010803" pitchFamily="18" charset="0"/>
              </a:endParaRPr>
            </a:p>
            <a:p>
              <a:r>
                <a:rPr lang="en-GB" sz="1200" dirty="0">
                  <a:latin typeface="Garamond" panose="02020404030301010803" pitchFamily="18" charset="0"/>
                </a:rPr>
                <a:t>- </a:t>
              </a:r>
              <a:r>
                <a:rPr lang="en-GB" sz="1200" dirty="0" err="1">
                  <a:latin typeface="Calibri" panose="020F0502020204030204" pitchFamily="34" charset="0"/>
                </a:rPr>
                <a:t>tilegne</a:t>
              </a:r>
              <a:r>
                <a:rPr lang="en-GB" sz="1200" dirty="0">
                  <a:latin typeface="Calibri" panose="020F0502020204030204" pitchFamily="34" charset="0"/>
                </a:rPr>
                <a:t> sig nye </a:t>
              </a:r>
              <a:r>
                <a:rPr lang="en-GB" sz="1200" dirty="0" err="1">
                  <a:latin typeface="Calibri" panose="020F0502020204030204" pitchFamily="34" charset="0"/>
                </a:rPr>
                <a:t>færdigheder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og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teknikker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inden</a:t>
              </a:r>
              <a:r>
                <a:rPr lang="en-GB" sz="1200" dirty="0">
                  <a:latin typeface="Calibri" panose="020F0502020204030204" pitchFamily="34" charset="0"/>
                </a:rPr>
                <a:t> for </a:t>
              </a:r>
              <a:r>
                <a:rPr lang="en-GB" sz="1200" dirty="0" err="1">
                  <a:latin typeface="Calibri" panose="020F0502020204030204" pitchFamily="34" charset="0"/>
                </a:rPr>
                <a:t>grafisk</a:t>
              </a:r>
              <a:r>
                <a:rPr lang="en-GB" sz="1200" dirty="0">
                  <a:latin typeface="Calibri" panose="020F0502020204030204" pitchFamily="34" charset="0"/>
                </a:rPr>
                <a:t> design </a:t>
              </a:r>
              <a:r>
                <a:rPr lang="en-GB" sz="1200" dirty="0" err="1">
                  <a:latin typeface="Calibri" panose="020F0502020204030204" pitchFamily="34" charset="0"/>
                </a:rPr>
                <a:t>og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bruger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grænseflader</a:t>
              </a:r>
              <a:r>
                <a:rPr lang="en-GB" sz="1200" dirty="0">
                  <a:latin typeface="Calibri" panose="020F0502020204030204" pitchFamily="34" charset="0"/>
                </a:rPr>
                <a:t> </a:t>
              </a:r>
            </a:p>
            <a:p>
              <a:endParaRPr lang="en-GB" sz="1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44671" y="2805258"/>
            <a:ext cx="2499329" cy="1654403"/>
            <a:chOff x="0" y="-47625"/>
            <a:chExt cx="4447740" cy="441174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47625"/>
              <a:ext cx="4447740" cy="544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680"/>
                </a:lnSpc>
                <a:spcBef>
                  <a:spcPct val="0"/>
                </a:spcBef>
              </a:pPr>
              <a:r>
                <a:rPr lang="en-US" sz="1200" spc="36">
                  <a:solidFill>
                    <a:srgbClr val="000000"/>
                  </a:solidFill>
                  <a:latin typeface="Muli Bold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409460"/>
              <a:ext cx="4447740" cy="29546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endParaRPr lang="en-GB" sz="1200" dirty="0">
                <a:latin typeface="Calibri" panose="020F0502020204030204" pitchFamily="34" charset="0"/>
              </a:endParaRPr>
            </a:p>
            <a:p>
              <a:r>
                <a:rPr lang="en-GB" sz="1200" dirty="0">
                  <a:latin typeface="Calibri" panose="020F0502020204030204" pitchFamily="34" charset="0"/>
                </a:rPr>
                <a:t>- </a:t>
              </a:r>
              <a:r>
                <a:rPr lang="da-DK" sz="1200" dirty="0">
                  <a:latin typeface="Calibri" panose="020F0502020204030204" pitchFamily="34" charset="0"/>
                </a:rPr>
                <a:t> </a:t>
              </a:r>
              <a:endParaRPr lang="en-GB" sz="1200" dirty="0">
                <a:latin typeface="Calibri" panose="020F0502020204030204" pitchFamily="34" charset="0"/>
              </a:endParaRPr>
            </a:p>
            <a:p>
              <a:r>
                <a:rPr lang="en-GB" sz="1200" dirty="0" err="1">
                  <a:latin typeface="Calibri" panose="020F0502020204030204" pitchFamily="34" charset="0"/>
                </a:rPr>
                <a:t>planlægge</a:t>
              </a:r>
              <a:r>
                <a:rPr lang="en-GB" sz="1200" dirty="0">
                  <a:latin typeface="Calibri" panose="020F0502020204030204" pitchFamily="34" charset="0"/>
                </a:rPr>
                <a:t>, </a:t>
              </a:r>
              <a:r>
                <a:rPr lang="en-GB" sz="1200" dirty="0" err="1">
                  <a:latin typeface="Calibri" panose="020F0502020204030204" pitchFamily="34" charset="0"/>
                </a:rPr>
                <a:t>udvikle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og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idriftsætte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webapplikationer</a:t>
              </a:r>
              <a:endParaRPr lang="en-GB" sz="1200" dirty="0">
                <a:latin typeface="Calibri" panose="020F0502020204030204" pitchFamily="34" charset="0"/>
              </a:endParaRPr>
            </a:p>
            <a:p>
              <a:r>
                <a:rPr lang="en-GB" sz="1200" dirty="0" err="1">
                  <a:latin typeface="Calibri" panose="020F0502020204030204" pitchFamily="34" charset="0"/>
                </a:rPr>
                <a:t>baseret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på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konkrete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udviklingsønsker</a:t>
              </a:r>
              <a:endParaRPr lang="en-GB" sz="1200" dirty="0">
                <a:latin typeface="Calibri" panose="020F0502020204030204" pitchFamily="34" charset="0"/>
              </a:endParaRPr>
            </a:p>
            <a:p>
              <a:endParaRPr lang="en-US" sz="1200" dirty="0">
                <a:solidFill>
                  <a:srgbClr val="000000"/>
                </a:solidFill>
                <a:latin typeface="Muli Regula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4350" y="2352006"/>
            <a:ext cx="579106" cy="629104"/>
            <a:chOff x="0" y="0"/>
            <a:chExt cx="1544282" cy="1677609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 rot="5902287">
              <a:off x="22929" y="168600"/>
              <a:ext cx="1498424" cy="1340409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4"/>
            <a:srcRect l="24681" t="19957" r="25654" b="19187"/>
            <a:stretch>
              <a:fillRect/>
            </a:stretch>
          </p:blipFill>
          <p:spPr>
            <a:xfrm rot="489684">
              <a:off x="249959" y="276757"/>
              <a:ext cx="917365" cy="1124095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3289958" y="2352006"/>
            <a:ext cx="579106" cy="629104"/>
            <a:chOff x="0" y="0"/>
            <a:chExt cx="1544282" cy="1677609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 rot="5902287">
              <a:off x="22929" y="168600"/>
              <a:ext cx="1498424" cy="1340409"/>
            </a:xfrm>
            <a:prstGeom prst="rect">
              <a:avLst/>
            </a:prstGeom>
          </p:spPr>
        </p:pic>
        <p:pic>
          <p:nvPicPr>
            <p:cNvPr id="19" name="Picture 19"/>
            <p:cNvPicPr>
              <a:picLocks noChangeAspect="1"/>
            </p:cNvPicPr>
            <p:nvPr/>
          </p:nvPicPr>
          <p:blipFill>
            <a:blip r:embed="rId4"/>
            <a:srcRect l="24681" t="19957" r="25654" b="19187"/>
            <a:stretch>
              <a:fillRect/>
            </a:stretch>
          </p:blipFill>
          <p:spPr>
            <a:xfrm rot="489684">
              <a:off x="249959" y="276757"/>
              <a:ext cx="917365" cy="1124095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6065565" y="2352006"/>
            <a:ext cx="579106" cy="629104"/>
            <a:chOff x="0" y="0"/>
            <a:chExt cx="1544282" cy="1677609"/>
          </a:xfrm>
        </p:grpSpPr>
        <p:pic>
          <p:nvPicPr>
            <p:cNvPr id="21" name="Picture 21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 rot="5902287">
              <a:off x="22929" y="168600"/>
              <a:ext cx="1498424" cy="1340409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4"/>
            <a:srcRect l="24681" t="19957" r="25654" b="19187"/>
            <a:stretch>
              <a:fillRect/>
            </a:stretch>
          </p:blipFill>
          <p:spPr>
            <a:xfrm rot="489684">
              <a:off x="249959" y="276757"/>
              <a:ext cx="917365" cy="1124095"/>
            </a:xfrm>
            <a:prstGeom prst="rect">
              <a:avLst/>
            </a:prstGeom>
          </p:spPr>
        </p:pic>
      </p:grpSp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262007">
            <a:off x="2431580" y="836695"/>
            <a:ext cx="4280841" cy="1354303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2690131" y="832174"/>
            <a:ext cx="3763738" cy="2481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dirty="0">
                <a:solidFill>
                  <a:srgbClr val="000000"/>
                </a:solidFill>
                <a:latin typeface="Amatic SC Bold"/>
              </a:rPr>
              <a:t> </a:t>
            </a:r>
            <a:r>
              <a:rPr lang="en-GB" sz="7200" dirty="0" err="1">
                <a:solidFill>
                  <a:srgbClr val="000000"/>
                </a:solidFill>
                <a:latin typeface="Amatic SC Bold"/>
              </a:rPr>
              <a:t>Kompetencer</a:t>
            </a:r>
            <a:r>
              <a:rPr lang="en-GB" sz="4800" b="1" dirty="0">
                <a:latin typeface="Calibri" panose="020F0502020204030204" pitchFamily="34" charset="0"/>
              </a:rPr>
              <a:t> </a:t>
            </a:r>
            <a:endParaRPr lang="en-GB" sz="4800" dirty="0">
              <a:latin typeface="Calibri" panose="020F0502020204030204" pitchFamily="34" charset="0"/>
            </a:endParaRPr>
          </a:p>
          <a:p>
            <a:pPr algn="ctr">
              <a:lnSpc>
                <a:spcPts val="10080"/>
              </a:lnSpc>
              <a:spcBef>
                <a:spcPct val="0"/>
              </a:spcBef>
            </a:pPr>
            <a:endParaRPr lang="en-US" sz="7200" dirty="0">
              <a:solidFill>
                <a:srgbClr val="000000"/>
              </a:solidFill>
              <a:latin typeface="Amatic SC Bold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1437957">
            <a:off x="2004384" y="1010450"/>
            <a:ext cx="660550" cy="568073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10359667">
            <a:off x="6487446" y="1553708"/>
            <a:ext cx="660550" cy="56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768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6042" y="973195"/>
            <a:ext cx="3646684" cy="2737844"/>
            <a:chOff x="57047" y="200864"/>
            <a:chExt cx="9724491" cy="7300915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 rot="244331">
              <a:off x="57047" y="200864"/>
              <a:ext cx="5721425" cy="1810051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538842" y="290680"/>
              <a:ext cx="4937616" cy="1538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521"/>
                </a:lnSpc>
              </a:pPr>
              <a:r>
                <a:rPr lang="en-US" sz="4110" dirty="0">
                  <a:solidFill>
                    <a:srgbClr val="000000"/>
                  </a:solidFill>
                  <a:latin typeface="Amatic SC Bold"/>
                </a:rPr>
                <a:t>EKSAMEN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9391" y="5586726"/>
              <a:ext cx="9212147" cy="19150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8"/>
                </a:lnSpc>
                <a:spcBef>
                  <a:spcPct val="0"/>
                </a:spcBef>
              </a:pPr>
              <a:endParaRPr sz="1200" dirty="0"/>
            </a:p>
            <a:p>
              <a:pPr algn="ctr">
                <a:lnSpc>
                  <a:spcPts val="1438"/>
                </a:lnSpc>
                <a:spcBef>
                  <a:spcPct val="0"/>
                </a:spcBef>
              </a:pPr>
              <a:r>
                <a:rPr lang="en-US" sz="1200" dirty="0" err="1">
                  <a:solidFill>
                    <a:srgbClr val="000000"/>
                  </a:solidFill>
                  <a:latin typeface="Muli Regular"/>
                </a:rPr>
                <a:t>Prøven</a:t>
              </a:r>
              <a:r>
                <a:rPr lang="en-US" sz="1200" dirty="0">
                  <a:solidFill>
                    <a:srgbClr val="000000"/>
                  </a:solidFill>
                  <a:latin typeface="Muli Regular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Muli Regular"/>
                </a:rPr>
                <a:t>inddrager</a:t>
              </a:r>
              <a:r>
                <a:rPr lang="en-US" sz="1200" dirty="0">
                  <a:solidFill>
                    <a:srgbClr val="000000"/>
                  </a:solidFill>
                  <a:latin typeface="Muli Regular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Muli Regular"/>
                </a:rPr>
                <a:t>bl.a</a:t>
              </a:r>
              <a:r>
                <a:rPr lang="en-US" sz="1200" dirty="0">
                  <a:solidFill>
                    <a:srgbClr val="000000"/>
                  </a:solidFill>
                  <a:latin typeface="Muli Regular"/>
                </a:rPr>
                <a:t>. </a:t>
              </a:r>
              <a:r>
                <a:rPr lang="en-US" sz="1200" dirty="0" err="1">
                  <a:solidFill>
                    <a:srgbClr val="000000"/>
                  </a:solidFill>
                  <a:latin typeface="Muli Regular"/>
                </a:rPr>
                <a:t>elementer</a:t>
              </a:r>
              <a:r>
                <a:rPr lang="en-US" sz="1200" dirty="0">
                  <a:solidFill>
                    <a:srgbClr val="000000"/>
                  </a:solidFill>
                  <a:latin typeface="Muli Regular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Muli Regular"/>
                </a:rPr>
                <a:t>fra</a:t>
              </a:r>
              <a:r>
                <a:rPr lang="en-US" sz="1200" dirty="0">
                  <a:solidFill>
                    <a:srgbClr val="000000"/>
                  </a:solidFill>
                  <a:latin typeface="Muli Regular"/>
                </a:rPr>
                <a:t> de </a:t>
              </a:r>
              <a:r>
                <a:rPr lang="en-US" sz="1200" dirty="0" err="1">
                  <a:solidFill>
                    <a:srgbClr val="FDBE14"/>
                  </a:solidFill>
                  <a:latin typeface="Muli Regular"/>
                </a:rPr>
                <a:t>obligatoriske</a:t>
              </a:r>
              <a:r>
                <a:rPr lang="en-US" sz="1200" dirty="0">
                  <a:solidFill>
                    <a:srgbClr val="FDBE14"/>
                  </a:solidFill>
                  <a:latin typeface="Muli Regular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Muli Regular"/>
                </a:rPr>
                <a:t>afleveringer</a:t>
              </a:r>
              <a:r>
                <a:rPr lang="en-US" sz="1200" dirty="0">
                  <a:solidFill>
                    <a:srgbClr val="000000"/>
                  </a:solidFill>
                  <a:latin typeface="Muli Regular"/>
                </a:rPr>
                <a:t>, </a:t>
              </a:r>
              <a:r>
                <a:rPr lang="en-US" sz="1200" dirty="0" err="1">
                  <a:solidFill>
                    <a:srgbClr val="000000"/>
                  </a:solidFill>
                  <a:latin typeface="Muli Regular"/>
                </a:rPr>
                <a:t>som</a:t>
              </a:r>
              <a:r>
                <a:rPr lang="en-US" sz="1200" dirty="0">
                  <a:solidFill>
                    <a:srgbClr val="000000"/>
                  </a:solidFill>
                  <a:latin typeface="Muli Regular"/>
                </a:rPr>
                <a:t> er</a:t>
              </a:r>
            </a:p>
            <a:p>
              <a:pPr algn="ctr">
                <a:lnSpc>
                  <a:spcPts val="1438"/>
                </a:lnSpc>
                <a:spcBef>
                  <a:spcPct val="0"/>
                </a:spcBef>
              </a:pPr>
              <a:r>
                <a:rPr lang="en-US" sz="1200" dirty="0" err="1">
                  <a:solidFill>
                    <a:srgbClr val="000000"/>
                  </a:solidFill>
                  <a:latin typeface="Muli Regular"/>
                </a:rPr>
                <a:t>blevet</a:t>
              </a:r>
              <a:r>
                <a:rPr lang="en-US" sz="1200" dirty="0">
                  <a:solidFill>
                    <a:srgbClr val="000000"/>
                  </a:solidFill>
                  <a:latin typeface="Muli Regular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Muli Regular"/>
                </a:rPr>
                <a:t>afleveret</a:t>
              </a:r>
              <a:r>
                <a:rPr lang="en-US" sz="1200" dirty="0">
                  <a:solidFill>
                    <a:srgbClr val="000000"/>
                  </a:solidFill>
                  <a:latin typeface="Muli Regular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Muli Regular"/>
                </a:rPr>
                <a:t>og</a:t>
              </a:r>
              <a:r>
                <a:rPr lang="en-US" sz="1200" dirty="0">
                  <a:solidFill>
                    <a:srgbClr val="000000"/>
                  </a:solidFill>
                  <a:latin typeface="Muli Regular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Muli Regular"/>
                </a:rPr>
                <a:t>godkendt</a:t>
              </a:r>
              <a:r>
                <a:rPr lang="en-US" sz="1200" dirty="0">
                  <a:solidFill>
                    <a:srgbClr val="000000"/>
                  </a:solidFill>
                  <a:latin typeface="Muli Regular"/>
                </a:rPr>
                <a:t> under </a:t>
              </a:r>
              <a:r>
                <a:rPr lang="en-US" sz="1200" dirty="0" err="1">
                  <a:solidFill>
                    <a:srgbClr val="000000"/>
                  </a:solidFill>
                  <a:latin typeface="Muli Regular"/>
                </a:rPr>
                <a:t>valgfagets</a:t>
              </a:r>
              <a:r>
                <a:rPr lang="en-US" sz="1200" dirty="0">
                  <a:solidFill>
                    <a:srgbClr val="000000"/>
                  </a:solidFill>
                  <a:latin typeface="Muli Regular"/>
                </a:rPr>
                <a:t> </a:t>
              </a:r>
              <a:r>
                <a:rPr lang="en-US" sz="1200" dirty="0" err="1">
                  <a:solidFill>
                    <a:srgbClr val="000000"/>
                  </a:solidFill>
                  <a:latin typeface="Muli Regular"/>
                </a:rPr>
                <a:t>forløb</a:t>
              </a:r>
              <a:r>
                <a:rPr lang="en-US" sz="1200" dirty="0">
                  <a:solidFill>
                    <a:srgbClr val="000000"/>
                  </a:solidFill>
                  <a:latin typeface="Muli Regular"/>
                </a:rPr>
                <a:t>.  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9391" y="2576378"/>
              <a:ext cx="8642755" cy="1128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6"/>
                </a:lnSpc>
              </a:pPr>
              <a:r>
                <a:rPr lang="en-US" sz="1233" spc="37" dirty="0">
                  <a:solidFill>
                    <a:srgbClr val="000000"/>
                  </a:solidFill>
                  <a:latin typeface="Muli Bold"/>
                </a:rPr>
                <a:t> </a:t>
              </a:r>
              <a:r>
                <a:rPr lang="en-US" sz="1233" spc="37" dirty="0" err="1">
                  <a:solidFill>
                    <a:srgbClr val="000000"/>
                  </a:solidFill>
                  <a:latin typeface="Muli Bold"/>
                </a:rPr>
                <a:t>afleveres</a:t>
              </a:r>
              <a:r>
                <a:rPr lang="en-US" sz="1233" spc="37" dirty="0">
                  <a:solidFill>
                    <a:srgbClr val="000000"/>
                  </a:solidFill>
                  <a:latin typeface="Muli Bold"/>
                </a:rPr>
                <a:t> </a:t>
              </a:r>
              <a:r>
                <a:rPr lang="en-US" sz="1233" spc="37" dirty="0" err="1">
                  <a:solidFill>
                    <a:srgbClr val="000000"/>
                  </a:solidFill>
                  <a:latin typeface="Muli Bold"/>
                </a:rPr>
                <a:t>en</a:t>
              </a:r>
              <a:r>
                <a:rPr lang="en-US" sz="1233" spc="37" dirty="0">
                  <a:solidFill>
                    <a:srgbClr val="000000"/>
                  </a:solidFill>
                  <a:latin typeface="Muli Bold"/>
                </a:rPr>
                <a:t> </a:t>
              </a:r>
              <a:r>
                <a:rPr lang="en-US" sz="1233" spc="37" dirty="0" err="1">
                  <a:solidFill>
                    <a:srgbClr val="000000"/>
                  </a:solidFill>
                  <a:latin typeface="Muli Bold"/>
                </a:rPr>
                <a:t>skriftlig</a:t>
              </a:r>
              <a:r>
                <a:rPr lang="en-US" sz="1233" spc="37" dirty="0">
                  <a:solidFill>
                    <a:srgbClr val="000000"/>
                  </a:solidFill>
                  <a:latin typeface="Muli Bold"/>
                </a:rPr>
                <a:t> </a:t>
              </a:r>
              <a:r>
                <a:rPr lang="en-US" sz="1233" spc="37" dirty="0" err="1">
                  <a:solidFill>
                    <a:srgbClr val="000000"/>
                  </a:solidFill>
                  <a:latin typeface="Muli Bold"/>
                </a:rPr>
                <a:t>opgave</a:t>
              </a:r>
              <a:r>
                <a:rPr lang="en-US" sz="1233" spc="37" dirty="0">
                  <a:solidFill>
                    <a:srgbClr val="000000"/>
                  </a:solidFill>
                  <a:latin typeface="Muli Bold"/>
                </a:rPr>
                <a:t>, der </a:t>
              </a:r>
              <a:r>
                <a:rPr lang="da-DK" sz="1233" spc="37" dirty="0">
                  <a:solidFill>
                    <a:srgbClr val="000000"/>
                  </a:solidFill>
                  <a:latin typeface="Muli Bold"/>
                </a:rPr>
                <a:t>vurderes</a:t>
              </a:r>
            </a:p>
            <a:p>
              <a:pPr algn="ctr">
                <a:lnSpc>
                  <a:spcPts val="1726"/>
                </a:lnSpc>
                <a:spcBef>
                  <a:spcPct val="0"/>
                </a:spcBef>
              </a:pPr>
              <a:r>
                <a:rPr lang="en-US" sz="1233" spc="37" dirty="0" err="1">
                  <a:solidFill>
                    <a:srgbClr val="000000"/>
                  </a:solidFill>
                  <a:latin typeface="Muli Bold"/>
                </a:rPr>
                <a:t>efter</a:t>
              </a:r>
              <a:r>
                <a:rPr lang="en-US" sz="1233" spc="37" dirty="0">
                  <a:solidFill>
                    <a:srgbClr val="000000"/>
                  </a:solidFill>
                  <a:latin typeface="Muli Bold"/>
                </a:rPr>
                <a:t> 7- </a:t>
              </a:r>
              <a:r>
                <a:rPr lang="en-US" sz="1233" spc="37" dirty="0" err="1">
                  <a:solidFill>
                    <a:srgbClr val="000000"/>
                  </a:solidFill>
                  <a:latin typeface="Muli Bold"/>
                </a:rPr>
                <a:t>trinsskalaen</a:t>
              </a:r>
              <a:r>
                <a:rPr lang="en-US" sz="1233" spc="37" dirty="0">
                  <a:solidFill>
                    <a:srgbClr val="000000"/>
                  </a:solidFill>
                  <a:latin typeface="Muli Bold"/>
                </a:rPr>
                <a:t>.</a:t>
              </a:r>
            </a:p>
          </p:txBody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10559285">
            <a:off x="4785735" y="1285529"/>
            <a:ext cx="3733684" cy="3054833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16262" y="1453319"/>
            <a:ext cx="3472630" cy="2942265"/>
          </a:xfrm>
          <a:prstGeom prst="rect">
            <a:avLst/>
          </a:prstGeom>
        </p:spPr>
      </p:pic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5090337" y="1744468"/>
            <a:ext cx="2944277" cy="2136955"/>
            <a:chOff x="0" y="0"/>
            <a:chExt cx="2899410" cy="2104390"/>
          </a:xfrm>
        </p:grpSpPr>
        <p:sp>
          <p:nvSpPr>
            <p:cNvPr id="10" name="Freeform 10"/>
            <p:cNvSpPr/>
            <p:nvPr/>
          </p:nvSpPr>
          <p:spPr>
            <a:xfrm>
              <a:off x="13970" y="-1270"/>
              <a:ext cx="2903220" cy="2115820"/>
            </a:xfrm>
            <a:custGeom>
              <a:avLst/>
              <a:gdLst/>
              <a:ahLst/>
              <a:cxnLst/>
              <a:rect l="l" t="t" r="r" b="b"/>
              <a:pathLst>
                <a:path w="2903220" h="2115820">
                  <a:moveTo>
                    <a:pt x="2881630" y="800100"/>
                  </a:moveTo>
                  <a:cubicBezTo>
                    <a:pt x="2880360" y="624840"/>
                    <a:pt x="2870200" y="412750"/>
                    <a:pt x="2870200" y="222250"/>
                  </a:cubicBezTo>
                  <a:cubicBezTo>
                    <a:pt x="2870200" y="170180"/>
                    <a:pt x="2868930" y="66040"/>
                    <a:pt x="2862580" y="13970"/>
                  </a:cubicBezTo>
                  <a:cubicBezTo>
                    <a:pt x="2710180" y="13970"/>
                    <a:pt x="2546350" y="1270"/>
                    <a:pt x="2392680" y="1270"/>
                  </a:cubicBezTo>
                  <a:cubicBezTo>
                    <a:pt x="1593850" y="3810"/>
                    <a:pt x="802640" y="0"/>
                    <a:pt x="5080" y="1270"/>
                  </a:cubicBezTo>
                  <a:cubicBezTo>
                    <a:pt x="5080" y="171450"/>
                    <a:pt x="0" y="360680"/>
                    <a:pt x="1270" y="530860"/>
                  </a:cubicBezTo>
                  <a:cubicBezTo>
                    <a:pt x="3810" y="848360"/>
                    <a:pt x="7620" y="1167130"/>
                    <a:pt x="7620" y="1484630"/>
                  </a:cubicBezTo>
                  <a:cubicBezTo>
                    <a:pt x="7620" y="1638300"/>
                    <a:pt x="6350" y="1790700"/>
                    <a:pt x="13970" y="1944370"/>
                  </a:cubicBezTo>
                  <a:cubicBezTo>
                    <a:pt x="16510" y="1993900"/>
                    <a:pt x="19050" y="2042160"/>
                    <a:pt x="24130" y="2091690"/>
                  </a:cubicBezTo>
                  <a:cubicBezTo>
                    <a:pt x="191770" y="2094230"/>
                    <a:pt x="358140" y="2098040"/>
                    <a:pt x="525780" y="2103120"/>
                  </a:cubicBezTo>
                  <a:cubicBezTo>
                    <a:pt x="971550" y="2115820"/>
                    <a:pt x="1404620" y="2095500"/>
                    <a:pt x="1864360" y="2104390"/>
                  </a:cubicBezTo>
                  <a:cubicBezTo>
                    <a:pt x="2211070" y="2110740"/>
                    <a:pt x="2551430" y="2091690"/>
                    <a:pt x="2898140" y="2091690"/>
                  </a:cubicBezTo>
                  <a:cubicBezTo>
                    <a:pt x="2898140" y="2075180"/>
                    <a:pt x="2899410" y="1978660"/>
                    <a:pt x="2900680" y="1962150"/>
                  </a:cubicBezTo>
                  <a:cubicBezTo>
                    <a:pt x="2903220" y="1863090"/>
                    <a:pt x="2889250" y="1677670"/>
                    <a:pt x="2890520" y="1578610"/>
                  </a:cubicBezTo>
                  <a:cubicBezTo>
                    <a:pt x="2896870" y="1170940"/>
                    <a:pt x="2884170" y="1151890"/>
                    <a:pt x="2881630" y="800100"/>
                  </a:cubicBezTo>
                  <a:close/>
                </a:path>
              </a:pathLst>
            </a:custGeom>
            <a:blipFill>
              <a:blip r:embed="rId5"/>
              <a:stretch>
                <a:fillRect l="-3943" t="-12" r="-4997" b="-83"/>
              </a:stretch>
            </a:blipFill>
          </p:spPr>
          <p:txBody>
            <a:bodyPr/>
            <a:lstStyle/>
            <a:p>
              <a:endParaRPr lang="en-DK" sz="675"/>
            </a:p>
          </p:txBody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5252589">
            <a:off x="8389148" y="1329342"/>
            <a:ext cx="258286" cy="247954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-6383107">
            <a:off x="4709526" y="4343955"/>
            <a:ext cx="256823" cy="24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42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4649" y="973195"/>
            <a:ext cx="4832085" cy="3117435"/>
            <a:chOff x="-1" y="200864"/>
            <a:chExt cx="12885560" cy="8313157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 rot="244331">
              <a:off x="57047" y="200864"/>
              <a:ext cx="5721425" cy="1810051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-1" y="288008"/>
              <a:ext cx="12885560" cy="13542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GB" sz="3300" dirty="0">
                  <a:latin typeface="Amatic SC" pitchFamily="2" charset="-79"/>
                  <a:cs typeface="Amatic SC" pitchFamily="2" charset="-79"/>
                </a:rPr>
                <a:t>  </a:t>
              </a:r>
              <a:r>
                <a:rPr lang="en-GB" sz="3300" dirty="0" err="1">
                  <a:latin typeface="Amatic SC" pitchFamily="2" charset="-79"/>
                  <a:cs typeface="Amatic SC" pitchFamily="2" charset="-79"/>
                </a:rPr>
                <a:t>Undervisnings</a:t>
              </a:r>
              <a:r>
                <a:rPr lang="en-GB" sz="3300" dirty="0">
                  <a:latin typeface="Amatic SC" pitchFamily="2" charset="-79"/>
                  <a:cs typeface="Amatic SC" pitchFamily="2" charset="-79"/>
                </a:rPr>
                <a:t>-   </a:t>
              </a:r>
              <a:r>
                <a:rPr lang="en-GB" sz="3300" dirty="0" err="1">
                  <a:latin typeface="Amatic SC" pitchFamily="2" charset="-79"/>
                  <a:cs typeface="Amatic SC" pitchFamily="2" charset="-79"/>
                </a:rPr>
                <a:t>arbejdsformer</a:t>
              </a:r>
              <a:r>
                <a:rPr lang="en-GB" sz="3300" dirty="0">
                  <a:latin typeface="Amatic SC" pitchFamily="2" charset="-79"/>
                  <a:cs typeface="Amatic SC" pitchFamily="2" charset="-79"/>
                </a:rPr>
                <a:t> 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9391" y="5586726"/>
              <a:ext cx="9212147" cy="29272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8"/>
                </a:lnSpc>
                <a:spcBef>
                  <a:spcPct val="0"/>
                </a:spcBef>
              </a:pPr>
              <a:endParaRPr sz="1200" dirty="0"/>
            </a:p>
            <a:p>
              <a:r>
                <a:rPr lang="en-US" sz="1200" dirty="0">
                  <a:solidFill>
                    <a:srgbClr val="000000"/>
                  </a:solidFill>
                  <a:latin typeface="Muli Regular"/>
                </a:rPr>
                <a:t> </a:t>
              </a:r>
              <a:br>
                <a:rPr lang="en-GB" sz="1200" dirty="0">
                  <a:latin typeface="Calibri" panose="020F0502020204030204" pitchFamily="34" charset="0"/>
                </a:rPr>
              </a:br>
              <a:endParaRPr lang="en-GB" sz="1200" dirty="0">
                <a:latin typeface="Calibri" panose="020F0502020204030204" pitchFamily="34" charset="0"/>
              </a:endParaRPr>
            </a:p>
            <a:p>
              <a:r>
                <a:rPr lang="en-GB" sz="1200" dirty="0" err="1">
                  <a:latin typeface="Calibri" panose="020F0502020204030204" pitchFamily="34" charset="0"/>
                </a:rPr>
                <a:t>forskellige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arbejdsformer</a:t>
              </a:r>
              <a:r>
                <a:rPr lang="en-GB" sz="1200" dirty="0">
                  <a:latin typeface="Calibri" panose="020F0502020204030204" pitchFamily="34" charset="0"/>
                </a:rPr>
                <a:t>, </a:t>
              </a:r>
              <a:r>
                <a:rPr lang="en-GB" sz="1200" dirty="0" err="1">
                  <a:latin typeface="Calibri" panose="020F0502020204030204" pitchFamily="34" charset="0"/>
                </a:rPr>
                <a:t>fx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holdundervisning</a:t>
              </a:r>
              <a:r>
                <a:rPr lang="en-GB" sz="1200" dirty="0">
                  <a:latin typeface="Calibri" panose="020F0502020204030204" pitchFamily="34" charset="0"/>
                </a:rPr>
                <a:t>, </a:t>
              </a:r>
              <a:r>
                <a:rPr lang="en-GB" sz="1200" dirty="0" err="1">
                  <a:latin typeface="Calibri" panose="020F0502020204030204" pitchFamily="34" charset="0"/>
                </a:rPr>
                <a:t>oplæg</a:t>
              </a:r>
              <a:r>
                <a:rPr lang="en-GB" sz="1200" dirty="0">
                  <a:latin typeface="Calibri" panose="020F0502020204030204" pitchFamily="34" charset="0"/>
                </a:rPr>
                <a:t>,  </a:t>
              </a:r>
              <a:r>
                <a:rPr lang="en-GB" sz="1200" dirty="0" err="1">
                  <a:latin typeface="Calibri" panose="020F0502020204030204" pitchFamily="34" charset="0"/>
                </a:rPr>
                <a:t>casearbejde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samt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praktiske</a:t>
              </a:r>
              <a:r>
                <a:rPr lang="en-GB" sz="1200" dirty="0">
                  <a:latin typeface="Calibri" panose="020F0502020204030204" pitchFamily="34" charset="0"/>
                </a:rPr>
                <a:t> </a:t>
              </a:r>
              <a:r>
                <a:rPr lang="en-GB" sz="1200" dirty="0" err="1">
                  <a:latin typeface="Calibri" panose="020F0502020204030204" pitchFamily="34" charset="0"/>
                </a:rPr>
                <a:t>øvelser</a:t>
              </a:r>
              <a:r>
                <a:rPr lang="en-GB" sz="1200" dirty="0">
                  <a:latin typeface="Calibri" panose="020F0502020204030204" pitchFamily="34" charset="0"/>
                </a:rPr>
                <a:t>. </a:t>
              </a:r>
            </a:p>
            <a:p>
              <a:pPr algn="ctr">
                <a:lnSpc>
                  <a:spcPts val="1438"/>
                </a:lnSpc>
                <a:spcBef>
                  <a:spcPct val="0"/>
                </a:spcBef>
              </a:pPr>
              <a:endParaRPr lang="en-US" sz="1200" dirty="0">
                <a:solidFill>
                  <a:srgbClr val="000000"/>
                </a:solidFill>
                <a:latin typeface="Muli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9391" y="2576378"/>
              <a:ext cx="8642755" cy="17100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6"/>
                </a:lnSpc>
              </a:pPr>
              <a:r>
                <a:rPr lang="en-US" sz="1233" spc="37" dirty="0">
                  <a:solidFill>
                    <a:srgbClr val="000000"/>
                  </a:solidFill>
                  <a:latin typeface="Muli Bold"/>
                </a:rPr>
                <a:t> </a:t>
              </a:r>
              <a:r>
                <a:rPr lang="en-GB" sz="1233" spc="37" dirty="0" err="1">
                  <a:solidFill>
                    <a:srgbClr val="000000"/>
                  </a:solidFill>
                  <a:latin typeface="Muli Bold"/>
                </a:rPr>
                <a:t>udvikle</a:t>
              </a:r>
              <a:r>
                <a:rPr lang="en-GB" sz="1233" spc="37" dirty="0">
                  <a:solidFill>
                    <a:srgbClr val="000000"/>
                  </a:solidFill>
                  <a:latin typeface="Muli Bold"/>
                </a:rPr>
                <a:t> </a:t>
              </a:r>
              <a:r>
                <a:rPr lang="en-GB" sz="1233" spc="37" dirty="0" err="1">
                  <a:solidFill>
                    <a:srgbClr val="000000"/>
                  </a:solidFill>
                  <a:latin typeface="Muli Bold"/>
                </a:rPr>
                <a:t>viden</a:t>
              </a:r>
              <a:r>
                <a:rPr lang="en-GB" sz="1233" spc="37" dirty="0">
                  <a:solidFill>
                    <a:srgbClr val="000000"/>
                  </a:solidFill>
                  <a:latin typeface="Muli Bold"/>
                </a:rPr>
                <a:t>, </a:t>
              </a:r>
              <a:r>
                <a:rPr lang="en-GB" sz="1233" spc="37" dirty="0" err="1">
                  <a:solidFill>
                    <a:srgbClr val="000000"/>
                  </a:solidFill>
                  <a:latin typeface="Muli Bold"/>
                </a:rPr>
                <a:t>færdigheder</a:t>
              </a:r>
              <a:r>
                <a:rPr lang="en-GB" sz="1233" spc="37" dirty="0">
                  <a:solidFill>
                    <a:srgbClr val="000000"/>
                  </a:solidFill>
                  <a:latin typeface="Muli Bold"/>
                </a:rPr>
                <a:t> </a:t>
              </a:r>
              <a:r>
                <a:rPr lang="en-GB" sz="1233" spc="37" dirty="0" err="1">
                  <a:solidFill>
                    <a:srgbClr val="000000"/>
                  </a:solidFill>
                  <a:latin typeface="Muli Bold"/>
                </a:rPr>
                <a:t>og</a:t>
              </a:r>
              <a:r>
                <a:rPr lang="en-GB" sz="1233" spc="37" dirty="0">
                  <a:solidFill>
                    <a:srgbClr val="000000"/>
                  </a:solidFill>
                  <a:latin typeface="Muli Bold"/>
                </a:rPr>
                <a:t> </a:t>
              </a:r>
              <a:r>
                <a:rPr lang="en-GB" sz="1233" spc="37" dirty="0" err="1">
                  <a:solidFill>
                    <a:srgbClr val="000000"/>
                  </a:solidFill>
                  <a:latin typeface="Muli Bold"/>
                </a:rPr>
                <a:t>kompetencer</a:t>
              </a:r>
              <a:r>
                <a:rPr lang="en-GB" sz="1233" spc="37" dirty="0">
                  <a:solidFill>
                    <a:srgbClr val="000000"/>
                  </a:solidFill>
                  <a:latin typeface="Muli Bold"/>
                </a:rPr>
                <a:t> </a:t>
              </a:r>
              <a:r>
                <a:rPr lang="en-GB" sz="1233" spc="37" dirty="0" err="1">
                  <a:solidFill>
                    <a:srgbClr val="000000"/>
                  </a:solidFill>
                  <a:latin typeface="Muli Bold"/>
                </a:rPr>
                <a:t>i</a:t>
              </a:r>
              <a:r>
                <a:rPr lang="en-GB" sz="1233" spc="37" dirty="0">
                  <a:solidFill>
                    <a:srgbClr val="000000"/>
                  </a:solidFill>
                  <a:latin typeface="Muli Bold"/>
                </a:rPr>
                <a:t> </a:t>
              </a:r>
              <a:r>
                <a:rPr lang="en-GB" sz="1233" spc="37" dirty="0" err="1">
                  <a:solidFill>
                    <a:srgbClr val="000000"/>
                  </a:solidFill>
                  <a:latin typeface="Muli Bold"/>
                </a:rPr>
                <a:t>samspillet</a:t>
              </a:r>
              <a:r>
                <a:rPr lang="en-GB" sz="1233" spc="37" dirty="0">
                  <a:solidFill>
                    <a:srgbClr val="000000"/>
                  </a:solidFill>
                  <a:latin typeface="Muli Bold"/>
                </a:rPr>
                <a:t> </a:t>
              </a:r>
              <a:r>
                <a:rPr lang="en-GB" sz="1233" spc="37" dirty="0" err="1">
                  <a:solidFill>
                    <a:srgbClr val="000000"/>
                  </a:solidFill>
                  <a:latin typeface="Muli Bold"/>
                </a:rPr>
                <a:t>mellem</a:t>
              </a:r>
              <a:r>
                <a:rPr lang="en-GB" sz="1233" spc="37" dirty="0">
                  <a:solidFill>
                    <a:srgbClr val="000000"/>
                  </a:solidFill>
                  <a:latin typeface="Muli Bold"/>
                </a:rPr>
                <a:t> </a:t>
              </a:r>
              <a:r>
                <a:rPr lang="en-GB" sz="1233" spc="37" dirty="0" err="1">
                  <a:solidFill>
                    <a:srgbClr val="000000"/>
                  </a:solidFill>
                  <a:latin typeface="Muli Bold"/>
                </a:rPr>
                <a:t>udviklingsviden</a:t>
              </a:r>
              <a:r>
                <a:rPr lang="en-GB" sz="1233" spc="37" dirty="0">
                  <a:solidFill>
                    <a:srgbClr val="000000"/>
                  </a:solidFill>
                  <a:latin typeface="Muli Bold"/>
                </a:rPr>
                <a:t>, </a:t>
              </a:r>
              <a:r>
                <a:rPr lang="en-GB" sz="1233" spc="37" dirty="0" err="1">
                  <a:solidFill>
                    <a:srgbClr val="000000"/>
                  </a:solidFill>
                  <a:latin typeface="Muli Bold"/>
                </a:rPr>
                <a:t>forskningsviden</a:t>
              </a:r>
              <a:r>
                <a:rPr lang="en-GB" sz="1233" spc="37" dirty="0">
                  <a:solidFill>
                    <a:srgbClr val="000000"/>
                  </a:solidFill>
                  <a:latin typeface="Muli Bold"/>
                </a:rPr>
                <a:t> </a:t>
              </a:r>
              <a:r>
                <a:rPr lang="en-GB" sz="1233" spc="37" dirty="0" err="1">
                  <a:solidFill>
                    <a:srgbClr val="000000"/>
                  </a:solidFill>
                  <a:latin typeface="Muli Bold"/>
                </a:rPr>
                <a:t>og</a:t>
              </a:r>
              <a:r>
                <a:rPr lang="en-GB" sz="1233" spc="37" dirty="0">
                  <a:solidFill>
                    <a:srgbClr val="000000"/>
                  </a:solidFill>
                  <a:latin typeface="Muli Bold"/>
                </a:rPr>
                <a:t> </a:t>
              </a:r>
              <a:r>
                <a:rPr lang="en-GB" sz="1233" spc="37" dirty="0" err="1">
                  <a:solidFill>
                    <a:srgbClr val="000000"/>
                  </a:solidFill>
                  <a:latin typeface="Muli Bold"/>
                </a:rPr>
                <a:t>praksisviden</a:t>
              </a:r>
              <a:r>
                <a:rPr lang="en-GB" sz="1233" spc="37" dirty="0">
                  <a:solidFill>
                    <a:srgbClr val="000000"/>
                  </a:solidFill>
                  <a:latin typeface="Muli Bold"/>
                </a:rPr>
                <a:t> </a:t>
              </a:r>
            </a:p>
          </p:txBody>
        </p:sp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10559285">
            <a:off x="4785735" y="1285529"/>
            <a:ext cx="3733684" cy="3054833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16262" y="1453319"/>
            <a:ext cx="3472630" cy="2942265"/>
          </a:xfrm>
          <a:prstGeom prst="rect">
            <a:avLst/>
          </a:prstGeom>
        </p:spPr>
      </p:pic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5090337" y="1744468"/>
            <a:ext cx="2944277" cy="2136955"/>
            <a:chOff x="0" y="0"/>
            <a:chExt cx="2899410" cy="2104390"/>
          </a:xfrm>
        </p:grpSpPr>
        <p:sp>
          <p:nvSpPr>
            <p:cNvPr id="10" name="Freeform 10"/>
            <p:cNvSpPr/>
            <p:nvPr/>
          </p:nvSpPr>
          <p:spPr>
            <a:xfrm>
              <a:off x="13970" y="-1270"/>
              <a:ext cx="2903220" cy="2115820"/>
            </a:xfrm>
            <a:custGeom>
              <a:avLst/>
              <a:gdLst/>
              <a:ahLst/>
              <a:cxnLst/>
              <a:rect l="l" t="t" r="r" b="b"/>
              <a:pathLst>
                <a:path w="2903220" h="2115820">
                  <a:moveTo>
                    <a:pt x="2881630" y="800100"/>
                  </a:moveTo>
                  <a:cubicBezTo>
                    <a:pt x="2880360" y="624840"/>
                    <a:pt x="2870200" y="412750"/>
                    <a:pt x="2870200" y="222250"/>
                  </a:cubicBezTo>
                  <a:cubicBezTo>
                    <a:pt x="2870200" y="170180"/>
                    <a:pt x="2868930" y="66040"/>
                    <a:pt x="2862580" y="13970"/>
                  </a:cubicBezTo>
                  <a:cubicBezTo>
                    <a:pt x="2710180" y="13970"/>
                    <a:pt x="2546350" y="1270"/>
                    <a:pt x="2392680" y="1270"/>
                  </a:cubicBezTo>
                  <a:cubicBezTo>
                    <a:pt x="1593850" y="3810"/>
                    <a:pt x="802640" y="0"/>
                    <a:pt x="5080" y="1270"/>
                  </a:cubicBezTo>
                  <a:cubicBezTo>
                    <a:pt x="5080" y="171450"/>
                    <a:pt x="0" y="360680"/>
                    <a:pt x="1270" y="530860"/>
                  </a:cubicBezTo>
                  <a:cubicBezTo>
                    <a:pt x="3810" y="848360"/>
                    <a:pt x="7620" y="1167130"/>
                    <a:pt x="7620" y="1484630"/>
                  </a:cubicBezTo>
                  <a:cubicBezTo>
                    <a:pt x="7620" y="1638300"/>
                    <a:pt x="6350" y="1790700"/>
                    <a:pt x="13970" y="1944370"/>
                  </a:cubicBezTo>
                  <a:cubicBezTo>
                    <a:pt x="16510" y="1993900"/>
                    <a:pt x="19050" y="2042160"/>
                    <a:pt x="24130" y="2091690"/>
                  </a:cubicBezTo>
                  <a:cubicBezTo>
                    <a:pt x="191770" y="2094230"/>
                    <a:pt x="358140" y="2098040"/>
                    <a:pt x="525780" y="2103120"/>
                  </a:cubicBezTo>
                  <a:cubicBezTo>
                    <a:pt x="971550" y="2115820"/>
                    <a:pt x="1404620" y="2095500"/>
                    <a:pt x="1864360" y="2104390"/>
                  </a:cubicBezTo>
                  <a:cubicBezTo>
                    <a:pt x="2211070" y="2110740"/>
                    <a:pt x="2551430" y="2091690"/>
                    <a:pt x="2898140" y="2091690"/>
                  </a:cubicBezTo>
                  <a:cubicBezTo>
                    <a:pt x="2898140" y="2075180"/>
                    <a:pt x="2899410" y="1978660"/>
                    <a:pt x="2900680" y="1962150"/>
                  </a:cubicBezTo>
                  <a:cubicBezTo>
                    <a:pt x="2903220" y="1863090"/>
                    <a:pt x="2889250" y="1677670"/>
                    <a:pt x="2890520" y="1578610"/>
                  </a:cubicBezTo>
                  <a:cubicBezTo>
                    <a:pt x="2896870" y="1170940"/>
                    <a:pt x="2884170" y="1151890"/>
                    <a:pt x="2881630" y="800100"/>
                  </a:cubicBezTo>
                  <a:close/>
                </a:path>
              </a:pathLst>
            </a:custGeom>
            <a:blipFill>
              <a:blip r:embed="rId5"/>
              <a:stretch>
                <a:fillRect l="-3943" t="-12" r="-4997" b="-83"/>
              </a:stretch>
            </a:blipFill>
          </p:spPr>
          <p:txBody>
            <a:bodyPr/>
            <a:lstStyle/>
            <a:p>
              <a:endParaRPr lang="en-DK" sz="675"/>
            </a:p>
          </p:txBody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5252589">
            <a:off x="8389148" y="1329342"/>
            <a:ext cx="258286" cy="247954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-6383107">
            <a:off x="4709526" y="4343955"/>
            <a:ext cx="256823" cy="2465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E089D50F-3E85-757D-3987-BB72CCC3337D}"/>
              </a:ext>
            </a:extLst>
          </p:cNvPr>
          <p:cNvSpPr txBox="1"/>
          <p:nvPr/>
        </p:nvSpPr>
        <p:spPr>
          <a:xfrm>
            <a:off x="4794437" y="661988"/>
            <a:ext cx="3311136" cy="1287192"/>
          </a:xfrm>
          <a:prstGeom prst="rect">
            <a:avLst/>
          </a:prstGeom>
        </p:spPr>
        <p:txBody>
          <a:bodyPr vert="horz" lIns="45720" tIns="22860" rIns="45720" bIns="2286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sz="4200" dirty="0">
                <a:latin typeface="+mj-lt"/>
                <a:ea typeface="+mj-ea"/>
                <a:cs typeface="+mj-cs"/>
              </a:rPr>
              <a:t>Design del pensum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5245B7-AD73-006F-02A2-BF6CEF1BD351}"/>
              </a:ext>
            </a:extLst>
          </p:cNvPr>
          <p:cNvSpPr txBox="1"/>
          <p:nvPr/>
        </p:nvSpPr>
        <p:spPr>
          <a:xfrm>
            <a:off x="4794437" y="2270192"/>
            <a:ext cx="3326041" cy="2782820"/>
          </a:xfrm>
          <a:prstGeom prst="rect">
            <a:avLst/>
          </a:prstGeom>
        </p:spPr>
        <p:txBody>
          <a:bodyPr vert="horz" lIns="45720" tIns="22860" rIns="45720" bIns="22860" rtlCol="0" anchor="t">
            <a:normAutofit/>
          </a:bodyPr>
          <a:lstStyle/>
          <a:p>
            <a:pPr indent="-114300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500">
                <a:solidFill>
                  <a:schemeClr val="tx1">
                    <a:alpha val="80000"/>
                  </a:schemeClr>
                </a:solidFill>
              </a:rPr>
              <a:t>Benyon, D. (2010). Designing User Experience: A Guide to HCI, UX and Interaction Design. Addison-Wesley </a:t>
            </a:r>
          </a:p>
        </p:txBody>
      </p:sp>
      <p:pic>
        <p:nvPicPr>
          <p:cNvPr id="2" name="Picture 9">
            <a:extLst>
              <a:ext uri="{FF2B5EF4-FFF2-40B4-BE49-F238E27FC236}">
                <a16:creationId xmlns:a16="http://schemas.microsoft.com/office/drawing/2014/main" id="{0444BF8F-DF98-7E09-D8DE-F7F002F35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266" y="483476"/>
            <a:ext cx="2800739" cy="38057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2931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B43A6403-0DE6-9DEA-4D6C-5F3DAA1A72D2}"/>
              </a:ext>
            </a:extLst>
          </p:cNvPr>
          <p:cNvSpPr txBox="1"/>
          <p:nvPr/>
        </p:nvSpPr>
        <p:spPr>
          <a:xfrm>
            <a:off x="3276600" y="1638300"/>
            <a:ext cx="3311136" cy="1287192"/>
          </a:xfrm>
          <a:prstGeom prst="rect">
            <a:avLst/>
          </a:prstGeom>
        </p:spPr>
        <p:txBody>
          <a:bodyPr vert="horz" lIns="45720" tIns="22860" rIns="45720" bIns="2286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sz="4200" dirty="0" err="1">
                <a:latin typeface="+mj-lt"/>
                <a:ea typeface="+mj-ea"/>
                <a:cs typeface="+mj-cs"/>
              </a:rPr>
              <a:t>Udviklings</a:t>
            </a:r>
            <a:r>
              <a:rPr lang="en-US" sz="4200" dirty="0">
                <a:latin typeface="+mj-lt"/>
                <a:ea typeface="+mj-ea"/>
                <a:cs typeface="+mj-cs"/>
              </a:rPr>
              <a:t> del Pensum</a:t>
            </a:r>
          </a:p>
        </p:txBody>
      </p:sp>
    </p:spTree>
    <p:extLst>
      <p:ext uri="{BB962C8B-B14F-4D97-AF65-F5344CB8AC3E}">
        <p14:creationId xmlns:p14="http://schemas.microsoft.com/office/powerpoint/2010/main" val="1332229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2938E-8C79-1794-CD44-CBFBEE4F0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br>
              <a:rPr lang="en-GB" dirty="0">
                <a:effectLst/>
                <a:latin typeface="Helvetica" pitchFamily="2" charset="0"/>
              </a:rPr>
            </a:br>
            <a:r>
              <a:rPr lang="en-GB" b="1" dirty="0">
                <a:effectLst/>
                <a:latin typeface="Helvetica" pitchFamily="2" charset="0"/>
              </a:rPr>
              <a:t>HTML 5-viden</a:t>
            </a:r>
            <a:br>
              <a:rPr lang="en-GB" dirty="0">
                <a:effectLst/>
                <a:latin typeface="Helvetica" pitchFamily="2" charset="0"/>
              </a:rPr>
            </a:b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11D33-356C-8BF0-D916-74697BDE6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0" i="0" dirty="0" err="1">
                <a:effectLst/>
                <a:latin typeface="Söhne"/>
              </a:rPr>
              <a:t>Lær</a:t>
            </a:r>
            <a:r>
              <a:rPr lang="en-GB" b="0" i="0" dirty="0">
                <a:effectLst/>
                <a:latin typeface="Söhne"/>
              </a:rPr>
              <a:t>  HTML-</a:t>
            </a:r>
            <a:r>
              <a:rPr lang="en-GB" b="0" i="0" dirty="0" err="1">
                <a:effectLst/>
                <a:latin typeface="Söhne"/>
              </a:rPr>
              <a:t>syntaksen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til</a:t>
            </a:r>
            <a:r>
              <a:rPr lang="en-GB" b="0" i="0" dirty="0">
                <a:effectLst/>
                <a:latin typeface="Söhne"/>
              </a:rPr>
              <a:t> at </a:t>
            </a:r>
            <a:r>
              <a:rPr lang="en-GB" b="0" i="0" dirty="0" err="1">
                <a:effectLst/>
                <a:latin typeface="Söhne"/>
              </a:rPr>
              <a:t>strukturere</a:t>
            </a:r>
            <a:r>
              <a:rPr lang="en-GB" b="0" i="0" dirty="0">
                <a:effectLst/>
                <a:latin typeface="Söhne"/>
              </a:rPr>
              <a:t> dine </a:t>
            </a:r>
            <a:r>
              <a:rPr lang="en-GB" b="0" i="0" dirty="0" err="1">
                <a:effectLst/>
                <a:latin typeface="Söhne"/>
              </a:rPr>
              <a:t>hjemmesider</a:t>
            </a:r>
            <a:r>
              <a:rPr lang="en-GB" b="0" i="0" dirty="0">
                <a:effectLst/>
                <a:latin typeface="Söhne"/>
              </a:rPr>
              <a:t>. </a:t>
            </a:r>
          </a:p>
          <a:p>
            <a:r>
              <a:rPr lang="en-GB" b="0" i="0" dirty="0" err="1">
                <a:effectLst/>
                <a:latin typeface="Söhne"/>
              </a:rPr>
              <a:t>Forstå</a:t>
            </a:r>
            <a:r>
              <a:rPr lang="en-GB" b="0" i="0" dirty="0">
                <a:effectLst/>
                <a:latin typeface="Söhne"/>
              </a:rPr>
              <a:t> HTML-</a:t>
            </a:r>
            <a:r>
              <a:rPr lang="en-GB" b="0" i="0" dirty="0" err="1">
                <a:effectLst/>
                <a:latin typeface="Söhne"/>
              </a:rPr>
              <a:t>skabelonen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og</a:t>
            </a:r>
            <a:r>
              <a:rPr lang="en-GB" b="0" i="0" dirty="0">
                <a:effectLst/>
                <a:latin typeface="Söhne"/>
              </a:rPr>
              <a:t> HTML-</a:t>
            </a:r>
            <a:r>
              <a:rPr lang="en-GB" b="0" i="0" dirty="0" err="1">
                <a:effectLst/>
                <a:latin typeface="Söhne"/>
              </a:rPr>
              <a:t>dokumenttyperne</a:t>
            </a:r>
            <a:r>
              <a:rPr lang="en-GB" b="0" i="0" dirty="0">
                <a:effectLst/>
                <a:latin typeface="Söhne"/>
              </a:rPr>
              <a:t>. </a:t>
            </a:r>
          </a:p>
          <a:p>
            <a:r>
              <a:rPr lang="en-GB" b="0" i="0" dirty="0" err="1">
                <a:effectLst/>
                <a:latin typeface="Söhne"/>
              </a:rPr>
              <a:t>Lær</a:t>
            </a:r>
            <a:r>
              <a:rPr lang="en-GB" b="0" i="0" dirty="0">
                <a:effectLst/>
                <a:latin typeface="Söhne"/>
              </a:rPr>
              <a:t> at </a:t>
            </a:r>
            <a:r>
              <a:rPr lang="en-GB" b="0" i="0" dirty="0" err="1">
                <a:effectLst/>
                <a:latin typeface="Söhne"/>
              </a:rPr>
              <a:t>bruge</a:t>
            </a:r>
            <a:r>
              <a:rPr lang="en-GB" b="0" i="0" dirty="0">
                <a:effectLst/>
                <a:latin typeface="Söhne"/>
              </a:rPr>
              <a:t> HTML-tags </a:t>
            </a:r>
            <a:r>
              <a:rPr lang="en-GB" b="0" i="0" dirty="0" err="1">
                <a:effectLst/>
                <a:latin typeface="Söhne"/>
              </a:rPr>
              <a:t>til</a:t>
            </a:r>
            <a:r>
              <a:rPr lang="en-GB" b="0" i="0" dirty="0">
                <a:effectLst/>
                <a:latin typeface="Söhne"/>
              </a:rPr>
              <a:t> at </a:t>
            </a:r>
            <a:r>
              <a:rPr lang="en-GB" b="0" i="0" dirty="0" err="1">
                <a:effectLst/>
                <a:latin typeface="Söhne"/>
              </a:rPr>
              <a:t>strukturere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overskrifter</a:t>
            </a:r>
            <a:r>
              <a:rPr lang="en-GB" b="0" i="0" dirty="0">
                <a:effectLst/>
                <a:latin typeface="Söhne"/>
              </a:rPr>
              <a:t>, </a:t>
            </a:r>
            <a:r>
              <a:rPr lang="en-GB" b="0" i="0" dirty="0" err="1">
                <a:effectLst/>
                <a:latin typeface="Söhne"/>
              </a:rPr>
              <a:t>afsnit</a:t>
            </a:r>
            <a:r>
              <a:rPr lang="en-GB" b="0" i="0" dirty="0">
                <a:effectLst/>
                <a:latin typeface="Söhne"/>
              </a:rPr>
              <a:t>. </a:t>
            </a:r>
          </a:p>
          <a:p>
            <a:r>
              <a:rPr lang="en-GB" b="0" i="0" dirty="0" err="1">
                <a:effectLst/>
                <a:latin typeface="Söhne"/>
              </a:rPr>
              <a:t>Skab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flersidede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hjemmesider</a:t>
            </a:r>
            <a:r>
              <a:rPr lang="en-GB" b="0" i="0" dirty="0">
                <a:effectLst/>
                <a:latin typeface="Söhne"/>
              </a:rPr>
              <a:t>. </a:t>
            </a:r>
          </a:p>
          <a:p>
            <a:r>
              <a:rPr lang="en-GB" b="0" i="0" dirty="0" err="1">
                <a:effectLst/>
                <a:latin typeface="Söhne"/>
              </a:rPr>
              <a:t>Lær</a:t>
            </a:r>
            <a:r>
              <a:rPr lang="en-GB" b="0" i="0" dirty="0">
                <a:effectLst/>
                <a:latin typeface="Söhne"/>
              </a:rPr>
              <a:t> HTML Accessibility </a:t>
            </a:r>
            <a:r>
              <a:rPr lang="en-GB" b="0" i="0" dirty="0" err="1">
                <a:effectLst/>
                <a:latin typeface="Söhne"/>
              </a:rPr>
              <a:t>bedste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praksis</a:t>
            </a:r>
            <a:r>
              <a:rPr lang="en-GB" b="0" i="0" dirty="0">
                <a:effectLst/>
                <a:latin typeface="Söhne"/>
              </a:rPr>
              <a:t>.</a:t>
            </a:r>
          </a:p>
          <a:p>
            <a:r>
              <a:rPr lang="en-GB" dirty="0" err="1">
                <a:latin typeface="Söhne"/>
              </a:rPr>
              <a:t>Lære</a:t>
            </a:r>
            <a:r>
              <a:rPr lang="en-GB" dirty="0">
                <a:latin typeface="Söhne"/>
              </a:rPr>
              <a:t> </a:t>
            </a:r>
            <a:r>
              <a:rPr lang="en-GB" b="0" i="0" dirty="0">
                <a:effectLst/>
                <a:latin typeface="Söhne"/>
              </a:rPr>
              <a:t>HTML-</a:t>
            </a:r>
            <a:r>
              <a:rPr lang="en-GB" b="0" i="0" dirty="0" err="1">
                <a:effectLst/>
                <a:latin typeface="Söhne"/>
              </a:rPr>
              <a:t>validering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5FD02-B3D5-266B-5D06-BA9347CCE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E04F1-3131-AF0D-DDA8-2418379F8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852E9-BB20-4BA6-4F99-2AD2DE58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977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BD149-D0BA-CA9A-13EE-08F8121A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CSS viden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ABC1D-F81F-C651-E5C9-FFB3B50B1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0" i="0" dirty="0" err="1">
                <a:effectLst/>
                <a:latin typeface="Söhne"/>
              </a:rPr>
              <a:t>Lær</a:t>
            </a:r>
            <a:r>
              <a:rPr lang="en-GB" b="0" i="0" dirty="0">
                <a:effectLst/>
                <a:latin typeface="Söhne"/>
              </a:rPr>
              <a:t> at </a:t>
            </a:r>
            <a:r>
              <a:rPr lang="en-GB" b="0" i="0" dirty="0" err="1">
                <a:effectLst/>
                <a:latin typeface="Söhne"/>
              </a:rPr>
              <a:t>bruge</a:t>
            </a:r>
            <a:r>
              <a:rPr lang="en-GB" b="0" i="0" dirty="0">
                <a:effectLst/>
                <a:latin typeface="Söhne"/>
              </a:rPr>
              <a:t> inline, intern </a:t>
            </a:r>
            <a:r>
              <a:rPr lang="en-GB" b="0" i="0" dirty="0" err="1">
                <a:effectLst/>
                <a:latin typeface="Söhne"/>
              </a:rPr>
              <a:t>og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ekstern</a:t>
            </a:r>
            <a:r>
              <a:rPr lang="en-GB" b="0" i="0" dirty="0">
                <a:effectLst/>
                <a:latin typeface="Söhne"/>
              </a:rPr>
              <a:t> CSS.</a:t>
            </a:r>
          </a:p>
          <a:p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Forstå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bedste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praksis</a:t>
            </a:r>
            <a:r>
              <a:rPr lang="en-GB" b="0" i="0" dirty="0">
                <a:effectLst/>
                <a:latin typeface="Söhne"/>
              </a:rPr>
              <a:t> for CSS-</a:t>
            </a:r>
            <a:r>
              <a:rPr lang="en-GB" b="0" i="0" dirty="0" err="1">
                <a:effectLst/>
                <a:latin typeface="Söhne"/>
              </a:rPr>
              <a:t>kodning</a:t>
            </a:r>
            <a:r>
              <a:rPr lang="en-GB" b="0" i="0" dirty="0">
                <a:effectLst/>
                <a:latin typeface="Söhne"/>
              </a:rPr>
              <a:t>.</a:t>
            </a:r>
          </a:p>
          <a:p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Lær</a:t>
            </a:r>
            <a:r>
              <a:rPr lang="en-GB" b="0" i="0" dirty="0">
                <a:effectLst/>
                <a:latin typeface="Söhne"/>
              </a:rPr>
              <a:t> om CSS-</a:t>
            </a:r>
            <a:r>
              <a:rPr lang="en-GB" b="0" i="0" dirty="0" err="1">
                <a:effectLst/>
                <a:latin typeface="Söhne"/>
              </a:rPr>
              <a:t>specificitet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og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nedarvning</a:t>
            </a:r>
            <a:r>
              <a:rPr lang="en-GB" b="0" i="0" dirty="0">
                <a:effectLst/>
                <a:latin typeface="Söhne"/>
              </a:rPr>
              <a:t>.</a:t>
            </a:r>
          </a:p>
          <a:p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Lær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og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forstå</a:t>
            </a:r>
            <a:r>
              <a:rPr lang="en-GB" b="0" i="0" dirty="0">
                <a:effectLst/>
                <a:latin typeface="Söhne"/>
              </a:rPr>
              <a:t> CSS-box model.</a:t>
            </a:r>
          </a:p>
          <a:p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Lær</a:t>
            </a:r>
            <a:r>
              <a:rPr lang="en-GB" b="0" i="0" dirty="0">
                <a:effectLst/>
                <a:latin typeface="Söhne"/>
              </a:rPr>
              <a:t> at </a:t>
            </a:r>
            <a:r>
              <a:rPr lang="en-GB" b="0" i="0" dirty="0" err="1">
                <a:effectLst/>
                <a:latin typeface="Söhne"/>
              </a:rPr>
              <a:t>bruge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udviklerværktøjer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til</a:t>
            </a:r>
            <a:r>
              <a:rPr lang="en-GB" b="0" i="0" dirty="0">
                <a:effectLst/>
                <a:latin typeface="Söhne"/>
              </a:rPr>
              <a:t> at </a:t>
            </a:r>
            <a:r>
              <a:rPr lang="en-GB" b="0" i="0" dirty="0" err="1">
                <a:effectLst/>
                <a:latin typeface="Söhne"/>
              </a:rPr>
              <a:t>inspicere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og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diagnosticere</a:t>
            </a:r>
            <a:r>
              <a:rPr lang="en-GB" b="0" i="0" dirty="0">
                <a:effectLst/>
                <a:latin typeface="Söhne"/>
              </a:rPr>
              <a:t> CSS. </a:t>
            </a:r>
            <a:r>
              <a:rPr lang="en-GB" b="0" i="0" dirty="0" err="1">
                <a:effectLst/>
                <a:latin typeface="Söhne"/>
              </a:rPr>
              <a:t>Lær</a:t>
            </a:r>
            <a:r>
              <a:rPr lang="en-GB" b="0" i="0" dirty="0">
                <a:effectLst/>
                <a:latin typeface="Söhne"/>
              </a:rPr>
              <a:t> om CSS-</a:t>
            </a:r>
            <a:r>
              <a:rPr lang="en-GB" b="0" i="0" dirty="0" err="1">
                <a:effectLst/>
                <a:latin typeface="Söhne"/>
              </a:rPr>
              <a:t>positionering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og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displayegenskaber</a:t>
            </a:r>
            <a:r>
              <a:rPr lang="en-GB" b="0" i="0" dirty="0">
                <a:effectLst/>
                <a:latin typeface="Söhne"/>
              </a:rPr>
              <a:t>. </a:t>
            </a:r>
          </a:p>
          <a:p>
            <a:r>
              <a:rPr lang="en-GB" b="0" i="0" dirty="0" err="1">
                <a:effectLst/>
                <a:latin typeface="Söhne"/>
              </a:rPr>
              <a:t>Lær</a:t>
            </a:r>
            <a:r>
              <a:rPr lang="en-GB" b="0" i="0" dirty="0">
                <a:effectLst/>
                <a:latin typeface="Söhne"/>
              </a:rPr>
              <a:t> om </a:t>
            </a:r>
            <a:r>
              <a:rPr lang="en-GB" b="0" i="0" dirty="0" err="1">
                <a:effectLst/>
                <a:latin typeface="Söhne"/>
              </a:rPr>
              <a:t>skrifttypetilpasning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ved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hjælp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af</a:t>
            </a:r>
            <a:r>
              <a:rPr lang="en-GB" b="0" i="0" dirty="0">
                <a:effectLst/>
                <a:latin typeface="Söhne"/>
              </a:rPr>
              <a:t> CSS </a:t>
            </a:r>
            <a:r>
              <a:rPr lang="en-GB" b="0" i="0" dirty="0" err="1">
                <a:effectLst/>
                <a:latin typeface="Söhne"/>
              </a:rPr>
              <a:t>og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websikre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skrifttyper</a:t>
            </a:r>
            <a:r>
              <a:rPr lang="en-GB" b="0" i="0" dirty="0">
                <a:effectLst/>
                <a:latin typeface="Söhne"/>
              </a:rPr>
              <a:t>.</a:t>
            </a:r>
          </a:p>
          <a:p>
            <a:r>
              <a:rPr lang="en-GB" b="0" i="0" dirty="0">
                <a:effectLst/>
                <a:latin typeface="Söhne"/>
              </a:rPr>
              <a:t> Implementer </a:t>
            </a:r>
            <a:r>
              <a:rPr lang="en-GB" b="0" i="0" dirty="0" err="1">
                <a:effectLst/>
                <a:latin typeface="Söhne"/>
              </a:rPr>
              <a:t>responsivitet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ved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hjælp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af</a:t>
            </a:r>
            <a:r>
              <a:rPr lang="en-GB" b="0" i="0" dirty="0">
                <a:effectLst/>
                <a:latin typeface="Söhne"/>
              </a:rPr>
              <a:t> CSS-media query </a:t>
            </a:r>
            <a:r>
              <a:rPr lang="en-GB" b="0" i="0" dirty="0" err="1">
                <a:effectLst/>
                <a:latin typeface="Söhne"/>
              </a:rPr>
              <a:t>og</a:t>
            </a:r>
            <a:r>
              <a:rPr lang="en-GB" b="0" i="0" dirty="0">
                <a:effectLst/>
                <a:latin typeface="Söhne"/>
              </a:rPr>
              <a:t> breakpoints. </a:t>
            </a:r>
          </a:p>
          <a:p>
            <a:r>
              <a:rPr lang="en-GB" b="0" i="0" dirty="0">
                <a:effectLst/>
                <a:latin typeface="Söhne"/>
              </a:rPr>
              <a:t>CSS float- </a:t>
            </a:r>
            <a:r>
              <a:rPr lang="en-GB" b="0" i="0" dirty="0" err="1">
                <a:effectLst/>
                <a:latin typeface="Söhne"/>
              </a:rPr>
              <a:t>og</a:t>
            </a:r>
            <a:r>
              <a:rPr lang="en-GB" b="0" i="0" dirty="0">
                <a:effectLst/>
                <a:latin typeface="Söhne"/>
              </a:rPr>
              <a:t> clear-</a:t>
            </a:r>
            <a:r>
              <a:rPr lang="en-GB" b="0" i="0" dirty="0" err="1">
                <a:effectLst/>
                <a:latin typeface="Söhne"/>
              </a:rPr>
              <a:t>egenskaber</a:t>
            </a:r>
            <a:r>
              <a:rPr lang="en-GB" b="0" i="0" dirty="0">
                <a:effectLst/>
                <a:latin typeface="Söhne"/>
              </a:rPr>
              <a:t>.  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1150C-CCE6-5B6E-2A44-A12CBB5A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3F7D9-DDE6-12F7-3688-2AAB28B0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A5A0A-2368-DDBC-29CA-81B03136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07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BE1CC-2EF4-6790-DB92-B42645235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CSS  RWD viden Flex &amp;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654C5-0285-C1AC-30CB-89910134F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0" i="0" dirty="0" err="1">
                <a:effectLst/>
                <a:latin typeface="Söhne"/>
              </a:rPr>
              <a:t>hvorfor</a:t>
            </a:r>
            <a:r>
              <a:rPr lang="en-GB" b="0" i="0" dirty="0">
                <a:effectLst/>
                <a:latin typeface="Söhne"/>
              </a:rPr>
              <a:t> flexbox </a:t>
            </a:r>
            <a:r>
              <a:rPr lang="en-GB" b="0" i="0" dirty="0" err="1">
                <a:effectLst/>
                <a:latin typeface="Söhne"/>
              </a:rPr>
              <a:t>blev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introduceret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til</a:t>
            </a:r>
            <a:r>
              <a:rPr lang="en-GB" b="0" i="0" dirty="0">
                <a:effectLst/>
                <a:latin typeface="Söhne"/>
              </a:rPr>
              <a:t> CSS.</a:t>
            </a:r>
          </a:p>
          <a:p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Forstå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hvad</a:t>
            </a:r>
            <a:r>
              <a:rPr lang="en-GB" b="0" i="0" dirty="0">
                <a:effectLst/>
                <a:latin typeface="Söhne"/>
              </a:rPr>
              <a:t> der </a:t>
            </a:r>
            <a:r>
              <a:rPr lang="en-GB" b="0" i="0" dirty="0" err="1">
                <a:effectLst/>
                <a:latin typeface="Söhne"/>
              </a:rPr>
              <a:t>sker</a:t>
            </a:r>
            <a:r>
              <a:rPr lang="en-GB" b="0" i="0" dirty="0">
                <a:effectLst/>
                <a:latin typeface="Söhne"/>
              </a:rPr>
              <a:t>, </a:t>
            </a:r>
            <a:r>
              <a:rPr lang="en-GB" b="0" i="0" dirty="0" err="1">
                <a:effectLst/>
                <a:latin typeface="Söhne"/>
              </a:rPr>
              <a:t>når</a:t>
            </a:r>
            <a:r>
              <a:rPr lang="en-GB" b="0" i="0" dirty="0">
                <a:effectLst/>
                <a:latin typeface="Söhne"/>
              </a:rPr>
              <a:t> display er sat </a:t>
            </a:r>
            <a:r>
              <a:rPr lang="en-GB" b="0" i="0" dirty="0" err="1">
                <a:effectLst/>
                <a:latin typeface="Söhne"/>
              </a:rPr>
              <a:t>som</a:t>
            </a:r>
            <a:r>
              <a:rPr lang="en-GB" b="0" i="0" dirty="0">
                <a:effectLst/>
                <a:latin typeface="Söhne"/>
              </a:rPr>
              <a:t> flex. </a:t>
            </a:r>
          </a:p>
          <a:p>
            <a:r>
              <a:rPr lang="en-GB" b="0" i="0" dirty="0" err="1">
                <a:effectLst/>
                <a:latin typeface="Söhne"/>
              </a:rPr>
              <a:t>Forstå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flexretning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og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hvordan</a:t>
            </a:r>
            <a:r>
              <a:rPr lang="en-GB" b="0" i="0" dirty="0">
                <a:effectLst/>
                <a:latin typeface="Söhne"/>
              </a:rPr>
              <a:t> det </a:t>
            </a:r>
            <a:r>
              <a:rPr lang="en-GB" b="0" i="0" dirty="0" err="1">
                <a:effectLst/>
                <a:latin typeface="Söhne"/>
              </a:rPr>
              <a:t>påvirker</a:t>
            </a:r>
            <a:r>
              <a:rPr lang="en-GB" b="0" i="0" dirty="0">
                <a:effectLst/>
                <a:latin typeface="Söhne"/>
              </a:rPr>
              <a:t> layout. </a:t>
            </a:r>
          </a:p>
          <a:p>
            <a:r>
              <a:rPr lang="en-GB" b="0" i="0" dirty="0" err="1">
                <a:effectLst/>
                <a:latin typeface="Söhne"/>
              </a:rPr>
              <a:t>Forstå</a:t>
            </a:r>
            <a:r>
              <a:rPr lang="en-GB" b="0" i="0" dirty="0">
                <a:effectLst/>
                <a:latin typeface="Söhne"/>
              </a:rPr>
              <a:t>  shorthand-</a:t>
            </a:r>
            <a:r>
              <a:rPr lang="en-GB" b="0" i="0" dirty="0" err="1">
                <a:effectLst/>
                <a:latin typeface="Söhne"/>
              </a:rPr>
              <a:t>egenskaben</a:t>
            </a:r>
            <a:r>
              <a:rPr lang="en-GB" b="0" i="0" dirty="0">
                <a:effectLst/>
                <a:latin typeface="Söhne"/>
              </a:rPr>
              <a:t>.</a:t>
            </a:r>
          </a:p>
          <a:p>
            <a:r>
              <a:rPr lang="en-GB" b="0" i="0" dirty="0" err="1">
                <a:effectLst/>
                <a:latin typeface="Söhne"/>
              </a:rPr>
              <a:t>Lær</a:t>
            </a:r>
            <a:r>
              <a:rPr lang="en-GB" b="0" i="0" dirty="0">
                <a:effectLst/>
                <a:latin typeface="Söhne"/>
              </a:rPr>
              <a:t> om, </a:t>
            </a:r>
            <a:r>
              <a:rPr lang="en-GB" b="0" i="0" dirty="0" err="1">
                <a:effectLst/>
                <a:latin typeface="Söhne"/>
              </a:rPr>
              <a:t>hvordan</a:t>
            </a:r>
            <a:r>
              <a:rPr lang="en-GB" b="0" i="0" dirty="0">
                <a:effectLst/>
                <a:latin typeface="Söhne"/>
              </a:rPr>
              <a:t> Grid </a:t>
            </a:r>
            <a:r>
              <a:rPr lang="en-GB" b="0" i="0" dirty="0" err="1">
                <a:effectLst/>
                <a:latin typeface="Söhne"/>
              </a:rPr>
              <a:t>adskiller</a:t>
            </a:r>
            <a:r>
              <a:rPr lang="en-GB" b="0" i="0" dirty="0">
                <a:effectLst/>
                <a:latin typeface="Söhne"/>
              </a:rPr>
              <a:t> sig </a:t>
            </a:r>
            <a:r>
              <a:rPr lang="en-GB" b="0" i="0" dirty="0" err="1">
                <a:effectLst/>
                <a:latin typeface="Söhne"/>
              </a:rPr>
              <a:t>fra</a:t>
            </a:r>
            <a:r>
              <a:rPr lang="en-GB" b="0" i="0" dirty="0">
                <a:effectLst/>
                <a:latin typeface="Söhne"/>
              </a:rPr>
              <a:t> flexbox</a:t>
            </a:r>
          </a:p>
          <a:p>
            <a:r>
              <a:rPr lang="en-GB" b="0" i="0" dirty="0">
                <a:effectLst/>
                <a:latin typeface="Söhne"/>
              </a:rPr>
              <a:t>. </a:t>
            </a:r>
            <a:r>
              <a:rPr lang="en-GB" b="0" i="0" dirty="0" err="1">
                <a:effectLst/>
                <a:latin typeface="Söhne"/>
              </a:rPr>
              <a:t>Forstå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hvad</a:t>
            </a:r>
            <a:r>
              <a:rPr lang="en-GB" b="0" i="0" dirty="0">
                <a:effectLst/>
                <a:latin typeface="Söhne"/>
              </a:rPr>
              <a:t> der </a:t>
            </a:r>
            <a:r>
              <a:rPr lang="en-GB" b="0" i="0" dirty="0" err="1">
                <a:effectLst/>
                <a:latin typeface="Söhne"/>
              </a:rPr>
              <a:t>sker</a:t>
            </a:r>
            <a:r>
              <a:rPr lang="en-GB" b="0" i="0" dirty="0">
                <a:effectLst/>
                <a:latin typeface="Söhne"/>
              </a:rPr>
              <a:t>, </a:t>
            </a:r>
            <a:r>
              <a:rPr lang="en-GB" b="0" i="0" dirty="0" err="1">
                <a:effectLst/>
                <a:latin typeface="Söhne"/>
              </a:rPr>
              <a:t>når</a:t>
            </a:r>
            <a:r>
              <a:rPr lang="en-GB" b="0" i="0" dirty="0">
                <a:effectLst/>
                <a:latin typeface="Söhne"/>
              </a:rPr>
              <a:t> display er sat</a:t>
            </a:r>
          </a:p>
          <a:p>
            <a:r>
              <a:rPr lang="en-GB" b="0" i="0" dirty="0">
                <a:effectLst/>
                <a:latin typeface="Söhne"/>
              </a:rPr>
              <a:t>. </a:t>
            </a:r>
            <a:r>
              <a:rPr lang="en-GB" b="0" i="0" dirty="0" err="1">
                <a:effectLst/>
                <a:latin typeface="Söhne"/>
              </a:rPr>
              <a:t>Lær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hvordan</a:t>
            </a:r>
            <a:r>
              <a:rPr lang="en-GB" b="0" i="0" dirty="0">
                <a:effectLst/>
                <a:latin typeface="Söhne"/>
              </a:rPr>
              <a:t> grid-</a:t>
            </a:r>
            <a:r>
              <a:rPr lang="en-GB" b="0" i="0" dirty="0" err="1">
                <a:effectLst/>
                <a:latin typeface="Söhne"/>
              </a:rPr>
              <a:t>størrelse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håndteres</a:t>
            </a:r>
            <a:r>
              <a:rPr lang="en-GB" b="0" i="0" dirty="0">
                <a:effectLst/>
                <a:latin typeface="Söhne"/>
              </a:rPr>
              <a:t>, </a:t>
            </a:r>
            <a:r>
              <a:rPr lang="en-GB" b="0" i="0" dirty="0" err="1">
                <a:effectLst/>
                <a:latin typeface="Söhne"/>
              </a:rPr>
              <a:t>og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hvordan</a:t>
            </a:r>
            <a:r>
              <a:rPr lang="en-GB" b="0" i="0" dirty="0">
                <a:effectLst/>
                <a:latin typeface="Söhne"/>
              </a:rPr>
              <a:t> man </a:t>
            </a:r>
            <a:r>
              <a:rPr lang="en-GB" b="0" i="0" dirty="0" err="1">
                <a:effectLst/>
                <a:latin typeface="Söhne"/>
              </a:rPr>
              <a:t>opretter</a:t>
            </a:r>
            <a:r>
              <a:rPr lang="en-GB" b="0" i="0" dirty="0">
                <a:effectLst/>
                <a:latin typeface="Söhne"/>
              </a:rPr>
              <a:t> et grid. </a:t>
            </a:r>
          </a:p>
          <a:p>
            <a:r>
              <a:rPr lang="en-GB" b="0" i="0" dirty="0" err="1">
                <a:effectLst/>
                <a:latin typeface="Söhne"/>
              </a:rPr>
              <a:t>Lær</a:t>
            </a:r>
            <a:r>
              <a:rPr lang="en-GB" b="0" i="0" dirty="0">
                <a:effectLst/>
                <a:latin typeface="Söhne"/>
              </a:rPr>
              <a:t> at </a:t>
            </a:r>
            <a:r>
              <a:rPr lang="en-GB" b="0" i="0" dirty="0" err="1">
                <a:effectLst/>
                <a:latin typeface="Söhne"/>
              </a:rPr>
              <a:t>positionere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elementer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i</a:t>
            </a:r>
            <a:r>
              <a:rPr lang="en-GB" b="0" i="0" dirty="0">
                <a:effectLst/>
                <a:latin typeface="Söhne"/>
              </a:rPr>
              <a:t> et grid </a:t>
            </a:r>
            <a:r>
              <a:rPr lang="en-GB" b="0" i="0" dirty="0" err="1">
                <a:effectLst/>
                <a:latin typeface="Söhne"/>
              </a:rPr>
              <a:t>ved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hjælp</a:t>
            </a:r>
            <a:r>
              <a:rPr lang="en-GB" b="0" i="0" dirty="0">
                <a:effectLst/>
                <a:latin typeface="Söhne"/>
              </a:rPr>
              <a:t> </a:t>
            </a:r>
            <a:r>
              <a:rPr lang="en-GB" b="0" i="0" dirty="0" err="1">
                <a:effectLst/>
                <a:latin typeface="Söhne"/>
              </a:rPr>
              <a:t>af</a:t>
            </a:r>
            <a:r>
              <a:rPr lang="en-GB" b="0" i="0" dirty="0">
                <a:effectLst/>
                <a:latin typeface="Söhne"/>
              </a:rPr>
              <a:t> native CSS.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8101C-76F2-A5CB-F18C-7D896FEE1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8E187-5D96-354D-52BD-5AE9A6B80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1BD36-AADE-475C-DB29-DB10215FC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80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C0A77-93D0-8D4E-C438-37656127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K" dirty="0"/>
              <a:t>CMS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E7961-B951-789E-4CB5-607DB4F37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20065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Question mark on green pastel background">
            <a:extLst>
              <a:ext uri="{FF2B5EF4-FFF2-40B4-BE49-F238E27FC236}">
                <a16:creationId xmlns:a16="http://schemas.microsoft.com/office/drawing/2014/main" id="{4900C19A-03A3-C731-A733-F798D4DF6A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21" b="21258"/>
          <a:stretch/>
        </p:blipFill>
        <p:spPr>
          <a:xfrm>
            <a:off x="10" y="280036"/>
            <a:ext cx="9143989" cy="51655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218762-7D41-9C6B-570F-901A542E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271" y="1902141"/>
            <a:ext cx="3120175" cy="2129455"/>
          </a:xfrm>
        </p:spPr>
        <p:txBody>
          <a:bodyPr vert="horz" lIns="45720" tIns="22860" rIns="45720" bIns="2286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377057965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ontor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bcbe136-86d6-431b-bacc-0597dda5436c" xsi:nil="true"/>
    <lcf76f155ced4ddcb4097134ff3c332f xmlns="fb282fe6-addb-4abc-8c7a-866097da16f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7D22F97D05A84EA798DB9FF719ECFD" ma:contentTypeVersion="11" ma:contentTypeDescription="Create a new document." ma:contentTypeScope="" ma:versionID="e611e6b837b0511219dbf88544bbacfe">
  <xsd:schema xmlns:xsd="http://www.w3.org/2001/XMLSchema" xmlns:xs="http://www.w3.org/2001/XMLSchema" xmlns:p="http://schemas.microsoft.com/office/2006/metadata/properties" xmlns:ns2="fb282fe6-addb-4abc-8c7a-866097da16fa" xmlns:ns3="9bcbe136-86d6-431b-bacc-0597dda5436c" targetNamespace="http://schemas.microsoft.com/office/2006/metadata/properties" ma:root="true" ma:fieldsID="53af9d73e439efd83706539b7d85d429" ns2:_="" ns3:_="">
    <xsd:import namespace="fb282fe6-addb-4abc-8c7a-866097da16fa"/>
    <xsd:import namespace="9bcbe136-86d6-431b-bacc-0597dda543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282fe6-addb-4abc-8c7a-866097da1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ad5c13d8-c446-4f20-8680-8f99546cc05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cbe136-86d6-431b-bacc-0597dda5436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a97c979-971d-4a1b-b3bf-8217a717c8f6}" ma:internalName="TaxCatchAll" ma:showField="CatchAllData" ma:web="9bcbe136-86d6-431b-bacc-0597dda543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670D82-03D5-45F4-9F8C-7CE643A312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FCA724-EDED-4200-B139-4C4D36D2EFFD}">
  <ds:schemaRefs>
    <ds:schemaRef ds:uri="http://schemas.microsoft.com/office/2006/metadata/properties"/>
    <ds:schemaRef ds:uri="http://schemas.microsoft.com/office/infopath/2007/PartnerControls"/>
    <ds:schemaRef ds:uri="9bcbe136-86d6-431b-bacc-0597dda5436c"/>
    <ds:schemaRef ds:uri="fb282fe6-addb-4abc-8c7a-866097da16fa"/>
  </ds:schemaRefs>
</ds:datastoreItem>
</file>

<file path=customXml/itemProps3.xml><?xml version="1.0" encoding="utf-8"?>
<ds:datastoreItem xmlns:ds="http://schemas.openxmlformats.org/officeDocument/2006/customXml" ds:itemID="{84C199F7-6139-45AB-AB7E-3686E6CB30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282fe6-addb-4abc-8c7a-866097da16fa"/>
    <ds:schemaRef ds:uri="9bcbe136-86d6-431b-bacc-0597dda543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30307</TotalTime>
  <Words>1098</Words>
  <Application>Microsoft Macintosh PowerPoint</Application>
  <PresentationFormat>On-screen Show (16:10)</PresentationFormat>
  <Paragraphs>162</Paragraphs>
  <Slides>30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6" baseType="lpstr">
      <vt:lpstr>Amatic SC Bold</vt:lpstr>
      <vt:lpstr>Muli Bold</vt:lpstr>
      <vt:lpstr>Muli Regular</vt:lpstr>
      <vt:lpstr>Söhne</vt:lpstr>
      <vt:lpstr>Amatic SC</vt:lpstr>
      <vt:lpstr>Aptos</vt:lpstr>
      <vt:lpstr>Aptos Display</vt:lpstr>
      <vt:lpstr>Arial</vt:lpstr>
      <vt:lpstr>Calibri</vt:lpstr>
      <vt:lpstr>Calibri Light</vt:lpstr>
      <vt:lpstr>Futura</vt:lpstr>
      <vt:lpstr>Futura Medium</vt:lpstr>
      <vt:lpstr>Garamond</vt:lpstr>
      <vt:lpstr>Helvetica</vt:lpstr>
      <vt:lpstr>Kontortema</vt:lpstr>
      <vt:lpstr>Office-tema</vt:lpstr>
      <vt:lpstr>PowerPoint Presentation</vt:lpstr>
      <vt:lpstr>PowerPoint Presentation</vt:lpstr>
      <vt:lpstr>Der er tit begrebsforvirring om:  UX, UI &amp; Usability </vt:lpstr>
      <vt:lpstr>PowerPoint Presentation</vt:lpstr>
      <vt:lpstr>PowerPoint Presentation</vt:lpstr>
      <vt:lpstr>PowerPoint Presentation</vt:lpstr>
      <vt:lpstr>UX – det store brede begreb</vt:lpstr>
      <vt:lpstr>Øvelse i grupper</vt:lpstr>
      <vt:lpstr>PowerPoint Presentation</vt:lpstr>
      <vt:lpstr>UI projekt</vt:lpstr>
      <vt:lpstr>Om UX design</vt:lpstr>
      <vt:lpstr>PowerPoint Presentation</vt:lpstr>
      <vt:lpstr>Hvorfor er UX/UI vigtigt for DMU</vt:lpstr>
      <vt:lpstr>Vigtigt! Arbejdet med UX er brugercentreret</vt:lpstr>
      <vt:lpstr>PowerPoint Presentation</vt:lpstr>
      <vt:lpstr>PowerPoint Presentation</vt:lpstr>
      <vt:lpstr>PowerPoint Presentation</vt:lpstr>
      <vt:lpstr>Project UI- Torino Pizza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HTML 5-viden </vt:lpstr>
      <vt:lpstr>CSS viden</vt:lpstr>
      <vt:lpstr>CSS  RWD viden Flex &amp; Grid</vt:lpstr>
      <vt:lpstr>CMS system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Microsoft Office-bruger</dc:creator>
  <cp:lastModifiedBy>Xiaolei Bi</cp:lastModifiedBy>
  <cp:revision>884</cp:revision>
  <cp:lastPrinted>2020-09-10T12:31:37Z</cp:lastPrinted>
  <dcterms:created xsi:type="dcterms:W3CDTF">2017-08-22T08:26:37Z</dcterms:created>
  <dcterms:modified xsi:type="dcterms:W3CDTF">2026-10-08T11:08:35Z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0x010100F37D22F97D05A84EA798DB9FF719ECFD</vt:lpwstr>
  </property>
</Properties>
</file>