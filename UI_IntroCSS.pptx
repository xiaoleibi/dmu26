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6"/>
  </p:notesMasterIdLst>
  <p:sldIdLst>
    <p:sldId id="256" r:id="rId5"/>
    <p:sldId id="258" r:id="rId6"/>
    <p:sldId id="259" r:id="rId7"/>
    <p:sldId id="260" r:id="rId8"/>
    <p:sldId id="267" r:id="rId9"/>
    <p:sldId id="268" r:id="rId10"/>
    <p:sldId id="269" r:id="rId11"/>
    <p:sldId id="270" r:id="rId12"/>
    <p:sldId id="261" r:id="rId13"/>
    <p:sldId id="262" r:id="rId14"/>
    <p:sldId id="263" r:id="rId15"/>
    <p:sldId id="264" r:id="rId16"/>
    <p:sldId id="265" r:id="rId17"/>
    <p:sldId id="266" r:id="rId18"/>
    <p:sldId id="272" r:id="rId19"/>
    <p:sldId id="281" r:id="rId20"/>
    <p:sldId id="282" r:id="rId21"/>
    <p:sldId id="283" r:id="rId22"/>
    <p:sldId id="284" r:id="rId23"/>
    <p:sldId id="285" r:id="rId24"/>
    <p:sldId id="287" r:id="rId2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7"/>
  </p:normalViewPr>
  <p:slideViewPr>
    <p:cSldViewPr snapToGrid="0">
      <p:cViewPr varScale="1">
        <p:scale>
          <a:sx n="72" d="100"/>
          <a:sy n="72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" name="Shape 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ART I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# CHAPTER TITLE"/>
          <p:cNvSpPr txBox="1">
            <a:spLocks noGrp="1"/>
          </p:cNvSpPr>
          <p:nvPr>
            <p:ph type="body" sz="half" idx="21"/>
          </p:nvPr>
        </p:nvSpPr>
        <p:spPr>
          <a:xfrm>
            <a:off x="519633" y="2527300"/>
            <a:ext cx="11965534" cy="3302000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42D0D0"/>
                </a:solidFill>
              </a:rPr>
              <a:t>#</a:t>
            </a:r>
            <a:br>
              <a:rPr sz="4000"/>
            </a:br>
            <a:r>
              <a:rPr sz="6000"/>
              <a:t>CHAPTER TITLE</a:t>
            </a:r>
          </a:p>
        </p:txBody>
      </p:sp>
      <p:pic>
        <p:nvPicPr>
          <p:cNvPr id="19" name="partIII_header.png" descr="partIII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004801" cy="16764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, cent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4000"/>
            </a:lvl1pPr>
            <a:lvl2pPr marL="0" indent="228600" algn="ctr">
              <a:buSzTx/>
              <a:buNone/>
              <a:defRPr sz="4000"/>
            </a:lvl2pPr>
            <a:lvl3pPr marL="0" indent="457200" algn="ctr">
              <a:buSzTx/>
              <a:buNone/>
              <a:defRPr sz="4000"/>
            </a:lvl3pPr>
            <a:lvl4pPr marL="0" indent="685800" algn="ctr">
              <a:buSzTx/>
              <a:buNone/>
              <a:defRPr sz="4000"/>
            </a:lvl4pPr>
            <a:lvl5pPr marL="0" indent="914400" algn="ctr">
              <a:buSzTx/>
              <a:buNone/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OVERVIEW"/>
          <p:cNvSpPr txBox="1"/>
          <p:nvPr/>
        </p:nvSpPr>
        <p:spPr>
          <a:xfrm>
            <a:off x="952500" y="5334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defRPr sz="48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OVERVIEW</a:t>
            </a:r>
          </a:p>
        </p:txBody>
      </p:sp>
      <p:sp>
        <p:nvSpPr>
          <p:cNvPr id="5" name="Line"/>
          <p:cNvSpPr/>
          <p:nvPr/>
        </p:nvSpPr>
        <p:spPr>
          <a:xfrm>
            <a:off x="1197470" y="207476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" name="Line"/>
          <p:cNvSpPr/>
          <p:nvPr/>
        </p:nvSpPr>
        <p:spPr>
          <a:xfrm>
            <a:off x="1197470" y="114632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9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ransition spd="med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11 INTRODUCING CS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lang="da-DK" sz="9000" b="1" dirty="0">
                <a:solidFill>
                  <a:srgbClr val="3D71B8"/>
                </a:solidFill>
              </a:rPr>
              <a:t> </a:t>
            </a:r>
            <a:br>
              <a:rPr sz="4000" dirty="0"/>
            </a:br>
            <a:r>
              <a:rPr sz="6000" dirty="0">
                <a:latin typeface="+mn-lt"/>
                <a:ea typeface="+mn-ea"/>
                <a:cs typeface="+mn-cs"/>
                <a:sym typeface="Helvetica Light"/>
              </a:rPr>
              <a:t>INTRODUCING CSS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he Benefits of C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Benefits of CSS</a:t>
            </a:r>
          </a:p>
        </p:txBody>
      </p:sp>
      <p:sp>
        <p:nvSpPr>
          <p:cNvPr id="94" name="Precise type and layout control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4907062"/>
          </a:xfrm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t>Precise type and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layout control</a:t>
            </a:r>
          </a:p>
          <a:p>
            <a:pPr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Less work:</a:t>
            </a:r>
            <a:r>
              <a:t> Change look of the whole site with one edit</a:t>
            </a:r>
          </a:p>
          <a:p>
            <a:pPr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Accessibility:</a:t>
            </a:r>
            <a:r>
              <a:t> Markup stays semantic</a:t>
            </a:r>
          </a:p>
          <a:p>
            <a:pPr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Flexibility:</a:t>
            </a:r>
            <a:r>
              <a:t> The same HTML markup can be made to appear in  dramatically different ways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tyle Separate from 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Style Separate from Structure</a:t>
            </a:r>
          </a:p>
        </p:txBody>
      </p:sp>
      <p:sp>
        <p:nvSpPr>
          <p:cNvPr id="97" name="These pages have the exact same HTML source but different style sheets:"/>
          <p:cNvSpPr txBox="1">
            <a:spLocks noGrp="1"/>
          </p:cNvSpPr>
          <p:nvPr>
            <p:ph type="body" sz="quarter" idx="1"/>
          </p:nvPr>
        </p:nvSpPr>
        <p:spPr>
          <a:xfrm>
            <a:off x="952500" y="2292350"/>
            <a:ext cx="11099800" cy="1208704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t>These pages have the exact same HTML source but different style sheets:</a:t>
            </a:r>
          </a:p>
        </p:txBody>
      </p:sp>
      <p:grpSp>
        <p:nvGrpSpPr>
          <p:cNvPr id="101" name="Group"/>
          <p:cNvGrpSpPr/>
          <p:nvPr/>
        </p:nvGrpSpPr>
        <p:grpSpPr>
          <a:xfrm>
            <a:off x="738980" y="4181030"/>
            <a:ext cx="11526840" cy="3594989"/>
            <a:chOff x="0" y="0"/>
            <a:chExt cx="11526838" cy="3594987"/>
          </a:xfrm>
        </p:grpSpPr>
        <p:pic>
          <p:nvPicPr>
            <p:cNvPr id="98" name="lwd5_1101_dragen.jpg" descr="lwd5_1101_dragen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1760" y="0"/>
              <a:ext cx="3594989" cy="35949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" name="lwd5_1101_organica.jpg" descr="lwd5_1101_organica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3594988" cy="35949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" name="lwd5_1101_shaolin.jpg" descr="lwd5_1101_shaolin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5192" y="11671"/>
              <a:ext cx="3571647" cy="3571646"/>
            </a:xfrm>
            <a:prstGeom prst="rect">
              <a:avLst/>
            </a:prstGeom>
            <a:ln w="25400" cap="flat">
              <a:solidFill>
                <a:srgbClr val="F3F7F5"/>
              </a:solidFill>
              <a:prstDash val="solid"/>
              <a:miter lim="400000"/>
            </a:ln>
            <a:effectLst>
              <a:outerShdw blurRad="50800" dist="25400" dir="3600000" rotWithShape="0">
                <a:srgbClr val="000000">
                  <a:alpha val="70000"/>
                </a:srgbClr>
              </a:outerShdw>
            </a:effectLst>
          </p:spPr>
        </p:pic>
      </p:grpSp>
      <p:sp>
        <p:nvSpPr>
          <p:cNvPr id="102" name="(csszengarden.com)"/>
          <p:cNvSpPr txBox="1"/>
          <p:nvPr/>
        </p:nvSpPr>
        <p:spPr>
          <a:xfrm>
            <a:off x="5080800" y="8113096"/>
            <a:ext cx="293735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spcBef>
                <a:spcPts val="4200"/>
              </a:spcBef>
              <a:defRPr sz="2400">
                <a:solidFill>
                  <a:srgbClr val="53585F"/>
                </a:solidFill>
              </a:defRPr>
            </a:pPr>
            <a:r>
              <a:t>(</a:t>
            </a:r>
            <a:r>
              <a:rPr>
                <a:solidFill>
                  <a:schemeClr val="accent1"/>
                </a:solidFill>
              </a:rPr>
              <a:t>csszengarden.com</a:t>
            </a:r>
            <a:r>
              <a:t>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How Style Sheets Work"/>
          <p:cNvSpPr txBox="1">
            <a:spLocks noGrp="1"/>
          </p:cNvSpPr>
          <p:nvPr>
            <p:ph type="title"/>
          </p:nvPr>
        </p:nvSpPr>
        <p:spPr>
          <a:xfrm>
            <a:off x="952500" y="0"/>
            <a:ext cx="11099800" cy="2159000"/>
          </a:xfrm>
          <a:prstGeom prst="rect">
            <a:avLst/>
          </a:prstGeom>
        </p:spPr>
        <p:txBody>
          <a:bodyPr/>
          <a:lstStyle/>
          <a:p>
            <a:r>
              <a:rPr lang="en-AU" noProof="0" dirty="0"/>
              <a:t>CSS rendering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9E7BF-B036-4D45-3475-420827EBA630}"/>
              </a:ext>
            </a:extLst>
          </p:cNvPr>
          <p:cNvSpPr txBox="1"/>
          <p:nvPr/>
        </p:nvSpPr>
        <p:spPr>
          <a:xfrm>
            <a:off x="3948954" y="1966041"/>
            <a:ext cx="4190999" cy="95102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DK" dirty="0"/>
              <a:t>HTML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DOM (Document Object Model)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CSS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 </a:t>
            </a:r>
          </a:p>
          <a:p>
            <a:r>
              <a:rPr lang="en-DK" dirty="0"/>
              <a:t>Style calculation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Layout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Paint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Compositing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Pixels on screen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Adding Styles to the Docu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Adding Styles to the Document</a:t>
            </a:r>
          </a:p>
        </p:txBody>
      </p:sp>
      <p:sp>
        <p:nvSpPr>
          <p:cNvPr id="127" name="There are three ways to attach a style sheet to a documen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49148">
              <a:spcBef>
                <a:spcPts val="3900"/>
              </a:spcBef>
              <a:buSzTx/>
              <a:buNone/>
              <a:defRPr sz="2820"/>
            </a:pPr>
            <a:r>
              <a:t>There are three ways to attach a style sheet to a document:</a:t>
            </a:r>
          </a:p>
          <a:p>
            <a:pPr marL="0" indent="0" defTabSz="549148">
              <a:spcBef>
                <a:spcPts val="3900"/>
              </a:spcBef>
              <a:buSzTx/>
              <a:buNone/>
              <a:defRPr sz="2820" b="1">
                <a:latin typeface="+mj-lt"/>
                <a:ea typeface="+mj-ea"/>
                <a:cs typeface="+mj-cs"/>
                <a:sym typeface="Helvetica"/>
              </a:defRPr>
            </a:pPr>
            <a:r>
              <a:t>External style sheets</a:t>
            </a:r>
          </a:p>
          <a:p>
            <a:pPr marL="0" indent="0" defTabSz="549148">
              <a:spcBef>
                <a:spcPts val="500"/>
              </a:spcBef>
              <a:buSzTx/>
              <a:buNone/>
              <a:defRPr sz="2820"/>
            </a:pPr>
            <a:r>
              <a:t>A separate, text-only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.css</a:t>
            </a:r>
            <a:r>
              <a:t> file associated with the document with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link</a:t>
            </a:r>
            <a:r>
              <a:t> element or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@import</a:t>
            </a:r>
            <a:r>
              <a:t> rule</a:t>
            </a:r>
          </a:p>
          <a:p>
            <a:pPr marL="0" indent="0" defTabSz="549148">
              <a:spcBef>
                <a:spcPts val="3900"/>
              </a:spcBef>
              <a:buSzTx/>
              <a:buNone/>
              <a:defRPr sz="2820" b="1">
                <a:latin typeface="+mj-lt"/>
                <a:ea typeface="+mj-ea"/>
                <a:cs typeface="+mj-cs"/>
                <a:sym typeface="Helvetica"/>
              </a:defRPr>
            </a:pPr>
            <a:r>
              <a:t>Embedded style sheets</a:t>
            </a:r>
          </a:p>
          <a:p>
            <a:pPr marL="0" indent="0" defTabSz="549148">
              <a:spcBef>
                <a:spcPts val="500"/>
              </a:spcBef>
              <a:buSzTx/>
              <a:buNone/>
              <a:defRPr sz="2820"/>
            </a:pPr>
            <a:r>
              <a:t>Styles are listed in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head</a:t>
            </a:r>
            <a:r>
              <a:t> of the HTML document in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element.</a:t>
            </a:r>
          </a:p>
          <a:p>
            <a:pPr marL="0" indent="0" defTabSz="549148">
              <a:spcBef>
                <a:spcPts val="3900"/>
              </a:spcBef>
              <a:buSzTx/>
              <a:buNone/>
              <a:defRPr sz="2820" b="1">
                <a:latin typeface="+mj-lt"/>
                <a:ea typeface="+mj-ea"/>
                <a:cs typeface="+mj-cs"/>
                <a:sym typeface="Helvetica"/>
              </a:defRPr>
            </a:pPr>
            <a:r>
              <a:t>Inline styles</a:t>
            </a:r>
          </a:p>
          <a:p>
            <a:pPr marL="0" indent="0" defTabSz="549148">
              <a:spcBef>
                <a:spcPts val="500"/>
              </a:spcBef>
              <a:buSzTx/>
              <a:buNone/>
              <a:defRPr sz="2820"/>
            </a:pPr>
            <a:r>
              <a:t>Properties and values are added to an individual element with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attribute.</a:t>
            </a:r>
          </a:p>
        </p:txBody>
      </p:sp>
    </p:spTree>
    <p:extLst>
      <p:ext uri="{BB962C8B-B14F-4D97-AF65-F5344CB8AC3E}">
        <p14:creationId xmlns:p14="http://schemas.microsoft.com/office/powerpoint/2010/main" val="419551098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External Style Shee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External Style Sheets</a:t>
            </a:r>
          </a:p>
        </p:txBody>
      </p:sp>
      <p:sp>
        <p:nvSpPr>
          <p:cNvPr id="130" name="The style rules are saved in a separate text-only .css file and attached via link or @import."/>
          <p:cNvSpPr txBox="1">
            <a:spLocks noGrp="1"/>
          </p:cNvSpPr>
          <p:nvPr>
            <p:ph type="body" sz="quarter" idx="1"/>
          </p:nvPr>
        </p:nvSpPr>
        <p:spPr>
          <a:xfrm>
            <a:off x="952500" y="2078685"/>
            <a:ext cx="11099800" cy="105504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000"/>
            </a:pPr>
            <a:r>
              <a:rPr dirty="0"/>
              <a:t>The style rules are saved in a separate text-only </a:t>
            </a:r>
            <a:r>
              <a:rPr i="1" dirty="0">
                <a:latin typeface="+mj-lt"/>
                <a:ea typeface="+mj-ea"/>
                <a:cs typeface="+mj-cs"/>
                <a:sym typeface="Helvetica"/>
              </a:rPr>
              <a:t>.</a:t>
            </a:r>
            <a:r>
              <a:rPr i="1" dirty="0" err="1">
                <a:latin typeface="+mj-lt"/>
                <a:ea typeface="+mj-ea"/>
                <a:cs typeface="+mj-cs"/>
                <a:sym typeface="Helvetica"/>
              </a:rPr>
              <a:t>css</a:t>
            </a:r>
            <a:r>
              <a:rPr dirty="0"/>
              <a:t> file and attached via </a:t>
            </a:r>
            <a:r>
              <a:rPr b="1" dirty="0">
                <a:latin typeface="Courier"/>
                <a:ea typeface="Courier"/>
                <a:cs typeface="Courier"/>
                <a:sym typeface="Courier"/>
              </a:rPr>
              <a:t>link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31" name="Via link element in HTML:…"/>
          <p:cNvSpPr txBox="1"/>
          <p:nvPr/>
        </p:nvSpPr>
        <p:spPr>
          <a:xfrm>
            <a:off x="2222525" y="3400533"/>
            <a:ext cx="8953761" cy="2038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Via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link</a:t>
            </a:r>
            <a:r>
              <a:t> element in HTML:</a:t>
            </a:r>
          </a:p>
          <a:p>
            <a:pPr algn="l">
              <a:spcBef>
                <a:spcPts val="1200"/>
              </a:spcBef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&lt;head&gt;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&lt;title&gt;Titles are require&lt;/title&gt;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&lt;link rel="stylesheet"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 href="/path/example.css"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&gt;</a:t>
            </a:r>
            <a:endParaRPr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48176635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Embedded Style Shee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Embedded Style Sheets</a:t>
            </a:r>
          </a:p>
        </p:txBody>
      </p:sp>
      <p:sp>
        <p:nvSpPr>
          <p:cNvPr id="135" name="Embedded style sheets are placed in the head of the document via the style element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4781253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rPr dirty="0"/>
              <a:t>Embedded style sheets are placed in the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head</a:t>
            </a:r>
            <a:r>
              <a:rPr dirty="0"/>
              <a:t> of the document via the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rPr dirty="0"/>
              <a:t> element:</a:t>
            </a:r>
          </a:p>
          <a:p>
            <a:pPr marL="0" lvl="3" indent="685800"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&lt;head&gt;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&lt;title&gt;Titles are required&lt;/title&gt;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</a:t>
            </a:r>
            <a:r>
              <a:rPr b="1" dirty="0"/>
              <a:t> </a:t>
            </a: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&lt;style&gt;</a:t>
            </a:r>
            <a:endParaRPr dirty="0"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/* style rules go here */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</a:t>
            </a:r>
            <a:r>
              <a:rPr b="1" dirty="0"/>
              <a:t>&lt;/style&gt;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61071496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Inline Sty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Inline Styles</a:t>
            </a:r>
          </a:p>
        </p:txBody>
      </p:sp>
      <p:sp>
        <p:nvSpPr>
          <p:cNvPr id="138" name="Apply a style declaration to a single element with the style attribute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4998145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Apply a style declaration to a single element with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attribute</a:t>
            </a:r>
            <a:r>
              <a:t>:</a:t>
            </a:r>
          </a:p>
          <a:p>
            <a:pPr marL="0" indent="0"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&lt;p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style=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"font-size: large;"</a:t>
            </a:r>
            <a:r>
              <a:t>&gt;Paragraph text...&lt;/p&gt;</a:t>
            </a:r>
          </a:p>
          <a:p>
            <a:pPr marL="0" indent="0">
              <a:spcBef>
                <a:spcPts val="7200"/>
              </a:spcBef>
              <a:buSzTx/>
              <a:buNone/>
              <a:defRPr sz="3000"/>
            </a:pPr>
            <a:r>
              <a:t>To add multiple properties, separate them with semicolons:</a:t>
            </a:r>
          </a:p>
          <a:p>
            <a:pPr marL="0" indent="0">
              <a:buSzTx/>
              <a:buNone/>
              <a:defRPr sz="2600">
                <a:latin typeface="Courier"/>
                <a:ea typeface="Courier"/>
                <a:cs typeface="Courier"/>
                <a:sym typeface="Courier"/>
              </a:defRPr>
            </a:pPr>
            <a:r>
              <a:t>&lt;</a:t>
            </a:r>
            <a:r>
              <a:rPr sz="2700"/>
              <a:t>h3 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style="</a:t>
            </a:r>
            <a:r>
              <a:rPr sz="27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color: red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;</a:t>
            </a:r>
            <a:r>
              <a:rPr sz="27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 margin-top: 30px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;</a:t>
            </a:r>
            <a:r>
              <a:rPr sz="27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"</a:t>
            </a:r>
            <a:r>
              <a:rPr sz="2700"/>
              <a:t>&gt;Intro&lt;/h3&gt;</a:t>
            </a:r>
          </a:p>
        </p:txBody>
      </p:sp>
    </p:spTree>
    <p:extLst>
      <p:ext uri="{BB962C8B-B14F-4D97-AF65-F5344CB8AC3E}">
        <p14:creationId xmlns:p14="http://schemas.microsoft.com/office/powerpoint/2010/main" val="147275443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tyle Ru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Style Rules</a:t>
            </a:r>
          </a:p>
        </p:txBody>
      </p:sp>
      <p:sp>
        <p:nvSpPr>
          <p:cNvPr id="108" name="Each rule selects an element and declares how it should display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Each rule </a:t>
            </a:r>
            <a:r>
              <a:rPr i="1" dirty="0"/>
              <a:t>selects</a:t>
            </a:r>
            <a:r>
              <a:rPr dirty="0"/>
              <a:t> an element and </a:t>
            </a:r>
            <a:r>
              <a:rPr i="1" dirty="0"/>
              <a:t>declares</a:t>
            </a:r>
            <a:r>
              <a:rPr dirty="0"/>
              <a:t> how it should display.</a:t>
            </a:r>
          </a:p>
          <a:p>
            <a:pPr marL="0" indent="0">
              <a:buSzTx/>
              <a:buNone/>
              <a:def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h1 { color: green; }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dirty="0"/>
              <a:t>This rule selects all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h1</a:t>
            </a:r>
            <a:r>
              <a:rPr dirty="0"/>
              <a:t> elements and declares that they should be green.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tyle Rule 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Style Rule Structure</a:t>
            </a:r>
          </a:p>
        </p:txBody>
      </p:sp>
      <p:pic>
        <p:nvPicPr>
          <p:cNvPr id="111" name="lwd5_1103_stylerule.png" descr="lwd5_1103_style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4584700"/>
            <a:ext cx="10160000" cy="330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A style rule is made up of a selector a declaration.…"/>
          <p:cNvSpPr txBox="1"/>
          <p:nvPr/>
        </p:nvSpPr>
        <p:spPr>
          <a:xfrm>
            <a:off x="864051" y="2817415"/>
            <a:ext cx="10664778" cy="1320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814916" lvl="1" indent="-370416" algn="l">
              <a:spcBef>
                <a:spcPts val="42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A style rule is made up of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selector</a:t>
            </a:r>
            <a:r>
              <a:t>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declaration</a:t>
            </a:r>
            <a:r>
              <a:t>.</a:t>
            </a:r>
          </a:p>
          <a:p>
            <a:pPr marL="814916" lvl="1" indent="-370416" algn="l">
              <a:spcBef>
                <a:spcPts val="24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The declaration is one or more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property /</a:t>
            </a:r>
            <a:r>
              <a:t>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value</a:t>
            </a:r>
            <a:r>
              <a:t> pairs.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el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Selectors</a:t>
            </a:r>
          </a:p>
        </p:txBody>
      </p:sp>
      <p:sp>
        <p:nvSpPr>
          <p:cNvPr id="115" name="There are many types of selectors. Here are just two examples:…"/>
          <p:cNvSpPr txBox="1">
            <a:spLocks noGrp="1"/>
          </p:cNvSpPr>
          <p:nvPr>
            <p:ph type="body" idx="1"/>
          </p:nvPr>
        </p:nvSpPr>
        <p:spPr>
          <a:xfrm>
            <a:off x="952500" y="2616200"/>
            <a:ext cx="11099800" cy="5418485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There are many types of selectors. Here are just two examples:</a:t>
            </a:r>
          </a:p>
          <a:p>
            <a:pPr marL="0" indent="0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p</a:t>
            </a:r>
            <a:r>
              <a:t> {property: value;}</a:t>
            </a:r>
          </a:p>
          <a:p>
            <a:pPr marL="0" indent="0">
              <a:spcBef>
                <a:spcPts val="1200"/>
              </a:spcBef>
              <a:buSzTx/>
              <a:buNone/>
              <a:defRPr sz="3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Element type selector:</a:t>
            </a:r>
            <a:r>
              <a:t> Selects all elements of this type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t>) in the document.</a:t>
            </a:r>
          </a:p>
          <a:p>
            <a:pPr marL="0" indent="0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#intro</a:t>
            </a:r>
            <a:r>
              <a:t> {property: value}</a:t>
            </a:r>
          </a:p>
          <a:p>
            <a:pPr marL="0" indent="0">
              <a:spcBef>
                <a:spcPts val="1200"/>
              </a:spcBef>
              <a:buSzTx/>
              <a:buNone/>
              <a:defRPr sz="3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ID selector</a:t>
            </a:r>
            <a:r>
              <a:t> (indicated by the # symbol) selects by ID value. In the example, an element with an id of “intro” would be selected.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Declar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Declarations</a:t>
            </a:r>
          </a:p>
        </p:txBody>
      </p:sp>
      <p:sp>
        <p:nvSpPr>
          <p:cNvPr id="118" name="The declaration is made up of a property/value pair contained in curly brackets { }: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rPr dirty="0"/>
              <a:t>The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declaration</a:t>
            </a:r>
            <a:r>
              <a:rPr dirty="0"/>
              <a:t> is made up of a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property/value pair</a:t>
            </a:r>
            <a:r>
              <a:rPr dirty="0"/>
              <a:t> contained in curly brackets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{ }</a:t>
            </a:r>
            <a:r>
              <a:rPr dirty="0"/>
              <a:t>:</a:t>
            </a:r>
          </a:p>
          <a:p>
            <a:pPr marL="0" indent="0" algn="ctr"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i="1" dirty="0"/>
              <a:t>selector</a:t>
            </a:r>
            <a:r>
              <a:rPr dirty="0"/>
              <a:t> { </a:t>
            </a:r>
            <a:r>
              <a:rPr b="1" i="1" dirty="0">
                <a:solidFill>
                  <a:schemeClr val="accent1"/>
                </a:solidFill>
              </a:rPr>
              <a:t>property</a:t>
            </a:r>
            <a:r>
              <a:rPr b="1" dirty="0"/>
              <a:t>:</a:t>
            </a:r>
            <a:r>
              <a:rPr dirty="0"/>
              <a:t> </a:t>
            </a:r>
            <a:r>
              <a:rPr b="1" i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value</a:t>
            </a:r>
            <a:r>
              <a:rPr dirty="0"/>
              <a:t>; }</a:t>
            </a:r>
          </a:p>
          <a:p>
            <a:pPr marL="0" indent="0"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Example</a:t>
            </a:r>
          </a:p>
          <a:p>
            <a:pPr marL="0" lvl="2" indent="457200">
              <a:spcBef>
                <a:spcPts val="24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h2 { </a:t>
            </a:r>
            <a:r>
              <a:rPr dirty="0">
                <a:solidFill>
                  <a:schemeClr val="accent1"/>
                </a:solidFill>
              </a:rPr>
              <a:t>color</a:t>
            </a:r>
            <a:r>
              <a:rPr dirty="0"/>
              <a:t>: </a:t>
            </a:r>
            <a:r>
              <a:rPr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red</a:t>
            </a:r>
            <a:r>
              <a:rPr dirty="0"/>
              <a:t>;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</a:t>
            </a:r>
            <a:r>
              <a:rPr dirty="0">
                <a:solidFill>
                  <a:schemeClr val="accent1"/>
                </a:solidFill>
              </a:rPr>
              <a:t>font-size</a:t>
            </a:r>
            <a:r>
              <a:rPr dirty="0"/>
              <a:t>: </a:t>
            </a:r>
            <a:r>
              <a:rPr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2em</a:t>
            </a:r>
            <a:r>
              <a:rPr dirty="0"/>
              <a:t>;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</a:t>
            </a:r>
            <a:r>
              <a:rPr dirty="0">
                <a:solidFill>
                  <a:schemeClr val="accent1"/>
                </a:solidFill>
              </a:rPr>
              <a:t>margin-left</a:t>
            </a:r>
            <a:r>
              <a:rPr dirty="0"/>
              <a:t>: </a:t>
            </a:r>
            <a:r>
              <a:rPr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30px</a:t>
            </a:r>
            <a:r>
              <a:rPr dirty="0"/>
              <a:t>;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</a:t>
            </a:r>
            <a:r>
              <a:rPr dirty="0">
                <a:solidFill>
                  <a:schemeClr val="accent1"/>
                </a:solidFill>
              </a:rPr>
              <a:t>opacity</a:t>
            </a:r>
            <a:r>
              <a:rPr dirty="0"/>
              <a:t>: </a:t>
            </a:r>
            <a:r>
              <a:rPr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.5</a:t>
            </a:r>
            <a:r>
              <a:rPr dirty="0"/>
              <a:t>; 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}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Declaration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149003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Declarations (cont’d)</a:t>
            </a:r>
          </a:p>
        </p:txBody>
      </p:sp>
      <p:sp>
        <p:nvSpPr>
          <p:cNvPr id="121" name="End each declaration with a semicolon to keep it separate from the next declaration.…"/>
          <p:cNvSpPr txBox="1">
            <a:spLocks noGrp="1"/>
          </p:cNvSpPr>
          <p:nvPr>
            <p:ph type="body" idx="1"/>
          </p:nvPr>
        </p:nvSpPr>
        <p:spPr>
          <a:xfrm>
            <a:off x="952500" y="1931243"/>
            <a:ext cx="11099800" cy="6990309"/>
          </a:xfrm>
          <a:prstGeom prst="rect">
            <a:avLst/>
          </a:prstGeom>
        </p:spPr>
        <p:txBody>
          <a:bodyPr anchor="t"/>
          <a:lstStyle/>
          <a:p>
            <a:pPr marL="417830" indent="-417830" defTabSz="549148">
              <a:spcBef>
                <a:spcPts val="3900"/>
              </a:spcBef>
              <a:defRPr sz="2820"/>
            </a:pPr>
            <a:r>
              <a:rPr dirty="0"/>
              <a:t>End each declaration with a semicolon to keep it separate from the next declaration. </a:t>
            </a:r>
          </a:p>
          <a:p>
            <a:pPr marL="417830" indent="-417830" defTabSz="549148">
              <a:spcBef>
                <a:spcPts val="3900"/>
              </a:spcBef>
              <a:defRPr sz="2820"/>
            </a:pPr>
            <a:r>
              <a:rPr dirty="0"/>
              <a:t>White space is ignored, so you can stack declarations to make them easier to read.</a:t>
            </a:r>
          </a:p>
          <a:p>
            <a:pPr marL="417830" indent="-417830" defTabSz="549148">
              <a:spcBef>
                <a:spcPts val="3900"/>
              </a:spcBef>
              <a:defRPr sz="2820"/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Properties</a:t>
            </a:r>
            <a:r>
              <a:rPr dirty="0"/>
              <a:t> are defined in the CSS specifications.</a:t>
            </a:r>
          </a:p>
          <a:p>
            <a:pPr marL="417830" indent="-417830" defTabSz="549148">
              <a:spcBef>
                <a:spcPts val="3900"/>
              </a:spcBef>
              <a:defRPr sz="2820"/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Values</a:t>
            </a:r>
            <a:r>
              <a:rPr dirty="0"/>
              <a:t> are dependent on the type of property:</a:t>
            </a:r>
          </a:p>
          <a:p>
            <a:pPr marL="1253489" lvl="2" indent="-417830" defTabSz="549148">
              <a:spcBef>
                <a:spcPts val="1800"/>
              </a:spcBef>
              <a:defRPr sz="2820"/>
            </a:pPr>
            <a:r>
              <a:rPr dirty="0"/>
              <a:t>Measurements</a:t>
            </a:r>
          </a:p>
          <a:p>
            <a:pPr marL="1253489" lvl="2" indent="-417830" defTabSz="549148">
              <a:spcBef>
                <a:spcPts val="1800"/>
              </a:spcBef>
              <a:defRPr sz="2820"/>
            </a:pPr>
            <a:r>
              <a:rPr dirty="0"/>
              <a:t>Keywords</a:t>
            </a:r>
          </a:p>
          <a:p>
            <a:pPr marL="1253489" lvl="2" indent="-417830" defTabSz="549148">
              <a:spcBef>
                <a:spcPts val="1800"/>
              </a:spcBef>
              <a:defRPr sz="2820"/>
            </a:pPr>
            <a:r>
              <a:rPr dirty="0"/>
              <a:t>Color values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SS Com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CSS Comments</a:t>
            </a:r>
          </a:p>
        </p:txBody>
      </p:sp>
      <p:sp>
        <p:nvSpPr>
          <p:cNvPr id="124" name="/* comment goes here */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212706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/*</a:t>
            </a:r>
            <a:r>
              <a:t> comment goes here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*/</a:t>
            </a:r>
          </a:p>
          <a:p>
            <a:pPr>
              <a:spcBef>
                <a:spcPts val="7200"/>
              </a:spcBef>
              <a:defRPr sz="3000"/>
            </a:pPr>
            <a:r>
              <a:t>Content between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/*</a:t>
            </a:r>
            <a:r>
              <a:t> and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*/</a:t>
            </a:r>
            <a:r>
              <a:t> will be ignored by the browser.</a:t>
            </a:r>
          </a:p>
          <a:p>
            <a:pPr>
              <a:defRPr sz="3000"/>
            </a:pPr>
            <a:r>
              <a:t>Useful for leaving notes or section labels in the style sheet.</a:t>
            </a:r>
          </a:p>
          <a:p>
            <a:pPr>
              <a:defRPr sz="3000"/>
            </a:pPr>
            <a:r>
              <a:t>Can be used within rules to temporarily hide style declarations in the design process.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Many properties applied to elements are passed down to the elements they contain. This is called inheritance.…"/>
          <p:cNvSpPr txBox="1">
            <a:spLocks noGrp="1"/>
          </p:cNvSpPr>
          <p:nvPr>
            <p:ph type="body" sz="half" idx="1"/>
          </p:nvPr>
        </p:nvSpPr>
        <p:spPr>
          <a:xfrm>
            <a:off x="952500" y="2362200"/>
            <a:ext cx="11099800" cy="2724299"/>
          </a:xfrm>
          <a:prstGeom prst="rect">
            <a:avLst/>
          </a:prstGeom>
        </p:spPr>
        <p:txBody>
          <a:bodyPr/>
          <a:lstStyle/>
          <a:p>
            <a:pPr>
              <a:defRPr sz="3000"/>
            </a:pPr>
            <a:endParaRPr dirty="0"/>
          </a:p>
        </p:txBody>
      </p:sp>
      <p:pic>
        <p:nvPicPr>
          <p:cNvPr id="145" name="lwd5_1107.png" descr="lwd5_1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186" y="5327798"/>
            <a:ext cx="7676428" cy="343520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A1918DB-9E2C-2F55-1D75-C91BCE8BF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HTML DOM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Absolute Un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Absolute Units</a:t>
            </a:r>
          </a:p>
        </p:txBody>
      </p:sp>
      <p:sp>
        <p:nvSpPr>
          <p:cNvPr id="173" name="With the exception of pixels, absolute units are not appropriate for web design:…"/>
          <p:cNvSpPr txBox="1">
            <a:spLocks noGrp="1"/>
          </p:cNvSpPr>
          <p:nvPr>
            <p:ph type="body" idx="1"/>
          </p:nvPr>
        </p:nvSpPr>
        <p:spPr>
          <a:xfrm>
            <a:off x="952500" y="2489200"/>
            <a:ext cx="11099800" cy="5861447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With the exception of pixels, absolute units are not appropriate for web design:</a:t>
            </a:r>
          </a:p>
          <a:p>
            <a:pPr marL="0" lvl="2" indent="457200">
              <a:spcBef>
                <a:spcPts val="30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px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pixel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in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inches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mm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millimeters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cm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centimeters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q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 </a:t>
            </a:r>
            <a:r>
              <a:t>1/4 millimeter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pt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points (1/72 inch)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pc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pica (1 pica = 12 points = 1/6 inch)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lative Un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Relative Units</a:t>
            </a:r>
          </a:p>
        </p:txBody>
      </p:sp>
      <p:sp>
        <p:nvSpPr>
          <p:cNvPr id="176" name="Relative units are based on the size of something else:…"/>
          <p:cNvSpPr txBox="1">
            <a:spLocks noGrp="1"/>
          </p:cNvSpPr>
          <p:nvPr>
            <p:ph type="body" idx="1"/>
          </p:nvPr>
        </p:nvSpPr>
        <p:spPr>
          <a:xfrm>
            <a:off x="559965" y="2387600"/>
            <a:ext cx="11979028" cy="6178699"/>
          </a:xfrm>
          <a:prstGeom prst="rect">
            <a:avLst/>
          </a:prstGeom>
        </p:spPr>
        <p:txBody>
          <a:bodyPr anchor="t"/>
          <a:lstStyle/>
          <a:p>
            <a:pPr marL="0" indent="0" defTabSz="549148">
              <a:spcBef>
                <a:spcPts val="3900"/>
              </a:spcBef>
              <a:buSzTx/>
              <a:buNone/>
              <a:defRPr sz="2820"/>
            </a:pPr>
            <a:r>
              <a:t>Relative units are based on the size of something else:</a:t>
            </a:r>
          </a:p>
          <a:p>
            <a:pPr marL="0" lvl="2" indent="429768" defTabSz="549148">
              <a:spcBef>
                <a:spcPts val="28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em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a unit equal to the current font size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ex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x-height, equal to the height of a lowercase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x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rem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</a:t>
            </a:r>
            <a:r>
              <a:t>root em, equal to the font size of the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html</a:t>
            </a:r>
            <a:r>
              <a:t> element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ch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zero width, equal to the width of a zero (0)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viewport width unit (equal to 1/100 of viewport width)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viewport height unit (1/100 of viewport height)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vmin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t>viewport minimum unit (value of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or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t>, whichever is smaller)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vmax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t>viewport maximum unit (value of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or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t>, whichever is larger)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LATIVE UNI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 b="0">
                <a:latin typeface="+mn-lt"/>
                <a:ea typeface="+mn-ea"/>
                <a:cs typeface="+mn-cs"/>
                <a:sym typeface="Helvetica Light"/>
              </a:defRPr>
            </a:pPr>
            <a:r>
              <a:t>RELATIVE UNITS</a:t>
            </a:r>
          </a:p>
          <a:p>
            <a:pPr>
              <a:spcBef>
                <a:spcPts val="600"/>
              </a:spcBef>
            </a:pPr>
            <a:r>
              <a:t>The rem Unit</a:t>
            </a:r>
          </a:p>
        </p:txBody>
      </p:sp>
      <p:sp>
        <p:nvSpPr>
          <p:cNvPr id="179" name="The rem (root em) unit is based on the font size of the html element, whatever that happens to be.…"/>
          <p:cNvSpPr txBox="1">
            <a:spLocks noGrp="1"/>
          </p:cNvSpPr>
          <p:nvPr>
            <p:ph type="body" idx="1"/>
          </p:nvPr>
        </p:nvSpPr>
        <p:spPr>
          <a:xfrm>
            <a:off x="952500" y="3060700"/>
            <a:ext cx="11099800" cy="5835650"/>
          </a:xfrm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rPr dirty="0"/>
              <a:t>The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rem</a:t>
            </a:r>
            <a:r>
              <a:rPr dirty="0"/>
              <a:t> (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root </a:t>
            </a:r>
            <a:r>
              <a:rPr b="1" dirty="0" err="1">
                <a:latin typeface="+mj-lt"/>
                <a:ea typeface="+mj-ea"/>
                <a:cs typeface="+mj-cs"/>
                <a:sym typeface="Helvetica"/>
              </a:rPr>
              <a:t>em</a:t>
            </a:r>
            <a:r>
              <a:rPr dirty="0"/>
              <a:t>) unit is based on the font size of the </a:t>
            </a:r>
            <a:r>
              <a:rPr b="1" dirty="0">
                <a:latin typeface="Courier"/>
                <a:ea typeface="Courier"/>
                <a:cs typeface="Courier"/>
                <a:sym typeface="Courier"/>
              </a:rPr>
              <a:t>html</a:t>
            </a:r>
            <a:r>
              <a:rPr dirty="0"/>
              <a:t> element, whatever that happens to be.</a:t>
            </a:r>
          </a:p>
          <a:p>
            <a:pPr>
              <a:defRPr sz="3000"/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Default</a:t>
            </a:r>
            <a:r>
              <a:rPr dirty="0"/>
              <a:t> in modern browsers: Root font size is 16 pixels, so a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rem = a 16-pixel unit</a:t>
            </a:r>
            <a:r>
              <a:rPr dirty="0"/>
              <a:t>.</a:t>
            </a:r>
          </a:p>
          <a:p>
            <a:pPr>
              <a:defRPr sz="3000"/>
            </a:pPr>
            <a:r>
              <a:rPr dirty="0"/>
              <a:t>If the root font size of the document changes, so does the size of a rem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LATIVE UNI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 b="0">
                <a:latin typeface="+mn-lt"/>
                <a:ea typeface="+mn-ea"/>
                <a:cs typeface="+mn-cs"/>
                <a:sym typeface="Helvetica Light"/>
              </a:defRPr>
            </a:pPr>
            <a:r>
              <a:t>RELATIVE UNITS</a:t>
            </a:r>
          </a:p>
          <a:p>
            <a:pPr>
              <a:spcBef>
                <a:spcPts val="600"/>
              </a:spcBef>
            </a:pPr>
            <a:r>
              <a:t>The em Unit</a:t>
            </a:r>
          </a:p>
        </p:txBody>
      </p:sp>
      <p:sp>
        <p:nvSpPr>
          <p:cNvPr id="182" name="The em unit is traditionally based on the width of a capital letter M in the font.…"/>
          <p:cNvSpPr txBox="1">
            <a:spLocks noGrp="1"/>
          </p:cNvSpPr>
          <p:nvPr>
            <p:ph type="body" idx="1"/>
          </p:nvPr>
        </p:nvSpPr>
        <p:spPr>
          <a:xfrm>
            <a:off x="952500" y="2817415"/>
            <a:ext cx="11099800" cy="6031509"/>
          </a:xfrm>
          <a:prstGeom prst="rect">
            <a:avLst/>
          </a:prstGeom>
        </p:spPr>
        <p:txBody>
          <a:bodyPr anchor="t"/>
          <a:lstStyle/>
          <a:p>
            <a:pPr marL="431165" indent="-431165" defTabSz="566674">
              <a:spcBef>
                <a:spcPts val="4000"/>
              </a:spcBef>
              <a:defRPr sz="2910"/>
            </a:pPr>
            <a:r>
              <a:rPr dirty="0"/>
              <a:t>When the font size is 16 pixels,1em = 16 pixels, 2em = 32 pixels, and so on.</a:t>
            </a:r>
          </a:p>
          <a:p>
            <a:pPr marL="431165" indent="-431165" defTabSz="566674">
              <a:spcBef>
                <a:spcPts val="4000"/>
              </a:spcBef>
              <a:defRPr sz="2910"/>
            </a:pPr>
            <a:endParaRPr dirty="0"/>
          </a:p>
          <a:p>
            <a:pPr marL="0" indent="0" defTabSz="566674">
              <a:spcBef>
                <a:spcPts val="4000"/>
              </a:spcBef>
              <a:buSzTx/>
              <a:buNone/>
              <a:defRPr sz="2910"/>
            </a:pPr>
            <a:endParaRPr dirty="0"/>
          </a:p>
          <a:p>
            <a:pPr marL="0" indent="0" defTabSz="566674">
              <a:spcBef>
                <a:spcPts val="5800"/>
              </a:spcBef>
              <a:buSzTx/>
              <a:buNone/>
              <a:defRPr sz="2619"/>
            </a:pPr>
            <a:r>
              <a:rPr dirty="0">
                <a:solidFill>
                  <a:schemeClr val="accent4"/>
                </a:solidFill>
              </a:rPr>
              <a:t>NOTE:</a:t>
            </a:r>
            <a:r>
              <a:rPr dirty="0"/>
              <a:t>  Because they’re based on the font size of the current element, the size of an </a:t>
            </a:r>
            <a:r>
              <a:rPr dirty="0" err="1"/>
              <a:t>em</a:t>
            </a:r>
            <a:r>
              <a:rPr dirty="0"/>
              <a:t> may not be consistent across a page.</a:t>
            </a:r>
          </a:p>
        </p:txBody>
      </p:sp>
      <p:pic>
        <p:nvPicPr>
          <p:cNvPr id="183" name="lwd5_1110_em.png" descr="lwd5_1110_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59" y="5034384"/>
            <a:ext cx="8254841" cy="25486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LATIVE UNI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 b="0">
                <a:latin typeface="+mn-lt"/>
                <a:ea typeface="+mn-ea"/>
                <a:cs typeface="+mn-cs"/>
                <a:sym typeface="Helvetica Light"/>
              </a:defRPr>
            </a:pPr>
            <a:r>
              <a:t>RELATIVE UNITS</a:t>
            </a:r>
          </a:p>
          <a:p>
            <a:pPr>
              <a:spcBef>
                <a:spcPts val="600"/>
              </a:spcBef>
            </a:pPr>
            <a:r>
              <a:t>Viewport Percentage Lengths (vw/vh)</a:t>
            </a:r>
          </a:p>
        </p:txBody>
      </p:sp>
      <p:sp>
        <p:nvSpPr>
          <p:cNvPr id="186" name="Viewport width (vw) and viewport height (vh) units are relative to the size of the viewport (browser window):…"/>
          <p:cNvSpPr txBox="1">
            <a:spLocks noGrp="1"/>
          </p:cNvSpPr>
          <p:nvPr>
            <p:ph type="body" idx="1"/>
          </p:nvPr>
        </p:nvSpPr>
        <p:spPr>
          <a:xfrm>
            <a:off x="952500" y="2817415"/>
            <a:ext cx="11099800" cy="6031509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Viewport width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t>) and viewport height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) units are relative to the size of the viewport (browser window):</a:t>
            </a:r>
          </a:p>
          <a:p>
            <a:pPr marL="0" lvl="2" indent="45720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= 1/100th width of viewport</a:t>
            </a:r>
          </a:p>
          <a:p>
            <a:pPr marL="0" lvl="2" indent="457200">
              <a:spcBef>
                <a:spcPts val="18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= 1/100th height of viewport</a:t>
            </a:r>
          </a:p>
          <a:p>
            <a:pPr marL="0" indent="0">
              <a:buSzTx/>
              <a:buNone/>
              <a:defRPr sz="3000"/>
            </a:pPr>
            <a:r>
              <a:t>They’re useful for making an element fill the viewport or a specified percentage of it. This image will be 50% the width and height of the viewport:</a:t>
            </a:r>
          </a:p>
          <a:p>
            <a:pPr marL="0" indent="0" algn="ctr"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img { width: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50vw</a:t>
            </a:r>
            <a:r>
              <a:t>; height: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50vh</a:t>
            </a:r>
            <a:r>
              <a:t>; }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Browser Developer Tool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840185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dirty="0"/>
              <a:t>Browser Developer </a:t>
            </a:r>
            <a:r>
              <a:rPr lang="da-DK" dirty="0"/>
              <a:t> Tools</a:t>
            </a:r>
            <a:endParaRPr dirty="0"/>
          </a:p>
        </p:txBody>
      </p:sp>
      <p:pic>
        <p:nvPicPr>
          <p:cNvPr id="192" name="lwd5_1112_devtools.png" descr="lwd5_1112_dev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2515585"/>
            <a:ext cx="10160000" cy="527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Chrome DevTools (View &gt; Developer &gt; Developer Tools)"/>
          <p:cNvSpPr txBox="1"/>
          <p:nvPr/>
        </p:nvSpPr>
        <p:spPr>
          <a:xfrm>
            <a:off x="1706397" y="1498600"/>
            <a:ext cx="968616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>
                <a:solidFill>
                  <a:srgbClr val="53585F"/>
                </a:solidFill>
              </a:defRPr>
            </a:pPr>
            <a:r>
              <a:t>Chrome DevTools (</a:t>
            </a:r>
            <a:r>
              <a:rPr>
                <a:solidFill>
                  <a:schemeClr val="accent1"/>
                </a:solidFill>
              </a:rPr>
              <a:t>View &gt; Developer &gt; Developer Tools</a:t>
            </a:r>
            <a:r>
              <a:t>)</a:t>
            </a:r>
          </a:p>
        </p:txBody>
      </p:sp>
      <p:sp>
        <p:nvSpPr>
          <p:cNvPr id="194" name="Firefox, Safari, Opera, and Microsoft Edge also have developer tools."/>
          <p:cNvSpPr txBox="1"/>
          <p:nvPr/>
        </p:nvSpPr>
        <p:spPr>
          <a:xfrm>
            <a:off x="623405" y="8244271"/>
            <a:ext cx="11852149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53585F"/>
                </a:solidFill>
              </a:defRPr>
            </a:lvl1pPr>
          </a:lstStyle>
          <a:p>
            <a:r>
              <a:t>Firefox, Safari, Opera, and Microsoft Edge also have developer tools.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7D22F97D05A84EA798DB9FF719ECFD" ma:contentTypeVersion="11" ma:contentTypeDescription="Create a new document." ma:contentTypeScope="" ma:versionID="e611e6b837b0511219dbf88544bbacfe">
  <xsd:schema xmlns:xsd="http://www.w3.org/2001/XMLSchema" xmlns:xs="http://www.w3.org/2001/XMLSchema" xmlns:p="http://schemas.microsoft.com/office/2006/metadata/properties" xmlns:ns2="fb282fe6-addb-4abc-8c7a-866097da16fa" xmlns:ns3="9bcbe136-86d6-431b-bacc-0597dda5436c" targetNamespace="http://schemas.microsoft.com/office/2006/metadata/properties" ma:root="true" ma:fieldsID="53af9d73e439efd83706539b7d85d429" ns2:_="" ns3:_="">
    <xsd:import namespace="fb282fe6-addb-4abc-8c7a-866097da16fa"/>
    <xsd:import namespace="9bcbe136-86d6-431b-bacc-0597dda543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282fe6-addb-4abc-8c7a-866097da1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d5c13d8-c446-4f20-8680-8f99546cc0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cbe136-86d6-431b-bacc-0597dda5436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a97c979-971d-4a1b-b3bf-8217a717c8f6}" ma:internalName="TaxCatchAll" ma:showField="CatchAllData" ma:web="9bcbe136-86d6-431b-bacc-0597dda543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cbe136-86d6-431b-bacc-0597dda5436c" xsi:nil="true"/>
    <lcf76f155ced4ddcb4097134ff3c332f xmlns="fb282fe6-addb-4abc-8c7a-866097da16f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4225DB-3881-4966-B317-41D3A7F84C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282fe6-addb-4abc-8c7a-866097da16fa"/>
    <ds:schemaRef ds:uri="9bcbe136-86d6-431b-bacc-0597dda543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0974FF-8D38-46DD-8A45-A342B4A43227}">
  <ds:schemaRefs>
    <ds:schemaRef ds:uri="http://schemas.microsoft.com/office/2006/metadata/properties"/>
    <ds:schemaRef ds:uri="http://schemas.microsoft.com/office/infopath/2007/PartnerControls"/>
    <ds:schemaRef ds:uri="9bcbe136-86d6-431b-bacc-0597dda5436c"/>
    <ds:schemaRef ds:uri="fb282fe6-addb-4abc-8c7a-866097da16fa"/>
  </ds:schemaRefs>
</ds:datastoreItem>
</file>

<file path=customXml/itemProps3.xml><?xml version="1.0" encoding="utf-8"?>
<ds:datastoreItem xmlns:ds="http://schemas.openxmlformats.org/officeDocument/2006/customXml" ds:itemID="{BAD19EAD-949C-4F58-A8D9-C2298BA34B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1018</Words>
  <Application>Microsoft Macintosh PowerPoint</Application>
  <PresentationFormat>Custom</PresentationFormat>
  <Paragraphs>130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Courier</vt:lpstr>
      <vt:lpstr>Helvetica</vt:lpstr>
      <vt:lpstr>Helvetica Light</vt:lpstr>
      <vt:lpstr>Helvetica Neue</vt:lpstr>
      <vt:lpstr>White</vt:lpstr>
      <vt:lpstr>PowerPoint Presentation</vt:lpstr>
      <vt:lpstr>The Benefits of CSS</vt:lpstr>
      <vt:lpstr>Style Separate from Structure</vt:lpstr>
      <vt:lpstr>CSS rendering algorithm</vt:lpstr>
      <vt:lpstr>Adding Styles to the Document</vt:lpstr>
      <vt:lpstr>External Style Sheets</vt:lpstr>
      <vt:lpstr>Embedded Style Sheets</vt:lpstr>
      <vt:lpstr>Inline Styles</vt:lpstr>
      <vt:lpstr>Style Rules</vt:lpstr>
      <vt:lpstr>Style Rule Structure</vt:lpstr>
      <vt:lpstr>Selectors</vt:lpstr>
      <vt:lpstr>Declarations</vt:lpstr>
      <vt:lpstr>Declarations (cont’d)</vt:lpstr>
      <vt:lpstr>CSS Comments</vt:lpstr>
      <vt:lpstr>HTML DOM</vt:lpstr>
      <vt:lpstr>Absolute Units</vt:lpstr>
      <vt:lpstr>Relative Units</vt:lpstr>
      <vt:lpstr>RELATIVE UNITS The rem Unit</vt:lpstr>
      <vt:lpstr>RELATIVE UNITS The em Unit</vt:lpstr>
      <vt:lpstr>RELATIVE UNITS Viewport Percentage Lengths (vw/vh)</vt:lpstr>
      <vt:lpstr>Browser Developer 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4</cp:revision>
  <dcterms:modified xsi:type="dcterms:W3CDTF">2026-10-07T10:27:23Z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0x010100F37D22F97D05A84EA798DB9FF719ECFD</vt:lpwstr>
  </property>
</Properties>
</file>