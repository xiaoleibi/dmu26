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  <p:sldId id="289" r:id="rId23"/>
    <p:sldId id="286" r:id="rId24"/>
    <p:sldId id="284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95"/>
    <p:restoredTop sz="94657"/>
  </p:normalViewPr>
  <p:slideViewPr>
    <p:cSldViewPr>
      <p:cViewPr varScale="1">
        <p:scale>
          <a:sx n="68" d="100"/>
          <a:sy n="68" d="100"/>
        </p:scale>
        <p:origin x="240" y="9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6891-6416-FE43-B3D5-52F62C06C5AB}" type="datetimeFigureOut">
              <a:rPr lang="en-DK" smtClean="0"/>
              <a:t>16/09/2026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7BA93-CAED-0542-AC21-C003D518D0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9772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DK" dirty="0"/>
              <a:t>se pair programming to type in your 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5217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plantuml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9657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cstate="print"/>
          <a:stretch>
            <a:fillRect/>
          </a:stretch>
        </p:blipFill>
        <p:spPr>
          <a:xfrm>
            <a:off x="703615" y="436740"/>
            <a:ext cx="493006" cy="2747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cstate="print"/>
          <a:stretch>
            <a:fillRect/>
          </a:stretch>
        </p:blipFill>
        <p:spPr>
          <a:xfrm>
            <a:off x="1114425" y="180911"/>
            <a:ext cx="4395851" cy="8715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975" y="279399"/>
            <a:ext cx="458470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cstate="print"/>
          <a:stretch>
            <a:fillRect/>
          </a:stretch>
        </p:blipFill>
        <p:spPr>
          <a:xfrm>
            <a:off x="703615" y="436740"/>
            <a:ext cx="493006" cy="2747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62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0476" y="6624399"/>
            <a:ext cx="2407284" cy="121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operator_precedence.html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0555"/>
            <a:chOff x="0" y="4953000"/>
            <a:chExt cx="12192000" cy="1900555"/>
          </a:xfrm>
        </p:grpSpPr>
        <p:sp>
          <p:nvSpPr>
            <p:cNvPr id="3" name="object 3"/>
            <p:cNvSpPr/>
            <p:nvPr/>
          </p:nvSpPr>
          <p:spPr>
            <a:xfrm>
              <a:off x="2247900" y="4953000"/>
              <a:ext cx="9944100" cy="485775"/>
            </a:xfrm>
            <a:custGeom>
              <a:avLst/>
              <a:gdLst/>
              <a:ahLst/>
              <a:cxnLst/>
              <a:rect l="l" t="t" r="r" b="b"/>
              <a:pathLst>
                <a:path w="9944100" h="485775">
                  <a:moveTo>
                    <a:pt x="9944100" y="0"/>
                  </a:moveTo>
                  <a:lnTo>
                    <a:pt x="0" y="288544"/>
                  </a:lnTo>
                  <a:lnTo>
                    <a:pt x="9944100" y="485775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831" y="5238750"/>
              <a:ext cx="12043410" cy="790575"/>
            </a:xfrm>
            <a:custGeom>
              <a:avLst/>
              <a:gdLst/>
              <a:ahLst/>
              <a:cxnLst/>
              <a:rect l="l" t="t" r="r" b="b"/>
              <a:pathLst>
                <a:path w="12043410" h="790575">
                  <a:moveTo>
                    <a:pt x="12043168" y="0"/>
                  </a:moveTo>
                  <a:lnTo>
                    <a:pt x="0" y="0"/>
                  </a:lnTo>
                  <a:lnTo>
                    <a:pt x="12043168" y="790575"/>
                  </a:lnTo>
                  <a:lnTo>
                    <a:pt x="12043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0" y="4991036"/>
              <a:ext cx="12187301" cy="1862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4377" y="4999355"/>
              <a:ext cx="12187622" cy="8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713219" y="6602094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Copyright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©</a:t>
            </a:r>
            <a:r>
              <a:rPr sz="750" spc="8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2020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Pearson</a:t>
            </a:r>
            <a:r>
              <a:rPr sz="750" spc="75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Education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Ltd.</a:t>
            </a:r>
            <a:r>
              <a:rPr sz="750" spc="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30" dirty="0">
                <a:solidFill>
                  <a:srgbClr val="E8EFF4"/>
                </a:solidFill>
                <a:latin typeface="Times New Roman"/>
                <a:cs typeface="Times New Roman"/>
              </a:rPr>
              <a:t>All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Rights</a:t>
            </a:r>
            <a:r>
              <a:rPr sz="750" spc="-10" dirty="0">
                <a:solidFill>
                  <a:srgbClr val="E8EFF4"/>
                </a:solidFill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29C0EDE1-95A5-F573-75DA-E1CE195EFC97}"/>
              </a:ext>
            </a:extLst>
          </p:cNvPr>
          <p:cNvSpPr txBox="1"/>
          <p:nvPr/>
        </p:nvSpPr>
        <p:spPr>
          <a:xfrm>
            <a:off x="4080434" y="2048497"/>
            <a:ext cx="4180204" cy="254242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r>
              <a:rPr lang="da-DK" sz="5400" b="1" spc="-13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Control Statements: </a:t>
            </a:r>
            <a:r>
              <a:rPr lang="da-DK" sz="5400" b="1" spc="-13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sz="5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303" y="714104"/>
            <a:ext cx="4119679" cy="3957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69584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cstate="print"/>
          <a:stretch>
            <a:fillRect/>
          </a:stretch>
        </p:blipFill>
        <p:spPr>
          <a:xfrm>
            <a:off x="4181475" y="1990725"/>
            <a:ext cx="382905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2077846" y="1753214"/>
            <a:ext cx="8036307" cy="335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015" y="190436"/>
            <a:ext cx="2929890" cy="871855"/>
            <a:chOff x="704015" y="190436"/>
            <a:chExt cx="2929890" cy="871855"/>
          </a:xfrm>
        </p:grpSpPr>
        <p:pic>
          <p:nvPicPr>
            <p:cNvPr id="5" name="object 5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704015" y="427267"/>
              <a:ext cx="1015987" cy="3031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1552575" y="190436"/>
              <a:ext cx="1433449" cy="8715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2543174" y="190436"/>
              <a:ext cx="1090612" cy="8715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9925" y="279399"/>
            <a:ext cx="4829810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dirty="0"/>
              <a:t>Truth</a:t>
            </a:r>
            <a:r>
              <a:rPr spc="65" dirty="0"/>
              <a:t> </a:t>
            </a:r>
            <a:r>
              <a:rPr spc="140" dirty="0"/>
              <a:t>table</a:t>
            </a:r>
            <a:r>
              <a:rPr lang="da-DK" spc="140" dirty="0"/>
              <a:t>       - and</a:t>
            </a:r>
            <a:r>
              <a:rPr spc="-40" dirty="0"/>
              <a:t> </a:t>
            </a:r>
            <a:r>
              <a:rPr lang="da-DK" spc="-345" dirty="0"/>
              <a:t> </a:t>
            </a:r>
            <a:endParaRPr spc="-3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85778" y="714073"/>
            <a:ext cx="4119669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97266"/>
            <a:ext cx="10557510" cy="16986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3200" marR="5080" indent="-190500">
              <a:lnSpc>
                <a:spcPts val="2550"/>
              </a:lnSpc>
              <a:spcBef>
                <a:spcPts val="8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3200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385" dirty="0">
                <a:solidFill>
                  <a:srgbClr val="0000FF"/>
                </a:solidFill>
                <a:latin typeface="Arial"/>
                <a:cs typeface="Arial"/>
              </a:rPr>
              <a:t>||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(</a:t>
            </a:r>
            <a:r>
              <a:rPr sz="20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conditional</a:t>
            </a:r>
            <a:r>
              <a:rPr sz="2000" b="1" spc="1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2000" spc="-55" dirty="0">
                <a:latin typeface="Times New Roman"/>
                <a:cs typeface="Times New Roman"/>
              </a:rPr>
              <a:t>)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ensures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either</a:t>
            </a:r>
            <a:r>
              <a:rPr sz="2000" i="1" spc="1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70" dirty="0">
                <a:latin typeface="Times New Roman"/>
                <a:cs typeface="Times New Roman"/>
              </a:rPr>
              <a:t>both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two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conditions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are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true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before choosing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certain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path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execution.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Figure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4.14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truth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table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conditional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(</a:t>
            </a:r>
            <a:r>
              <a:rPr sz="2000" spc="-10" dirty="0">
                <a:latin typeface="Monaco"/>
                <a:cs typeface="Monaco"/>
              </a:rPr>
              <a:t>||</a:t>
            </a:r>
            <a:r>
              <a:rPr sz="2000" spc="-10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7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85" dirty="0">
                <a:latin typeface="Times New Roman"/>
                <a:cs typeface="Times New Roman"/>
              </a:rPr>
              <a:t>Operator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Monaco"/>
                <a:cs typeface="Monaco"/>
              </a:rPr>
              <a:t>&amp;&amp;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has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higher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precedence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||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8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Both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associate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left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right.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2068934" y="1774699"/>
            <a:ext cx="8054131" cy="33086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85778" y="714073"/>
            <a:ext cx="4119669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400" y="1459166"/>
            <a:ext cx="10081895" cy="7598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9865" indent="-189865">
              <a:lnSpc>
                <a:spcPts val="286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189865" algn="l"/>
              </a:tabLst>
            </a:pPr>
            <a:r>
              <a:rPr sz="2450" spc="70" dirty="0">
                <a:latin typeface="Times New Roman"/>
                <a:cs typeface="Times New Roman"/>
              </a:rPr>
              <a:t>The</a:t>
            </a:r>
            <a:r>
              <a:rPr sz="2450" spc="-15" dirty="0">
                <a:latin typeface="Times New Roman"/>
                <a:cs typeface="Times New Roman"/>
              </a:rPr>
              <a:t> </a:t>
            </a:r>
            <a:r>
              <a:rPr sz="2450" spc="125" dirty="0">
                <a:solidFill>
                  <a:srgbClr val="0000FF"/>
                </a:solidFill>
                <a:latin typeface="Arial"/>
                <a:cs typeface="Arial"/>
              </a:rPr>
              <a:t>!</a:t>
            </a:r>
            <a:r>
              <a:rPr sz="2450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(</a:t>
            </a:r>
            <a:r>
              <a:rPr sz="2450" b="1" spc="9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NOT</a:t>
            </a:r>
            <a:r>
              <a:rPr sz="2450" spc="-125" dirty="0">
                <a:latin typeface="Times New Roman"/>
                <a:cs typeface="Times New Roman"/>
              </a:rPr>
              <a:t>,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also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called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25" dirty="0">
                <a:solidFill>
                  <a:srgbClr val="0000FF"/>
                </a:solidFill>
                <a:latin typeface="Times New Roman"/>
                <a:cs typeface="Times New Roman"/>
              </a:rPr>
              <a:t>negation</a:t>
            </a:r>
            <a:r>
              <a:rPr sz="245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spc="160" dirty="0">
                <a:latin typeface="Times New Roman"/>
                <a:cs typeface="Times New Roman"/>
              </a:rPr>
              <a:t>or</a:t>
            </a:r>
            <a:r>
              <a:rPr sz="2450" spc="-135" dirty="0">
                <a:latin typeface="Times New Roman"/>
                <a:cs typeface="Times New Roman"/>
              </a:rPr>
              <a:t> </a:t>
            </a:r>
            <a:r>
              <a:rPr sz="245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25" dirty="0">
                <a:solidFill>
                  <a:srgbClr val="0000FF"/>
                </a:solidFill>
                <a:latin typeface="Times New Roman"/>
                <a:cs typeface="Times New Roman"/>
              </a:rPr>
              <a:t>complement</a:t>
            </a:r>
            <a:r>
              <a:rPr sz="2450" spc="125" dirty="0">
                <a:latin typeface="Times New Roman"/>
                <a:cs typeface="Times New Roman"/>
              </a:rPr>
              <a:t>)</a:t>
            </a:r>
            <a:endParaRPr sz="2450" dirty="0">
              <a:latin typeface="Times New Roman"/>
              <a:cs typeface="Times New Roman"/>
            </a:endParaRPr>
          </a:p>
          <a:p>
            <a:pPr marL="190500">
              <a:lnSpc>
                <a:spcPts val="2860"/>
              </a:lnSpc>
            </a:pPr>
            <a:r>
              <a:rPr sz="2450" spc="135" dirty="0">
                <a:latin typeface="Times New Roman"/>
                <a:cs typeface="Times New Roman"/>
              </a:rPr>
              <a:t>operator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“reverses”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the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meaning</a:t>
            </a:r>
            <a:r>
              <a:rPr sz="2450" spc="2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of</a:t>
            </a:r>
            <a:r>
              <a:rPr sz="2450" spc="-75" dirty="0">
                <a:latin typeface="Times New Roman"/>
                <a:cs typeface="Times New Roman"/>
              </a:rPr>
              <a:t> </a:t>
            </a:r>
            <a:r>
              <a:rPr sz="2450" spc="114" dirty="0">
                <a:latin typeface="Times New Roman"/>
                <a:cs typeface="Times New Roman"/>
              </a:rPr>
              <a:t>a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condition.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2232837" y="1833196"/>
            <a:ext cx="7726325" cy="31916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2209800" y="1447800"/>
            <a:ext cx="6562725" cy="42481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E5930-8B3C-F6E4-04C8-A517BDCEF983}"/>
              </a:ext>
            </a:extLst>
          </p:cNvPr>
          <p:cNvSpPr txBox="1"/>
          <p:nvPr/>
        </p:nvSpPr>
        <p:spPr>
          <a:xfrm>
            <a:off x="1960245" y="639566"/>
            <a:ext cx="6098058" cy="41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225"/>
              </a:spcBef>
              <a:buNone/>
            </a:pPr>
            <a:r>
              <a:rPr lang="en-GB" sz="3800" b="0" i="0" u="sng" strike="noStrike" dirty="0">
                <a:solidFill>
                  <a:srgbClr val="99C3FF"/>
                </a:solidFill>
                <a:effectLst/>
                <a:latin typeface="Google Sans"/>
                <a:hlinkClick r:id="rId2"/>
              </a:rPr>
              <a:t>Operator Precedence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3966" y="180911"/>
            <a:ext cx="5044440" cy="881380"/>
            <a:chOff x="703966" y="180911"/>
            <a:chExt cx="5044440" cy="881380"/>
          </a:xfrm>
        </p:grpSpPr>
        <p:pic>
          <p:nvPicPr>
            <p:cNvPr id="3" name="object 3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703966" y="417794"/>
              <a:ext cx="930358" cy="293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1457325" y="190436"/>
              <a:ext cx="1909826" cy="8715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cstate="print"/>
            <a:stretch>
              <a:fillRect/>
            </a:stretch>
          </p:blipFill>
          <p:spPr>
            <a:xfrm>
              <a:off x="2847975" y="180911"/>
              <a:ext cx="2900426" cy="87153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  <a:tabLst>
                <a:tab pos="3726815" algn="l"/>
              </a:tabLst>
            </a:pPr>
            <a:r>
              <a:rPr spc="-220" dirty="0">
                <a:solidFill>
                  <a:srgbClr val="23B5A0"/>
                </a:solidFill>
                <a:latin typeface="Arial"/>
                <a:cs typeface="Arial"/>
              </a:rPr>
              <a:t>demo</a:t>
            </a:r>
            <a:r>
              <a:rPr spc="-15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330" dirty="0">
                <a:solidFill>
                  <a:srgbClr val="23B5A0"/>
                </a:solidFill>
                <a:latin typeface="Arial"/>
                <a:cs typeface="Arial"/>
              </a:rPr>
              <a:t>se</a:t>
            </a:r>
            <a:r>
              <a:rPr spc="-55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80" dirty="0">
                <a:solidFill>
                  <a:srgbClr val="23B5A0"/>
                </a:solidFill>
                <a:latin typeface="Arial"/>
                <a:cs typeface="Arial"/>
              </a:rPr>
              <a:t>more</a:t>
            </a:r>
            <a:r>
              <a:rPr spc="-20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200" dirty="0">
                <a:solidFill>
                  <a:srgbClr val="3380E6"/>
                </a:solidFill>
                <a:latin typeface="Arial"/>
                <a:cs typeface="Arial"/>
              </a:rPr>
              <a:t>True/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120" dirty="0">
                <a:solidFill>
                  <a:srgbClr val="3380E6"/>
                </a:solidFill>
                <a:latin typeface="Arial"/>
                <a:cs typeface="Arial"/>
              </a:rPr>
              <a:t>False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5FDAC-320E-5A5F-47B3-2B40A9D51B2F}"/>
              </a:ext>
            </a:extLst>
          </p:cNvPr>
          <p:cNvSpPr txBox="1"/>
          <p:nvPr/>
        </p:nvSpPr>
        <p:spPr>
          <a:xfrm>
            <a:off x="3049030" y="1443841"/>
            <a:ext cx="60980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Review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Correct </a:t>
            </a:r>
            <a:r>
              <a:rPr lang="en-GB" i="1" dirty="0" err="1">
                <a:solidFill>
                  <a:srgbClr val="8C8C8C"/>
                </a:solidFill>
                <a:effectLst/>
                <a:latin typeface="JetBrains Mono"/>
              </a:rPr>
              <a:t>boolean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statements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equality check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statement2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GB" dirty="0">
                <a:solidFill>
                  <a:srgbClr val="080808"/>
                </a:solidFill>
                <a:latin typeface="JetBrains Mono"/>
              </a:rPr>
              <a:t>&gt;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 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less-than check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// Check both statements using if-else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statement2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&amp;&amp;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statement1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"Both statements are true"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"At least one statement is false"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291" y="514162"/>
            <a:ext cx="2595693" cy="6908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cstate="print"/>
          <a:stretch>
            <a:fillRect/>
          </a:stretch>
        </p:blipFill>
        <p:spPr>
          <a:xfrm>
            <a:off x="4343400" y="0"/>
            <a:ext cx="6858000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68181"/>
            <a:ext cx="7216775" cy="7950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430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10" dirty="0">
                <a:solidFill>
                  <a:srgbClr val="FF0000"/>
                </a:solidFill>
                <a:latin typeface="Monaco"/>
                <a:cs typeface="Monaco"/>
              </a:rPr>
              <a:t>if</a:t>
            </a:r>
            <a:r>
              <a:rPr sz="2450" spc="-1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50" spc="-120" dirty="0">
                <a:solidFill>
                  <a:srgbClr val="FF0000"/>
                </a:solidFill>
                <a:latin typeface="Monaco"/>
                <a:cs typeface="Monaco"/>
              </a:rPr>
              <a:t>else</a:t>
            </a:r>
            <a:r>
              <a:rPr sz="2450" spc="-12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50" spc="-120" dirty="0">
                <a:solidFill>
                  <a:srgbClr val="FF0000"/>
                </a:solidFill>
                <a:latin typeface="Monaco"/>
                <a:cs typeface="Monaco"/>
              </a:rPr>
              <a:t>switch</a:t>
            </a:r>
            <a:r>
              <a:rPr sz="2450" spc="-120" dirty="0">
                <a:latin typeface="Times New Roman"/>
                <a:cs typeface="Times New Roman"/>
              </a:rPr>
              <a:t>,</a:t>
            </a:r>
            <a:r>
              <a:rPr sz="2450" spc="40" dirty="0">
                <a:latin typeface="Times New Roman"/>
                <a:cs typeface="Times New Roman"/>
              </a:rPr>
              <a:t> </a:t>
            </a:r>
            <a:r>
              <a:rPr sz="2450" spc="-110" dirty="0">
                <a:latin typeface="Monaco"/>
                <a:cs typeface="Monaco"/>
              </a:rPr>
              <a:t>while</a:t>
            </a:r>
            <a:r>
              <a:rPr sz="2450" spc="-110" dirty="0">
                <a:latin typeface="Times New Roman"/>
                <a:cs typeface="Times New Roman"/>
              </a:rPr>
              <a:t>,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-135" dirty="0">
                <a:latin typeface="Monaco"/>
                <a:cs typeface="Monaco"/>
              </a:rPr>
              <a:t>do</a:t>
            </a:r>
            <a:r>
              <a:rPr sz="2450" spc="-885" dirty="0">
                <a:latin typeface="Monaco"/>
                <a:cs typeface="Monaco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-130" dirty="0">
                <a:latin typeface="Monaco"/>
                <a:cs typeface="Monaco"/>
              </a:rPr>
              <a:t>for</a:t>
            </a:r>
            <a:r>
              <a:rPr sz="2450" spc="-885" dirty="0">
                <a:latin typeface="Monaco"/>
                <a:cs typeface="Monaco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are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keywords.</a:t>
            </a:r>
            <a:endParaRPr sz="2450" dirty="0">
              <a:latin typeface="Times New Roman"/>
              <a:cs typeface="Times New Roman"/>
            </a:endParaRPr>
          </a:p>
          <a:p>
            <a:pPr marL="393065" lvl="1" indent="-170815">
              <a:lnSpc>
                <a:spcPct val="100000"/>
              </a:lnSpc>
              <a:spcBef>
                <a:spcPts val="26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45" dirty="0">
                <a:latin typeface="Times New Roman"/>
                <a:cs typeface="Times New Roman"/>
              </a:rPr>
              <a:t>Appendix</a:t>
            </a:r>
            <a:r>
              <a:rPr sz="2100" spc="-125" dirty="0">
                <a:latin typeface="Times New Roman"/>
                <a:cs typeface="Times New Roman"/>
              </a:rPr>
              <a:t> </a:t>
            </a:r>
            <a:r>
              <a:rPr sz="2100" spc="-130" dirty="0">
                <a:latin typeface="Times New Roman"/>
                <a:cs typeface="Times New Roman"/>
              </a:rPr>
              <a:t>C: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Complete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list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Java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keywords.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10187305" cy="6667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03200" marR="5080" indent="-190500">
              <a:lnSpc>
                <a:spcPts val="2250"/>
              </a:lnSpc>
              <a:spcBef>
                <a:spcPts val="6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spc="60" dirty="0">
                <a:solidFill>
                  <a:srgbClr val="0000FF"/>
                </a:solidFill>
                <a:latin typeface="Times New Roman"/>
                <a:cs typeface="Times New Roman"/>
              </a:rPr>
              <a:t>Sequential</a:t>
            </a:r>
            <a:r>
              <a:rPr sz="230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45" dirty="0">
                <a:solidFill>
                  <a:srgbClr val="0000FF"/>
                </a:solidFill>
                <a:latin typeface="Times New Roman"/>
                <a:cs typeface="Times New Roman"/>
              </a:rPr>
              <a:t>execution</a:t>
            </a:r>
            <a:r>
              <a:rPr sz="2300" spc="45" dirty="0">
                <a:latin typeface="Times New Roman"/>
                <a:cs typeface="Times New Roman"/>
              </a:rPr>
              <a:t>: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Statements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program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execute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Times New Roman"/>
                <a:cs typeface="Times New Roman"/>
              </a:rPr>
              <a:t>one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after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the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110" dirty="0">
                <a:latin typeface="Times New Roman"/>
                <a:cs typeface="Times New Roman"/>
              </a:rPr>
              <a:t>other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14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the </a:t>
            </a:r>
            <a:r>
              <a:rPr sz="2300" spc="130" dirty="0">
                <a:latin typeface="Times New Roman"/>
                <a:cs typeface="Times New Roman"/>
              </a:rPr>
              <a:t>order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Times New Roman"/>
                <a:cs typeface="Times New Roman"/>
              </a:rPr>
              <a:t>which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they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spc="130" dirty="0">
                <a:latin typeface="Times New Roman"/>
                <a:cs typeface="Times New Roman"/>
              </a:rPr>
              <a:t>are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written.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304" y="714073"/>
            <a:ext cx="4224442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8867" y="1062816"/>
            <a:ext cx="10627360" cy="242566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5" dirty="0">
                <a:latin typeface="Times New Roman"/>
                <a:cs typeface="Times New Roman"/>
              </a:rPr>
              <a:t>Sequence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structure</a:t>
            </a:r>
            <a:r>
              <a:rPr lang="da-DK" sz="2000" spc="100" dirty="0">
                <a:latin typeface="Times New Roman"/>
                <a:cs typeface="Times New Roman"/>
              </a:rPr>
              <a:t>- </a:t>
            </a:r>
            <a:r>
              <a:rPr lang="da-DK" sz="2000" spc="100" dirty="0" err="1">
                <a:latin typeface="Times New Roman"/>
                <a:cs typeface="Times New Roman"/>
              </a:rPr>
              <a:t>flowchart</a:t>
            </a:r>
            <a:r>
              <a:rPr lang="da-DK" sz="2000" spc="100" dirty="0">
                <a:latin typeface="Times New Roman"/>
                <a:cs typeface="Times New Roman"/>
              </a:rPr>
              <a:t>  </a:t>
            </a:r>
          </a:p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29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Built </a:t>
            </a:r>
            <a:r>
              <a:rPr sz="1700" spc="65" dirty="0">
                <a:latin typeface="Times New Roman"/>
                <a:cs typeface="Times New Roman"/>
              </a:rPr>
              <a:t>into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Java.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ts val="2035"/>
              </a:lnSpc>
              <a:spcBef>
                <a:spcPts val="290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Unless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directed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otherwise,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computer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executes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statements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one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after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other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order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which</a:t>
            </a:r>
            <a:endParaRPr sz="1700" dirty="0">
              <a:latin typeface="Times New Roman"/>
              <a:cs typeface="Times New Roman"/>
            </a:endParaRPr>
          </a:p>
          <a:p>
            <a:pPr marL="393700">
              <a:lnSpc>
                <a:spcPts val="2035"/>
              </a:lnSpc>
            </a:pPr>
            <a:r>
              <a:rPr sz="1700" spc="60" dirty="0">
                <a:latin typeface="Times New Roman"/>
                <a:cs typeface="Times New Roman"/>
              </a:rPr>
              <a:t>they’re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written.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8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spc="65" dirty="0">
                <a:latin typeface="Times New Roman"/>
                <a:cs typeface="Times New Roman"/>
              </a:rPr>
              <a:t>The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0000FF"/>
                </a:solidFill>
                <a:latin typeface="Times New Roman"/>
                <a:cs typeface="Times New Roman"/>
              </a:rPr>
              <a:t>activity</a:t>
            </a:r>
            <a:r>
              <a:rPr sz="1700" spc="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0000FF"/>
                </a:solidFill>
                <a:latin typeface="Times New Roman"/>
                <a:cs typeface="Times New Roman"/>
              </a:rPr>
              <a:t>diagram</a:t>
            </a:r>
            <a:r>
              <a:rPr sz="17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illustrates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typical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sequence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structure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which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two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calculations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are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performed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order.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lets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many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actions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want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sequence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structure.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10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spc="65" dirty="0">
                <a:latin typeface="Times New Roman"/>
                <a:cs typeface="Times New Roman"/>
              </a:rPr>
              <a:t>Anywhere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single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action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may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placed,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we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may </a:t>
            </a:r>
            <a:r>
              <a:rPr sz="1700" dirty="0">
                <a:latin typeface="Times New Roman"/>
                <a:cs typeface="Times New Roman"/>
              </a:rPr>
              <a:t>place </a:t>
            </a:r>
            <a:r>
              <a:rPr sz="1700" spc="70" dirty="0">
                <a:latin typeface="Times New Roman"/>
                <a:cs typeface="Times New Roman"/>
              </a:rPr>
              <a:t>several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actions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sequence.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cstate="print"/>
          <a:stretch>
            <a:fillRect/>
          </a:stretch>
        </p:blipFill>
        <p:spPr>
          <a:xfrm>
            <a:off x="1447800" y="3581400"/>
            <a:ext cx="4305300" cy="2066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216154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114" dirty="0">
                <a:latin typeface="Times New Roman"/>
                <a:cs typeface="Times New Roman"/>
              </a:rPr>
              <a:t>Three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105" dirty="0">
                <a:latin typeface="Times New Roman"/>
                <a:cs typeface="Times New Roman"/>
              </a:rPr>
              <a:t>types</a:t>
            </a:r>
            <a:r>
              <a:rPr sz="2450" spc="-3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of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7039" y="1450721"/>
            <a:ext cx="2832100" cy="381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05">
              <a:lnSpc>
                <a:spcPts val="2910"/>
              </a:lnSpc>
            </a:pPr>
            <a:r>
              <a:rPr sz="2450" spc="80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450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statements</a:t>
            </a:r>
            <a:r>
              <a:rPr sz="2450" spc="85" dirty="0">
                <a:latin typeface="Times New Roman"/>
                <a:cs typeface="Times New Roman"/>
              </a:rPr>
              <a:t>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1773555"/>
            <a:ext cx="10743565" cy="3046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2565" indent="-189865">
              <a:lnSpc>
                <a:spcPts val="2810"/>
              </a:lnSpc>
              <a:spcBef>
                <a:spcPts val="130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35" dirty="0">
                <a:latin typeface="Monaco"/>
                <a:cs typeface="Monaco"/>
              </a:rPr>
              <a:t>if</a:t>
            </a:r>
            <a:r>
              <a:rPr sz="2450" spc="-869" dirty="0">
                <a:latin typeface="Monaco"/>
                <a:cs typeface="Monaco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statement: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5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action,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true;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skips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it,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3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Single-</a:t>
            </a:r>
            <a:r>
              <a:rPr sz="2100" spc="5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1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ignores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single</a:t>
            </a:r>
            <a:r>
              <a:rPr sz="2100" spc="-18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action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group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  <a:p>
            <a:pPr marL="202565" indent="-189865">
              <a:lnSpc>
                <a:spcPts val="2650"/>
              </a:lnSpc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200" dirty="0">
                <a:latin typeface="Monaco"/>
                <a:cs typeface="Monaco"/>
              </a:rPr>
              <a:t>if</a:t>
            </a:r>
            <a:r>
              <a:rPr sz="2450" spc="-200" dirty="0">
                <a:latin typeface="Times New Roman"/>
                <a:cs typeface="Times New Roman"/>
              </a:rPr>
              <a:t>…</a:t>
            </a:r>
            <a:r>
              <a:rPr sz="2450" spc="-200" dirty="0">
                <a:latin typeface="Monaco"/>
                <a:cs typeface="Monaco"/>
              </a:rPr>
              <a:t>else</a:t>
            </a:r>
            <a:r>
              <a:rPr sz="2450" spc="-760" dirty="0">
                <a:latin typeface="Monaco"/>
                <a:cs typeface="Monaco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statement: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14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action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true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and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performs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action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393700">
              <a:lnSpc>
                <a:spcPts val="2140"/>
              </a:lnSpc>
            </a:pP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3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Double-</a:t>
            </a:r>
            <a:r>
              <a:rPr sz="2100" spc="5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00" dirty="0">
                <a:latin typeface="Times New Roman"/>
                <a:cs typeface="Times New Roman"/>
              </a:rPr>
              <a:t>between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two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6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actions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groups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  <a:p>
            <a:pPr marL="202565" indent="-189865">
              <a:lnSpc>
                <a:spcPts val="2650"/>
              </a:lnSpc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40" dirty="0">
                <a:latin typeface="Monaco"/>
                <a:cs typeface="Monaco"/>
              </a:rPr>
              <a:t>switch</a:t>
            </a:r>
            <a:r>
              <a:rPr sz="2450" spc="-760" dirty="0">
                <a:latin typeface="Monaco"/>
                <a:cs typeface="Monaco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statement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5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one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several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actions,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based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on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value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expression.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39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Multiple-</a:t>
            </a:r>
            <a:r>
              <a:rPr sz="2100" spc="60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among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many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actions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groups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405066"/>
            <a:ext cx="3154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3B5A0"/>
                </a:solidFill>
                <a:latin typeface="Arial"/>
                <a:cs typeface="Arial"/>
              </a:rPr>
              <a:t>3.4</a:t>
            </a:r>
            <a:r>
              <a:rPr sz="1800" spc="9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380E6"/>
                </a:solidFill>
                <a:latin typeface="Arial"/>
                <a:cs typeface="Arial"/>
              </a:rPr>
              <a:t>Control</a:t>
            </a:r>
            <a:r>
              <a:rPr sz="1800" spc="-170" dirty="0">
                <a:solidFill>
                  <a:srgbClr val="3380E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380E6"/>
                </a:solidFill>
                <a:latin typeface="Arial"/>
                <a:cs typeface="Arial"/>
              </a:rPr>
              <a:t>Structures</a:t>
            </a:r>
            <a:r>
              <a:rPr sz="1800" spc="160" dirty="0">
                <a:solidFill>
                  <a:srgbClr val="3380E6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cstate="print"/>
          <a:stretch>
            <a:fillRect/>
          </a:stretch>
        </p:blipFill>
        <p:spPr>
          <a:xfrm>
            <a:off x="3429000" y="1438275"/>
            <a:ext cx="5762625" cy="4276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1114425" y="180911"/>
            <a:ext cx="2262251" cy="871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975" y="279399"/>
            <a:ext cx="245745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5" dirty="0">
                <a:solidFill>
                  <a:srgbClr val="3380E6"/>
                </a:solidFill>
                <a:latin typeface="Arial"/>
                <a:cs typeface="Arial"/>
              </a:rPr>
              <a:t>if1.java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98B5C-3C1B-BFB1-AAF5-F8AFE750F0D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38400" y="1676400"/>
            <a:ext cx="7515437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3733800" y="575722"/>
            <a:ext cx="6781800" cy="529167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1114425" y="180911"/>
            <a:ext cx="2262251" cy="871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975" y="279399"/>
            <a:ext cx="245745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5" dirty="0">
                <a:solidFill>
                  <a:srgbClr val="3380E6"/>
                </a:solidFill>
                <a:latin typeface="Arial"/>
                <a:cs typeface="Arial"/>
              </a:rPr>
              <a:t>if2.java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5B179-6438-4562-B54B-695B783C36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62350" y="1993900"/>
            <a:ext cx="50673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  <a:tab pos="2625725" algn="l"/>
                <a:tab pos="3913504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0" dirty="0">
                <a:solidFill>
                  <a:srgbClr val="3380E6"/>
                </a:solidFill>
                <a:latin typeface="Arial"/>
                <a:cs typeface="Arial"/>
              </a:rPr>
              <a:t>if3.java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305" dirty="0">
                <a:solidFill>
                  <a:srgbClr val="3380E6"/>
                </a:solidFill>
                <a:latin typeface="Arial"/>
                <a:cs typeface="Arial"/>
              </a:rPr>
              <a:t>(else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730" dirty="0">
                <a:solidFill>
                  <a:srgbClr val="3380E6"/>
                </a:solidFill>
                <a:latin typeface="Arial"/>
                <a:cs typeface="Arial"/>
              </a:rPr>
              <a:t>if)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98BD4-3107-C927-2AD1-4419EBE0806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03600" y="1619250"/>
            <a:ext cx="53848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440116"/>
            <a:ext cx="79679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ts val="24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r>
              <a:rPr lang="da-DK" sz="2100" spc="-65" dirty="0"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90800" y="1447373"/>
            <a:ext cx="3743325" cy="3238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445">
              <a:lnSpc>
                <a:spcPts val="2470"/>
              </a:lnSpc>
            </a:pPr>
            <a:r>
              <a:rPr sz="2100" spc="60" dirty="0">
                <a:latin typeface="Times New Roman"/>
                <a:cs typeface="Times New Roman"/>
              </a:rPr>
              <a:t>enclose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statements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in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braces.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7316" y="2288857"/>
            <a:ext cx="7263130" cy="1750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ts val="2425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endParaRPr sz="2100" dirty="0">
              <a:latin typeface="Times New Roman"/>
              <a:cs typeface="Times New Roman"/>
            </a:endParaRPr>
          </a:p>
          <a:p>
            <a:pPr marL="917575" marR="3124200" indent="-342900">
              <a:lnSpc>
                <a:spcPts val="1500"/>
              </a:lnSpc>
              <a:spcBef>
                <a:spcPts val="409"/>
              </a:spcBef>
            </a:pPr>
            <a:r>
              <a:rPr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sz="1550" spc="-12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550" spc="-45" dirty="0">
                <a:latin typeface="Monaco"/>
                <a:cs typeface="Monaco"/>
              </a:rPr>
              <a:t>(grade</a:t>
            </a:r>
            <a:r>
              <a:rPr sz="1550" spc="-175" dirty="0">
                <a:latin typeface="Monaco"/>
                <a:cs typeface="Monaco"/>
              </a:rPr>
              <a:t> </a:t>
            </a:r>
            <a:r>
              <a:rPr sz="1550" dirty="0">
                <a:latin typeface="Monaco"/>
                <a:cs typeface="Monaco"/>
              </a:rPr>
              <a:t>&gt;=</a:t>
            </a:r>
            <a:r>
              <a:rPr sz="1550" spc="-185" dirty="0"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1289FF"/>
                </a:solidFill>
                <a:latin typeface="Monaco"/>
                <a:cs typeface="Monaco"/>
              </a:rPr>
              <a:t>60</a:t>
            </a:r>
            <a:r>
              <a:rPr sz="1550" dirty="0">
                <a:latin typeface="Monaco"/>
                <a:cs typeface="Monaco"/>
              </a:rPr>
              <a:t>)</a:t>
            </a:r>
            <a:r>
              <a:rPr sz="1550" spc="-185" dirty="0">
                <a:latin typeface="Monaco"/>
                <a:cs typeface="Monaco"/>
              </a:rPr>
              <a:t> </a:t>
            </a:r>
            <a:r>
              <a:rPr sz="1550" spc="-50" dirty="0">
                <a:latin typeface="Monaco"/>
                <a:cs typeface="Monaco"/>
              </a:rPr>
              <a:t>{ </a:t>
            </a:r>
            <a:r>
              <a:rPr sz="1550" spc="-60" dirty="0">
                <a:latin typeface="Monaco"/>
                <a:cs typeface="Monaco"/>
              </a:rPr>
              <a:t>System.out.println(</a:t>
            </a:r>
            <a:r>
              <a:rPr sz="1550" spc="-60" dirty="0">
                <a:solidFill>
                  <a:srgbClr val="1289FF"/>
                </a:solidFill>
                <a:latin typeface="Monaco"/>
                <a:cs typeface="Monaco"/>
              </a:rPr>
              <a:t>"Passed"</a:t>
            </a:r>
            <a:r>
              <a:rPr sz="1550" spc="-6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375"/>
              </a:lnSpc>
            </a:pPr>
            <a:r>
              <a:rPr sz="1550" spc="-50" dirty="0">
                <a:latin typeface="Monaco"/>
                <a:cs typeface="Monaco"/>
              </a:rPr>
              <a:t>}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540"/>
              </a:lnSpc>
            </a:pPr>
            <a:r>
              <a:rPr sz="1550" spc="-1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sz="1550" spc="-204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Monaco"/>
                <a:cs typeface="Monaco"/>
              </a:rPr>
              <a:t>{</a:t>
            </a:r>
            <a:endParaRPr sz="2400" dirty="0">
              <a:solidFill>
                <a:srgbClr val="FF0000"/>
              </a:solidFill>
              <a:latin typeface="Monaco"/>
              <a:cs typeface="Monaco"/>
            </a:endParaRPr>
          </a:p>
          <a:p>
            <a:pPr marL="917575">
              <a:lnSpc>
                <a:spcPts val="1540"/>
              </a:lnSpc>
            </a:pPr>
            <a:r>
              <a:rPr sz="1550" spc="-30" dirty="0">
                <a:latin typeface="Monaco"/>
                <a:cs typeface="Monaco"/>
              </a:rPr>
              <a:t>System.out.println(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"Failed"</a:t>
            </a:r>
            <a:r>
              <a:rPr sz="1550" spc="-3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917575">
              <a:lnSpc>
                <a:spcPts val="1540"/>
              </a:lnSpc>
            </a:pPr>
            <a:r>
              <a:rPr sz="1550" spc="-60" dirty="0">
                <a:latin typeface="Monaco"/>
                <a:cs typeface="Monaco"/>
              </a:rPr>
              <a:t>System.out.println(</a:t>
            </a:r>
            <a:r>
              <a:rPr sz="1550" spc="-60" dirty="0">
                <a:solidFill>
                  <a:srgbClr val="1289FF"/>
                </a:solidFill>
                <a:latin typeface="Monaco"/>
                <a:cs typeface="Monaco"/>
              </a:rPr>
              <a:t>"You</a:t>
            </a:r>
            <a:r>
              <a:rPr sz="1550" spc="-12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must</a:t>
            </a:r>
            <a:r>
              <a:rPr sz="1550" spc="-18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take</a:t>
            </a:r>
            <a:r>
              <a:rPr sz="1550" spc="-18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this</a:t>
            </a:r>
            <a:r>
              <a:rPr sz="1550" spc="-114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55" dirty="0">
                <a:solidFill>
                  <a:srgbClr val="1289FF"/>
                </a:solidFill>
                <a:latin typeface="Monaco"/>
                <a:cs typeface="Monaco"/>
              </a:rPr>
              <a:t>course</a:t>
            </a:r>
            <a:r>
              <a:rPr sz="1550" spc="-175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again."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680"/>
              </a:lnSpc>
            </a:pPr>
            <a:r>
              <a:rPr sz="2400" spc="-50" dirty="0">
                <a:solidFill>
                  <a:srgbClr val="FF0000"/>
                </a:solidFill>
                <a:latin typeface="Monaco"/>
                <a:cs typeface="Monaco"/>
              </a:rPr>
              <a:t>}</a:t>
            </a:r>
            <a:endParaRPr sz="2400" dirty="0">
              <a:solidFill>
                <a:srgbClr val="FF0000"/>
              </a:solidFill>
              <a:latin typeface="Monaco"/>
              <a:cs typeface="Monac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091882"/>
            <a:ext cx="7794625" cy="4628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dirty="0">
                <a:latin typeface="Times New Roman"/>
                <a:cs typeface="Times New Roman"/>
              </a:rPr>
              <a:t>This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pseudocode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may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be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114" dirty="0">
                <a:latin typeface="Times New Roman"/>
                <a:cs typeface="Times New Roman"/>
              </a:rPr>
              <a:t>written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Java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as</a:t>
            </a:r>
            <a:endParaRPr sz="2300" dirty="0">
              <a:latin typeface="Times New Roman"/>
              <a:cs typeface="Times New Roman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r>
              <a:rPr lang="da-DK" sz="1400" spc="-7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sz="1400" dirty="0">
              <a:latin typeface="Monaco"/>
              <a:cs typeface="Monaco"/>
            </a:endParaRPr>
          </a:p>
          <a:p>
            <a:pPr marL="203200" marR="5080" indent="-191135">
              <a:lnSpc>
                <a:spcPct val="79800"/>
              </a:lnSpc>
              <a:spcBef>
                <a:spcPts val="430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spc="-30" dirty="0">
                <a:latin typeface="Times New Roman"/>
                <a:cs typeface="Times New Roman"/>
              </a:rPr>
              <a:t>If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10" dirty="0">
                <a:latin typeface="Monaco"/>
                <a:cs typeface="Monaco"/>
              </a:rPr>
              <a:t>studentGrade</a:t>
            </a:r>
            <a:r>
              <a:rPr sz="2300" spc="-1005" dirty="0">
                <a:latin typeface="Monaco"/>
                <a:cs typeface="Monaco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&gt;=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90</a:t>
            </a:r>
            <a:r>
              <a:rPr lang="da-DK" sz="2300" dirty="0">
                <a:latin typeface="Times New Roman"/>
                <a:cs typeface="Times New Roman"/>
              </a:rPr>
              <a:t> </a:t>
            </a:r>
            <a:r>
              <a:rPr sz="2300" spc="60" dirty="0">
                <a:latin typeface="Times New Roman"/>
                <a:cs typeface="Times New Roman"/>
              </a:rPr>
              <a:t>,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0" dirty="0">
                <a:latin typeface="Monaco"/>
                <a:cs typeface="Monaco"/>
              </a:rPr>
              <a:t>else</a:t>
            </a:r>
            <a:r>
              <a:rPr sz="2300" spc="-885" dirty="0">
                <a:latin typeface="Monaco"/>
                <a:cs typeface="Monaco"/>
              </a:rPr>
              <a:t> </a:t>
            </a:r>
            <a:r>
              <a:rPr sz="2300" spc="140" dirty="0">
                <a:latin typeface="Times New Roman"/>
                <a:cs typeface="Times New Roman"/>
              </a:rPr>
              <a:t>part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is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50" dirty="0">
                <a:latin typeface="Times New Roman"/>
                <a:cs typeface="Times New Roman"/>
              </a:rPr>
              <a:t>skipped.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pic>
        <p:nvPicPr>
          <p:cNvPr id="6" name="Picture 5" descr="A computer code with many text&#10;&#10;AI-generated content may be incorrect.">
            <a:extLst>
              <a:ext uri="{FF2B5EF4-FFF2-40B4-BE49-F238E27FC236}">
                <a16:creationId xmlns:a16="http://schemas.microsoft.com/office/drawing/2014/main" id="{6F96BE5D-064D-E766-30E8-699DF2B87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00200"/>
            <a:ext cx="4876800" cy="343511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tudent grade&#10;&#10;AI-generated content may be incorrect.">
            <a:extLst>
              <a:ext uri="{FF2B5EF4-FFF2-40B4-BE49-F238E27FC236}">
                <a16:creationId xmlns:a16="http://schemas.microsoft.com/office/drawing/2014/main" id="{E9DAF48E-F255-7EA5-3DEB-729B9D665D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0" y="1727200"/>
            <a:ext cx="7670800" cy="340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74DF23-5A7D-2052-0F22-FE5BE0E304E1}"/>
              </a:ext>
            </a:extLst>
          </p:cNvPr>
          <p:cNvSpPr/>
          <p:nvPr/>
        </p:nvSpPr>
        <p:spPr>
          <a:xfrm>
            <a:off x="2362200" y="1593780"/>
            <a:ext cx="7772400" cy="3505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 dirty="0"/>
              <a:t>break</a:t>
            </a:r>
            <a:endParaRPr lang="en-DK" sz="3600" dirty="0"/>
          </a:p>
        </p:txBody>
      </p:sp>
    </p:spTree>
    <p:extLst>
      <p:ext uri="{BB962C8B-B14F-4D97-AF65-F5344CB8AC3E}">
        <p14:creationId xmlns:p14="http://schemas.microsoft.com/office/powerpoint/2010/main" val="2254756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E83B-CEF5-E5E0-D31A-F5B2EDDA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469359"/>
          </a:xfrm>
        </p:spPr>
        <p:txBody>
          <a:bodyPr/>
          <a:lstStyle/>
          <a:p>
            <a:r>
              <a:rPr lang="en-DK" dirty="0"/>
              <a:t>Switch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50B01-73AF-C61C-7ABE-1A4AB305A893}"/>
              </a:ext>
            </a:extLst>
          </p:cNvPr>
          <p:cNvSpPr txBox="1"/>
          <p:nvPr/>
        </p:nvSpPr>
        <p:spPr>
          <a:xfrm>
            <a:off x="3048000" y="269396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A </a:t>
            </a:r>
            <a:r>
              <a:rPr lang="en-GB" b="1" dirty="0"/>
              <a:t>switch</a:t>
            </a:r>
            <a:r>
              <a:rPr lang="en-GB" dirty="0"/>
              <a:t> (often called a </a:t>
            </a:r>
            <a:r>
              <a:rPr lang="en-GB" i="1" dirty="0"/>
              <a:t>switch statement</a:t>
            </a:r>
            <a:r>
              <a:rPr lang="en-GB" dirty="0"/>
              <a:t>, not operator) is a control-flow structure used in many programming languages .It allows you to choose one action to execute out of many possible options, based on the value of a single expression.</a:t>
            </a:r>
          </a:p>
        </p:txBody>
      </p:sp>
    </p:spTree>
    <p:extLst>
      <p:ext uri="{BB962C8B-B14F-4D97-AF65-F5344CB8AC3E}">
        <p14:creationId xmlns:p14="http://schemas.microsoft.com/office/powerpoint/2010/main" val="3410783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cstate="print"/>
          <a:stretch>
            <a:fillRect/>
          </a:stretch>
        </p:blipFill>
        <p:spPr>
          <a:xfrm>
            <a:off x="685064" y="541515"/>
            <a:ext cx="1177844" cy="2936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9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Switch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BDE37-9C2C-9D85-3AF8-DFE90F97E5FF}"/>
              </a:ext>
            </a:extLst>
          </p:cNvPr>
          <p:cNvSpPr txBox="1"/>
          <p:nvPr/>
        </p:nvSpPr>
        <p:spPr>
          <a:xfrm>
            <a:off x="4025267" y="-228600"/>
            <a:ext cx="53340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java.util.Scanner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SwitchMonth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Scanner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sc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Scanner(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"Enter a string: 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 input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sc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input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"Jan"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1"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"Feb"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2"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"Mar"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3"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default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"You chose another month!"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GB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969</Words>
  <Application>Microsoft Macintosh PowerPoint</Application>
  <PresentationFormat>Widescreen</PresentationFormat>
  <Paragraphs>98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Google Sans</vt:lpstr>
      <vt:lpstr>JetBrains Mono</vt:lpstr>
      <vt:lpstr>Aptos</vt:lpstr>
      <vt:lpstr>Arial</vt:lpstr>
      <vt:lpstr>Calibri</vt:lpstr>
      <vt:lpstr>Monaco</vt:lpstr>
      <vt:lpstr>Times New Roman</vt:lpstr>
      <vt:lpstr>Verdana</vt:lpstr>
      <vt:lpstr>Wingdings 3</vt:lpstr>
      <vt:lpstr>Office Theme</vt:lpstr>
      <vt:lpstr>PowerPoint Presentation</vt:lpstr>
      <vt:lpstr>PowerPoint Presentation</vt:lpstr>
      <vt:lpstr>Truth table       - and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se more True/ False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3.5 if1.java</vt:lpstr>
      <vt:lpstr>PowerPoint Presentation</vt:lpstr>
      <vt:lpstr>3.5 if2.java</vt:lpstr>
      <vt:lpstr>3.5 if3.java (else if)</vt:lpstr>
      <vt:lpstr>PowerPoint Presentation</vt:lpstr>
      <vt:lpstr>PowerPoint Presentation</vt:lpstr>
      <vt:lpstr>PowerPoint Presentation</vt:lpstr>
      <vt:lpstr>Switch operator</vt:lpstr>
      <vt:lpstr>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6</cp:revision>
  <dcterms:created xsi:type="dcterms:W3CDTF">2025-09-10T05:39:38Z</dcterms:created>
  <dcterms:modified xsi:type="dcterms:W3CDTF">2026-09-16T06:26:11Z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2025-09-10T00:00:00Z</vt:filetime>
  </property>
</Properties>
</file>