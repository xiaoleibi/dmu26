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5"/>
  </p:notesMasterIdLst>
  <p:sldIdLst>
    <p:sldId id="256" r:id="rId5"/>
    <p:sldId id="257" r:id="rId6"/>
    <p:sldId id="278" r:id="rId7"/>
    <p:sldId id="279" r:id="rId8"/>
    <p:sldId id="280" r:id="rId9"/>
    <p:sldId id="277" r:id="rId10"/>
    <p:sldId id="263" r:id="rId11"/>
    <p:sldId id="429" r:id="rId12"/>
    <p:sldId id="264" r:id="rId13"/>
    <p:sldId id="265" r:id="rId14"/>
    <p:sldId id="419" r:id="rId15"/>
    <p:sldId id="420" r:id="rId16"/>
    <p:sldId id="421" r:id="rId17"/>
    <p:sldId id="423" r:id="rId18"/>
    <p:sldId id="424" r:id="rId19"/>
    <p:sldId id="418" r:id="rId20"/>
    <p:sldId id="426" r:id="rId21"/>
    <p:sldId id="428" r:id="rId22"/>
    <p:sldId id="286" r:id="rId23"/>
    <p:sldId id="430" r:id="rId24"/>
  </p:sldIdLst>
  <p:sldSz cx="12192000" cy="6858000"/>
  <p:notesSz cx="12192000" cy="68580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Default Section" id="{1E03BBBE-7511-D547-A27A-4E136D696A3B}">
          <p14:sldIdLst>
            <p14:sldId id="256"/>
            <p14:sldId id="257"/>
            <p14:sldId id="278"/>
            <p14:sldId id="279"/>
            <p14:sldId id="280"/>
            <p14:sldId id="277"/>
          </p14:sldIdLst>
        </p14:section>
        <p14:section name="array" id="{D65C5B59-6F2C-5C4B-BD56-289642C2A173}">
          <p14:sldIdLst>
            <p14:sldId id="263"/>
            <p14:sldId id="429"/>
            <p14:sldId id="264"/>
            <p14:sldId id="265"/>
          </p14:sldIdLst>
        </p14:section>
        <p14:section name="multi dimensional array" id="{794752A5-B35F-F44E-81C7-98C16FF883BA}">
          <p14:sldIdLst>
            <p14:sldId id="419"/>
            <p14:sldId id="420"/>
            <p14:sldId id="421"/>
            <p14:sldId id="423"/>
            <p14:sldId id="424"/>
            <p14:sldId id="418"/>
          </p14:sldIdLst>
        </p14:section>
        <p14:section name="array list" id="{3F993799-2BB1-894C-81AE-1AD852807EEA}">
          <p14:sldIdLst>
            <p14:sldId id="426"/>
            <p14:sldId id="428"/>
            <p14:sldId id="286"/>
            <p14:sldId id="43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7B8F11-E86D-415F-BC16-10A011ECC3CB}" v="14" dt="2025-09-18T06:24:41.393"/>
    <p1510:client id="{FF2D7CE9-32A1-406E-90A5-DF2CD5C41DA3}" v="84" dt="2025-09-17T14:53:43.48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87"/>
    <p:restoredTop sz="75439"/>
  </p:normalViewPr>
  <p:slideViewPr>
    <p:cSldViewPr>
      <p:cViewPr varScale="1">
        <p:scale>
          <a:sx n="80" d="100"/>
          <a:sy n="80" d="100"/>
        </p:scale>
        <p:origin x="117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9347E-893C-BE4D-82D7-086F268CE3C9}" type="datetimeFigureOut">
              <a:rPr lang="en-DK" smtClean="0"/>
              <a:t>23/09/2026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C4A44-45A6-9047-80DD-6777D98D193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9702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DK" dirty="0"/>
              <a:t>witch break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4083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int[] c = new int[] {10, 20, 30, 40};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int[] c;</a:t>
            </a:r>
          </a:p>
          <a:p>
            <a:pPr rtl="0"/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System.out.println(c.length); //Error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09127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(c) </a:t>
            </a: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 of rows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95021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4062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boxes are labeled, x 0, x 1, and x 2. The text at the bottom reads, x dot length is 3.</a:t>
            </a:r>
          </a:p>
          <a:p>
            <a:r>
              <a:rPr lang="en-US" dirty="0"/>
              <a:t>The first box contains four arrays as x 0 by 0, x 0 by 1, x 0 by 2, and x 0 by 3. The text reads, x 0 dot length is 4.</a:t>
            </a:r>
          </a:p>
          <a:p>
            <a:r>
              <a:rPr lang="en-US" dirty="0"/>
              <a:t>The second box contains four arrays as x 1 by 0, x 1 by 1, x 1 by 2, and x 1 by 3. The text reads, x 1 dot length is 4.</a:t>
            </a:r>
          </a:p>
          <a:p>
            <a:r>
              <a:rPr lang="en-US" dirty="0"/>
              <a:t>The third box contains four arrays as x 2 by 0, x 2 by 1, x 2 by 2, and x 2 by 3. The text reads, x 2 dot length is 4.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6907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DK" dirty="0"/>
              <a:t>A calendar where weeks may contain different numbers of days</a:t>
            </a:r>
          </a:p>
          <a:p>
            <a:pPr lvl="0"/>
            <a:r>
              <a:rPr lang="en-DK" dirty="0"/>
              <a:t>Data grouped into categories with different sizes</a:t>
            </a:r>
          </a:p>
          <a:p>
            <a:pPr lvl="0"/>
            <a:endParaRPr lang="en-DK" dirty="0"/>
          </a:p>
          <a:p>
            <a:pPr lvl="0"/>
            <a:r>
              <a:rPr lang="en-DK" b="1" dirty="0"/>
              <a:t>Same number of elements per row → regular 2D array.</a:t>
            </a:r>
            <a:br>
              <a:rPr lang="en-DK" dirty="0"/>
            </a:br>
            <a:r>
              <a:rPr lang="en-DK" b="1" dirty="0"/>
              <a:t>Different number of elements per row → ragged array.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6090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55357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Four Conten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CB7AFE-9851-46A0-B2FB-0A5EE6AEFC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75D3A394-A5AF-478E-AC3D-2714CFF806D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30124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5D721EFE-2C28-4C54-8BB9-3FCF3DECD1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50648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7">
            <a:extLst>
              <a:ext uri="{FF2B5EF4-FFF2-40B4-BE49-F238E27FC236}">
                <a16:creationId xmlns:a16="http://schemas.microsoft.com/office/drawing/2014/main" id="{99D20A0E-9225-48FB-91AF-C7D8DE4D66F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071171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Shape 35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8798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2272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wo Conten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1BB07C-705F-4113-A2C5-779D6EA64D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1556327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0D01C0-4FD2-4065-9EC3-96A3083982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3971925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Shape 35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78513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67964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2554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274320"/>
            <a:ext cx="10972800" cy="1097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70476" y="6624399"/>
            <a:ext cx="2407284" cy="121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0555"/>
            <a:chOff x="0" y="4953000"/>
            <a:chExt cx="12192000" cy="1900555"/>
          </a:xfrm>
        </p:grpSpPr>
        <p:sp>
          <p:nvSpPr>
            <p:cNvPr id="3" name="object 3"/>
            <p:cNvSpPr/>
            <p:nvPr/>
          </p:nvSpPr>
          <p:spPr>
            <a:xfrm>
              <a:off x="2247900" y="4953000"/>
              <a:ext cx="9944100" cy="485775"/>
            </a:xfrm>
            <a:custGeom>
              <a:avLst/>
              <a:gdLst/>
              <a:ahLst/>
              <a:cxnLst/>
              <a:rect l="l" t="t" r="r" b="b"/>
              <a:pathLst>
                <a:path w="9944100" h="485775">
                  <a:moveTo>
                    <a:pt x="9944100" y="0"/>
                  </a:moveTo>
                  <a:lnTo>
                    <a:pt x="0" y="288544"/>
                  </a:lnTo>
                  <a:lnTo>
                    <a:pt x="9944100" y="485775"/>
                  </a:lnTo>
                  <a:lnTo>
                    <a:pt x="9944100" y="0"/>
                  </a:lnTo>
                  <a:close/>
                </a:path>
              </a:pathLst>
            </a:custGeom>
            <a:solidFill>
              <a:srgbClr val="9FCA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831" y="5238750"/>
              <a:ext cx="12043410" cy="790575"/>
            </a:xfrm>
            <a:custGeom>
              <a:avLst/>
              <a:gdLst/>
              <a:ahLst/>
              <a:cxnLst/>
              <a:rect l="l" t="t" r="r" b="b"/>
              <a:pathLst>
                <a:path w="12043410" h="790575">
                  <a:moveTo>
                    <a:pt x="12043168" y="0"/>
                  </a:moveTo>
                  <a:lnTo>
                    <a:pt x="0" y="0"/>
                  </a:lnTo>
                  <a:lnTo>
                    <a:pt x="12043168" y="790575"/>
                  </a:lnTo>
                  <a:lnTo>
                    <a:pt x="12043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991036"/>
              <a:ext cx="12187301" cy="18622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3" y="4999355"/>
              <a:ext cx="12187626" cy="80149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962353" y="1057149"/>
            <a:ext cx="8416366" cy="2542427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r>
              <a:rPr lang="da-DK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Control Statements Loops </a:t>
            </a:r>
            <a:r>
              <a:rPr lang="en-US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 II</a:t>
            </a:r>
          </a:p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endParaRPr sz="5400" b="1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39260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Copyright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©</a:t>
            </a:r>
            <a:r>
              <a:rPr sz="750" spc="8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2020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Pearson</a:t>
            </a:r>
            <a:r>
              <a:rPr sz="750" spc="75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Education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Ltd.</a:t>
            </a:r>
            <a:r>
              <a:rPr sz="750" spc="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30" dirty="0">
                <a:solidFill>
                  <a:srgbClr val="E8EFF4"/>
                </a:solidFill>
                <a:latin typeface="Times New Roman"/>
                <a:cs typeface="Times New Roman"/>
              </a:rPr>
              <a:t>All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Rights</a:t>
            </a:r>
            <a:r>
              <a:rPr sz="750" spc="-10" dirty="0">
                <a:solidFill>
                  <a:srgbClr val="E8EFF4"/>
                </a:solidFill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l="-567" r="101" b="19137"/>
          <a:stretch>
            <a:fillRect/>
          </a:stretch>
        </p:blipFill>
        <p:spPr>
          <a:xfrm>
            <a:off x="2023476" y="1269389"/>
            <a:ext cx="8091341" cy="349265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jhtp_04_CS2_Page_4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29005" y="1200150"/>
            <a:ext cx="7333989" cy="44577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577103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311130" cy="1956435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203200" marR="8890" indent="-190500">
              <a:lnSpc>
                <a:spcPct val="103200"/>
              </a:lnSpc>
              <a:spcBef>
                <a:spcPts val="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3200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continue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statement,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when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executed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while</a:t>
            </a:r>
            <a:r>
              <a:rPr sz="2000" spc="-90" dirty="0">
                <a:latin typeface="Times New Roman"/>
                <a:cs typeface="Times New Roman"/>
              </a:rPr>
              <a:t>,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for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or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-140" dirty="0">
                <a:latin typeface="Monaco"/>
                <a:cs typeface="Monaco"/>
              </a:rPr>
              <a:t>do</a:t>
            </a:r>
            <a:r>
              <a:rPr sz="2000" spc="-140" dirty="0">
                <a:latin typeface="Times New Roman"/>
                <a:cs typeface="Times New Roman"/>
              </a:rPr>
              <a:t>…</a:t>
            </a:r>
            <a:r>
              <a:rPr sz="2000" spc="-140" dirty="0">
                <a:latin typeface="Monaco"/>
                <a:cs typeface="Monaco"/>
              </a:rPr>
              <a:t>while</a:t>
            </a:r>
            <a:r>
              <a:rPr sz="2000" spc="-140" dirty="0">
                <a:latin typeface="Times New Roman"/>
                <a:cs typeface="Times New Roman"/>
              </a:rPr>
              <a:t>,</a:t>
            </a:r>
            <a:r>
              <a:rPr sz="2000" spc="-155" dirty="0">
                <a:latin typeface="Times New Roman"/>
                <a:cs typeface="Times New Roman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skips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remaining </a:t>
            </a:r>
            <a:r>
              <a:rPr sz="2000" spc="100" dirty="0">
                <a:latin typeface="Times New Roman"/>
                <a:cs typeface="Times New Roman"/>
              </a:rPr>
              <a:t>statements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1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and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proceeds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next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iteration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loop.</a:t>
            </a:r>
            <a:endParaRPr sz="2000">
              <a:latin typeface="Times New Roman"/>
              <a:cs typeface="Times New Roman"/>
            </a:endParaRPr>
          </a:p>
          <a:p>
            <a:pPr marL="203200" marR="653415" indent="-190500">
              <a:lnSpc>
                <a:spcPct val="103200"/>
              </a:lnSpc>
              <a:spcBef>
                <a:spcPts val="1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3200" algn="l"/>
              </a:tabLst>
            </a:pPr>
            <a:r>
              <a:rPr sz="2000" spc="65" dirty="0">
                <a:latin typeface="Times New Roman"/>
                <a:cs typeface="Times New Roman"/>
              </a:rPr>
              <a:t>In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while</a:t>
            </a:r>
            <a:r>
              <a:rPr sz="2000" spc="-775" dirty="0">
                <a:latin typeface="Monaco"/>
                <a:cs typeface="Monaco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and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145" dirty="0">
                <a:latin typeface="Monaco"/>
                <a:cs typeface="Monaco"/>
              </a:rPr>
              <a:t>do</a:t>
            </a:r>
            <a:r>
              <a:rPr sz="2000" spc="-145" dirty="0">
                <a:latin typeface="Times New Roman"/>
                <a:cs typeface="Times New Roman"/>
              </a:rPr>
              <a:t>…</a:t>
            </a:r>
            <a:r>
              <a:rPr sz="2000" spc="-145" dirty="0">
                <a:latin typeface="Monaco"/>
                <a:cs typeface="Monaco"/>
              </a:rPr>
              <a:t>while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statements,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program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evaluates</a:t>
            </a:r>
            <a:r>
              <a:rPr sz="2000" spc="9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test </a:t>
            </a:r>
            <a:r>
              <a:rPr sz="2000" spc="60" dirty="0">
                <a:latin typeface="Times New Roman"/>
                <a:cs typeface="Times New Roman"/>
              </a:rPr>
              <a:t>immediately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after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continue</a:t>
            </a:r>
            <a:r>
              <a:rPr sz="2000" spc="-880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spc="35" dirty="0">
                <a:latin typeface="Times New Roman"/>
                <a:cs typeface="Times New Roman"/>
              </a:rPr>
              <a:t>executes.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5" dirty="0">
                <a:latin typeface="Times New Roman"/>
                <a:cs typeface="Times New Roman"/>
              </a:rPr>
              <a:t>In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for</a:t>
            </a:r>
            <a:r>
              <a:rPr sz="2000" spc="-780" dirty="0">
                <a:latin typeface="Monaco"/>
                <a:cs typeface="Monaco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statement,</a:t>
            </a:r>
            <a:r>
              <a:rPr sz="2000" spc="114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expression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executes,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program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evaluates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40" dirty="0">
                <a:latin typeface="Times New Roman"/>
                <a:cs typeface="Times New Roman"/>
              </a:rPr>
              <a:t>loop-</a:t>
            </a:r>
            <a:endParaRPr sz="2000">
              <a:latin typeface="Times New Roman"/>
              <a:cs typeface="Times New Roman"/>
            </a:endParaRPr>
          </a:p>
          <a:p>
            <a:pPr marL="203200">
              <a:lnSpc>
                <a:spcPct val="100000"/>
              </a:lnSpc>
              <a:spcBef>
                <a:spcPts val="80"/>
              </a:spcBef>
            </a:pP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test.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jhtp_04_CS2_Page_4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76409" y="1223857"/>
            <a:ext cx="7839180" cy="44102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3" y="714031"/>
            <a:ext cx="5453158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634345" cy="1641475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203200" marR="5080" indent="-190500">
              <a:lnSpc>
                <a:spcPct val="103200"/>
              </a:lnSpc>
              <a:spcBef>
                <a:spcPts val="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3200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break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statement,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when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executed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14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while</a:t>
            </a:r>
            <a:r>
              <a:rPr sz="2000" spc="-90" dirty="0">
                <a:latin typeface="Times New Roman"/>
                <a:cs typeface="Times New Roman"/>
              </a:rPr>
              <a:t>,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for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-145" dirty="0">
                <a:latin typeface="Monaco"/>
                <a:cs typeface="Monaco"/>
              </a:rPr>
              <a:t>do</a:t>
            </a:r>
            <a:r>
              <a:rPr sz="2000" spc="-145" dirty="0">
                <a:latin typeface="Times New Roman"/>
                <a:cs typeface="Times New Roman"/>
              </a:rPr>
              <a:t>…</a:t>
            </a:r>
            <a:r>
              <a:rPr sz="2000" spc="-145" dirty="0">
                <a:latin typeface="Monaco"/>
                <a:cs typeface="Monaco"/>
              </a:rPr>
              <a:t>while</a:t>
            </a:r>
            <a:r>
              <a:rPr sz="2000" spc="-790" dirty="0">
                <a:latin typeface="Monaco"/>
                <a:cs typeface="Monaco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or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switch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155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causes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immediate </a:t>
            </a:r>
            <a:r>
              <a:rPr sz="2000" spc="55" dirty="0">
                <a:latin typeface="Times New Roman"/>
                <a:cs typeface="Times New Roman"/>
              </a:rPr>
              <a:t>exit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that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statement.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45" dirty="0">
                <a:latin typeface="Times New Roman"/>
                <a:cs typeface="Times New Roman"/>
              </a:rPr>
              <a:t>Execution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continues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first</a:t>
            </a:r>
            <a:r>
              <a:rPr sz="2000" spc="-13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statement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after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statement.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Common</a:t>
            </a:r>
            <a:r>
              <a:rPr sz="2000" spc="150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uses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break</a:t>
            </a:r>
            <a:r>
              <a:rPr sz="2000" spc="-770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are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escape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early</a:t>
            </a:r>
            <a:r>
              <a:rPr sz="2000" spc="9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</a:t>
            </a:r>
            <a:r>
              <a:rPr sz="2000" spc="7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or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skip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remainder</a:t>
            </a:r>
            <a:endParaRPr sz="2000">
              <a:latin typeface="Times New Roman"/>
              <a:cs typeface="Times New Roman"/>
            </a:endParaRPr>
          </a:p>
          <a:p>
            <a:pPr marL="203200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Monaco"/>
                <a:cs typeface="Monaco"/>
              </a:rPr>
              <a:t>switch</a:t>
            </a:r>
            <a:r>
              <a:rPr sz="2000" spc="-10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  <p:extLst>
      <p:ext uri="{BB962C8B-B14F-4D97-AF65-F5344CB8AC3E}">
        <p14:creationId xmlns:p14="http://schemas.microsoft.com/office/powerpoint/2010/main" val="602803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169159" y="1424940"/>
            <a:ext cx="7658100" cy="34496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dirty="0"/>
              <a:t>Initiate array</a:t>
            </a:r>
          </a:p>
          <a:p>
            <a:pPr marL="534035">
              <a:lnSpc>
                <a:spcPts val="3010"/>
              </a:lnSpc>
              <a:spcBef>
                <a:spcPts val="100"/>
              </a:spcBef>
              <a:buClr>
                <a:srgbClr val="DA1F28"/>
              </a:buClr>
              <a:tabLst>
                <a:tab pos="762000" algn="l"/>
              </a:tabLst>
            </a:pPr>
            <a:endParaRPr lang="da-DK" sz="2600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534035">
              <a:lnSpc>
                <a:spcPts val="3010"/>
              </a:lnSpc>
              <a:spcBef>
                <a:spcPts val="100"/>
              </a:spcBef>
              <a:buClr>
                <a:srgbClr val="DA1F28"/>
              </a:buClr>
              <a:tabLst>
                <a:tab pos="762000" algn="l"/>
              </a:tabLst>
            </a:pPr>
            <a:endParaRPr lang="en-DK" sz="2600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534035">
              <a:lnSpc>
                <a:spcPts val="3010"/>
              </a:lnSpc>
              <a:spcBef>
                <a:spcPts val="100"/>
              </a:spcBef>
              <a:buClr>
                <a:srgbClr val="DA1F28"/>
              </a:buClr>
              <a:tabLst>
                <a:tab pos="762000" algn="l"/>
              </a:tabLst>
            </a:pPr>
            <a:r>
              <a:rPr sz="260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2600" dirty="0">
                <a:latin typeface="Monaco"/>
                <a:cs typeface="Monaco"/>
              </a:rPr>
              <a:t>[]</a:t>
            </a:r>
            <a:r>
              <a:rPr sz="2600" spc="-25" dirty="0">
                <a:latin typeface="Monaco"/>
                <a:cs typeface="Monaco"/>
              </a:rPr>
              <a:t> </a:t>
            </a:r>
            <a:r>
              <a:rPr sz="2600" dirty="0">
                <a:latin typeface="Monaco"/>
                <a:cs typeface="Monaco"/>
              </a:rPr>
              <a:t>c</a:t>
            </a:r>
            <a:r>
              <a:rPr sz="2600" spc="-10" dirty="0">
                <a:latin typeface="Monaco"/>
                <a:cs typeface="Monaco"/>
              </a:rPr>
              <a:t> </a:t>
            </a:r>
            <a:r>
              <a:rPr sz="2600" dirty="0">
                <a:latin typeface="Monaco"/>
                <a:cs typeface="Monaco"/>
              </a:rPr>
              <a:t>=</a:t>
            </a:r>
            <a:r>
              <a:rPr sz="2600" spc="-15" dirty="0">
                <a:latin typeface="Monaco"/>
                <a:cs typeface="Monaco"/>
              </a:rPr>
              <a:t> </a:t>
            </a:r>
            <a:r>
              <a:rPr sz="2600" dirty="0">
                <a:solidFill>
                  <a:srgbClr val="0000FF"/>
                </a:solidFill>
                <a:latin typeface="Monaco"/>
                <a:cs typeface="Monaco"/>
              </a:rPr>
              <a:t>new</a:t>
            </a:r>
            <a:r>
              <a:rPr sz="2600" spc="-10" dirty="0">
                <a:solidFill>
                  <a:srgbClr val="0000FF"/>
                </a:solidFill>
                <a:latin typeface="Monaco"/>
                <a:cs typeface="Monaco"/>
              </a:rPr>
              <a:t> int</a:t>
            </a:r>
            <a:r>
              <a:rPr sz="2600" spc="-10" dirty="0">
                <a:latin typeface="Monaco"/>
                <a:cs typeface="Monaco"/>
              </a:rPr>
              <a:t>[</a:t>
            </a:r>
            <a:r>
              <a:rPr sz="2600" spc="-10" dirty="0">
                <a:solidFill>
                  <a:srgbClr val="128AFF"/>
                </a:solidFill>
                <a:latin typeface="Monaco"/>
                <a:cs typeface="Monaco"/>
              </a:rPr>
              <a:t>12</a:t>
            </a:r>
            <a:r>
              <a:rPr sz="2600" spc="-10" dirty="0">
                <a:latin typeface="Monaco"/>
                <a:cs typeface="Monaco"/>
              </a:rPr>
              <a:t>];</a:t>
            </a:r>
            <a:endParaRPr sz="2600" dirty="0">
              <a:latin typeface="Monaco"/>
              <a:cs typeface="Monaco"/>
            </a:endParaRP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endParaRPr lang="en-DK" sz="2600" dirty="0">
              <a:latin typeface="Monaco"/>
              <a:cs typeface="Times New Roman"/>
            </a:endParaRP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endParaRPr lang="en-DK" sz="2600" dirty="0">
              <a:latin typeface="Monaco"/>
              <a:cs typeface="Times New Roman"/>
            </a:endParaRP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r>
              <a:rPr lang="en-GB" sz="2800" dirty="0"/>
              <a:t>Java arrays are </a:t>
            </a:r>
            <a:r>
              <a:rPr lang="en-GB" sz="2800" b="1" dirty="0"/>
              <a:t>fixed in size</a:t>
            </a:r>
            <a:r>
              <a:rPr lang="en-GB" sz="2800" dirty="0"/>
              <a:t>, so once created, you </a:t>
            </a:r>
            <a:r>
              <a:rPr lang="en-GB" sz="2800" b="1" dirty="0"/>
              <a:t>cannot change its length</a:t>
            </a:r>
            <a:r>
              <a:rPr lang="en-GB" sz="2800" dirty="0"/>
              <a:t>.</a:t>
            </a: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endParaRPr lang="da-DK" sz="26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8D178F-0B00-E530-B746-36196C1F8D9D}"/>
              </a:ext>
            </a:extLst>
          </p:cNvPr>
          <p:cNvSpPr txBox="1"/>
          <p:nvPr/>
        </p:nvSpPr>
        <p:spPr>
          <a:xfrm>
            <a:off x="3048000" y="3198168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en-DK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int[] c;</a:t>
            </a:r>
          </a:p>
          <a:p>
            <a:pPr rtl="0"/>
            <a:r>
              <a:rPr lang="en-DK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System.out.println(c.length); //Error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A9CCF-6C8A-8EA7-EB58-1B869A248DF5}"/>
              </a:ext>
            </a:extLst>
          </p:cNvPr>
          <p:cNvSpPr txBox="1"/>
          <p:nvPr/>
        </p:nvSpPr>
        <p:spPr>
          <a:xfrm>
            <a:off x="2819400" y="1600200"/>
            <a:ext cx="6096000" cy="485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dirty="0"/>
              <a:t>What is the error in java</a:t>
            </a:r>
          </a:p>
        </p:txBody>
      </p:sp>
    </p:spTree>
    <p:extLst>
      <p:ext uri="{BB962C8B-B14F-4D97-AF65-F5344CB8AC3E}">
        <p14:creationId xmlns:p14="http://schemas.microsoft.com/office/powerpoint/2010/main" val="2283716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3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3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CEA6-4E46-4E73-878B-F0D7BA829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Two-Dimensional Array Illustration</a:t>
            </a:r>
          </a:p>
        </p:txBody>
      </p:sp>
      <p:pic>
        <p:nvPicPr>
          <p:cNvPr id="9" name="Picture 8" descr="A two dimensional array illustration shows three arrays as follows. For long description in Notes pane, press F6.&#10;">
            <a:extLst>
              <a:ext uri="{FF2B5EF4-FFF2-40B4-BE49-F238E27FC236}">
                <a16:creationId xmlns:a16="http://schemas.microsoft.com/office/drawing/2014/main" id="{2EF6DE90-4223-48F1-9F1E-A16C969C3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553" y="1607585"/>
            <a:ext cx="8148316" cy="34999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2C6107-E38A-4D57-900B-422B4CA1C73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981200" y="5243808"/>
            <a:ext cx="2971800" cy="553998"/>
          </a:xfrm>
        </p:spPr>
        <p:txBody>
          <a:bodyPr/>
          <a:lstStyle/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matrix[0].length?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3D44F6-6EDE-4643-89B9-7BA43F8D419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448221" y="5244088"/>
            <a:ext cx="2736827" cy="553998"/>
          </a:xfrm>
        </p:spPr>
        <p:txBody>
          <a:bodyPr/>
          <a:lstStyle/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array.length? 4</a:t>
            </a:r>
          </a:p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array[0].length? 3</a:t>
            </a:r>
          </a:p>
        </p:txBody>
      </p:sp>
    </p:spTree>
    <p:extLst>
      <p:ext uri="{BB962C8B-B14F-4D97-AF65-F5344CB8AC3E}">
        <p14:creationId xmlns:p14="http://schemas.microsoft.com/office/powerpoint/2010/main" val="1984370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66B09-D8F1-4DA0-9418-EEB60EE0D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43130"/>
            <a:ext cx="8309429" cy="1169521"/>
          </a:xfrm>
        </p:spPr>
        <p:txBody>
          <a:bodyPr/>
          <a:lstStyle/>
          <a:p>
            <a:r>
              <a:rPr lang="en-US" sz="3200" dirty="0"/>
              <a:t>Declaring, Creating, and Initializing Using Shorthand Notations</a:t>
            </a:r>
          </a:p>
        </p:txBody>
      </p:sp>
      <p:pic>
        <p:nvPicPr>
          <p:cNvPr id="7" name="Picture 6" descr="A left side text box shows the Two-dimensional Arrays. For long description in Notes pane, press F6.">
            <a:extLst>
              <a:ext uri="{FF2B5EF4-FFF2-40B4-BE49-F238E27FC236}">
                <a16:creationId xmlns:a16="http://schemas.microsoft.com/office/drawing/2014/main" id="{4D3939B4-E065-4DB0-ADDF-642FDB2C8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553" y="1560450"/>
            <a:ext cx="8148316" cy="34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948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D2F01-BDBA-403E-B21E-5EC6E6DD2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635572"/>
            <a:ext cx="10972800" cy="677078"/>
          </a:xfrm>
        </p:spPr>
        <p:txBody>
          <a:bodyPr/>
          <a:lstStyle/>
          <a:p>
            <a:r>
              <a:rPr lang="en-US" sz="3200" dirty="0"/>
              <a:t>Lengths of Two-Dimensional Arrays </a:t>
            </a:r>
            <a:r>
              <a:rPr lang="en-US" sz="2000" b="0" dirty="0"/>
              <a:t>(1 of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451B2-6AD8-4216-9D92-4ADF37A866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8229600" cy="369332"/>
          </a:xfrm>
        </p:spPr>
        <p:txBody>
          <a:bodyPr/>
          <a:lstStyle/>
          <a:p>
            <a:pPr marL="432" indent="0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int[][] x = new int[3][4];</a:t>
            </a:r>
          </a:p>
        </p:txBody>
      </p:sp>
      <p:pic>
        <p:nvPicPr>
          <p:cNvPr id="8" name="Picture 7" descr="A column labeled, x with three boxes. For long description in Notes pane, press F6.">
            <a:extLst>
              <a:ext uri="{FF2B5EF4-FFF2-40B4-BE49-F238E27FC236}">
                <a16:creationId xmlns:a16="http://schemas.microsoft.com/office/drawing/2014/main" id="{FD9270A2-DD13-4A4A-9FEE-CE2A4678E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225" y="2427053"/>
            <a:ext cx="8039550" cy="234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026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B3F29-CCA3-439C-9B49-E35C23E89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Ragged Arrays -</a:t>
            </a:r>
            <a:r>
              <a:rPr lang="en-DK" dirty="0"/>
              <a:t>Asymmetriske arrays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77A37-3150-4790-8FCD-13B5C995FE7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4734232" cy="4608000"/>
          </a:xfrm>
        </p:spPr>
        <p:txBody>
          <a:bodyPr/>
          <a:lstStyle/>
          <a:p>
            <a:pPr marL="432" indent="0">
              <a:spcBef>
                <a:spcPts val="1200"/>
              </a:spcBef>
            </a:pPr>
            <a:r>
              <a:rPr lang="en-US" sz="2000" dirty="0"/>
              <a:t>Each row in a two-dimensional array is itself an array. So, the rows can have different lengths. Such an array is known as a </a:t>
            </a:r>
            <a:r>
              <a:rPr lang="en-US" sz="2000" b="1" dirty="0"/>
              <a:t>ragged array</a:t>
            </a:r>
            <a:r>
              <a:rPr lang="en-US" sz="2000" dirty="0"/>
              <a:t>. For example,</a:t>
            </a:r>
          </a:p>
          <a:p>
            <a:pPr marL="432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int[][] matrix = {</a:t>
            </a:r>
          </a:p>
          <a:p>
            <a:pPr marL="432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{1, 2, 3, 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{2, 3, 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{3, 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{5}</a:t>
            </a:r>
          </a:p>
          <a:p>
            <a:pPr marL="432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1D8BB-72BD-4C3A-AE5D-02C4C3ACE01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07162" y="3252610"/>
            <a:ext cx="3303639" cy="1846659"/>
          </a:xfrm>
        </p:spPr>
        <p:txBody>
          <a:bodyPr/>
          <a:lstStyle/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matrix.length </a:t>
            </a:r>
            <a:r>
              <a:rPr lang="en-US" sz="2000" dirty="0"/>
              <a:t>is 5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matrix[0].length </a:t>
            </a:r>
            <a:r>
              <a:rPr lang="en-US" sz="2000" dirty="0"/>
              <a:t>is 5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matrix[1].length </a:t>
            </a:r>
            <a:r>
              <a:rPr lang="en-US" sz="2000" dirty="0"/>
              <a:t>is 4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matrix[2].length </a:t>
            </a:r>
            <a:r>
              <a:rPr lang="en-US" sz="2000" dirty="0"/>
              <a:t>is 3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matrix[3].length </a:t>
            </a:r>
            <a:r>
              <a:rPr lang="en-US" sz="2000" dirty="0"/>
              <a:t>is 2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matrix[4].length </a:t>
            </a:r>
            <a:r>
              <a:rPr lang="en-US" sz="2000" dirty="0"/>
              <a:t>is 1</a:t>
            </a:r>
          </a:p>
        </p:txBody>
      </p:sp>
    </p:spTree>
    <p:extLst>
      <p:ext uri="{BB962C8B-B14F-4D97-AF65-F5344CB8AC3E}">
        <p14:creationId xmlns:p14="http://schemas.microsoft.com/office/powerpoint/2010/main" val="1769298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566C5-24B1-4E61-A5A3-59A40E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Ragged Arrays </a:t>
            </a:r>
            <a:r>
              <a:rPr lang="en-US" sz="2000" b="0" dirty="0"/>
              <a:t>(2 of 2)</a:t>
            </a:r>
            <a:endParaRPr lang="en-US" b="0" dirty="0"/>
          </a:p>
        </p:txBody>
      </p:sp>
      <p:pic>
        <p:nvPicPr>
          <p:cNvPr id="7" name="Picture 6" descr="int left bracket right bracket, left bracket right bracket triangleArray = left brace. For long description in Notes pane, press F6.">
            <a:extLst>
              <a:ext uri="{FF2B5EF4-FFF2-40B4-BE49-F238E27FC236}">
                <a16:creationId xmlns:a16="http://schemas.microsoft.com/office/drawing/2014/main" id="{13D2AE24-9F89-4536-963B-94E209F5D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8714" y="1863189"/>
            <a:ext cx="7914572" cy="3131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384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EE1E3-365C-4ECC-8B21-BD5FDC2E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266240"/>
            <a:ext cx="10972800" cy="1046410"/>
          </a:xfrm>
        </p:spPr>
        <p:txBody>
          <a:bodyPr/>
          <a:lstStyle/>
          <a:p>
            <a:r>
              <a:rPr lang="en-US" sz="2800" dirty="0"/>
              <a:t>Declaring Variables of Two-Dimensional Arrays and Creating Two-Dimensional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99C23-F0B4-4D59-A45B-A62D155166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800" y="1582340"/>
            <a:ext cx="7272000" cy="3693319"/>
          </a:xfrm>
        </p:spPr>
        <p:txBody>
          <a:bodyPr/>
          <a:lstStyle/>
          <a:p>
            <a:r>
              <a:rPr lang="en-DK" dirty="0"/>
              <a:t>int[][] toArray = { { 3, 8, 3, 5, 1 },</a:t>
            </a:r>
          </a:p>
          <a:p>
            <a:r>
              <a:rPr lang="en-DK" dirty="0"/>
              <a:t>{ 5, 2, 4, 7, 2 },</a:t>
            </a:r>
          </a:p>
          <a:p>
            <a:r>
              <a:rPr lang="en-DK" dirty="0"/>
              <a:t>{ 6, 1, 4, 0, 9 } };</a:t>
            </a:r>
          </a:p>
          <a:p>
            <a:br>
              <a:rPr lang="en-DK" dirty="0"/>
            </a:br>
            <a:endParaRPr lang="en-DK" dirty="0"/>
          </a:p>
          <a:p>
            <a:r>
              <a:rPr lang="en-DK" dirty="0"/>
              <a:t>for (int række = 0; række &lt; </a:t>
            </a:r>
            <a:r>
              <a:rPr lang="en-DK" dirty="0">
                <a:solidFill>
                  <a:srgbClr val="FF0000"/>
                </a:solidFill>
              </a:rPr>
              <a:t>3</a:t>
            </a:r>
            <a:r>
              <a:rPr lang="en-DK" dirty="0"/>
              <a:t>; række++) {</a:t>
            </a:r>
          </a:p>
          <a:p>
            <a:r>
              <a:rPr lang="en-DK" dirty="0"/>
              <a:t>	for (int kolonne = 0; kolonne &lt; </a:t>
            </a:r>
            <a:r>
              <a:rPr lang="en-DK" dirty="0">
                <a:solidFill>
                  <a:srgbClr val="FF0000"/>
                </a:solidFill>
              </a:rPr>
              <a:t>5</a:t>
            </a:r>
            <a:r>
              <a:rPr lang="en-DK" dirty="0"/>
              <a:t>; kolonne++)</a:t>
            </a:r>
          </a:p>
          <a:p>
            <a:r>
              <a:rPr lang="en-DK" dirty="0"/>
              <a:t>	System.out.print(toArray[række][kolonne] + " ");</a:t>
            </a:r>
          </a:p>
          <a:p>
            <a:r>
              <a:rPr lang="en-DK" dirty="0"/>
              <a:t>	System.out.println();</a:t>
            </a:r>
          </a:p>
          <a:p>
            <a:r>
              <a:rPr lang="en-DK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8F019-1FD1-81D6-A20C-F548FB57C701}"/>
              </a:ext>
            </a:extLst>
          </p:cNvPr>
          <p:cNvSpPr txBox="1"/>
          <p:nvPr/>
        </p:nvSpPr>
        <p:spPr>
          <a:xfrm>
            <a:off x="2590800" y="6096000"/>
            <a:ext cx="5250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C</a:t>
            </a:r>
            <a:r>
              <a:rPr lang="en-DK" dirty="0">
                <a:solidFill>
                  <a:srgbClr val="FF0000"/>
                </a:solidFill>
              </a:rPr>
              <a:t>an you make a better version? Hint ArrayLength</a:t>
            </a:r>
          </a:p>
        </p:txBody>
      </p:sp>
    </p:spTree>
    <p:extLst>
      <p:ext uri="{BB962C8B-B14F-4D97-AF65-F5344CB8AC3E}">
        <p14:creationId xmlns:p14="http://schemas.microsoft.com/office/powerpoint/2010/main" val="16195152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69160" y="2427732"/>
            <a:ext cx="290258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7970" indent="-255270">
              <a:spcBef>
                <a:spcPts val="10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7970" algn="l"/>
              </a:tabLst>
            </a:pPr>
            <a:r>
              <a:rPr sz="2600" dirty="0">
                <a:latin typeface="Times New Roman"/>
                <a:cs typeface="Times New Roman"/>
              </a:rPr>
              <a:t>The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collection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class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41277" y="2431852"/>
            <a:ext cx="1657350" cy="408445"/>
          </a:xfrm>
          <a:prstGeom prst="rect">
            <a:avLst/>
          </a:prstGeom>
          <a:solidFill>
            <a:srgbClr val="FF6100">
              <a:alpha val="39999"/>
            </a:srgbClr>
          </a:solidFill>
        </p:spPr>
        <p:txBody>
          <a:bodyPr vert="horz" wrap="square" lIns="0" tIns="8255" rIns="0" bIns="0" rtlCol="0">
            <a:spAutoFit/>
          </a:bodyPr>
          <a:lstStyle/>
          <a:p>
            <a:pPr>
              <a:spcBef>
                <a:spcPts val="65"/>
              </a:spcBef>
            </a:pPr>
            <a:r>
              <a:rPr sz="2600" spc="-165" dirty="0">
                <a:solidFill>
                  <a:srgbClr val="0000FF"/>
                </a:solidFill>
                <a:latin typeface="Arial"/>
                <a:cs typeface="Arial"/>
              </a:rPr>
              <a:t>ArrayList&lt;T&gt;</a:t>
            </a:r>
            <a:endParaRPr sz="2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69367" y="2427732"/>
            <a:ext cx="319341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dirty="0">
                <a:latin typeface="Times New Roman"/>
                <a:cs typeface="Times New Roman"/>
              </a:rPr>
              <a:t>(package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Monaco"/>
                <a:cs typeface="Monaco"/>
              </a:rPr>
              <a:t>java.util</a:t>
            </a:r>
            <a:r>
              <a:rPr sz="2600" spc="-10" dirty="0">
                <a:latin typeface="Times New Roman"/>
                <a:cs typeface="Times New Roman"/>
              </a:rPr>
              <a:t>)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69160" y="2744724"/>
            <a:ext cx="7801609" cy="1086964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268605" marR="350520" algn="just">
              <a:lnSpc>
                <a:spcPts val="2520"/>
              </a:lnSpc>
              <a:spcBef>
                <a:spcPts val="680"/>
              </a:spcBef>
            </a:pPr>
            <a:r>
              <a:rPr sz="2600" dirty="0">
                <a:latin typeface="Times New Roman"/>
                <a:cs typeface="Times New Roman"/>
              </a:rPr>
              <a:t>can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i="1" dirty="0">
                <a:latin typeface="Times New Roman"/>
                <a:cs typeface="Times New Roman"/>
              </a:rPr>
              <a:t>dynamically</a:t>
            </a:r>
            <a:r>
              <a:rPr sz="2600" i="1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change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its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size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to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accommodate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more </a:t>
            </a:r>
            <a:r>
              <a:rPr sz="2600" spc="-10" dirty="0">
                <a:latin typeface="Times New Roman"/>
                <a:cs typeface="Times New Roman"/>
              </a:rPr>
              <a:t>elements.</a:t>
            </a:r>
            <a:endParaRPr sz="2600" dirty="0">
              <a:latin typeface="Times New Roman"/>
              <a:cs typeface="Times New Roman"/>
            </a:endParaRPr>
          </a:p>
          <a:p>
            <a:pPr marL="12701" marR="5080" algn="just">
              <a:lnSpc>
                <a:spcPct val="80400"/>
              </a:lnSpc>
              <a:spcBef>
                <a:spcPts val="295"/>
              </a:spcBef>
              <a:buClr>
                <a:srgbClr val="2DA2BF"/>
              </a:buClr>
              <a:buSzPct val="69230"/>
              <a:tabLst>
                <a:tab pos="268605" algn="l"/>
              </a:tabLst>
            </a:pP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880DD-387B-A5B4-678F-6CEE0AE527F0}"/>
              </a:ext>
            </a:extLst>
          </p:cNvPr>
          <p:cNvSpPr txBox="1"/>
          <p:nvPr/>
        </p:nvSpPr>
        <p:spPr>
          <a:xfrm>
            <a:off x="2023745" y="442625"/>
            <a:ext cx="6096000" cy="485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dirty="0" err="1"/>
              <a:t>ArrayList</a:t>
            </a:r>
            <a:endParaRPr lang="en-GB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3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85AADD-4122-DC56-D179-420BD0CF37B5}"/>
              </a:ext>
            </a:extLst>
          </p:cNvPr>
          <p:cNvSpPr txBox="1"/>
          <p:nvPr/>
        </p:nvSpPr>
        <p:spPr>
          <a:xfrm>
            <a:off x="3048000" y="381000"/>
            <a:ext cx="6096000" cy="10895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import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java.util.ArrayList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ArrayListFruit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GB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Create an </a:t>
            </a:r>
            <a:r>
              <a:rPr lang="en-GB" i="1" dirty="0" err="1">
                <a:solidFill>
                  <a:srgbClr val="8C8C8C"/>
                </a:solidFill>
                <a:effectLst/>
                <a:latin typeface="JetBrains Mono"/>
              </a:rPr>
              <a:t>ArrayList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of Strings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ArrayList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&lt;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&gt;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ArrayList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&lt;&gt;();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Add elements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"Apple"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  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Add at the end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"Banana"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"Orange"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"Mango"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Add at specific index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"Fruits: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Access an element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firstFruit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.get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"First fruit: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firstFruit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Remove an element by value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.remove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"Banana"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"After removing Banana: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Remove an element by index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.remove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      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Removes Mango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"After removing index 1: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Get the size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"Number of fruits: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.size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Check if </a:t>
            </a:r>
            <a:r>
              <a:rPr lang="en-GB" i="1" dirty="0" err="1">
                <a:solidFill>
                  <a:srgbClr val="8C8C8C"/>
                </a:solidFill>
                <a:effectLst/>
                <a:latin typeface="JetBrains Mono"/>
              </a:rPr>
              <a:t>ArrayList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contains an element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.contains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"Orange"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"Orange is in the list!"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Loop through </a:t>
            </a:r>
            <a:r>
              <a:rPr lang="en-GB" i="1" dirty="0" err="1">
                <a:solidFill>
                  <a:srgbClr val="8C8C8C"/>
                </a:solidFill>
                <a:effectLst/>
                <a:latin typeface="JetBrains Mono"/>
              </a:rPr>
              <a:t>ArrayList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.forEach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::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5123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F50CBA-00D5-8763-664B-53D059D1F9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909610"/>
              </p:ext>
            </p:extLst>
          </p:nvPr>
        </p:nvGraphicFramePr>
        <p:xfrm>
          <a:off x="1331828" y="1748551"/>
          <a:ext cx="7146258" cy="45822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2086">
                  <a:extLst>
                    <a:ext uri="{9D8B030D-6E8A-4147-A177-3AD203B41FA5}">
                      <a16:colId xmlns:a16="http://schemas.microsoft.com/office/drawing/2014/main" val="868601729"/>
                    </a:ext>
                  </a:extLst>
                </a:gridCol>
                <a:gridCol w="2382086">
                  <a:extLst>
                    <a:ext uri="{9D8B030D-6E8A-4147-A177-3AD203B41FA5}">
                      <a16:colId xmlns:a16="http://schemas.microsoft.com/office/drawing/2014/main" val="2735808270"/>
                    </a:ext>
                  </a:extLst>
                </a:gridCol>
                <a:gridCol w="2382086">
                  <a:extLst>
                    <a:ext uri="{9D8B030D-6E8A-4147-A177-3AD203B41FA5}">
                      <a16:colId xmlns:a16="http://schemas.microsoft.com/office/drawing/2014/main" val="21472022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Gruppe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Emne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Centrale begreber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2136787598"/>
                  </a:ext>
                </a:extLst>
              </a:tr>
              <a:tr h="7940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1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Arrays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Array, index, .length, oprettelse, adgang til elementer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3544554770"/>
                  </a:ext>
                </a:extLst>
              </a:tr>
              <a:tr h="10322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2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Continue &amp; Break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break, continue, kontrol af loops, hvornår en iteration stopper eller springes over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1672578455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3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Multidimensional Arrays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2D arrays, rows, columns, index, .length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4200528255"/>
                  </a:ext>
                </a:extLst>
              </a:tr>
              <a:tr h="10322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4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Ragged Arrays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Arrays med forskellige rækkelængder, nested arrays, .length på individuelle rækker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508680088"/>
                  </a:ext>
                </a:extLst>
              </a:tr>
              <a:tr h="7940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5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ArrayList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 dirty="0"/>
                        <a:t>ArrayList, add(), get(), remove(), size(), contains()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24273212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FD96243-D385-1454-90E6-749FBDEAD479}"/>
              </a:ext>
            </a:extLst>
          </p:cNvPr>
          <p:cNvSpPr txBox="1"/>
          <p:nvPr/>
        </p:nvSpPr>
        <p:spPr>
          <a:xfrm>
            <a:off x="1143000" y="527175"/>
            <a:ext cx="6096000" cy="485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dirty="0"/>
              <a:t>Check Out</a:t>
            </a:r>
          </a:p>
        </p:txBody>
      </p:sp>
    </p:spTree>
    <p:extLst>
      <p:ext uri="{BB962C8B-B14F-4D97-AF65-F5344CB8AC3E}">
        <p14:creationId xmlns:p14="http://schemas.microsoft.com/office/powerpoint/2010/main" val="711175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a6ec9fbdc07486795f51e30fe74f98ab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af1894268a3b1d0258822da1f8692495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7646C84-701A-4061-B977-6AA8F23187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51C73E0-21DE-44C0-AC09-20B6FA27554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DDC95283-C95E-4740-9B60-A5D5E7C0A0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179</TotalTime>
  <Words>1238</Words>
  <Application>Microsoft Macintosh PowerPoint</Application>
  <PresentationFormat>Widescreen</PresentationFormat>
  <Paragraphs>118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JetBrains Mono</vt:lpstr>
      <vt:lpstr>Aptos</vt:lpstr>
      <vt:lpstr>Arial</vt:lpstr>
      <vt:lpstr>Calibri</vt:lpstr>
      <vt:lpstr>Courier New</vt:lpstr>
      <vt:lpstr>Monaco</vt:lpstr>
      <vt:lpstr>Times New Roman</vt:lpstr>
      <vt:lpstr>Wingdings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Two-Dimensional Array Illustration</vt:lpstr>
      <vt:lpstr>Declaring, Creating, and Initializing Using Shorthand Notations</vt:lpstr>
      <vt:lpstr>Lengths of Two-Dimensional Arrays (1 of 2)</vt:lpstr>
      <vt:lpstr>Ragged Arrays -Asymmetriske arrays</vt:lpstr>
      <vt:lpstr>Ragged Arrays (2 of 2)</vt:lpstr>
      <vt:lpstr>Declaring Variables of Two-Dimensional Arrays and Creating Two-Dimensional Arrays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60</cp:revision>
  <dcterms:created xsi:type="dcterms:W3CDTF">2025-09-11T06:00:25Z</dcterms:created>
  <dcterms:modified xsi:type="dcterms:W3CDTF">2026-09-23T08:11:38Z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2025-09-11T00:00:00Z</vt:filetime>
  </property>
  <property fmtid="{D5CDD505-2E9C-101B-9397-08002B2CF9AE}" pid="4" name="ContentTypeId">
    <vt:lpwstr>0x010100E57D341C545B0A44A26A103333756E90</vt:lpwstr>
  </property>
</Properties>
</file>