
<file path=[Content_Types].xml><?xml version="1.0" encoding="utf-8"?>
<Types xmlns="http://schemas.openxmlformats.org/package/2006/content-types">
  <Default Extension="org&amp;utm_campaign=parser&amp;utm_content=thumbnail"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79" r:id="rId8"/>
    <p:sldId id="280"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6" r:id="rId23"/>
    <p:sldId id="278" r:id="rId24"/>
  </p:sldIdLst>
  <p:sldSz cx="9144000" cy="5143500" type="screen16x9"/>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7"/>
  </p:normalViewPr>
  <p:slideViewPr>
    <p:cSldViewPr snapToGrid="0">
      <p:cViewPr>
        <p:scale>
          <a:sx n="143" d="100"/>
          <a:sy n="143" d="100"/>
        </p:scale>
        <p:origin x="664" y="1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Velkommen til kurset om Algoritmer! I løbet af de næste tre timer vil vi dykke ned i, hvad algoritmer er, hvorfor de er vigtige, og hvordan man konstruerer dem. Vi vil starte med en introduktion, derefter gå i dybden med konstruktionsteknikker og kontrolstrukturer, og til sidst opsummere og lave nogle øvelser. Forbered jer på en spændende rejse ind i verden af algoritmer!</a:t>
            </a:r>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7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7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7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Før vi starter, er det vigtigt at vi alle er enige om, hvad vi håber at opnå med dette kursus. Vores hovedmål er at give dig en solid forståelse af, hvad en algoritme er og hvordan man arbejder med dem. Til sidst af sessionen, håber vi, at du kan definere en algoritme, forklare princippet om nedbrydning, genkende de vigtigste kontrolstrukturer, og endda selv skrive en algoritme til en simpel opgave.</a:t>
            </a:r>
            <a:endParaRPr/>
          </a:p>
        </p:txBody>
      </p:sp>
      <p:sp>
        <p:nvSpPr>
          <p:cNvPr id="7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05"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06"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07"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Før vi starter, er det vigtigt at vi alle er enige om, hvad vi håber at opnå med dette kursus. Vores hovedmål er at give dig en solid forståelse af, hvad en algoritme er og hvordan man arbejder med dem. Til sidst af sessionen, håber vi, at du kan definere en algoritme, forklare princippet om nedbrydning, genkende de vigtigste kontrolstrukturer, og endda selv skrive en algoritme til en simpel opgave.</a:t>
            </a:r>
            <a:endParaRPr/>
          </a:p>
        </p:txBody>
      </p:sp>
      <p:sp>
        <p:nvSpPr>
          <p:cNvPr id="108"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09"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12"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13"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14"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For at illustrere tankegangen bag algoritmer, lad os høre en anekdote om en ingeniør og en datalog. Både den ene og den anden konfronteres med en brand. Ingeniøren tager den pragmatiske vej: han tager en tom spand, fylder den og slukker branden. Datalogen imidlertid, finder en spand fyldt med vand, men da hans algoritme kræver en tom spand, tømmer han den først. Denne historie viser, at en algoritme er en fastsæt fremgangsmåde, som man følger uanset om det er den mest optimale i en given situation.</a:t>
            </a:r>
            <a:endParaRPr/>
          </a:p>
        </p:txBody>
      </p:sp>
      <p:sp>
        <p:nvSpPr>
          <p:cNvPr id="115"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16"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19"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20"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21"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Der er en vigtig forskel mellem en algoritme og et program. Når vi taler om algoritmer, fokuserer vi på selve løsningsmetoden, som er uafhængig af, hvilket programmeringssprog vi bruger. Det er en abstrakt beskrivelse. Et program er derimod en konkret implementering af denne algoritme i et specifikt sprog som Python eller Java. Altså er algoritmen den "idé", og programmet er "udførelsen".</a:t>
            </a:r>
            <a:endParaRPr/>
          </a:p>
        </p:txBody>
      </p:sp>
      <p:sp>
        <p:nvSpPr>
          <p:cNvPr id="122"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23"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26"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27"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28"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latin typeface="Arial"/>
                <a:ea typeface="Arial"/>
                <a:cs typeface="Arial"/>
                <a:sym typeface="Arial"/>
              </a:rPr>
              <a:t>Vidste</a:t>
            </a:r>
            <a:r>
              <a:rPr lang="en-US" sz="1400" b="0" i="0" u="none" strike="noStrike" dirty="0">
                <a:solidFill>
                  <a:srgbClr val="000000"/>
                </a:solidFill>
                <a:latin typeface="Arial"/>
                <a:ea typeface="Arial"/>
                <a:cs typeface="Arial"/>
                <a:sym typeface="Arial"/>
              </a:rPr>
              <a:t> du, at </a:t>
            </a:r>
            <a:r>
              <a:rPr lang="en-US" sz="1400" b="0" i="0" u="none" strike="noStrike" dirty="0" err="1">
                <a:solidFill>
                  <a:srgbClr val="000000"/>
                </a:solidFill>
                <a:latin typeface="Arial"/>
                <a:ea typeface="Arial"/>
                <a:cs typeface="Arial"/>
                <a:sym typeface="Arial"/>
              </a:rPr>
              <a:t>ordet</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algoritme</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har</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en</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fascinerende</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historie</a:t>
            </a:r>
            <a:r>
              <a:rPr lang="en-US" sz="1400" b="0" i="0" u="none" strike="noStrike" dirty="0">
                <a:solidFill>
                  <a:srgbClr val="000000"/>
                </a:solidFill>
                <a:latin typeface="Arial"/>
                <a:ea typeface="Arial"/>
                <a:cs typeface="Arial"/>
                <a:sym typeface="Arial"/>
              </a:rPr>
              <a:t>? Det stammer </a:t>
            </a:r>
            <a:r>
              <a:rPr lang="en-US" sz="1400" b="0" i="0" u="none" strike="noStrike" dirty="0" err="1">
                <a:solidFill>
                  <a:srgbClr val="000000"/>
                </a:solidFill>
                <a:latin typeface="Arial"/>
                <a:ea typeface="Arial"/>
                <a:cs typeface="Arial"/>
                <a:sym typeface="Arial"/>
              </a:rPr>
              <a:t>ikke</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fra</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latin</a:t>
            </a:r>
            <a:r>
              <a:rPr lang="en-US" sz="1400" b="0" i="0" u="none" strike="noStrike" dirty="0">
                <a:solidFill>
                  <a:srgbClr val="000000"/>
                </a:solidFill>
                <a:latin typeface="Arial"/>
                <a:ea typeface="Arial"/>
                <a:cs typeface="Arial"/>
                <a:sym typeface="Arial"/>
              </a:rPr>
              <a:t>, men </a:t>
            </a:r>
            <a:r>
              <a:rPr lang="en-US" sz="1400" b="0" i="0" u="none" strike="noStrike" dirty="0" err="1">
                <a:solidFill>
                  <a:srgbClr val="000000"/>
                </a:solidFill>
                <a:latin typeface="Arial"/>
                <a:ea typeface="Arial"/>
                <a:cs typeface="Arial"/>
                <a:sym typeface="Arial"/>
              </a:rPr>
              <a:t>fra</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en</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arabisk</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matematiker</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fra</a:t>
            </a:r>
            <a:r>
              <a:rPr lang="en-US" sz="1400" b="0" i="0" u="none" strike="noStrike" dirty="0">
                <a:solidFill>
                  <a:srgbClr val="000000"/>
                </a:solidFill>
                <a:latin typeface="Arial"/>
                <a:ea typeface="Arial"/>
                <a:cs typeface="Arial"/>
                <a:sym typeface="Arial"/>
              </a:rPr>
              <a:t> det 9. </a:t>
            </a:r>
            <a:r>
              <a:rPr lang="en-US" sz="1400" b="0" i="0" u="none" strike="noStrike" dirty="0" err="1">
                <a:solidFill>
                  <a:srgbClr val="000000"/>
                </a:solidFill>
                <a:latin typeface="Arial"/>
                <a:ea typeface="Arial"/>
                <a:cs typeface="Arial"/>
                <a:sym typeface="Arial"/>
              </a:rPr>
              <a:t>århundrede</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ved</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navn</a:t>
            </a:r>
            <a:r>
              <a:rPr lang="en-US" sz="1400" b="0" i="0" u="none" strike="noStrike" dirty="0">
                <a:solidFill>
                  <a:srgbClr val="000000"/>
                </a:solidFill>
                <a:latin typeface="Arial"/>
                <a:ea typeface="Arial"/>
                <a:cs typeface="Arial"/>
                <a:sym typeface="Arial"/>
              </a:rPr>
              <a:t> Abu Jafar Muhammad Ibn Musa Al-</a:t>
            </a:r>
            <a:r>
              <a:rPr lang="en-US" sz="1400" b="0" i="0" u="none" strike="noStrike" dirty="0" err="1">
                <a:solidFill>
                  <a:srgbClr val="000000"/>
                </a:solidFill>
                <a:latin typeface="Arial"/>
                <a:ea typeface="Arial"/>
                <a:cs typeface="Arial"/>
                <a:sym typeface="Arial"/>
              </a:rPr>
              <a:t>Khowarizmi</a:t>
            </a:r>
            <a:r>
              <a:rPr lang="en-US" sz="1400" b="0" i="0" u="none" strike="noStrike" dirty="0">
                <a:solidFill>
                  <a:srgbClr val="000000"/>
                </a:solidFill>
                <a:latin typeface="Arial"/>
                <a:ea typeface="Arial"/>
                <a:cs typeface="Arial"/>
                <a:sym typeface="Arial"/>
              </a:rPr>
              <a:t>. Det er </a:t>
            </a:r>
            <a:r>
              <a:rPr lang="en-US" sz="1400" b="0" i="0" u="none" strike="noStrike" dirty="0" err="1">
                <a:solidFill>
                  <a:srgbClr val="000000"/>
                </a:solidFill>
                <a:latin typeface="Arial"/>
                <a:ea typeface="Arial"/>
                <a:cs typeface="Arial"/>
                <a:sym typeface="Arial"/>
              </a:rPr>
              <a:t>fra</a:t>
            </a:r>
            <a:r>
              <a:rPr lang="en-US" sz="1400" b="0" i="0" u="none" strike="noStrike" dirty="0">
                <a:solidFill>
                  <a:srgbClr val="000000"/>
                </a:solidFill>
                <a:latin typeface="Arial"/>
                <a:ea typeface="Arial"/>
                <a:cs typeface="Arial"/>
                <a:sym typeface="Arial"/>
              </a:rPr>
              <a:t> den </a:t>
            </a:r>
            <a:r>
              <a:rPr lang="en-US" sz="1400" b="0" i="0" u="none" strike="noStrike" dirty="0" err="1">
                <a:solidFill>
                  <a:srgbClr val="000000"/>
                </a:solidFill>
                <a:latin typeface="Arial"/>
                <a:ea typeface="Arial"/>
                <a:cs typeface="Arial"/>
                <a:sym typeface="Arial"/>
              </a:rPr>
              <a:t>sidste</a:t>
            </a:r>
            <a:r>
              <a:rPr lang="en-US" sz="1400" b="0" i="0" u="none" strike="noStrike" dirty="0">
                <a:solidFill>
                  <a:srgbClr val="000000"/>
                </a:solidFill>
                <a:latin typeface="Arial"/>
                <a:ea typeface="Arial"/>
                <a:cs typeface="Arial"/>
                <a:sym typeface="Arial"/>
              </a:rPr>
              <a:t> del </a:t>
            </a:r>
            <a:r>
              <a:rPr lang="en-US" sz="1400" b="0" i="0" u="none" strike="noStrike" dirty="0" err="1">
                <a:solidFill>
                  <a:srgbClr val="000000"/>
                </a:solidFill>
                <a:latin typeface="Arial"/>
                <a:ea typeface="Arial"/>
                <a:cs typeface="Arial"/>
                <a:sym typeface="Arial"/>
              </a:rPr>
              <a:t>af</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hans</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navn</a:t>
            </a:r>
            <a:r>
              <a:rPr lang="en-US" sz="1400" b="0" i="0" u="none" strike="noStrike" dirty="0">
                <a:solidFill>
                  <a:srgbClr val="000000"/>
                </a:solidFill>
                <a:latin typeface="Arial"/>
                <a:ea typeface="Arial"/>
                <a:cs typeface="Arial"/>
                <a:sym typeface="Arial"/>
              </a:rPr>
              <a:t>, "Al-</a:t>
            </a:r>
            <a:r>
              <a:rPr lang="en-US" sz="1400" b="0" i="0" u="none" strike="noStrike" dirty="0" err="1">
                <a:solidFill>
                  <a:srgbClr val="000000"/>
                </a:solidFill>
                <a:latin typeface="Arial"/>
                <a:ea typeface="Arial"/>
                <a:cs typeface="Arial"/>
                <a:sym typeface="Arial"/>
              </a:rPr>
              <a:t>Khowarizmi</a:t>
            </a:r>
            <a:r>
              <a:rPr lang="en-US" sz="1400" b="0" i="0" u="none" strike="noStrike" dirty="0">
                <a:solidFill>
                  <a:srgbClr val="000000"/>
                </a:solidFill>
                <a:latin typeface="Arial"/>
                <a:ea typeface="Arial"/>
                <a:cs typeface="Arial"/>
                <a:sym typeface="Arial"/>
              </a:rPr>
              <a:t>", at vi </a:t>
            </a:r>
            <a:r>
              <a:rPr lang="en-US" sz="1400" b="0" i="0" u="none" strike="noStrike" dirty="0" err="1">
                <a:solidFill>
                  <a:srgbClr val="000000"/>
                </a:solidFill>
                <a:latin typeface="Arial"/>
                <a:ea typeface="Arial"/>
                <a:cs typeface="Arial"/>
                <a:sym typeface="Arial"/>
              </a:rPr>
              <a:t>har</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fået</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ordet</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algoritme</a:t>
            </a:r>
            <a:r>
              <a:rPr lang="en-US" sz="1400" b="0" i="0" u="none" strike="noStrike" dirty="0">
                <a:solidFill>
                  <a:srgbClr val="000000"/>
                </a:solidFill>
                <a:latin typeface="Arial"/>
                <a:ea typeface="Arial"/>
                <a:cs typeface="Arial"/>
                <a:sym typeface="Arial"/>
              </a:rPr>
              <a:t>". Det er </a:t>
            </a:r>
            <a:r>
              <a:rPr lang="en-US" sz="1400" b="0" i="0" u="none" strike="noStrike" dirty="0" err="1">
                <a:solidFill>
                  <a:srgbClr val="000000"/>
                </a:solidFill>
                <a:latin typeface="Arial"/>
                <a:ea typeface="Arial"/>
                <a:cs typeface="Arial"/>
                <a:sym typeface="Arial"/>
              </a:rPr>
              <a:t>en</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hyldest</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til</a:t>
            </a:r>
            <a:r>
              <a:rPr lang="en-US" sz="1400" b="0" i="0" u="none" strike="noStrike" dirty="0">
                <a:solidFill>
                  <a:srgbClr val="000000"/>
                </a:solidFill>
                <a:latin typeface="Arial"/>
                <a:ea typeface="Arial"/>
                <a:cs typeface="Arial"/>
                <a:sym typeface="Arial"/>
              </a:rPr>
              <a:t> ham </a:t>
            </a:r>
            <a:r>
              <a:rPr lang="en-US" sz="1400" b="0" i="0" u="none" strike="noStrike" dirty="0" err="1">
                <a:solidFill>
                  <a:srgbClr val="000000"/>
                </a:solidFill>
                <a:latin typeface="Arial"/>
                <a:ea typeface="Arial"/>
                <a:cs typeface="Arial"/>
                <a:sym typeface="Arial"/>
              </a:rPr>
              <a:t>og</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hans</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indflydelse</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på</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matematikken</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og</a:t>
            </a:r>
            <a:r>
              <a:rPr lang="en-US" sz="1400" b="0" i="0" u="none" strike="noStrike" dirty="0">
                <a:solidFill>
                  <a:srgbClr val="000000"/>
                </a:solidFill>
                <a:latin typeface="Arial"/>
                <a:ea typeface="Arial"/>
                <a:cs typeface="Arial"/>
                <a:sym typeface="Arial"/>
              </a:rPr>
              <a:t> </a:t>
            </a:r>
            <a:r>
              <a:rPr lang="en-US" sz="1400" b="0" i="0" u="none" strike="noStrike" dirty="0" err="1">
                <a:solidFill>
                  <a:srgbClr val="000000"/>
                </a:solidFill>
                <a:latin typeface="Arial"/>
                <a:ea typeface="Arial"/>
                <a:cs typeface="Arial"/>
                <a:sym typeface="Arial"/>
              </a:rPr>
              <a:t>videnskaben</a:t>
            </a:r>
            <a:r>
              <a:rPr lang="en-US" sz="1400" b="0" i="0" u="none" strike="noStrike" dirty="0">
                <a:solidFill>
                  <a:srgbClr val="000000"/>
                </a:solidFill>
                <a:latin typeface="Arial"/>
                <a:ea typeface="Arial"/>
                <a:cs typeface="Arial"/>
                <a:sym typeface="Arial"/>
              </a:rPr>
              <a:t>.</a:t>
            </a:r>
            <a:endParaRPr dirty="0"/>
          </a:p>
        </p:txBody>
      </p:sp>
      <p:sp>
        <p:nvSpPr>
          <p:cNvPr id="129"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30"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3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3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3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Nu går vi i dybden med Modul 2: Grundlæggende Konstruktionsteknikker. Her vil vi lære om to afgørende principper: nedbrydning og tilstand. Disse principper er essentielle for at kunne bygge komplekse algoritmer.</a:t>
            </a:r>
            <a:endParaRPr/>
          </a:p>
        </p:txBody>
      </p:sp>
      <p:sp>
        <p:nvSpPr>
          <p:cNvPr id="13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3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40"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41"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142"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Det grundlæggende princip i algoritmekonstruktion er nedbrydning. Ideen er simpel: man tager et stort, skræmmende problem og bryder det ned i mindre, mere håndterbare delproblemer. Dette gør problemet forståeligt, uanset om det er en person eller en computer, der skal løse det. Man fortsætter med at bryde ned, indtil hvert skridt er så simpelt at det kan udføres uden yderligere instruktion.</a:t>
            </a:r>
            <a:endParaRPr/>
          </a:p>
        </p:txBody>
      </p:sp>
      <p:sp>
        <p:nvSpPr>
          <p:cNvPr id="143"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44"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4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4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4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da-DK" dirty="0"/>
              <a:t>2nd </a:t>
            </a:r>
            <a:r>
              <a:rPr lang="da-DK" dirty="0" err="1"/>
              <a:t>breaking</a:t>
            </a:r>
            <a:endParaRPr dirty="0"/>
          </a:p>
        </p:txBody>
      </p:sp>
      <p:sp>
        <p:nvSpPr>
          <p:cNvPr id="15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5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0"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1"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2"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I Modul 3 vil vi se på kontrolstrukturer. Disse strukturer styrer, i hvilken rækkefølge delalgoritmerne udføres. Uden dem ville vi kun kunne udføre algoritmer sekventielt, en efter en, hvilket er meget begrænsende. Vi vil lære om tre typer: sekventiel eksekvering, valg og gentagelse.</a:t>
            </a:r>
            <a:endParaRPr/>
          </a:p>
        </p:txBody>
      </p:sp>
      <p:sp>
        <p:nvSpPr>
          <p:cNvPr id="13"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4"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Kontrolstrukturer er, hvad der gør algoritmer kraftfulde. De styrer, hvordan og i hvilken rækkefølge skridtene i en algoritme udføres. De tre grundlæggende typer er sekventiel eksekvering, hvor tingene bare køres en efter en, valg, hvor vi kan tage forskellige veje baseret på en betingelse, og gentagelse, hvor vi kan gentage en handling flere gange.</a:t>
            </a:r>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24"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25"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26"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Et andet vigtigt koncept er "tilstand". En algoritme udføres altid mod baggrund af en bestemt tilstand, f.eks. en tom balje eller en spand fyldt med vand. En delalgoritme kan kræve, at en bestemt tilstand er til stede for at virke, og den ændrer tilstanden, når den er udført. Som i vores cementblanding: vi starter med en tom balje, efter at have tilføjet vand, er tilstanden "balje med vand", og så videre.</a:t>
            </a:r>
            <a:endParaRPr/>
          </a:p>
        </p:txBody>
      </p:sp>
      <p:sp>
        <p:nvSpPr>
          <p:cNvPr id="27"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8"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1"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32"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33"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Den enkleste kontrolstruktur er sekventiel eksekvering. Det betyder simpelthen, at skridtene udføres i den præcise rækkefølge, de er skrevet i. Som perler på en snor. Dette er netop, hvad datalogen i vores anekdote gjorde: han fulgte en fast sekvens, selvom det ikke var den mest logiske i situationen.</a:t>
            </a:r>
            <a:endParaRPr/>
          </a:p>
        </p:txBody>
      </p:sp>
      <p:sp>
        <p:nvSpPr>
          <p:cNvPr id="34"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35"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8"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39"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40"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Næste kontrolstruktur er valg, også kendt som If-Strukturen. Denne gør det muligt at tage forskellige veje i algoritmen baseret på en betingelse. Strukturen ser ud som: HVIS en bestemt betingelse er sand, SÅ gør vi dette, ELLERS gør vi det andet. For eksempel: HVIS spanden er tom, SÅ fyld den, ELLERS brug den som den er.</a:t>
            </a:r>
            <a:endParaRPr/>
          </a:p>
        </p:txBody>
      </p:sp>
      <p:sp>
        <p:nvSpPr>
          <p:cNvPr id="41"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42"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5"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46"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47"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Den tredje kontrolstruktur er gentagelse, eller While-Strukturen. Denne bruges til at gentage en handling så længe en bestemt betingelse er sand. Strukturen ser ud som: SÅ LÆNGE betingelsen er sand, GØR dette. Et klassisk eksempel er at slukke et brand: SÅ LÆNGE ilden brænder, GØR: smid en spand vand på ilden.</a:t>
            </a:r>
            <a:endParaRPr/>
          </a:p>
        </p:txBody>
      </p:sp>
      <p:sp>
        <p:nvSpPr>
          <p:cNvPr id="48"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49"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52"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53"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4"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Ifelse</a:t>
            </a:r>
            <a:r>
              <a:rPr lang="en-US" sz="1400" b="0" i="0" u="none" strike="noStrike" dirty="0">
                <a:solidFill>
                  <a:srgbClr val="000000"/>
                </a:solidFill>
              </a:rPr>
              <a:t> find error while</a:t>
            </a:r>
            <a:endParaRPr dirty="0"/>
          </a:p>
        </p:txBody>
      </p:sp>
      <p:sp>
        <p:nvSpPr>
          <p:cNvPr id="55"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56"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59"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60"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61"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Nu, hvor vi har set på, hvordan man bygger algoritmer, er det tid til at give dem en formel definition og se på deres nøgleegenskaber. Dette er det, vi kigger på i Modul 4.</a:t>
            </a:r>
            <a:endParaRPr/>
          </a:p>
        </p:txBody>
      </p:sp>
      <p:sp>
        <p:nvSpPr>
          <p:cNvPr id="62"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63"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66"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67"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68"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Så hvad er en algoritme rent formelt? En algoritme er en beskrivelse af en fremgangsmåde, der er opdelt i veldefinerede skridt og som garanteret stopper efter et endeligt antal skridt. De vigtigste egenskaber er altså, at skridtene er klare, at algoritmen stopper (terminerer), og at vi bryder ned til et niveau, hvor handlingerne er trivielle at udføre.</a:t>
            </a:r>
            <a:endParaRPr/>
          </a:p>
        </p:txBody>
      </p:sp>
      <p:sp>
        <p:nvSpPr>
          <p:cNvPr id="69"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0"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8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8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8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Opgaven er simpel: lav en algoritme for, hvordan man laver en peanutbutter-sandwich. Jeg vil bede jer om at diskutere i små grupper og skrive jeres algoritme ned. Derefter vil hver gruppe få mulighed for at præsentere sin algoritme for resten af klassen. Dette vil illustrere, hvor vigtigt det er med klare og veldefinerede skridt for at en algoritme virker som forventet.</a:t>
            </a:r>
            <a:endParaRPr/>
          </a:p>
        </p:txBody>
      </p:sp>
      <p:sp>
        <p:nvSpPr>
          <p:cNvPr id="9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9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98"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99"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00"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Til slut, her er et overblik over de centrale koncepter, vi har dækket i dag. En algoritme er en trinvis fremgangsmåde. Vi bruger nedbrydning til at håndtere komplekse problemer. Vi arbejder med tilstande, og vi bruger kontrolstrukturer som sekventiel eksekvering, valg og gentagelse til at styre udførelsen. Og vigtigst af alt: en algoritme skal altid terminere.</a:t>
            </a:r>
            <a:endParaRPr/>
          </a:p>
        </p:txBody>
      </p:sp>
      <p:sp>
        <p:nvSpPr>
          <p:cNvPr id="101"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102"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org&amp;utm_campaign=parser&amp;utm_content=thumbnai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hyperlink" Target="https://scratch.mit.edu/projects/1368477528" TargetMode="External"/><Relationship Id="rId4" Type="http://schemas.openxmlformats.org/officeDocument/2006/relationships/hyperlink" Target="https://scratch.mit.edu/projects/1368477162/"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A62D9">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17500" y="901700"/>
            <a:ext cx="8521700" cy="8509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00000"/>
              </a:lnSpc>
              <a:defRPr/>
            </a:pPr>
            <a:r>
              <a:rPr lang="en-US" sz="3400" b="1" i="0" u="none" strike="noStrike">
                <a:solidFill>
                  <a:srgbClr val="FFFFFF"/>
                </a:solidFill>
                <a:latin typeface="Geist"/>
                <a:ea typeface="Geist"/>
                <a:cs typeface="Geist"/>
                <a:sym typeface="Geist"/>
              </a:rPr>
              <a:t>Algoritmer - Grundlæggende Programmering</a:t>
            </a:r>
            <a:endParaRPr lang="en-US" sz="1100"/>
          </a:p>
        </p:txBody>
      </p:sp>
      <p:sp>
        <p:nvSpPr>
          <p:cNvPr id="3" name="AutoShape 4"/>
          <p:cNvSpPr/>
          <p:nvPr/>
        </p:nvSpPr>
        <p:spPr>
          <a:xfrm>
            <a:off x="2489200" y="4279900"/>
            <a:ext cx="4013200" cy="4064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900" b="0" i="0" u="none" strike="noStrike">
                <a:solidFill>
                  <a:srgbClr val="FFFFFF"/>
                </a:solidFill>
                <a:latin typeface="Geist"/>
                <a:ea typeface="Geist"/>
                <a:cs typeface="Geist"/>
                <a:sym typeface="Geist"/>
              </a:rPr>
              <a:t>En 3-timers kursus</a:t>
            </a:r>
            <a:endParaRPr lang="en-US" sz="1100"/>
          </a:p>
        </p:txBody>
      </p:sp>
      <p:sp>
        <p:nvSpPr>
          <p:cNvPr id="4" name="TextBox 5"/>
          <p:cNvSpPr txBox="1"/>
          <p:nvPr/>
        </p:nvSpPr>
        <p:spPr>
          <a:xfrm>
            <a:off x="2286000" y="2108034"/>
            <a:ext cx="4572000" cy="927433"/>
          </a:xfrm>
          <a:prstGeom prst="rect">
            <a:avLst/>
          </a:prstGeom>
          <a:noFill/>
        </p:spPr>
        <p:txBody>
          <a:bodyPr wrap="square">
            <a:spAutoFit/>
          </a:bodyPr>
          <a:lstStyle/>
          <a:p>
            <a:pPr marL="0" indent="0" algn="ctr">
              <a:lnSpc>
                <a:spcPct val="116666"/>
              </a:lnSpc>
              <a:spcAft>
                <a:spcPts val="1600"/>
              </a:spcAft>
              <a:defRPr/>
            </a:pPr>
            <a:r>
              <a:rPr lang="en-US" sz="2400" b="0" i="0" u="none" strike="noStrike" err="1">
                <a:solidFill>
                  <a:srgbClr val="FFFFFF"/>
                </a:solidFill>
                <a:latin typeface="Geist"/>
                <a:ea typeface="Geist"/>
                <a:cs typeface="Geist"/>
                <a:sym typeface="Geist"/>
              </a:rPr>
              <a:t>Forstå</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definitionen</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historien</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og</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anvendelsen</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af</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algoritmer</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8102600" y="4838700"/>
          <a:chExt cx="914400" cy="152400"/>
        </a:xfrm>
      </p:grpSpPr>
      <p:pic>
        <p:nvPicPr>
          <p:cNvPr id="110"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111"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2" name="AutoShape 4"/>
          <p:cNvSpPr/>
          <p:nvPr/>
        </p:nvSpPr>
        <p:spPr>
          <a:xfrm>
            <a:off x="-12700" y="-12700"/>
            <a:ext cx="9156700" cy="3429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3" name="AutoShape 5"/>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14" name="AutoShape 6"/>
          <p:cNvSpPr/>
          <p:nvPr/>
        </p:nvSpPr>
        <p:spPr>
          <a:xfrm>
            <a:off x="83947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15"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16"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zh-CN" sz="1500" b="0" i="0" u="none" strike="noStrike">
                <a:solidFill>
                  <a:srgbClr val="FFFFFF"/>
                </a:solidFill>
                <a:latin typeface="Geist"/>
                <a:ea typeface="Geist"/>
                <a:cs typeface="Geist"/>
                <a:sym typeface="Geist"/>
              </a:rPr>
              <a:t>Introduktion | Fra Scratch til algoritmer</a:t>
            </a:r>
          </a:p>
        </p:txBody>
      </p:sp>
      <p:sp>
        <p:nvSpPr>
          <p:cNvPr id="117" name="AutoShape 9"/>
          <p:cNvSpPr/>
          <p:nvPr/>
        </p:nvSpPr>
        <p:spPr>
          <a:xfrm>
            <a:off x="914400" y="635000"/>
            <a:ext cx="3810000" cy="6350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zh-CN" sz="3000" b="1" i="0" u="none" strike="noStrike" dirty="0">
                <a:solidFill>
                  <a:srgbClr val="000000"/>
                </a:solidFill>
                <a:latin typeface="Poppins"/>
                <a:ea typeface="Poppins"/>
                <a:cs typeface="Poppins"/>
                <a:sym typeface="Poppins"/>
              </a:rPr>
              <a:t>Scratch?</a:t>
            </a:r>
            <a:endParaRPr lang="en-US" sz="3000" b="1" i="0" u="none" strike="noStrike" dirty="0">
              <a:solidFill>
                <a:srgbClr val="000000"/>
              </a:solidFill>
              <a:latin typeface="Poppins"/>
              <a:ea typeface="Poppins"/>
              <a:cs typeface="Poppins"/>
              <a:sym typeface="Poppins"/>
            </a:endParaRPr>
          </a:p>
        </p:txBody>
      </p:sp>
      <p:sp>
        <p:nvSpPr>
          <p:cNvPr id="119" name="AutoShape 11"/>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0" name="AutoShape 13"/>
          <p:cNvSpPr/>
          <p:nvPr/>
        </p:nvSpPr>
        <p:spPr>
          <a:xfrm>
            <a:off x="88900" y="48260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121" name="AutoShape 14"/>
          <p:cNvSpPr/>
          <p:nvPr/>
        </p:nvSpPr>
        <p:spPr>
          <a:xfrm>
            <a:off x="139700" y="47879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122" name="AutoShape 15"/>
          <p:cNvSpPr/>
          <p:nvPr/>
        </p:nvSpPr>
        <p:spPr>
          <a:xfrm>
            <a:off x="177800" y="47371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124" name="Rounded Rectangle 123"/>
          <p:cNvSpPr/>
          <p:nvPr/>
        </p:nvSpPr>
        <p:spPr>
          <a:xfrm>
            <a:off x="482600" y="2362200"/>
            <a:ext cx="4318000" cy="787400"/>
          </a:xfrm>
          <a:prstGeom prst="roundRect">
            <a:avLst>
              <a:gd name="adj" fmla="val 11000"/>
            </a:avLst>
          </a:prstGeom>
          <a:solidFill>
            <a:srgbClr val="4C97FF"/>
          </a:solidFill>
          <a:ln>
            <a:noFill/>
          </a:ln>
        </p:spPr>
        <p:txBody>
          <a:bodyPr/>
          <a:lstStyle/>
          <a:p>
            <a:endParaRPr/>
          </a:p>
        </p:txBody>
      </p:sp>
      <p:sp>
        <p:nvSpPr>
          <p:cNvPr id="125" name="Rounded Rectangle 124"/>
          <p:cNvSpPr/>
          <p:nvPr/>
        </p:nvSpPr>
        <p:spPr>
          <a:xfrm>
            <a:off x="482600" y="3149600"/>
            <a:ext cx="4318000" cy="787400"/>
          </a:xfrm>
          <a:prstGeom prst="roundRect">
            <a:avLst>
              <a:gd name="adj" fmla="val 11000"/>
            </a:avLst>
          </a:prstGeom>
          <a:solidFill>
            <a:srgbClr val="59C059"/>
          </a:solidFill>
          <a:ln>
            <a:noFill/>
          </a:ln>
        </p:spPr>
        <p:txBody>
          <a:bodyPr/>
          <a:lstStyle/>
          <a:p>
            <a:endParaRPr/>
          </a:p>
        </p:txBody>
      </p:sp>
      <p:sp>
        <p:nvSpPr>
          <p:cNvPr id="127" name="Rounded Rectangle 126"/>
          <p:cNvSpPr/>
          <p:nvPr/>
        </p:nvSpPr>
        <p:spPr>
          <a:xfrm>
            <a:off x="660400" y="3149600"/>
            <a:ext cx="609600" cy="101600"/>
          </a:xfrm>
          <a:prstGeom prst="roundRect">
            <a:avLst>
              <a:gd name="adj" fmla="val 30000"/>
            </a:avLst>
          </a:prstGeom>
          <a:solidFill>
            <a:srgbClr val="4C97FF"/>
          </a:solidFill>
          <a:ln>
            <a:noFill/>
          </a:ln>
        </p:spPr>
        <p:txBody>
          <a:bodyPr/>
          <a:lstStyle/>
          <a:p>
            <a:endParaRPr/>
          </a:p>
        </p:txBody>
      </p:sp>
      <p:sp>
        <p:nvSpPr>
          <p:cNvPr id="128" name="Rounded Rectangle 127"/>
          <p:cNvSpPr/>
          <p:nvPr/>
        </p:nvSpPr>
        <p:spPr>
          <a:xfrm>
            <a:off x="660400" y="3937000"/>
            <a:ext cx="609600" cy="101600"/>
          </a:xfrm>
          <a:prstGeom prst="roundRect">
            <a:avLst>
              <a:gd name="adj" fmla="val 30000"/>
            </a:avLst>
          </a:prstGeom>
          <a:solidFill>
            <a:srgbClr val="59C059"/>
          </a:solidFill>
          <a:ln>
            <a:noFill/>
          </a:ln>
        </p:spPr>
        <p:txBody>
          <a:bodyPr/>
          <a:lstStyle/>
          <a:p>
            <a:endParaRPr/>
          </a:p>
        </p:txBody>
      </p:sp>
      <p:sp>
        <p:nvSpPr>
          <p:cNvPr id="129" name="Rounded Rectangle 128"/>
          <p:cNvSpPr/>
          <p:nvPr/>
        </p:nvSpPr>
        <p:spPr>
          <a:xfrm>
            <a:off x="5105400" y="1574800"/>
            <a:ext cx="3581400" cy="2463800"/>
          </a:xfrm>
          <a:prstGeom prst="roundRect">
            <a:avLst>
              <a:gd name="adj" fmla="val 5000"/>
            </a:avLst>
          </a:prstGeom>
          <a:solidFill>
            <a:srgbClr val="F3F2FD"/>
          </a:solidFill>
          <a:ln>
            <a:noFill/>
          </a:ln>
        </p:spPr>
        <p:txBody>
          <a:bodyPr/>
          <a:lstStyle/>
          <a:p>
            <a:endParaRPr/>
          </a:p>
        </p:txBody>
      </p:sp>
      <p:sp>
        <p:nvSpPr>
          <p:cNvPr id="130" name="Rectangle 129"/>
          <p:cNvSpPr/>
          <p:nvPr/>
        </p:nvSpPr>
        <p:spPr>
          <a:xfrm>
            <a:off x="5359400" y="3098800"/>
            <a:ext cx="3073400" cy="12700"/>
          </a:xfrm>
          <a:prstGeom prst="rect">
            <a:avLst/>
          </a:prstGeom>
          <a:solidFill>
            <a:srgbClr val="E4E2F7"/>
          </a:solidFill>
          <a:ln>
            <a:noFill/>
          </a:ln>
        </p:spPr>
        <p:txBody>
          <a:bodyPr/>
          <a:lstStyle/>
          <a:p>
            <a:endParaRPr/>
          </a:p>
        </p:txBody>
      </p:sp>
      <p:sp>
        <p:nvSpPr>
          <p:cNvPr id="132" name="Rectangle 131"/>
          <p:cNvSpPr/>
          <p:nvPr/>
        </p:nvSpPr>
        <p:spPr>
          <a:xfrm>
            <a:off x="660400" y="1714500"/>
            <a:ext cx="3962400" cy="254000"/>
          </a:xfrm>
          <a:prstGeom prst="rect">
            <a:avLst/>
          </a:prstGeom>
          <a:noFill/>
          <a:ln>
            <a:noFill/>
          </a:ln>
        </p:spPr>
        <p:txBody>
          <a:bodyPr/>
          <a:lstStyle/>
          <a:p>
            <a:r>
              <a:rPr lang="zh-CN" sz="1500" b="1">
                <a:solidFill>
                  <a:srgbClr val="FFFFFF"/>
                </a:solidFill>
                <a:latin typeface="Poppins"/>
                <a:ea typeface="Poppins"/>
              </a:rPr>
              <a:t>Blokke, ikke syntaks</a:t>
            </a:r>
          </a:p>
        </p:txBody>
      </p:sp>
      <p:sp>
        <p:nvSpPr>
          <p:cNvPr id="134" name="Rectangle 133"/>
          <p:cNvSpPr/>
          <p:nvPr/>
        </p:nvSpPr>
        <p:spPr>
          <a:xfrm>
            <a:off x="660400" y="2501900"/>
            <a:ext cx="3962400" cy="254000"/>
          </a:xfrm>
          <a:prstGeom prst="rect">
            <a:avLst/>
          </a:prstGeom>
          <a:noFill/>
          <a:ln>
            <a:noFill/>
          </a:ln>
        </p:spPr>
        <p:txBody>
          <a:bodyPr/>
          <a:lstStyle/>
          <a:p>
            <a:r>
              <a:rPr lang="zh-CN" sz="1500" b="1">
                <a:solidFill>
                  <a:srgbClr val="FFFFFF"/>
                </a:solidFill>
                <a:latin typeface="Poppins"/>
                <a:ea typeface="Poppins"/>
              </a:rPr>
              <a:t>Strukturen er synlig</a:t>
            </a:r>
          </a:p>
        </p:txBody>
      </p:sp>
      <p:sp>
        <p:nvSpPr>
          <p:cNvPr id="135" name="Rectangle 134"/>
          <p:cNvSpPr/>
          <p:nvPr/>
        </p:nvSpPr>
        <p:spPr>
          <a:xfrm>
            <a:off x="660400" y="2781300"/>
            <a:ext cx="3962400" cy="203200"/>
          </a:xfrm>
          <a:prstGeom prst="rect">
            <a:avLst/>
          </a:prstGeom>
          <a:noFill/>
          <a:ln>
            <a:noFill/>
          </a:ln>
        </p:spPr>
        <p:txBody>
          <a:bodyPr/>
          <a:lstStyle/>
          <a:p>
            <a:r>
              <a:rPr lang="zh-CN" sz="1100">
                <a:solidFill>
                  <a:srgbClr val="D6E8FF"/>
                </a:solidFill>
                <a:latin typeface="Geist"/>
                <a:ea typeface="Geist"/>
              </a:rPr>
              <a:t>Sekvens, valg og gentagelse har hver sin farve.</a:t>
            </a:r>
            <a:endParaRPr/>
          </a:p>
        </p:txBody>
      </p:sp>
      <p:sp>
        <p:nvSpPr>
          <p:cNvPr id="136" name="Rectangle 135"/>
          <p:cNvSpPr/>
          <p:nvPr/>
        </p:nvSpPr>
        <p:spPr>
          <a:xfrm>
            <a:off x="660400" y="3289300"/>
            <a:ext cx="3962400" cy="254000"/>
          </a:xfrm>
          <a:prstGeom prst="rect">
            <a:avLst/>
          </a:prstGeom>
          <a:noFill/>
          <a:ln>
            <a:noFill/>
          </a:ln>
        </p:spPr>
        <p:txBody>
          <a:bodyPr/>
          <a:lstStyle/>
          <a:p>
            <a:r>
              <a:rPr lang="zh-CN" sz="1500" b="1">
                <a:solidFill>
                  <a:srgbClr val="FFFFFF"/>
                </a:solidFill>
                <a:latin typeface="Poppins"/>
                <a:ea typeface="Poppins"/>
              </a:rPr>
              <a:t>Resultatet ses med det samme</a:t>
            </a:r>
          </a:p>
        </p:txBody>
      </p:sp>
      <p:sp>
        <p:nvSpPr>
          <p:cNvPr id="137" name="Rectangle 136"/>
          <p:cNvSpPr/>
          <p:nvPr/>
        </p:nvSpPr>
        <p:spPr>
          <a:xfrm>
            <a:off x="660400" y="3568700"/>
            <a:ext cx="3962400" cy="203200"/>
          </a:xfrm>
          <a:prstGeom prst="rect">
            <a:avLst/>
          </a:prstGeom>
          <a:noFill/>
          <a:ln>
            <a:noFill/>
          </a:ln>
        </p:spPr>
        <p:txBody>
          <a:bodyPr/>
          <a:lstStyle/>
          <a:p>
            <a:r>
              <a:rPr lang="zh-CN" sz="1100">
                <a:solidFill>
                  <a:srgbClr val="DCF2DC"/>
                </a:solidFill>
                <a:latin typeface="Geist"/>
                <a:ea typeface="Geist"/>
              </a:rPr>
              <a:t>Scenen viser, om algoritmen gør det, du mente.</a:t>
            </a:r>
            <a:endParaRPr/>
          </a:p>
        </p:txBody>
      </p:sp>
      <p:sp>
        <p:nvSpPr>
          <p:cNvPr id="138" name="Rectangle 137"/>
          <p:cNvSpPr/>
          <p:nvPr/>
        </p:nvSpPr>
        <p:spPr>
          <a:xfrm>
            <a:off x="5359400" y="1778000"/>
            <a:ext cx="3073400" cy="177800"/>
          </a:xfrm>
          <a:prstGeom prst="rect">
            <a:avLst/>
          </a:prstGeom>
          <a:noFill/>
          <a:ln>
            <a:noFill/>
          </a:ln>
        </p:spPr>
        <p:txBody>
          <a:bodyPr/>
          <a:lstStyle/>
          <a:p>
            <a:r>
              <a:rPr lang="zh-CN" sz="900" b="1" spc="2">
                <a:solidFill>
                  <a:srgbClr val="6A62D9"/>
                </a:solidFill>
                <a:latin typeface="Geist"/>
                <a:ea typeface="Geist"/>
              </a:rPr>
              <a:t>BROEN TIL I DAG</a:t>
            </a:r>
          </a:p>
        </p:txBody>
      </p:sp>
      <p:sp>
        <p:nvSpPr>
          <p:cNvPr id="139" name="Rectangle 138"/>
          <p:cNvSpPr/>
          <p:nvPr/>
        </p:nvSpPr>
        <p:spPr>
          <a:xfrm>
            <a:off x="5359400" y="2006600"/>
            <a:ext cx="3073400" cy="965200"/>
          </a:xfrm>
          <a:prstGeom prst="rect">
            <a:avLst/>
          </a:prstGeom>
          <a:noFill/>
          <a:ln>
            <a:noFill/>
          </a:ln>
        </p:spPr>
        <p:txBody>
          <a:bodyPr/>
          <a:lstStyle/>
          <a:p>
            <a:r>
              <a:rPr lang="zh-CN" sz="1600">
                <a:solidFill>
                  <a:srgbClr val="1A1A1A"/>
                </a:solidFill>
                <a:latin typeface="Poppins"/>
                <a:ea typeface="Poppins"/>
              </a:rPr>
              <a:t>Det script, I byggede i Scratch, er allerede en algoritme.</a:t>
            </a:r>
            <a:endParaRPr/>
          </a:p>
        </p:txBody>
      </p:sp>
      <p:sp>
        <p:nvSpPr>
          <p:cNvPr id="140" name="Rectangle 139"/>
          <p:cNvSpPr/>
          <p:nvPr/>
        </p:nvSpPr>
        <p:spPr>
          <a:xfrm>
            <a:off x="5359400" y="3200400"/>
            <a:ext cx="3073400" cy="660400"/>
          </a:xfrm>
          <a:prstGeom prst="rect">
            <a:avLst/>
          </a:prstGeom>
          <a:noFill/>
          <a:ln>
            <a:noFill/>
          </a:ln>
        </p:spPr>
        <p:txBody>
          <a:bodyPr/>
          <a:lstStyle/>
          <a:p>
            <a:r>
              <a:rPr lang="zh-CN" sz="1100">
                <a:solidFill>
                  <a:srgbClr val="55555F"/>
                </a:solidFill>
                <a:latin typeface="Geist"/>
                <a:ea typeface="Geist"/>
              </a:rPr>
              <a:t>I dag tager vi det samme og skriver det som trinvise algoritmer — uden blokke.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187"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188"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9" name="AutoShape 4"/>
          <p:cNvSpPr/>
          <p:nvPr/>
        </p:nvSpPr>
        <p:spPr>
          <a:xfrm>
            <a:off x="-12700" y="-12700"/>
            <a:ext cx="9156700" cy="3429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0" name="AutoShape 5"/>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91" name="AutoShape 6"/>
          <p:cNvSpPr/>
          <p:nvPr/>
        </p:nvSpPr>
        <p:spPr>
          <a:xfrm>
            <a:off x="83947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92"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93"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Algoritmer</a:t>
            </a:r>
            <a:r>
              <a:rPr lang="en-US" sz="1300" b="0" i="0" u="none" strike="noStrike">
                <a:solidFill>
                  <a:srgbClr val="FFFFFF"/>
                </a:solidFill>
                <a:latin typeface="Geist"/>
                <a:ea typeface="Geist"/>
                <a:cs typeface="Geist"/>
                <a:sym typeface="Geist"/>
              </a:rPr>
              <a:t>| Grundlæggende Forståelse &amp; Opgave</a:t>
            </a:r>
            <a:endParaRPr lang="en-US" sz="1100"/>
          </a:p>
        </p:txBody>
      </p:sp>
      <p:sp>
        <p:nvSpPr>
          <p:cNvPr id="194" name="AutoShape 9"/>
          <p:cNvSpPr/>
          <p:nvPr/>
        </p:nvSpPr>
        <p:spPr>
          <a:xfrm>
            <a:off x="914400" y="635000"/>
            <a:ext cx="3810000" cy="6350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3000" b="1" i="0" u="none" strike="noStrike">
                <a:solidFill>
                  <a:srgbClr val="000000"/>
                </a:solidFill>
                <a:latin typeface="Poppins"/>
                <a:ea typeface="Poppins"/>
                <a:cs typeface="Poppins"/>
                <a:sym typeface="Poppins"/>
              </a:rPr>
              <a:t>Mål &amp; Opgave</a:t>
            </a:r>
            <a:endParaRPr lang="en-US" sz="1100"/>
          </a:p>
        </p:txBody>
      </p:sp>
      <p:pic>
        <p:nvPicPr>
          <p:cNvPr id="195" name="Picture 10"/>
          <p:cNvPicPr>
            <a:picLocks noChangeAspect="1"/>
          </p:cNvPicPr>
          <p:nvPr/>
        </p:nvPicPr>
        <p:blipFill>
          <a:blip r:embed="rId4"/>
          <a:srcRect/>
          <a:stretch>
            <a:fillRect/>
          </a:stretch>
        </p:blipFill>
        <p:spPr>
          <a:xfrm>
            <a:off x="508000" y="812800"/>
            <a:ext cx="368300" cy="317500"/>
          </a:xfrm>
          <a:prstGeom prst="rect">
            <a:avLst/>
          </a:prstGeom>
          <a:noFill/>
          <a:ln w="25400" cap="flat" cmpd="sng">
            <a:noFill/>
            <a:prstDash val="solid"/>
            <a:round/>
          </a:ln>
        </p:spPr>
      </p:pic>
      <p:sp>
        <p:nvSpPr>
          <p:cNvPr id="196" name="AutoShape 11"/>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7" name="AutoShape 12"/>
          <p:cNvSpPr/>
          <p:nvPr/>
        </p:nvSpPr>
        <p:spPr>
          <a:xfrm>
            <a:off x="482600" y="1333500"/>
            <a:ext cx="8204200" cy="3175000"/>
          </a:xfrm>
          <a:prstGeom prst="rect">
            <a:avLst/>
          </a:prstGeom>
          <a:noFill/>
          <a:ln w="9525" cap="flat" cmpd="sng">
            <a:noFill/>
            <a:prstDash val="solid"/>
            <a:round/>
          </a:ln>
        </p:spPr>
        <p:txBody>
          <a:bodyPr vert="horz" wrap="square" lIns="88900" tIns="88900" rIns="88900" bIns="88900" rtlCol="0" anchor="t" anchorCtr="0"/>
          <a:lstStyle>
            <a:lvl1pPr marL="711200" indent="-254000"/>
            <a:lvl2pPr marL="1168400" indent="-254000"/>
            <a:lvl3pPr marL="1625600" indent="-254000"/>
            <a:lvl4pPr marL="2082800" indent="-254000"/>
            <a:lvl5pPr marL="2540000" indent="-254000"/>
            <a:lvl6pPr marL="2997200" indent="-254000"/>
            <a:lvl7pPr marL="3454400" indent="-254000"/>
            <a:lvl8pPr marL="3911600" indent="-254000"/>
            <a:lvl9pPr marL="4368800" indent="-254000"/>
          </a:lstStyle>
          <a:p>
            <a:pPr marL="457200" indent="-406400" algn="l">
              <a:lnSpc>
                <a:spcPct val="108333"/>
              </a:lnSpc>
              <a:buClr>
                <a:srgbClr val="000000"/>
              </a:buClr>
              <a:buChar char="●"/>
              <a:defRPr/>
            </a:pPr>
            <a:r>
              <a:rPr lang="en-US" sz="2000" b="1" i="0" u="none" strike="noStrike" dirty="0" err="1">
                <a:solidFill>
                  <a:srgbClr val="000000"/>
                </a:solidFill>
                <a:latin typeface="Geist"/>
                <a:ea typeface="Geist"/>
                <a:cs typeface="Geist"/>
                <a:sym typeface="Geist"/>
              </a:rPr>
              <a:t>Kursus</a:t>
            </a:r>
            <a:r>
              <a:rPr lang="en-US" sz="2000" b="1" i="0" u="none" strike="noStrike" dirty="0">
                <a:solidFill>
                  <a:srgbClr val="000000"/>
                </a:solidFill>
                <a:latin typeface="Geist"/>
                <a:ea typeface="Geist"/>
                <a:cs typeface="Geist"/>
                <a:sym typeface="Geist"/>
              </a:rPr>
              <a:t> </a:t>
            </a:r>
            <a:r>
              <a:rPr lang="en-US" sz="2000" b="1" i="0" u="none" strike="noStrike" dirty="0" err="1">
                <a:solidFill>
                  <a:srgbClr val="000000"/>
                </a:solidFill>
                <a:latin typeface="Geist"/>
                <a:ea typeface="Geist"/>
                <a:cs typeface="Geist"/>
                <a:sym typeface="Geist"/>
              </a:rPr>
              <a:t>Mål:</a:t>
            </a:r>
            <a:r>
              <a:rPr lang="en-US" sz="1800" b="0" i="0" u="none" strike="noStrike" dirty="0" err="1">
                <a:solidFill>
                  <a:srgbClr val="000000"/>
                </a:solidFill>
                <a:latin typeface="Geist"/>
                <a:ea typeface="Geist"/>
                <a:cs typeface="Geist"/>
                <a:sym typeface="Geist"/>
              </a:rPr>
              <a:t>Forstå</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definitionen</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af</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en</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algoritme</a:t>
            </a:r>
            <a:r>
              <a:rPr lang="en-US" sz="1800" b="0" i="0" u="none" strike="noStrike" dirty="0">
                <a:solidFill>
                  <a:srgbClr val="000000"/>
                </a:solidFill>
                <a:latin typeface="Geist"/>
                <a:ea typeface="Geist"/>
                <a:cs typeface="Geist"/>
                <a:sym typeface="Geist"/>
              </a:rPr>
              <a:t>, dens </a:t>
            </a:r>
            <a:r>
              <a:rPr lang="en-US" sz="1800" b="0" i="0" u="none" strike="noStrike" dirty="0" err="1">
                <a:solidFill>
                  <a:srgbClr val="000000"/>
                </a:solidFill>
                <a:latin typeface="Geist"/>
                <a:ea typeface="Geist"/>
                <a:cs typeface="Geist"/>
                <a:sym typeface="Geist"/>
              </a:rPr>
              <a:t>rolle</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i</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datalogi</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og</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principperne</a:t>
            </a:r>
            <a:r>
              <a:rPr lang="en-US" sz="1800" b="0" i="0" u="none" strike="noStrike" dirty="0">
                <a:solidFill>
                  <a:srgbClr val="000000"/>
                </a:solidFill>
                <a:latin typeface="Geist"/>
                <a:ea typeface="Geist"/>
                <a:cs typeface="Geist"/>
                <a:sym typeface="Geist"/>
              </a:rPr>
              <a:t> bag </a:t>
            </a:r>
            <a:r>
              <a:rPr lang="en-US" sz="1800" b="0" i="0" u="none" strike="noStrike" dirty="0" err="1">
                <a:solidFill>
                  <a:srgbClr val="000000"/>
                </a:solidFill>
                <a:latin typeface="Geist"/>
                <a:ea typeface="Geist"/>
                <a:cs typeface="Geist"/>
                <a:sym typeface="Geist"/>
              </a:rPr>
              <a:t>konstruktion</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af</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en</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logisk</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trinvis</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løsning</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til</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en</a:t>
            </a:r>
            <a:r>
              <a:rPr lang="en-US" sz="1800" b="0" i="0" u="none" strike="noStrike" dirty="0">
                <a:solidFill>
                  <a:srgbClr val="000000"/>
                </a:solidFill>
                <a:latin typeface="Geist"/>
                <a:ea typeface="Geist"/>
                <a:cs typeface="Geist"/>
                <a:sym typeface="Geist"/>
              </a:rPr>
              <a:t> given </a:t>
            </a:r>
            <a:r>
              <a:rPr lang="en-US" sz="1800" b="0" i="0" u="none" strike="noStrike" dirty="0" err="1">
                <a:solidFill>
                  <a:srgbClr val="000000"/>
                </a:solidFill>
                <a:latin typeface="Geist"/>
                <a:ea typeface="Geist"/>
                <a:cs typeface="Geist"/>
                <a:sym typeface="Geist"/>
              </a:rPr>
              <a:t>opgave</a:t>
            </a:r>
            <a:r>
              <a:rPr lang="en-US" sz="1800" b="0" i="0" u="none" strike="noStrike" dirty="0">
                <a:solidFill>
                  <a:srgbClr val="000000"/>
                </a:solidFill>
                <a:latin typeface="Geist"/>
                <a:ea typeface="Geist"/>
                <a:cs typeface="Geist"/>
                <a:sym typeface="Geist"/>
              </a:rPr>
              <a:t>.</a:t>
            </a:r>
            <a:endParaRPr lang="en-US" sz="1100" dirty="0"/>
          </a:p>
          <a:p>
            <a:pPr marL="457200" indent="-406400" algn="l">
              <a:lnSpc>
                <a:spcPct val="108333"/>
              </a:lnSpc>
              <a:spcBef>
                <a:spcPts val="1200"/>
              </a:spcBef>
              <a:buClr>
                <a:srgbClr val="000000"/>
              </a:buClr>
              <a:buChar char="●"/>
            </a:pPr>
            <a:r>
              <a:rPr lang="en-US" sz="2000" b="1" i="0" u="none" strike="noStrike" dirty="0" err="1">
                <a:solidFill>
                  <a:srgbClr val="000000"/>
                </a:solidFill>
                <a:latin typeface="Geist"/>
                <a:ea typeface="Geist"/>
                <a:cs typeface="Geist"/>
                <a:sym typeface="Geist"/>
              </a:rPr>
              <a:t>Læringsmål</a:t>
            </a:r>
            <a:r>
              <a:rPr lang="en-US" sz="2000" b="1" i="0" u="none" strike="noStrike" dirty="0">
                <a:solidFill>
                  <a:srgbClr val="000000"/>
                </a:solidFill>
                <a:latin typeface="Geist"/>
                <a:ea typeface="Geist"/>
                <a:cs typeface="Geist"/>
                <a:sym typeface="Geist"/>
              </a:rPr>
              <a:t> </a:t>
            </a:r>
            <a:r>
              <a:rPr lang="en-US" sz="2000" b="1" i="0" u="none" strike="noStrike" dirty="0" err="1">
                <a:solidFill>
                  <a:srgbClr val="000000"/>
                </a:solidFill>
                <a:latin typeface="Geist"/>
                <a:ea typeface="Geist"/>
                <a:cs typeface="Geist"/>
                <a:sym typeface="Geist"/>
              </a:rPr>
              <a:t>efter</a:t>
            </a:r>
            <a:r>
              <a:rPr lang="en-US" sz="2000" b="1" i="0" u="none" strike="noStrike" dirty="0">
                <a:solidFill>
                  <a:srgbClr val="000000"/>
                </a:solidFill>
                <a:latin typeface="Geist"/>
                <a:ea typeface="Geist"/>
                <a:cs typeface="Geist"/>
                <a:sym typeface="Geist"/>
              </a:rPr>
              <a:t> </a:t>
            </a:r>
            <a:r>
              <a:rPr lang="en-US" sz="2000" b="1" i="0" u="none" strike="noStrike" dirty="0" err="1">
                <a:solidFill>
                  <a:srgbClr val="000000"/>
                </a:solidFill>
                <a:latin typeface="Geist"/>
                <a:ea typeface="Geist"/>
                <a:cs typeface="Geist"/>
                <a:sym typeface="Geist"/>
              </a:rPr>
              <a:t>sessionen</a:t>
            </a:r>
            <a:r>
              <a:rPr lang="en-US" sz="2000" b="1" i="0" u="none" strike="noStrike" dirty="0">
                <a:solidFill>
                  <a:srgbClr val="000000"/>
                </a:solidFill>
                <a:latin typeface="Geist"/>
                <a:ea typeface="Geist"/>
                <a:cs typeface="Geist"/>
                <a:sym typeface="Geist"/>
              </a:rPr>
              <a:t>:</a:t>
            </a:r>
            <a:endParaRPr dirty="0"/>
          </a:p>
          <a:p>
            <a:pPr marL="304800" indent="0" algn="l">
              <a:lnSpc>
                <a:spcPct val="116666"/>
              </a:lnSpc>
            </a:pPr>
            <a:r>
              <a:rPr lang="en-US" sz="1700" b="0" i="0" u="none" strike="noStrike" dirty="0">
                <a:solidFill>
                  <a:srgbClr val="000000"/>
                </a:solidFill>
                <a:latin typeface="Geist"/>
                <a:ea typeface="Geist"/>
                <a:cs typeface="Geist"/>
                <a:sym typeface="Geist"/>
              </a:rPr>
              <a:t>1. </a:t>
            </a:r>
            <a:r>
              <a:rPr lang="en-US" sz="1700" b="0" i="0" u="none" strike="noStrike" dirty="0" err="1">
                <a:solidFill>
                  <a:srgbClr val="000000"/>
                </a:solidFill>
                <a:latin typeface="Geist"/>
                <a:ea typeface="Geist"/>
                <a:cs typeface="Geist"/>
                <a:sym typeface="Geist"/>
              </a:rPr>
              <a:t>Definere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hvad</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en</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algoritme</a:t>
            </a:r>
            <a:r>
              <a:rPr lang="en-US" sz="1700" b="0" i="0" u="none" strike="noStrike" dirty="0">
                <a:solidFill>
                  <a:srgbClr val="000000"/>
                </a:solidFill>
                <a:latin typeface="Geist"/>
                <a:ea typeface="Geist"/>
                <a:cs typeface="Geist"/>
                <a:sym typeface="Geist"/>
              </a:rPr>
              <a:t> er </a:t>
            </a:r>
            <a:r>
              <a:rPr lang="en-US" sz="1700" b="0" i="0" u="none" strike="noStrike" dirty="0" err="1">
                <a:solidFill>
                  <a:srgbClr val="000000"/>
                </a:solidFill>
                <a:latin typeface="Geist"/>
                <a:ea typeface="Geist"/>
                <a:cs typeface="Geist"/>
                <a:sym typeface="Geist"/>
              </a:rPr>
              <a:t>og</a:t>
            </a:r>
            <a:r>
              <a:rPr lang="en-US" sz="1700" b="0" i="0" u="none" strike="noStrike" dirty="0">
                <a:solidFill>
                  <a:srgbClr val="000000"/>
                </a:solidFill>
                <a:latin typeface="Geist"/>
                <a:ea typeface="Geist"/>
                <a:cs typeface="Geist"/>
                <a:sym typeface="Geist"/>
              </a:rPr>
              <a:t> give </a:t>
            </a:r>
            <a:r>
              <a:rPr lang="en-US" sz="1700" b="0" i="0" u="none" strike="noStrike" dirty="0" err="1">
                <a:solidFill>
                  <a:srgbClr val="000000"/>
                </a:solidFill>
                <a:latin typeface="Geist"/>
                <a:ea typeface="Geist"/>
                <a:cs typeface="Geist"/>
                <a:sym typeface="Geist"/>
              </a:rPr>
              <a:t>eksempler</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fra</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hverdagen</a:t>
            </a:r>
            <a:r>
              <a:rPr lang="en-US" sz="1700" b="0" i="0" u="none" strike="noStrike" dirty="0">
                <a:solidFill>
                  <a:srgbClr val="000000"/>
                </a:solidFill>
                <a:latin typeface="Geist"/>
                <a:ea typeface="Geist"/>
                <a:cs typeface="Geist"/>
                <a:sym typeface="Geist"/>
              </a:rPr>
              <a:t>.</a:t>
            </a:r>
            <a:br>
              <a:rPr lang="en-US" sz="1800" b="0" i="0" u="none" strike="noStrike" dirty="0">
                <a:solidFill>
                  <a:srgbClr val="000000"/>
                </a:solidFill>
                <a:latin typeface="Geist"/>
                <a:ea typeface="Geist"/>
                <a:cs typeface="Geist"/>
                <a:sym typeface="Geist"/>
              </a:rPr>
            </a:br>
            <a:r>
              <a:rPr lang="en-US" sz="1700" b="0" i="0" u="none" strike="noStrike" dirty="0">
                <a:solidFill>
                  <a:srgbClr val="000000"/>
                </a:solidFill>
                <a:latin typeface="Geist"/>
                <a:ea typeface="Geist"/>
                <a:cs typeface="Geist"/>
                <a:sym typeface="Geist"/>
              </a:rPr>
              <a:t>2. </a:t>
            </a:r>
            <a:r>
              <a:rPr lang="en-US" sz="1700" b="0" i="0" u="none" strike="noStrike" dirty="0" err="1">
                <a:solidFill>
                  <a:srgbClr val="000000"/>
                </a:solidFill>
                <a:latin typeface="Geist"/>
                <a:ea typeface="Geist"/>
                <a:cs typeface="Geist"/>
                <a:sym typeface="Geist"/>
              </a:rPr>
              <a:t>Forklare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princippet</a:t>
            </a:r>
            <a:r>
              <a:rPr lang="en-US" sz="1700" b="0" i="0" u="none" strike="noStrike">
                <a:solidFill>
                  <a:srgbClr val="000000"/>
                </a:solidFill>
                <a:latin typeface="Geist"/>
                <a:ea typeface="Geist"/>
                <a:cs typeface="Geist"/>
                <a:sym typeface="Geist"/>
              </a:rPr>
              <a:t> om </a:t>
            </a:r>
            <a:r>
              <a:rPr lang="en-US" sz="1700" b="1" i="0" u="none" strike="noStrike">
                <a:solidFill>
                  <a:srgbClr val="000000"/>
                </a:solidFill>
                <a:latin typeface="Geist"/>
                <a:ea typeface="Geist"/>
                <a:cs typeface="Geist"/>
                <a:sym typeface="Geist"/>
              </a:rPr>
              <a:t>nedbrydning</a:t>
            </a:r>
            <a:r>
              <a:rPr lang="en-US" sz="1700" b="0" i="0" u="none" strike="noStrike" dirty="0">
                <a:solidFill>
                  <a:srgbClr val="000000"/>
                </a:solidFill>
                <a:latin typeface="Geist"/>
                <a:ea typeface="Geist"/>
                <a:cs typeface="Geist"/>
                <a:sym typeface="Geist"/>
              </a:rPr>
              <a:t>(at </a:t>
            </a:r>
            <a:r>
              <a:rPr lang="en-US" sz="1700" b="0" i="0" u="none" strike="noStrike" dirty="0" err="1">
                <a:solidFill>
                  <a:srgbClr val="000000"/>
                </a:solidFill>
                <a:latin typeface="Geist"/>
                <a:ea typeface="Geist"/>
                <a:cs typeface="Geist"/>
                <a:sym typeface="Geist"/>
              </a:rPr>
              <a:t>bryde</a:t>
            </a:r>
            <a:r>
              <a:rPr lang="en-US" sz="1700" b="0" i="0" u="none" strike="noStrike" dirty="0">
                <a:solidFill>
                  <a:srgbClr val="000000"/>
                </a:solidFill>
                <a:latin typeface="Geist"/>
                <a:ea typeface="Geist"/>
                <a:cs typeface="Geist"/>
                <a:sym typeface="Geist"/>
              </a:rPr>
              <a:t> store </a:t>
            </a:r>
            <a:r>
              <a:rPr lang="en-US" sz="1700" b="0" i="0" u="none" strike="noStrike" dirty="0" err="1">
                <a:solidFill>
                  <a:srgbClr val="000000"/>
                </a:solidFill>
                <a:latin typeface="Geist"/>
                <a:ea typeface="Geist"/>
                <a:cs typeface="Geist"/>
                <a:sym typeface="Geist"/>
              </a:rPr>
              <a:t>problemer</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ned</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i</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mindre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delopgaver</a:t>
            </a:r>
            <a:r>
              <a:rPr lang="en-US" sz="1700" b="0" i="0" u="none" strike="noStrike" dirty="0">
                <a:solidFill>
                  <a:srgbClr val="000000"/>
                </a:solidFill>
                <a:latin typeface="Geist"/>
                <a:ea typeface="Geist"/>
                <a:cs typeface="Geist"/>
                <a:sym typeface="Geist"/>
              </a:rPr>
              <a:t>).</a:t>
            </a:r>
            <a:br>
              <a:rPr lang="en-US" sz="1800" b="0" i="0" u="none" strike="noStrike" dirty="0">
                <a:solidFill>
                  <a:srgbClr val="000000"/>
                </a:solidFill>
                <a:latin typeface="Geist"/>
                <a:ea typeface="Geist"/>
                <a:cs typeface="Geist"/>
                <a:sym typeface="Geist"/>
              </a:rPr>
            </a:br>
            <a:r>
              <a:rPr lang="en-US" sz="1700" b="0" i="0" u="none" strike="noStrike" dirty="0">
                <a:solidFill>
                  <a:srgbClr val="000000"/>
                </a:solidFill>
                <a:latin typeface="Geist"/>
                <a:ea typeface="Geist"/>
                <a:cs typeface="Geist"/>
                <a:sym typeface="Geist"/>
              </a:rPr>
              <a:t>3. </a:t>
            </a:r>
            <a:r>
              <a:rPr lang="en-US" sz="1700" b="0" i="0" u="none" strike="noStrike" dirty="0" err="1">
                <a:solidFill>
                  <a:srgbClr val="000000"/>
                </a:solidFill>
                <a:latin typeface="Geist"/>
                <a:ea typeface="Geist"/>
                <a:cs typeface="Geist"/>
                <a:sym typeface="Geist"/>
              </a:rPr>
              <a:t>Genkende</a:t>
            </a:r>
            <a:r>
              <a:rPr lang="en-US" sz="1700" b="0" i="0" u="none" strike="noStrike" dirty="0">
                <a:solidFill>
                  <a:srgbClr val="000000"/>
                </a:solidFill>
                <a:latin typeface="Geist"/>
                <a:ea typeface="Geist"/>
                <a:cs typeface="Geist"/>
                <a:sym typeface="Geist"/>
              </a:rPr>
              <a:t> de </a:t>
            </a:r>
            <a:r>
              <a:rPr lang="en-US" sz="1700" b="0" i="0" u="none" strike="noStrike" dirty="0" err="1">
                <a:solidFill>
                  <a:srgbClr val="000000"/>
                </a:solidFill>
                <a:latin typeface="Geist"/>
                <a:ea typeface="Geist"/>
                <a:cs typeface="Geist"/>
                <a:sym typeface="Geist"/>
              </a:rPr>
              <a:t>tre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grundlæggende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kontrolstrukturer</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sekvens</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valg</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og</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gentagelse</a:t>
            </a:r>
            <a:r>
              <a:rPr lang="en-US" sz="1700" b="0" i="0" u="none" strike="noStrike" dirty="0">
                <a:solidFill>
                  <a:srgbClr val="000000"/>
                </a:solidFill>
                <a:latin typeface="Geist"/>
                <a:ea typeface="Geist"/>
                <a:cs typeface="Geist"/>
                <a:sym typeface="Geist"/>
              </a:rPr>
              <a:t>.</a:t>
            </a:r>
            <a:br>
              <a:rPr lang="en-US" sz="1800" b="0" i="0" u="none" strike="noStrike" dirty="0">
                <a:solidFill>
                  <a:srgbClr val="000000"/>
                </a:solidFill>
                <a:latin typeface="Geist"/>
                <a:ea typeface="Geist"/>
                <a:cs typeface="Geist"/>
                <a:sym typeface="Geist"/>
              </a:rPr>
            </a:br>
            <a:r>
              <a:rPr lang="en-US" sz="1700" b="0" i="0" u="none" strike="noStrike" dirty="0">
                <a:solidFill>
                  <a:srgbClr val="000000"/>
                </a:solidFill>
                <a:latin typeface="Geist"/>
                <a:ea typeface="Geist"/>
                <a:cs typeface="Geist"/>
                <a:sym typeface="Geist"/>
              </a:rPr>
              <a:t>4. </a:t>
            </a:r>
            <a:r>
              <a:rPr lang="en-US" sz="1700" b="0" i="0" u="none" strike="noStrike" dirty="0" err="1">
                <a:solidFill>
                  <a:srgbClr val="000000"/>
                </a:solidFill>
                <a:latin typeface="Geist"/>
                <a:ea typeface="Geist"/>
                <a:cs typeface="Geist"/>
                <a:sym typeface="Geist"/>
              </a:rPr>
              <a:t>Skrive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en</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trinvise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algoritme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til</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en</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simpel</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opgave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f.eks</a:t>
            </a:r>
            <a:r>
              <a:rPr lang="en-US" sz="1700" b="0" i="0" u="none" strike="noStrike" dirty="0">
                <a:solidFill>
                  <a:srgbClr val="000000"/>
                </a:solidFill>
                <a:latin typeface="Geist"/>
                <a:ea typeface="Geist"/>
                <a:cs typeface="Geist"/>
                <a:sym typeface="Geist"/>
              </a:rPr>
              <a:t>. at </a:t>
            </a:r>
            <a:r>
              <a:rPr lang="en-US" sz="1700" b="0" i="0" u="none" strike="noStrike" dirty="0" err="1">
                <a:solidFill>
                  <a:srgbClr val="000000"/>
                </a:solidFill>
                <a:latin typeface="Geist"/>
                <a:ea typeface="Geist"/>
                <a:cs typeface="Geist"/>
                <a:sym typeface="Geist"/>
              </a:rPr>
              <a:t>beregne</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gennemsnittet</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af</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tal</a:t>
            </a:r>
            <a:r>
              <a:rPr lang="en-US" sz="1700" b="0" i="0" u="none" strike="noStrike" dirty="0">
                <a:solidFill>
                  <a:srgbClr val="000000"/>
                </a:solidFill>
                <a:latin typeface="Geist"/>
                <a:ea typeface="Geist"/>
                <a:cs typeface="Geist"/>
                <a:sym typeface="Geist"/>
              </a:rPr>
              <a:t>).</a:t>
            </a:r>
            <a:endParaRPr dirty="0"/>
          </a:p>
        </p:txBody>
      </p:sp>
      <p:sp>
        <p:nvSpPr>
          <p:cNvPr id="198" name="AutoShape 13"/>
          <p:cNvSpPr/>
          <p:nvPr/>
        </p:nvSpPr>
        <p:spPr>
          <a:xfrm>
            <a:off x="88900" y="48260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199" name="AutoShape 14"/>
          <p:cNvSpPr/>
          <p:nvPr/>
        </p:nvSpPr>
        <p:spPr>
          <a:xfrm>
            <a:off x="139700" y="47879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200" name="AutoShape 15"/>
          <p:cNvSpPr/>
          <p:nvPr/>
        </p:nvSpPr>
        <p:spPr>
          <a:xfrm>
            <a:off x="177800" y="47371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0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20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4" name="AutoShape 4"/>
          <p:cNvSpPr/>
          <p:nvPr/>
        </p:nvSpPr>
        <p:spPr>
          <a:xfrm>
            <a:off x="812800" y="685800"/>
            <a:ext cx="6350000" cy="6477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spcAft>
                <a:spcPts val="1600"/>
              </a:spcAft>
              <a:defRPr/>
            </a:pPr>
            <a:r>
              <a:rPr lang="en-US" sz="3000" b="0" i="0" u="none" strike="noStrike">
                <a:solidFill>
                  <a:srgbClr val="000000"/>
                </a:solidFill>
                <a:latin typeface="Geist ExtraBold"/>
                <a:ea typeface="Geist ExtraBold"/>
                <a:cs typeface="Geist ExtraBold"/>
                <a:sym typeface="Geist ExtraBold"/>
              </a:rPr>
              <a:t>En </a:t>
            </a:r>
            <a:r>
              <a:rPr lang="en-US" sz="3000" b="0" i="0" u="none" strike="noStrike" err="1">
                <a:solidFill>
                  <a:srgbClr val="000000"/>
                </a:solidFill>
                <a:latin typeface="Geist ExtraBold"/>
                <a:ea typeface="Geist ExtraBold"/>
                <a:cs typeface="Geist ExtraBold"/>
                <a:sym typeface="Geist ExtraBold"/>
              </a:rPr>
              <a:t>Anekdote</a:t>
            </a:r>
            <a:r>
              <a:rPr lang="en-US" sz="3000" b="0" i="0" u="none" strike="noStrike">
                <a:solidFill>
                  <a:srgbClr val="000000"/>
                </a:solidFill>
                <a:latin typeface="Geist ExtraBold"/>
                <a:ea typeface="Geist ExtraBold"/>
                <a:cs typeface="Geist ExtraBold"/>
                <a:sym typeface="Geist ExtraBold"/>
              </a:rPr>
              <a:t>: </a:t>
            </a:r>
            <a:r>
              <a:rPr lang="en-US" sz="3000" b="0" i="0" u="none" strike="noStrike" err="1">
                <a:solidFill>
                  <a:srgbClr val="000000"/>
                </a:solidFill>
                <a:latin typeface="Geist ExtraBold"/>
                <a:ea typeface="Geist ExtraBold"/>
                <a:cs typeface="Geist ExtraBold"/>
                <a:sym typeface="Geist ExtraBold"/>
              </a:rPr>
              <a:t>Ingeniør</a:t>
            </a:r>
            <a:r>
              <a:rPr lang="en-US" sz="3000" b="0" i="0" u="none" strike="noStrike">
                <a:solidFill>
                  <a:srgbClr val="000000"/>
                </a:solidFill>
                <a:latin typeface="Geist ExtraBold"/>
                <a:ea typeface="Geist ExtraBold"/>
                <a:cs typeface="Geist ExtraBold"/>
                <a:sym typeface="Geist ExtraBold"/>
              </a:rPr>
              <a:t> &amp; </a:t>
            </a:r>
            <a:r>
              <a:rPr lang="en-US" sz="3000" b="0" i="0" u="none" strike="noStrike" err="1">
                <a:solidFill>
                  <a:srgbClr val="000000"/>
                </a:solidFill>
                <a:latin typeface="Geist ExtraBold"/>
                <a:ea typeface="Geist ExtraBold"/>
                <a:cs typeface="Geist ExtraBold"/>
                <a:sym typeface="Geist ExtraBold"/>
              </a:rPr>
              <a:t>Datalog</a:t>
            </a:r>
            <a:endParaRPr lang="en-US" sz="1100"/>
          </a:p>
        </p:txBody>
      </p:sp>
      <p:pic>
        <p:nvPicPr>
          <p:cNvPr id="205" name="Picture 5"/>
          <p:cNvPicPr>
            <a:picLocks noChangeAspect="1"/>
          </p:cNvPicPr>
          <p:nvPr/>
        </p:nvPicPr>
        <p:blipFill>
          <a:blip r:embed="rId4"/>
          <a:srcRect/>
          <a:stretch>
            <a:fillRect/>
          </a:stretch>
        </p:blipFill>
        <p:spPr>
          <a:xfrm>
            <a:off x="508000" y="825500"/>
            <a:ext cx="317500" cy="368300"/>
          </a:xfrm>
          <a:prstGeom prst="rect">
            <a:avLst/>
          </a:prstGeom>
          <a:noFill/>
          <a:ln w="25400" cap="flat" cmpd="sng">
            <a:noFill/>
            <a:prstDash val="solid"/>
            <a:round/>
          </a:ln>
        </p:spPr>
      </p:pic>
      <p:sp>
        <p:nvSpPr>
          <p:cNvPr id="206" name="AutoShape 6"/>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7" name="AutoShape 7"/>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08" name="AutoShape 8"/>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09" name="AutoShape 9"/>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10" name="AutoShape 11"/>
          <p:cNvSpPr/>
          <p:nvPr/>
        </p:nvSpPr>
        <p:spPr>
          <a:xfrm>
            <a:off x="495300" y="1473200"/>
            <a:ext cx="7759700" cy="3048000"/>
          </a:xfrm>
          <a:prstGeom prst="rect">
            <a:avLst/>
          </a:prstGeom>
          <a:noFill/>
          <a:ln w="9525" cap="flat" cmpd="sng">
            <a:noFill/>
            <a:prstDash val="solid"/>
            <a:round/>
          </a:ln>
        </p:spPr>
        <p:txBody>
          <a:bodyPr vert="horz" wrap="square" lIns="88900" tIns="88900" rIns="88900" bIns="88900" rtlCol="0" anchor="t" anchorCtr="0"/>
          <a:lstStyle/>
          <a:p>
            <a:pPr>
              <a:lnSpc>
                <a:spcPct val="116666"/>
              </a:lnSpc>
              <a:defRPr/>
            </a:pPr>
            <a:r>
              <a:rPr lang="en-US" sz="2000">
                <a:solidFill>
                  <a:srgbClr val="1F2329"/>
                </a:solidFill>
                <a:latin typeface="Geist"/>
                <a:ea typeface="Geist"/>
                <a:cs typeface="Geist"/>
                <a:sym typeface="Geist"/>
              </a:rPr>
              <a:t>brand </a:t>
            </a:r>
            <a:r>
              <a:rPr lang="en-US" sz="2000" err="1">
                <a:solidFill>
                  <a:srgbClr val="1F2329"/>
                </a:solidFill>
                <a:latin typeface="Geist"/>
                <a:ea typeface="Geist"/>
                <a:cs typeface="Geist"/>
                <a:sym typeface="Geist"/>
              </a:rPr>
              <a:t>udbrød</a:t>
            </a:r>
            <a:r>
              <a:rPr lang="en-US" sz="2000">
                <a:solidFill>
                  <a:srgbClr val="1F2329"/>
                </a:solidFill>
                <a:latin typeface="Geist"/>
                <a:ea typeface="Geist"/>
                <a:cs typeface="Geist"/>
                <a:sym typeface="Geist"/>
              </a:rPr>
              <a:t> </a:t>
            </a:r>
            <a:r>
              <a:rPr lang="en-US" sz="2000" err="1">
                <a:solidFill>
                  <a:srgbClr val="1F2329"/>
                </a:solidFill>
                <a:latin typeface="Geist"/>
                <a:ea typeface="Geist"/>
                <a:cs typeface="Geist"/>
                <a:sym typeface="Geist"/>
              </a:rPr>
              <a:t>i</a:t>
            </a:r>
            <a:r>
              <a:rPr lang="en-US" sz="2000">
                <a:solidFill>
                  <a:srgbClr val="1F2329"/>
                </a:solidFill>
                <a:latin typeface="Geist"/>
                <a:ea typeface="Geist"/>
                <a:cs typeface="Geist"/>
                <a:sym typeface="Geist"/>
              </a:rPr>
              <a:t> </a:t>
            </a:r>
            <a:r>
              <a:rPr lang="en-US" sz="2000" err="1">
                <a:solidFill>
                  <a:srgbClr val="1F2329"/>
                </a:solidFill>
                <a:latin typeface="Geist"/>
                <a:ea typeface="Geist"/>
                <a:cs typeface="Geist"/>
                <a:sym typeface="Geist"/>
              </a:rPr>
              <a:t>en</a:t>
            </a:r>
            <a:r>
              <a:rPr lang="en-US" sz="2000">
                <a:solidFill>
                  <a:srgbClr val="1F2329"/>
                </a:solidFill>
                <a:latin typeface="Geist"/>
                <a:ea typeface="Geist"/>
                <a:cs typeface="Geist"/>
                <a:sym typeface="Geist"/>
              </a:rPr>
              <a:t> </a:t>
            </a:r>
            <a:r>
              <a:rPr lang="en-US" sz="2000" err="1">
                <a:solidFill>
                  <a:srgbClr val="1F2329"/>
                </a:solidFill>
                <a:latin typeface="Geist"/>
                <a:ea typeface="Geist"/>
                <a:cs typeface="Geist"/>
                <a:sym typeface="Geist"/>
              </a:rPr>
              <a:t>skovhytte</a:t>
            </a:r>
            <a:endParaRPr lang="en-US" sz="2000" b="1" i="0" u="none" strike="noStrike">
              <a:solidFill>
                <a:srgbClr val="6A62D9"/>
              </a:solidFill>
              <a:latin typeface="Geist"/>
              <a:ea typeface="Geist"/>
              <a:cs typeface="Geist"/>
              <a:sym typeface="Geist"/>
            </a:endParaRPr>
          </a:p>
          <a:p>
            <a:pPr marL="0" indent="0" algn="l">
              <a:lnSpc>
                <a:spcPct val="116666"/>
              </a:lnSpc>
              <a:defRPr/>
            </a:pPr>
            <a:endParaRPr lang="en-US" sz="2000" b="1">
              <a:solidFill>
                <a:srgbClr val="6A62D9"/>
              </a:solidFill>
              <a:latin typeface="Geist"/>
              <a:ea typeface="Geist"/>
              <a:cs typeface="Geist"/>
              <a:sym typeface="Geist"/>
            </a:endParaRPr>
          </a:p>
          <a:p>
            <a:pPr marL="0" indent="0" algn="l">
              <a:lnSpc>
                <a:spcPct val="116666"/>
              </a:lnSpc>
              <a:defRPr/>
            </a:pPr>
            <a:r>
              <a:rPr lang="en-US" sz="2000" b="1" i="0" u="none" strike="noStrike" err="1">
                <a:solidFill>
                  <a:srgbClr val="6A62D9"/>
                </a:solidFill>
                <a:latin typeface="Geist"/>
                <a:ea typeface="Geist"/>
                <a:cs typeface="Geist"/>
                <a:sym typeface="Geist"/>
              </a:rPr>
              <a:t>Moralen:</a:t>
            </a:r>
            <a:r>
              <a:rPr lang="en-US" sz="2000" b="0" i="0" u="none" strike="noStrike" err="1">
                <a:solidFill>
                  <a:srgbClr val="1F2329"/>
                </a:solidFill>
                <a:latin typeface="Geist"/>
                <a:ea typeface="Geist"/>
                <a:cs typeface="Geist"/>
                <a:sym typeface="Geist"/>
              </a:rPr>
              <a:t>Algoritmer</a:t>
            </a:r>
            <a:r>
              <a:rPr lang="en-US" sz="2000" b="0" i="0" u="none" strike="noStrike">
                <a:solidFill>
                  <a:srgbClr val="1F2329"/>
                </a:solidFill>
                <a:latin typeface="Geist"/>
                <a:ea typeface="Geist"/>
                <a:cs typeface="Geist"/>
                <a:sym typeface="Geist"/>
              </a:rPr>
              <a:t> er </a:t>
            </a:r>
            <a:r>
              <a:rPr lang="en-US" sz="2000" b="0" i="0" u="none" strike="noStrike" err="1">
                <a:solidFill>
                  <a:srgbClr val="1F2329"/>
                </a:solidFill>
                <a:latin typeface="Geist"/>
                <a:ea typeface="Geist"/>
                <a:cs typeface="Geist"/>
                <a:sym typeface="Geist"/>
              </a:rPr>
              <a:t>fastsatte</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fremgangsmåder</a:t>
            </a:r>
            <a:r>
              <a:rPr lang="en-US" sz="2000" b="0" i="0" u="none" strike="noStrike">
                <a:solidFill>
                  <a:srgbClr val="1F2329"/>
                </a:solidFill>
                <a:latin typeface="Geist"/>
                <a:ea typeface="Geist"/>
                <a:cs typeface="Geist"/>
                <a:sym typeface="Geist"/>
              </a:rPr>
              <a:t>, men vi </a:t>
            </a:r>
            <a:r>
              <a:rPr lang="en-US" sz="2000" b="0" i="0" u="none" strike="noStrike" err="1">
                <a:solidFill>
                  <a:srgbClr val="1F2329"/>
                </a:solidFill>
                <a:latin typeface="Geist"/>
                <a:ea typeface="Geist"/>
                <a:cs typeface="Geist"/>
                <a:sym typeface="Geist"/>
              </a:rPr>
              <a:t>skal</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altid</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spørge</a:t>
            </a:r>
            <a:r>
              <a:rPr lang="en-US" sz="2000" b="0" i="0" u="none" strike="noStrike">
                <a:solidFill>
                  <a:srgbClr val="1F2329"/>
                </a:solidFill>
                <a:latin typeface="Geist"/>
                <a:ea typeface="Geist"/>
                <a:cs typeface="Geist"/>
                <a:sym typeface="Geist"/>
              </a:rPr>
              <a:t>: Er </a:t>
            </a:r>
            <a:r>
              <a:rPr lang="en-US" sz="2000" b="0" i="0" u="none" strike="noStrike" err="1">
                <a:solidFill>
                  <a:srgbClr val="1F2329"/>
                </a:solidFill>
                <a:latin typeface="Geist"/>
                <a:ea typeface="Geist"/>
                <a:cs typeface="Geist"/>
                <a:sym typeface="Geist"/>
              </a:rPr>
              <a:t>denne</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metode</a:t>
            </a:r>
            <a:r>
              <a:rPr lang="en-US" sz="2000" b="0" i="0" u="none" strike="noStrike">
                <a:solidFill>
                  <a:srgbClr val="1F2329"/>
                </a:solidFill>
                <a:latin typeface="Geist"/>
                <a:ea typeface="Geist"/>
                <a:cs typeface="Geist"/>
                <a:sym typeface="Geist"/>
              </a:rPr>
              <a:t> den </a:t>
            </a:r>
            <a:r>
              <a:rPr lang="en-US" sz="2000" b="0" i="0" u="none" strike="noStrike" err="1">
                <a:solidFill>
                  <a:srgbClr val="1F2329"/>
                </a:solidFill>
                <a:latin typeface="Geist"/>
                <a:ea typeface="Geist"/>
                <a:cs typeface="Geist"/>
                <a:sym typeface="Geist"/>
              </a:rPr>
              <a:t>mest</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optimale</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i</a:t>
            </a:r>
            <a:r>
              <a:rPr lang="en-US" sz="2000" b="0" i="0" u="none" strike="noStrike">
                <a:solidFill>
                  <a:srgbClr val="1F2329"/>
                </a:solidFill>
                <a:latin typeface="Geist"/>
                <a:ea typeface="Geist"/>
                <a:cs typeface="Geist"/>
                <a:sym typeface="Geist"/>
              </a:rPr>
              <a:t> den </a:t>
            </a:r>
            <a:r>
              <a:rPr lang="en-US" sz="2000" b="0" i="0" u="none" strike="noStrike" err="1">
                <a:solidFill>
                  <a:srgbClr val="1F2329"/>
                </a:solidFill>
                <a:latin typeface="Geist"/>
                <a:ea typeface="Geist"/>
                <a:cs typeface="Geist"/>
                <a:sym typeface="Geist"/>
              </a:rPr>
              <a:t>konkrete</a:t>
            </a:r>
            <a:r>
              <a:rPr lang="en-US" sz="2000" b="0" i="0" u="none" strike="noStrike">
                <a:solidFill>
                  <a:srgbClr val="1F2329"/>
                </a:solidFill>
                <a:latin typeface="Geist"/>
                <a:ea typeface="Geist"/>
                <a:cs typeface="Geist"/>
                <a:sym typeface="Geist"/>
              </a:rPr>
              <a:t> situation?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1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21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5"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1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1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1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Algoritme vs. Program</a:t>
            </a:r>
            <a:r>
              <a:rPr lang="en-US" sz="1300" b="0" i="0" u="none" strike="noStrike">
                <a:solidFill>
                  <a:srgbClr val="FFFFFF"/>
                </a:solidFill>
                <a:latin typeface="Geist"/>
                <a:ea typeface="Geist"/>
                <a:cs typeface="Geist"/>
                <a:sym typeface="Geist"/>
              </a:rPr>
              <a:t>– Teori vs. Praksis</a:t>
            </a:r>
            <a:endParaRPr lang="en-US" sz="1100"/>
          </a:p>
        </p:txBody>
      </p:sp>
      <p:sp>
        <p:nvSpPr>
          <p:cNvPr id="219" name="AutoShape 9"/>
          <p:cNvSpPr/>
          <p:nvPr/>
        </p:nvSpPr>
        <p:spPr>
          <a:xfrm>
            <a:off x="457200" y="419099"/>
            <a:ext cx="7505700" cy="3548743"/>
          </a:xfrm>
          <a:prstGeom prst="rect">
            <a:avLst/>
          </a:prstGeom>
          <a:noFill/>
          <a:ln w="9525" cap="flat" cmpd="sng">
            <a:noFill/>
            <a:prstDash val="solid"/>
            <a:round/>
          </a:ln>
        </p:spPr>
        <p:txBody>
          <a:bodyPr vert="horz" wrap="square" lIns="88900" tIns="88900" rIns="88900" bIns="88900" rtlCol="0" anchor="t" anchorCtr="0"/>
          <a:lstStyle/>
          <a:p>
            <a:pPr>
              <a:defRPr/>
            </a:pPr>
            <a:r>
              <a:rPr lang="en-US" sz="3600" b="1" i="0" u="none" strike="noStrike" dirty="0" err="1">
                <a:solidFill>
                  <a:srgbClr val="000000"/>
                </a:solidFill>
                <a:latin typeface="Geist"/>
                <a:ea typeface="Geist"/>
                <a:cs typeface="Geist"/>
                <a:sym typeface="Geist"/>
              </a:rPr>
              <a:t>Forskel</a:t>
            </a:r>
            <a:r>
              <a:rPr lang="en-US" sz="3600" b="1" i="0" u="none" strike="noStrike" dirty="0">
                <a:solidFill>
                  <a:srgbClr val="000000"/>
                </a:solidFill>
                <a:latin typeface="Geist"/>
                <a:ea typeface="Geist"/>
                <a:cs typeface="Geist"/>
                <a:sym typeface="Geist"/>
              </a:rPr>
              <a:t> </a:t>
            </a:r>
            <a:r>
              <a:rPr lang="en-US" sz="3600" b="1" dirty="0" err="1">
                <a:latin typeface="Geist"/>
                <a:sym typeface="Geist"/>
              </a:rPr>
              <a:t>på</a:t>
            </a:r>
            <a:r>
              <a:rPr lang="en-US" sz="3600" b="1" dirty="0">
                <a:latin typeface="Geist"/>
                <a:sym typeface="Geist"/>
              </a:rPr>
              <a:t> </a:t>
            </a:r>
            <a:r>
              <a:rPr lang="en-US" sz="3600" b="1" dirty="0" err="1">
                <a:latin typeface="Geist"/>
                <a:sym typeface="Geist"/>
              </a:rPr>
              <a:t>algoritme</a:t>
            </a:r>
            <a:r>
              <a:rPr lang="en-US" sz="3600" b="1" dirty="0">
                <a:latin typeface="Geist"/>
                <a:sym typeface="Geist"/>
              </a:rPr>
              <a:t> </a:t>
            </a:r>
            <a:r>
              <a:rPr lang="en-US" sz="3600" b="1" dirty="0" err="1">
                <a:latin typeface="Geist"/>
                <a:sym typeface="Geist"/>
              </a:rPr>
              <a:t>og</a:t>
            </a:r>
            <a:r>
              <a:rPr lang="en-US" sz="3600" b="1" dirty="0">
                <a:latin typeface="Geist"/>
                <a:sym typeface="Geist"/>
              </a:rPr>
              <a:t> program</a:t>
            </a:r>
            <a:endParaRPr lang="en-US" sz="3600" b="1" dirty="0">
              <a:latin typeface="Geist"/>
            </a:endParaRPr>
          </a:p>
          <a:p>
            <a:pPr marL="0" indent="0" algn="l">
              <a:lnSpc>
                <a:spcPct val="100000"/>
              </a:lnSpc>
            </a:pPr>
            <a:r>
              <a:rPr lang="en-US" sz="2400" b="0" i="0" u="none" strike="noStrike" dirty="0">
                <a:solidFill>
                  <a:srgbClr val="000000"/>
                </a:solidFill>
                <a:latin typeface="Geist"/>
                <a:ea typeface="Geist"/>
                <a:cs typeface="Geist"/>
                <a:sym typeface="Geist"/>
              </a:rPr>
              <a:t>En </a:t>
            </a:r>
            <a:r>
              <a:rPr lang="en-US" sz="2400" b="0" i="0" u="none" strike="noStrike" dirty="0" err="1">
                <a:solidFill>
                  <a:srgbClr val="000000"/>
                </a:solidFill>
                <a:latin typeface="Geist"/>
                <a:ea typeface="Geist"/>
                <a:cs typeface="Geist"/>
                <a:sym typeface="Geist"/>
              </a:rPr>
              <a:t>algoritme</a:t>
            </a:r>
            <a:r>
              <a:rPr lang="en-US" sz="2400" b="0" i="0" u="none" strike="noStrike" dirty="0">
                <a:solidFill>
                  <a:srgbClr val="000000"/>
                </a:solidFill>
                <a:latin typeface="Geist"/>
                <a:ea typeface="Geist"/>
                <a:cs typeface="Geist"/>
                <a:sym typeface="Geist"/>
              </a:rPr>
              <a:t> er </a:t>
            </a:r>
            <a:r>
              <a:rPr lang="en-US" sz="2400" b="0" i="0" u="none" strike="noStrike" dirty="0" err="1">
                <a:solidFill>
                  <a:srgbClr val="000000"/>
                </a:solidFill>
                <a:latin typeface="Geist"/>
                <a:ea typeface="Geist"/>
                <a:cs typeface="Geist"/>
                <a:sym typeface="Geist"/>
              </a:rPr>
              <a:t>en</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logisk</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abstrakt</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beskrivelse</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af</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hvordan</a:t>
            </a:r>
            <a:r>
              <a:rPr lang="en-US" sz="2400" b="0" i="0" u="none" strike="noStrike" dirty="0">
                <a:solidFill>
                  <a:srgbClr val="000000"/>
                </a:solidFill>
                <a:latin typeface="Geist"/>
                <a:ea typeface="Geist"/>
                <a:cs typeface="Geist"/>
                <a:sym typeface="Geist"/>
              </a:rPr>
              <a:t> et problem </a:t>
            </a:r>
            <a:r>
              <a:rPr lang="en-US" sz="2400" b="0" i="0" u="none" strike="noStrike" dirty="0" err="1">
                <a:solidFill>
                  <a:srgbClr val="000000"/>
                </a:solidFill>
                <a:latin typeface="Geist"/>
                <a:ea typeface="Geist"/>
                <a:cs typeface="Geist"/>
                <a:sym typeface="Geist"/>
              </a:rPr>
              <a:t>løses</a:t>
            </a:r>
            <a:r>
              <a:rPr lang="en-US" sz="2400" b="0" i="0" u="none" strike="noStrike" dirty="0">
                <a:solidFill>
                  <a:srgbClr val="000000"/>
                </a:solidFill>
                <a:latin typeface="Geist"/>
                <a:ea typeface="Geist"/>
                <a:cs typeface="Geist"/>
                <a:sym typeface="Geist"/>
              </a:rPr>
              <a:t> – den er </a:t>
            </a:r>
            <a:r>
              <a:rPr lang="en-US" sz="2400" b="0" i="0" u="none" strike="noStrike" dirty="0" err="1">
                <a:solidFill>
                  <a:srgbClr val="000000"/>
                </a:solidFill>
                <a:latin typeface="Geist"/>
                <a:ea typeface="Geist"/>
                <a:cs typeface="Geist"/>
                <a:sym typeface="Geist"/>
              </a:rPr>
              <a:t>uafhængig</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af</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programmeringssprog</a:t>
            </a:r>
            <a:r>
              <a:rPr lang="en-US" sz="2400" b="0" i="0" u="none" strike="noStrike" dirty="0">
                <a:solidFill>
                  <a:srgbClr val="000000"/>
                </a:solidFill>
                <a:latin typeface="Geist"/>
                <a:ea typeface="Geist"/>
                <a:cs typeface="Geist"/>
                <a:sym typeface="Geist"/>
              </a:rPr>
              <a:t>. Et program er </a:t>
            </a:r>
            <a:r>
              <a:rPr lang="en-US" sz="2400" b="0" i="0" u="none" strike="noStrike" dirty="0" err="1">
                <a:solidFill>
                  <a:srgbClr val="000000"/>
                </a:solidFill>
                <a:latin typeface="Geist"/>
                <a:ea typeface="Geist"/>
                <a:cs typeface="Geist"/>
                <a:sym typeface="Geist"/>
              </a:rPr>
              <a:t>derimod</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en</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konkret</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implementering</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af</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denne</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algoritme</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i</a:t>
            </a:r>
            <a:r>
              <a:rPr lang="en-US" sz="2400" b="0" i="0" u="none" strike="noStrike" dirty="0">
                <a:solidFill>
                  <a:srgbClr val="000000"/>
                </a:solidFill>
                <a:latin typeface="Geist"/>
                <a:ea typeface="Geist"/>
                <a:cs typeface="Geist"/>
                <a:sym typeface="Geist"/>
              </a:rPr>
              <a:t> et sprog </a:t>
            </a:r>
            <a:r>
              <a:rPr lang="en-US" sz="2400" b="0" i="0" u="none" strike="noStrike" dirty="0" err="1">
                <a:solidFill>
                  <a:srgbClr val="000000"/>
                </a:solidFill>
                <a:latin typeface="Geist"/>
                <a:ea typeface="Geist"/>
                <a:cs typeface="Geist"/>
                <a:sym typeface="Geist"/>
              </a:rPr>
              <a:t>som</a:t>
            </a:r>
            <a:r>
              <a:rPr lang="en-US" sz="2400" b="0" i="0" u="none" strike="noStrike" dirty="0">
                <a:solidFill>
                  <a:srgbClr val="000000"/>
                </a:solidFill>
                <a:latin typeface="Geist"/>
                <a:ea typeface="Geist"/>
                <a:cs typeface="Geist"/>
                <a:sym typeface="Geist"/>
              </a:rPr>
              <a:t> Python </a:t>
            </a:r>
            <a:r>
              <a:rPr lang="en-US" sz="2400" b="0" i="0" u="none" strike="noStrike" dirty="0" err="1">
                <a:solidFill>
                  <a:srgbClr val="000000"/>
                </a:solidFill>
                <a:latin typeface="Geist"/>
                <a:ea typeface="Geist"/>
                <a:cs typeface="Geist"/>
                <a:sym typeface="Geist"/>
              </a:rPr>
              <a:t>eller</a:t>
            </a:r>
            <a:r>
              <a:rPr lang="en-US" sz="2400" b="0" i="0" u="none" strike="noStrike" dirty="0">
                <a:solidFill>
                  <a:srgbClr val="000000"/>
                </a:solidFill>
                <a:latin typeface="Geist"/>
                <a:ea typeface="Geist"/>
                <a:cs typeface="Geist"/>
                <a:sym typeface="Geist"/>
              </a:rPr>
              <a:t> Java, </a:t>
            </a:r>
            <a:r>
              <a:rPr lang="en-US" sz="2400" b="0" i="0" u="none" strike="noStrike" dirty="0" err="1">
                <a:solidFill>
                  <a:srgbClr val="000000"/>
                </a:solidFill>
                <a:latin typeface="Geist"/>
                <a:ea typeface="Geist"/>
                <a:cs typeface="Geist"/>
                <a:sym typeface="Geist"/>
              </a:rPr>
              <a:t>skabt</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til</a:t>
            </a:r>
            <a:r>
              <a:rPr lang="en-US" sz="2400" b="0" i="0" u="none" strike="noStrike" dirty="0">
                <a:solidFill>
                  <a:srgbClr val="000000"/>
                </a:solidFill>
                <a:latin typeface="Geist"/>
                <a:ea typeface="Geist"/>
                <a:cs typeface="Geist"/>
                <a:sym typeface="Geist"/>
              </a:rPr>
              <a:t> at </a:t>
            </a:r>
            <a:r>
              <a:rPr lang="en-US" sz="2400" b="0" i="0" u="none" strike="noStrike" dirty="0" err="1">
                <a:solidFill>
                  <a:srgbClr val="000000"/>
                </a:solidFill>
                <a:latin typeface="Geist"/>
                <a:ea typeface="Geist"/>
                <a:cs typeface="Geist"/>
                <a:sym typeface="Geist"/>
              </a:rPr>
              <a:t>køre</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på</a:t>
            </a:r>
            <a:r>
              <a:rPr lang="en-US" sz="2400" b="0" i="0" u="none" strike="noStrike" dirty="0">
                <a:solidFill>
                  <a:srgbClr val="000000"/>
                </a:solidFill>
                <a:latin typeface="Geist"/>
                <a:ea typeface="Geist"/>
                <a:cs typeface="Geist"/>
                <a:sym typeface="Geist"/>
              </a:rPr>
              <a:t> </a:t>
            </a:r>
            <a:r>
              <a:rPr lang="en-US" sz="2400" b="0" i="0" u="none" strike="noStrike" dirty="0" err="1">
                <a:solidFill>
                  <a:srgbClr val="000000"/>
                </a:solidFill>
                <a:latin typeface="Geist"/>
                <a:ea typeface="Geist"/>
                <a:cs typeface="Geist"/>
                <a:sym typeface="Geist"/>
              </a:rPr>
              <a:t>en</a:t>
            </a:r>
            <a:r>
              <a:rPr lang="en-US" sz="2400" b="0" i="0" u="none" strike="noStrike" dirty="0">
                <a:solidFill>
                  <a:srgbClr val="000000"/>
                </a:solidFill>
                <a:latin typeface="Geist"/>
                <a:ea typeface="Geist"/>
                <a:cs typeface="Geist"/>
                <a:sym typeface="Geist"/>
              </a:rPr>
              <a:t> computer.</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27"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8"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29"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30"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31"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Matematikhistorie</a:t>
            </a:r>
            <a:r>
              <a:rPr lang="en-US" sz="1400" b="0" i="0" u="none" strike="noStrike">
                <a:solidFill>
                  <a:srgbClr val="FFFFFF"/>
                </a:solidFill>
                <a:latin typeface="Geist"/>
                <a:ea typeface="Geist"/>
                <a:cs typeface="Geist"/>
                <a:sym typeface="Geist"/>
              </a:rPr>
              <a:t>|</a:t>
            </a:r>
            <a:r>
              <a:rPr lang="en-US" sz="1300" b="0" i="0" u="none" strike="noStrike">
                <a:solidFill>
                  <a:srgbClr val="FFFFFF"/>
                </a:solidFill>
                <a:latin typeface="Geist"/>
                <a:ea typeface="Geist"/>
                <a:cs typeface="Geist"/>
                <a:sym typeface="Geist"/>
              </a:rPr>
              <a:t>Oprindelsen af et nøgleord</a:t>
            </a:r>
            <a:endParaRPr lang="en-US" sz="1100"/>
          </a:p>
        </p:txBody>
      </p:sp>
      <p:sp>
        <p:nvSpPr>
          <p:cNvPr id="232" name="AutoShape 9"/>
          <p:cNvSpPr/>
          <p:nvPr/>
        </p:nvSpPr>
        <p:spPr>
          <a:xfrm>
            <a:off x="482600" y="901700"/>
            <a:ext cx="4406900" cy="6350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2800" b="1" i="0" u="none" strike="noStrike">
                <a:solidFill>
                  <a:srgbClr val="000000"/>
                </a:solidFill>
                <a:latin typeface="Geist"/>
                <a:ea typeface="Geist"/>
                <a:cs typeface="Geist"/>
                <a:sym typeface="Geist"/>
              </a:rPr>
              <a:t>Ordet "Algoritme"</a:t>
            </a:r>
            <a:endParaRPr lang="en-US" sz="1100"/>
          </a:p>
        </p:txBody>
      </p:sp>
      <p:sp>
        <p:nvSpPr>
          <p:cNvPr id="233" name="AutoShape 10"/>
          <p:cNvSpPr/>
          <p:nvPr/>
        </p:nvSpPr>
        <p:spPr>
          <a:xfrm>
            <a:off x="482600" y="1536700"/>
            <a:ext cx="4597400" cy="4572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0000"/>
              </a:lnSpc>
              <a:defRPr/>
            </a:pPr>
            <a:r>
              <a:rPr lang="en-US" sz="1800" b="1" i="0" u="none" strike="noStrike">
                <a:solidFill>
                  <a:srgbClr val="000000"/>
                </a:solidFill>
                <a:latin typeface="Geist"/>
                <a:ea typeface="Geist"/>
                <a:cs typeface="Geist"/>
                <a:sym typeface="Geist"/>
              </a:rPr>
              <a:t>En fascinerende historie fra det 9. århundrede</a:t>
            </a:r>
            <a:endParaRPr lang="en-US" sz="1100"/>
          </a:p>
        </p:txBody>
      </p:sp>
      <p:sp>
        <p:nvSpPr>
          <p:cNvPr id="234" name="AutoShape 11"/>
          <p:cNvSpPr/>
          <p:nvPr/>
        </p:nvSpPr>
        <p:spPr>
          <a:xfrm>
            <a:off x="482600" y="1993900"/>
            <a:ext cx="4406900" cy="22860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defRPr/>
            </a:pPr>
            <a:r>
              <a:rPr lang="en-US" sz="1600" b="0" i="0" u="none" strike="noStrike" dirty="0" err="1">
                <a:solidFill>
                  <a:srgbClr val="000000"/>
                </a:solidFill>
                <a:latin typeface="Geist"/>
                <a:ea typeface="Geist"/>
                <a:cs typeface="Geist"/>
                <a:sym typeface="Geist"/>
              </a:rPr>
              <a:t>Ordet</a:t>
            </a:r>
            <a:r>
              <a:rPr lang="en-US" sz="1600" b="0" i="0" u="none" strike="noStrike" dirty="0">
                <a:solidFill>
                  <a:srgbClr val="000000"/>
                </a:solidFill>
                <a:latin typeface="Geist"/>
                <a:ea typeface="Geist"/>
                <a:cs typeface="Geist"/>
                <a:sym typeface="Geist"/>
              </a:rPr>
              <a:t> stammer </a:t>
            </a:r>
            <a:r>
              <a:rPr lang="en-US" sz="1600" b="0" i="0" u="none" strike="noStrike" dirty="0" err="1">
                <a:solidFill>
                  <a:srgbClr val="000000"/>
                </a:solidFill>
                <a:latin typeface="Geist"/>
                <a:ea typeface="Geist"/>
                <a:cs typeface="Geist"/>
                <a:sym typeface="Geist"/>
              </a:rPr>
              <a:t>fra</a:t>
            </a:r>
            <a:r>
              <a:rPr lang="en-US" sz="1600" b="0" i="0" u="none" strike="noStrike" dirty="0">
                <a:solidFill>
                  <a:srgbClr val="000000"/>
                </a:solidFill>
                <a:latin typeface="Geist"/>
                <a:ea typeface="Geist"/>
                <a:cs typeface="Geist"/>
                <a:sym typeface="Geist"/>
              </a:rPr>
              <a:t> den </a:t>
            </a:r>
            <a:r>
              <a:rPr lang="en-US" sz="1600" b="0" i="0" u="none" strike="noStrike" dirty="0" err="1">
                <a:solidFill>
                  <a:srgbClr val="000000"/>
                </a:solidFill>
                <a:latin typeface="Geist"/>
                <a:ea typeface="Geist"/>
                <a:cs typeface="Geist"/>
                <a:sym typeface="Geist"/>
              </a:rPr>
              <a:t>berømte</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arabiske</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matematiker</a:t>
            </a:r>
            <a:r>
              <a:rPr lang="en-US" sz="1600" b="1" i="0" u="none" strike="noStrike" dirty="0" err="1">
                <a:solidFill>
                  <a:srgbClr val="000000"/>
                </a:solidFill>
                <a:latin typeface="Geist"/>
                <a:ea typeface="Geist"/>
                <a:cs typeface="Geist"/>
                <a:sym typeface="Geist"/>
              </a:rPr>
              <a:t>Abu</a:t>
            </a:r>
            <a:r>
              <a:rPr lang="en-US" sz="1600" b="1" i="0" u="none" strike="noStrike" dirty="0">
                <a:solidFill>
                  <a:srgbClr val="000000"/>
                </a:solidFill>
                <a:latin typeface="Geist"/>
                <a:ea typeface="Geist"/>
                <a:cs typeface="Geist"/>
                <a:sym typeface="Geist"/>
              </a:rPr>
              <a:t> Jafar Muhammad Ibn Musa Al-</a:t>
            </a:r>
            <a:r>
              <a:rPr lang="en-US" sz="1600" b="1" i="0" u="none" strike="noStrike" dirty="0" err="1">
                <a:solidFill>
                  <a:srgbClr val="000000"/>
                </a:solidFill>
                <a:latin typeface="Geist"/>
                <a:ea typeface="Geist"/>
                <a:cs typeface="Geist"/>
                <a:sym typeface="Geist"/>
              </a:rPr>
              <a:t>Khowarizmi</a:t>
            </a:r>
            <a:r>
              <a:rPr lang="en-US" sz="1600" b="0" i="0" u="none" strike="noStrike" dirty="0">
                <a:solidFill>
                  <a:srgbClr val="000000"/>
                </a:solidFill>
                <a:latin typeface="Geist"/>
                <a:ea typeface="Geist"/>
                <a:cs typeface="Geist"/>
                <a:sym typeface="Geist"/>
              </a:rPr>
              <a:t>(ca. 780–850 </a:t>
            </a:r>
            <a:r>
              <a:rPr lang="en-US" sz="1600" b="0" i="0" u="none" strike="noStrike" dirty="0" err="1">
                <a:solidFill>
                  <a:srgbClr val="000000"/>
                </a:solidFill>
                <a:latin typeface="Geist"/>
                <a:ea typeface="Geist"/>
                <a:cs typeface="Geist"/>
                <a:sym typeface="Geist"/>
              </a:rPr>
              <a:t>e.Kr</a:t>
            </a:r>
            <a:r>
              <a:rPr lang="en-US" sz="1600" b="0" i="0" u="none" strike="noStrike" dirty="0">
                <a:solidFill>
                  <a:srgbClr val="000000"/>
                </a:solidFill>
                <a:latin typeface="Geist"/>
                <a:ea typeface="Geist"/>
                <a:cs typeface="Geist"/>
                <a:sym typeface="Geist"/>
              </a:rPr>
              <a:t>.).</a:t>
            </a:r>
            <a:endParaRPr lang="en-US" sz="1100" dirty="0"/>
          </a:p>
          <a:p>
            <a:pPr marL="0" indent="0" algn="l">
              <a:lnSpc>
                <a:spcPct val="116666"/>
              </a:lnSpc>
              <a:spcBef>
                <a:spcPts val="1000"/>
              </a:spcBef>
            </a:pPr>
            <a:r>
              <a:rPr lang="en-US" sz="1600" b="0" i="0" u="none" strike="noStrike" dirty="0">
                <a:solidFill>
                  <a:srgbClr val="000000"/>
                </a:solidFill>
                <a:latin typeface="Geist"/>
                <a:ea typeface="Geist"/>
                <a:cs typeface="Geist"/>
                <a:sym typeface="Geist"/>
              </a:rPr>
              <a:t>Han var </a:t>
            </a:r>
            <a:r>
              <a:rPr lang="en-US" sz="1600" b="0" i="0" u="none" strike="noStrike" dirty="0" err="1">
                <a:solidFill>
                  <a:srgbClr val="000000"/>
                </a:solidFill>
                <a:latin typeface="Geist"/>
                <a:ea typeface="Geist"/>
                <a:cs typeface="Geist"/>
                <a:sym typeface="Geist"/>
              </a:rPr>
              <a:t>en</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grundlægger</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af</a:t>
            </a:r>
            <a:r>
              <a:rPr lang="en-US" sz="1600" b="0" i="0" u="none" strike="noStrike" dirty="0">
                <a:solidFill>
                  <a:srgbClr val="000000"/>
                </a:solidFill>
                <a:latin typeface="Geist"/>
                <a:ea typeface="Geist"/>
                <a:cs typeface="Geist"/>
                <a:sym typeface="Geist"/>
              </a:rPr>
              <a:t> algebra, </a:t>
            </a:r>
            <a:r>
              <a:rPr lang="en-US" sz="1600" b="0" i="0" u="none" strike="noStrike" dirty="0" err="1">
                <a:solidFill>
                  <a:srgbClr val="000000"/>
                </a:solidFill>
                <a:latin typeface="Geist"/>
                <a:ea typeface="Geist"/>
                <a:cs typeface="Geist"/>
                <a:sym typeface="Geist"/>
              </a:rPr>
              <a:t>og</a:t>
            </a:r>
            <a:r>
              <a:rPr lang="en-US" sz="1600" b="0" i="0" u="none" strike="noStrike" dirty="0">
                <a:solidFill>
                  <a:srgbClr val="000000"/>
                </a:solidFill>
                <a:latin typeface="Geist"/>
                <a:ea typeface="Geist"/>
                <a:cs typeface="Geist"/>
                <a:sym typeface="Geist"/>
              </a:rPr>
              <a:t> det er </a:t>
            </a:r>
            <a:r>
              <a:rPr lang="en-US" sz="1600" b="0" i="0" u="none" strike="noStrike" dirty="0" err="1">
                <a:solidFill>
                  <a:srgbClr val="000000"/>
                </a:solidFill>
                <a:latin typeface="Geist"/>
                <a:ea typeface="Geist"/>
                <a:cs typeface="Geist"/>
                <a:sym typeface="Geist"/>
              </a:rPr>
              <a:t>fra</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hans</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efternavn</a:t>
            </a:r>
            <a:r>
              <a:rPr lang="en-US" sz="1600" b="0" i="0" u="none" strike="noStrike" dirty="0">
                <a:solidFill>
                  <a:srgbClr val="000000"/>
                </a:solidFill>
                <a:latin typeface="Geist"/>
                <a:ea typeface="Geist"/>
                <a:cs typeface="Geist"/>
                <a:sym typeface="Geist"/>
              </a:rPr>
              <a:t> "Al-</a:t>
            </a:r>
            <a:r>
              <a:rPr lang="en-US" sz="1600" b="0" i="0" u="none" strike="noStrike" dirty="0" err="1">
                <a:solidFill>
                  <a:srgbClr val="000000"/>
                </a:solidFill>
                <a:latin typeface="Geist"/>
                <a:ea typeface="Geist"/>
                <a:cs typeface="Geist"/>
                <a:sym typeface="Geist"/>
              </a:rPr>
              <a:t>Khowarizmi</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latiniseret</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til</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algorismus</a:t>
            </a:r>
            <a:r>
              <a:rPr lang="en-US" sz="1600" b="0" i="0" u="none" strike="noStrike" dirty="0">
                <a:solidFill>
                  <a:srgbClr val="000000"/>
                </a:solidFill>
                <a:latin typeface="Geist"/>
                <a:ea typeface="Geist"/>
                <a:cs typeface="Geist"/>
                <a:sym typeface="Geist"/>
              </a:rPr>
              <a:t>") at vi </a:t>
            </a:r>
            <a:r>
              <a:rPr lang="en-US" sz="1600" b="0" i="0" u="none" strike="noStrike" dirty="0" err="1">
                <a:solidFill>
                  <a:srgbClr val="000000"/>
                </a:solidFill>
                <a:latin typeface="Geist"/>
                <a:ea typeface="Geist"/>
                <a:cs typeface="Geist"/>
                <a:sym typeface="Geist"/>
              </a:rPr>
              <a:t>i</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dag</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har</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ordet</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algoritme</a:t>
            </a:r>
            <a:r>
              <a:rPr lang="en-US" sz="1600" b="0" i="0" u="none" strike="noStrike" dirty="0">
                <a:solidFill>
                  <a:srgbClr val="000000"/>
                </a:solidFill>
                <a:latin typeface="Geist"/>
                <a:ea typeface="Geist"/>
                <a:cs typeface="Geist"/>
                <a:sym typeface="Geist"/>
              </a:rPr>
              <a:t>". Hans </a:t>
            </a:r>
            <a:r>
              <a:rPr lang="en-US" sz="1600" b="0" i="0" u="none" strike="noStrike" dirty="0" err="1">
                <a:solidFill>
                  <a:srgbClr val="000000"/>
                </a:solidFill>
                <a:latin typeface="Geist"/>
                <a:ea typeface="Geist"/>
                <a:cs typeface="Geist"/>
                <a:sym typeface="Geist"/>
              </a:rPr>
              <a:t>værker</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formede</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matematikken</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i</a:t>
            </a:r>
            <a:r>
              <a:rPr lang="en-US" sz="1600" b="0" i="0" u="none" strike="noStrike" dirty="0">
                <a:solidFill>
                  <a:srgbClr val="000000"/>
                </a:solidFill>
                <a:latin typeface="Geist"/>
                <a:ea typeface="Geist"/>
                <a:cs typeface="Geist"/>
                <a:sym typeface="Geist"/>
              </a:rPr>
              <a:t> Europa </a:t>
            </a:r>
            <a:r>
              <a:rPr lang="en-US" sz="1600" b="0" i="0" u="none" strike="noStrike" dirty="0" err="1">
                <a:solidFill>
                  <a:srgbClr val="000000"/>
                </a:solidFill>
                <a:latin typeface="Geist"/>
                <a:ea typeface="Geist"/>
                <a:cs typeface="Geist"/>
                <a:sym typeface="Geist"/>
              </a:rPr>
              <a:t>og</a:t>
            </a:r>
            <a:r>
              <a:rPr lang="en-US" sz="1600" b="0" i="0" u="none" strike="noStrike" dirty="0">
                <a:solidFill>
                  <a:srgbClr val="000000"/>
                </a:solidFill>
                <a:latin typeface="Geist"/>
                <a:ea typeface="Geist"/>
                <a:cs typeface="Geist"/>
                <a:sym typeface="Geist"/>
              </a:rPr>
              <a:t> er </a:t>
            </a:r>
            <a:r>
              <a:rPr lang="en-US" sz="1600" b="0" i="0" u="none" strike="noStrike" dirty="0" err="1">
                <a:solidFill>
                  <a:srgbClr val="000000"/>
                </a:solidFill>
                <a:latin typeface="Geist"/>
                <a:ea typeface="Geist"/>
                <a:cs typeface="Geist"/>
                <a:sym typeface="Geist"/>
              </a:rPr>
              <a:t>grundlaget</a:t>
            </a:r>
            <a:r>
              <a:rPr lang="en-US" sz="1600" b="0" i="0" u="none" strike="noStrike" dirty="0">
                <a:solidFill>
                  <a:srgbClr val="000000"/>
                </a:solidFill>
                <a:latin typeface="Geist"/>
                <a:ea typeface="Geist"/>
                <a:cs typeface="Geist"/>
                <a:sym typeface="Geist"/>
              </a:rPr>
              <a:t> for </a:t>
            </a:r>
            <a:r>
              <a:rPr lang="en-US" sz="1600" b="0" i="0" u="none" strike="noStrike" dirty="0" err="1">
                <a:solidFill>
                  <a:srgbClr val="000000"/>
                </a:solidFill>
                <a:latin typeface="Geist"/>
                <a:ea typeface="Geist"/>
                <a:cs typeface="Geist"/>
                <a:sym typeface="Geist"/>
              </a:rPr>
              <a:t>moderne</a:t>
            </a:r>
            <a:r>
              <a:rPr lang="en-US" sz="1600" b="0" i="0" u="none" strike="noStrike" dirty="0">
                <a:solidFill>
                  <a:srgbClr val="000000"/>
                </a:solidFill>
                <a:latin typeface="Geist"/>
                <a:ea typeface="Geist"/>
                <a:cs typeface="Geist"/>
                <a:sym typeface="Geist"/>
              </a:rPr>
              <a:t> </a:t>
            </a:r>
            <a:r>
              <a:rPr lang="en-US" sz="1600" b="0" i="0" u="none" strike="noStrike" dirty="0" err="1">
                <a:solidFill>
                  <a:srgbClr val="000000"/>
                </a:solidFill>
                <a:latin typeface="Geist"/>
                <a:ea typeface="Geist"/>
                <a:cs typeface="Geist"/>
                <a:sym typeface="Geist"/>
              </a:rPr>
              <a:t>beregningsmetoder</a:t>
            </a:r>
            <a:r>
              <a:rPr lang="en-US" sz="1600" b="0" i="0" u="none" strike="noStrike" dirty="0">
                <a:solidFill>
                  <a:srgbClr val="000000"/>
                </a:solidFill>
                <a:latin typeface="Geist"/>
                <a:ea typeface="Geist"/>
                <a:cs typeface="Geist"/>
                <a:sym typeface="Geist"/>
              </a:rPr>
              <a:t>.</a:t>
            </a:r>
            <a:endParaRPr dirty="0"/>
          </a:p>
        </p:txBody>
      </p:sp>
      <p:pic>
        <p:nvPicPr>
          <p:cNvPr id="2" name="Picture 1">
            <a:extLst>
              <a:ext uri="{FF2B5EF4-FFF2-40B4-BE49-F238E27FC236}">
                <a16:creationId xmlns:a16="http://schemas.microsoft.com/office/drawing/2014/main" id="{E4DCA0FC-CCAB-2943-2DEC-1DA996F71D1C}"/>
              </a:ext>
            </a:extLst>
          </p:cNvPr>
          <p:cNvPicPr>
            <a:picLocks noChangeAspect="1"/>
          </p:cNvPicPr>
          <p:nvPr/>
        </p:nvPicPr>
        <p:blipFill>
          <a:blip r:embed="rId3"/>
          <a:stretch>
            <a:fillRect/>
          </a:stretch>
        </p:blipFill>
        <p:spPr>
          <a:xfrm>
            <a:off x="5586457" y="755709"/>
            <a:ext cx="2643143" cy="35241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F13D8D-8B5D-0E2D-5B22-9F2AFA067E88}"/>
              </a:ext>
            </a:extLst>
          </p:cNvPr>
          <p:cNvSpPr txBox="1"/>
          <p:nvPr/>
        </p:nvSpPr>
        <p:spPr>
          <a:xfrm>
            <a:off x="816428" y="534085"/>
            <a:ext cx="4572000" cy="646331"/>
          </a:xfrm>
          <a:prstGeom prst="rect">
            <a:avLst/>
          </a:prstGeom>
          <a:noFill/>
        </p:spPr>
        <p:txBody>
          <a:bodyPr wrap="square">
            <a:spAutoFit/>
          </a:bodyPr>
          <a:lstStyle/>
          <a:p>
            <a:r>
              <a:rPr lang="en-US" sz="3600" b="1" dirty="0" err="1">
                <a:latin typeface="Geist"/>
                <a:sym typeface="Geist"/>
              </a:rPr>
              <a:t>algoritme</a:t>
            </a:r>
            <a:r>
              <a:rPr lang="en-US" sz="3600" b="1" dirty="0">
                <a:latin typeface="Geist"/>
                <a:sym typeface="Geist"/>
              </a:rPr>
              <a:t> </a:t>
            </a:r>
            <a:endParaRPr lang="en-DK" dirty="0"/>
          </a:p>
        </p:txBody>
      </p:sp>
      <p:sp>
        <p:nvSpPr>
          <p:cNvPr id="4" name="AutoShape 11">
            <a:extLst>
              <a:ext uri="{FF2B5EF4-FFF2-40B4-BE49-F238E27FC236}">
                <a16:creationId xmlns:a16="http://schemas.microsoft.com/office/drawing/2014/main" id="{BC208CD3-987D-2F62-F1DD-BDCEBEC1832E}"/>
              </a:ext>
            </a:extLst>
          </p:cNvPr>
          <p:cNvSpPr/>
          <p:nvPr/>
        </p:nvSpPr>
        <p:spPr>
          <a:xfrm>
            <a:off x="482600" y="1993900"/>
            <a:ext cx="4406900" cy="22860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defRPr/>
            </a:pPr>
            <a:r>
              <a:rPr lang="en-US" sz="1600" b="0" i="0" u="none" strike="noStrike" dirty="0">
                <a:solidFill>
                  <a:srgbClr val="000000"/>
                </a:solidFill>
                <a:latin typeface="Geist"/>
                <a:ea typeface="Geist"/>
                <a:cs typeface="Geist"/>
                <a:sym typeface="Geist"/>
              </a:rPr>
              <a:t> </a:t>
            </a:r>
            <a:endParaRPr dirty="0"/>
          </a:p>
        </p:txBody>
      </p:sp>
      <p:graphicFrame>
        <p:nvGraphicFramePr>
          <p:cNvPr id="5" name="Table 4">
            <a:extLst>
              <a:ext uri="{FF2B5EF4-FFF2-40B4-BE49-F238E27FC236}">
                <a16:creationId xmlns:a16="http://schemas.microsoft.com/office/drawing/2014/main" id="{CE142C27-AABF-59A4-D512-D881CD1917A0}"/>
              </a:ext>
            </a:extLst>
          </p:cNvPr>
          <p:cNvGraphicFramePr>
            <a:graphicFrameLocks noGrp="1"/>
          </p:cNvGraphicFramePr>
          <p:nvPr>
            <p:extLst>
              <p:ext uri="{D42A27DB-BD31-4B8C-83A1-F6EECF244321}">
                <p14:modId xmlns:p14="http://schemas.microsoft.com/office/powerpoint/2010/main" val="2803644940"/>
              </p:ext>
            </p:extLst>
          </p:nvPr>
        </p:nvGraphicFramePr>
        <p:xfrm>
          <a:off x="1702301" y="1993900"/>
          <a:ext cx="3686127" cy="725556"/>
        </p:xfrm>
        <a:graphic>
          <a:graphicData uri="http://schemas.openxmlformats.org/drawingml/2006/table">
            <a:tbl>
              <a:tblPr>
                <a:tableStyleId>{5C22544A-7EE6-4342-B048-85BDC9FD1C3A}</a:tableStyleId>
              </a:tblPr>
              <a:tblGrid>
                <a:gridCol w="1228709">
                  <a:extLst>
                    <a:ext uri="{9D8B030D-6E8A-4147-A177-3AD203B41FA5}">
                      <a16:colId xmlns:a16="http://schemas.microsoft.com/office/drawing/2014/main" val="4123027467"/>
                    </a:ext>
                  </a:extLst>
                </a:gridCol>
                <a:gridCol w="1228709">
                  <a:extLst>
                    <a:ext uri="{9D8B030D-6E8A-4147-A177-3AD203B41FA5}">
                      <a16:colId xmlns:a16="http://schemas.microsoft.com/office/drawing/2014/main" val="2822283444"/>
                    </a:ext>
                  </a:extLst>
                </a:gridCol>
                <a:gridCol w="1228709">
                  <a:extLst>
                    <a:ext uri="{9D8B030D-6E8A-4147-A177-3AD203B41FA5}">
                      <a16:colId xmlns:a16="http://schemas.microsoft.com/office/drawing/2014/main" val="3292823237"/>
                    </a:ext>
                  </a:extLst>
                </a:gridCol>
              </a:tblGrid>
              <a:tr h="341902">
                <a:tc>
                  <a:txBody>
                    <a:bodyPr/>
                    <a:lstStyle/>
                    <a:p>
                      <a:pPr>
                        <a:buNone/>
                      </a:pPr>
                      <a:r>
                        <a:rPr lang="en-DK" sz="700"/>
                        <a:t>Linear Search</a:t>
                      </a:r>
                    </a:p>
                  </a:txBody>
                  <a:tcPr marL="42738" marR="42738" marT="21369" marB="21369" anchor="ctr"/>
                </a:tc>
                <a:tc>
                  <a:txBody>
                    <a:bodyPr/>
                    <a:lstStyle/>
                    <a:p>
                      <a:pPr>
                        <a:buNone/>
                      </a:pPr>
                      <a:r>
                        <a:rPr lang="en-DK" sz="700"/>
                        <a:t>Går gennem elementerne ét efter ét for at finde en bestemt værdi</a:t>
                      </a:r>
                    </a:p>
                  </a:txBody>
                  <a:tcPr marL="42738" marR="42738" marT="21369" marB="21369" anchor="ctr"/>
                </a:tc>
                <a:tc>
                  <a:txBody>
                    <a:bodyPr/>
                    <a:lstStyle/>
                    <a:p>
                      <a:pPr>
                        <a:buNone/>
                      </a:pPr>
                      <a:r>
                        <a:rPr lang="en-DK" sz="700" dirty="0"/>
                        <a:t>Find "Anna" i en liste</a:t>
                      </a:r>
                    </a:p>
                  </a:txBody>
                  <a:tcPr marL="42738" marR="42738" marT="21369" marB="21369" anchor="ctr"/>
                </a:tc>
                <a:extLst>
                  <a:ext uri="{0D108BD9-81ED-4DB2-BD59-A6C34878D82A}">
                    <a16:rowId xmlns:a16="http://schemas.microsoft.com/office/drawing/2014/main" val="832323618"/>
                  </a:ext>
                </a:extLst>
              </a:tr>
              <a:tr h="341902">
                <a:tc>
                  <a:txBody>
                    <a:bodyPr/>
                    <a:lstStyle/>
                    <a:p>
                      <a:pPr>
                        <a:buNone/>
                      </a:pPr>
                      <a:r>
                        <a:rPr lang="en-DK" sz="700"/>
                        <a:t>Binary Search</a:t>
                      </a:r>
                    </a:p>
                  </a:txBody>
                  <a:tcPr marL="42738" marR="42738" marT="21369" marB="21369" anchor="ctr"/>
                </a:tc>
                <a:tc>
                  <a:txBody>
                    <a:bodyPr/>
                    <a:lstStyle/>
                    <a:p>
                      <a:pPr>
                        <a:buNone/>
                      </a:pPr>
                      <a:r>
                        <a:rPr lang="en-DK" sz="700"/>
                        <a:t>Søger effektivt i en sorteret liste ved hele tiden at halvere søgeområdet</a:t>
                      </a:r>
                    </a:p>
                  </a:txBody>
                  <a:tcPr marL="42738" marR="42738" marT="21369" marB="21369" anchor="ctr"/>
                </a:tc>
                <a:tc>
                  <a:txBody>
                    <a:bodyPr/>
                    <a:lstStyle/>
                    <a:p>
                      <a:pPr>
                        <a:buNone/>
                      </a:pPr>
                      <a:r>
                        <a:rPr lang="en-DK" sz="700" dirty="0"/>
                        <a:t>Find tallet 73 i en sorteret liste</a:t>
                      </a:r>
                    </a:p>
                  </a:txBody>
                  <a:tcPr marL="42738" marR="42738" marT="21369" marB="21369" anchor="ctr"/>
                </a:tc>
                <a:extLst>
                  <a:ext uri="{0D108BD9-81ED-4DB2-BD59-A6C34878D82A}">
                    <a16:rowId xmlns:a16="http://schemas.microsoft.com/office/drawing/2014/main" val="1249974255"/>
                  </a:ext>
                </a:extLst>
              </a:tr>
            </a:tbl>
          </a:graphicData>
        </a:graphic>
      </p:graphicFrame>
      <p:sp>
        <p:nvSpPr>
          <p:cNvPr id="7" name="TextBox 6">
            <a:extLst>
              <a:ext uri="{FF2B5EF4-FFF2-40B4-BE49-F238E27FC236}">
                <a16:creationId xmlns:a16="http://schemas.microsoft.com/office/drawing/2014/main" id="{191A0BDE-2513-2FC9-AA5E-448115F9EBBA}"/>
              </a:ext>
            </a:extLst>
          </p:cNvPr>
          <p:cNvSpPr txBox="1"/>
          <p:nvPr/>
        </p:nvSpPr>
        <p:spPr>
          <a:xfrm>
            <a:off x="1702301" y="3895718"/>
            <a:ext cx="4572000" cy="523220"/>
          </a:xfrm>
          <a:prstGeom prst="rect">
            <a:avLst/>
          </a:prstGeom>
          <a:noFill/>
        </p:spPr>
        <p:txBody>
          <a:bodyPr wrap="square">
            <a:spAutoFit/>
          </a:bodyPr>
          <a:lstStyle/>
          <a:p>
            <a:r>
              <a:rPr lang="en-DK" dirty="0"/>
              <a:t>https://www.youtube.com/shorts/ndmhR1MLdJ8?feature=share</a:t>
            </a:r>
          </a:p>
        </p:txBody>
      </p:sp>
    </p:spTree>
    <p:extLst>
      <p:ext uri="{BB962C8B-B14F-4D97-AF65-F5344CB8AC3E}">
        <p14:creationId xmlns:p14="http://schemas.microsoft.com/office/powerpoint/2010/main" val="4264264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inear &amp; Binary Search Algorithms | by Mehmet Akif Özgür | Medium">
            <a:extLst>
              <a:ext uri="{FF2B5EF4-FFF2-40B4-BE49-F238E27FC236}">
                <a16:creationId xmlns:a16="http://schemas.microsoft.com/office/drawing/2014/main" id="{301EBA5F-140B-B4E0-DCCD-B3C697BC0A75}"/>
              </a:ext>
            </a:extLst>
          </p:cNvPr>
          <p:cNvPicPr>
            <a:picLocks noChangeAspect="1"/>
          </p:cNvPicPr>
          <p:nvPr/>
        </p:nvPicPr>
        <p:blipFill>
          <a:blip r:embed="rId2"/>
          <a:stretch>
            <a:fillRect/>
          </a:stretch>
        </p:blipFill>
        <p:spPr>
          <a:xfrm>
            <a:off x="1143000" y="644058"/>
            <a:ext cx="6858000" cy="3857625"/>
          </a:xfrm>
          <a:prstGeom prst="rect">
            <a:avLst/>
          </a:prstGeom>
        </p:spPr>
      </p:pic>
    </p:spTree>
    <p:extLst>
      <p:ext uri="{BB962C8B-B14F-4D97-AF65-F5344CB8AC3E}">
        <p14:creationId xmlns:p14="http://schemas.microsoft.com/office/powerpoint/2010/main" val="3210153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A62D9">
            <a:alpha val="100000"/>
          </a:srgbClr>
        </a:solidFill>
        <a:effectLst/>
      </p:bgPr>
    </p:bg>
    <p:spTree>
      <p:nvGrpSpPr>
        <p:cNvPr id="1" name=""/>
        <p:cNvGrpSpPr/>
        <p:nvPr/>
      </p:nvGrpSpPr>
      <p:grpSpPr>
        <a:xfrm>
          <a:off x="0" y="0"/>
          <a:ext cx="0" cy="0"/>
          <a:chOff x="0" y="0"/>
          <a:chExt cx="0" cy="0"/>
        </a:xfrm>
      </p:grpSpPr>
      <p:pic>
        <p:nvPicPr>
          <p:cNvPr id="237"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238"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239" name="Connector 4"/>
          <p:cNvCxnSpPr/>
          <p:nvPr/>
        </p:nvCxnSpPr>
        <p:spPr>
          <a:xfrm>
            <a:off x="3708400" y="3746500"/>
            <a:ext cx="1727247" cy="12700"/>
          </a:xfrm>
          <a:prstGeom prst="straightConnector1">
            <a:avLst/>
          </a:prstGeom>
          <a:solidFill>
            <a:srgbClr val="DEE0E3">
              <a:alpha val="100000"/>
            </a:srgbClr>
          </a:solidFill>
          <a:ln w="38100" cap="flat" cmpd="sng">
            <a:solidFill>
              <a:srgbClr val="000000">
                <a:alpha val="100000"/>
              </a:srgbClr>
            </a:solidFill>
            <a:prstDash val="solid"/>
            <a:round/>
            <a:headEnd type="none" w="med" len="med"/>
            <a:tailEnd type="none" w="med" len="med"/>
          </a:ln>
        </p:spPr>
      </p:cxnSp>
      <p:sp>
        <p:nvSpPr>
          <p:cNvPr id="240" name="AutoShape 5"/>
          <p:cNvSpPr/>
          <p:nvPr/>
        </p:nvSpPr>
        <p:spPr>
          <a:xfrm>
            <a:off x="7962900" y="4775200"/>
            <a:ext cx="1066800" cy="2540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1" name="AutoShape 7"/>
          <p:cNvSpPr/>
          <p:nvPr/>
        </p:nvSpPr>
        <p:spPr>
          <a:xfrm>
            <a:off x="279400" y="1663700"/>
            <a:ext cx="8572500" cy="18288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00000"/>
              </a:lnSpc>
            </a:pPr>
            <a:r>
              <a:rPr lang="en-US" sz="4500" b="1" i="0" u="none" strike="noStrike" err="1">
                <a:solidFill>
                  <a:srgbClr val="FFFFFF"/>
                </a:solidFill>
                <a:latin typeface="Geist"/>
                <a:ea typeface="Geist"/>
                <a:cs typeface="Geist"/>
                <a:sym typeface="Geist"/>
              </a:rPr>
              <a:t>Grundlæggende</a:t>
            </a:r>
            <a:r>
              <a:rPr lang="en-US" sz="4500" b="1" i="0" u="none" strike="noStrike">
                <a:solidFill>
                  <a:srgbClr val="FFFFFF"/>
                </a:solidFill>
                <a:latin typeface="Geist"/>
                <a:ea typeface="Geist"/>
                <a:cs typeface="Geist"/>
                <a:sym typeface="Geist"/>
              </a:rPr>
              <a:t> </a:t>
            </a:r>
            <a:r>
              <a:rPr lang="en-US" sz="4500" b="1" i="0" u="none" strike="noStrike" err="1">
                <a:solidFill>
                  <a:srgbClr val="FFFFFF"/>
                </a:solidFill>
                <a:latin typeface="Geist"/>
                <a:ea typeface="Geist"/>
                <a:cs typeface="Geist"/>
                <a:sym typeface="Geist"/>
              </a:rPr>
              <a:t>Konstruktionsteknikker</a:t>
            </a:r>
            <a:endParaRPr lang="en-US" sz="4500" b="1" i="0" u="none" strike="noStrike">
              <a:solidFill>
                <a:srgbClr val="FFFFFF"/>
              </a:solidFill>
              <a:latin typeface="Geist"/>
              <a:ea typeface="Geist"/>
              <a:cs typeface="Geist"/>
              <a:sym typeface="Geist"/>
            </a:endParaRPr>
          </a:p>
        </p:txBody>
      </p:sp>
      <p:sp>
        <p:nvSpPr>
          <p:cNvPr id="242" name="AutoShape 8"/>
          <p:cNvSpPr/>
          <p:nvPr/>
        </p:nvSpPr>
        <p:spPr>
          <a:xfrm>
            <a:off x="1244600" y="4114800"/>
            <a:ext cx="6654800" cy="6350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16666"/>
              </a:lnSpc>
              <a:spcAft>
                <a:spcPts val="1600"/>
              </a:spcAft>
              <a:defRPr/>
            </a:pPr>
            <a:r>
              <a:rPr lang="en-US" sz="2400" b="0" i="0" u="none" strike="noStrike">
                <a:solidFill>
                  <a:srgbClr val="FFFFFF"/>
                </a:solidFill>
                <a:latin typeface="Geist"/>
                <a:ea typeface="Geist"/>
                <a:cs typeface="Geist"/>
                <a:sym typeface="Geist"/>
              </a:rPr>
              <a:t>Nedbrydning og Tilstand – Byg blokken for komplekse algoritmer</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44"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245"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6"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7" name="AutoShape 5"/>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48"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49"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50"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CSP '24-25</a:t>
            </a:r>
            <a:r>
              <a:rPr lang="en-US" sz="1300" b="0" i="0" u="none" strike="noStrike">
                <a:solidFill>
                  <a:srgbClr val="FFFFFF"/>
                </a:solidFill>
                <a:latin typeface="Geist"/>
                <a:ea typeface="Geist"/>
                <a:cs typeface="Geist"/>
                <a:sym typeface="Geist"/>
              </a:rPr>
              <a:t>| Algoritmer: Nedbrydning</a:t>
            </a:r>
            <a:endParaRPr lang="en-US" sz="1100"/>
          </a:p>
        </p:txBody>
      </p:sp>
      <p:sp>
        <p:nvSpPr>
          <p:cNvPr id="251" name="AutoShape 9"/>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2" name="AutoShape 10"/>
          <p:cNvSpPr/>
          <p:nvPr/>
        </p:nvSpPr>
        <p:spPr>
          <a:xfrm>
            <a:off x="393700" y="647700"/>
            <a:ext cx="8356600" cy="4025900"/>
          </a:xfrm>
          <a:prstGeom prst="rect">
            <a:avLst/>
          </a:prstGeom>
          <a:noFill/>
          <a:ln w="9525" cap="flat" cmpd="sng">
            <a:noFill/>
            <a:prstDash val="solid"/>
            <a:round/>
          </a:ln>
        </p:spPr>
        <p:txBody>
          <a:bodyPr vert="horz" wrap="square" lIns="88900" tIns="88900" rIns="88900" bIns="88900" rtlCol="0" anchor="t" anchorCtr="0"/>
          <a:lstStyle>
            <a:lvl1pPr marL="660400" indent="-203200"/>
            <a:lvl2pPr marL="1117600" indent="-203200"/>
            <a:lvl3pPr marL="1574800" indent="-203200"/>
            <a:lvl4pPr marL="2032000" indent="-203200"/>
            <a:lvl5pPr marL="2489200" indent="-203200"/>
            <a:lvl6pPr marL="2946400" indent="-203200"/>
            <a:lvl7pPr marL="3403600" indent="-203200"/>
            <a:lvl8pPr marL="3860800" indent="-203200"/>
            <a:lvl9pPr marL="4318000" indent="-203200"/>
          </a:lstStyle>
          <a:p>
            <a:pPr marL="0" indent="0" algn="l">
              <a:lnSpc>
                <a:spcPct val="100000"/>
              </a:lnSpc>
              <a:defRPr/>
            </a:pPr>
            <a:r>
              <a:rPr lang="en-US" sz="1900" b="1" i="0" u="none" strike="noStrike">
                <a:solidFill>
                  <a:srgbClr val="000000"/>
                </a:solidFill>
                <a:latin typeface="Geist"/>
                <a:ea typeface="Geist"/>
                <a:cs typeface="Geist"/>
                <a:sym typeface="Geist"/>
              </a:rPr>
              <a:t>Princippet om Nedbrydning (Decomposition)</a:t>
            </a:r>
            <a:endParaRPr lang="en-US" sz="1100"/>
          </a:p>
          <a:p>
            <a:pPr marL="0" indent="0" algn="l">
              <a:lnSpc>
                <a:spcPct val="100000"/>
              </a:lnSpc>
            </a:pPr>
            <a:endParaRPr lang="en-US" sz="1100"/>
          </a:p>
          <a:p>
            <a:pPr marL="457200" indent="-342900" algn="l">
              <a:lnSpc>
                <a:spcPct val="116666"/>
              </a:lnSpc>
              <a:buClr>
                <a:srgbClr val="6A62D9"/>
              </a:buClr>
              <a:buFont typeface="+mj-lt"/>
              <a:buAutoNum type="arabicPeriod"/>
            </a:pPr>
            <a:r>
              <a:rPr lang="en-US" sz="1600" b="1" i="0" u="none" strike="noStrike">
                <a:solidFill>
                  <a:srgbClr val="6A62D9"/>
                </a:solidFill>
                <a:latin typeface="Geist"/>
                <a:ea typeface="Geist"/>
                <a:cs typeface="Geist"/>
                <a:sym typeface="Geist"/>
              </a:rPr>
              <a:t>Hovedprincippet:</a:t>
            </a:r>
            <a:r>
              <a:rPr lang="en-US" sz="1500" b="0" i="0" u="none" strike="noStrike">
                <a:solidFill>
                  <a:srgbClr val="374151"/>
                </a:solidFill>
                <a:latin typeface="Geist"/>
                <a:ea typeface="Geist"/>
                <a:cs typeface="Geist"/>
                <a:sym typeface="Geist"/>
              </a:rPr>
              <a:t>Bryd et stort, komplekst problem ned i mindre, selvstændige og overskuelige delproblemer. Dette reducerer kompleksiteten og fjerner "overskud" i tankeprocessen.</a:t>
            </a:r>
            <a:endParaRPr/>
          </a:p>
          <a:p>
            <a:pPr marL="457200" indent="-342900" algn="l">
              <a:lnSpc>
                <a:spcPct val="116666"/>
              </a:lnSpc>
              <a:buClr>
                <a:srgbClr val="6A62D9"/>
              </a:buClr>
              <a:buFont typeface="+mj-lt"/>
              <a:buAutoNum type="arabicPeriod"/>
            </a:pPr>
            <a:r>
              <a:rPr lang="en-US" sz="1600" b="1" i="0" u="none" strike="noStrike">
                <a:solidFill>
                  <a:srgbClr val="6A62D9"/>
                </a:solidFill>
                <a:latin typeface="Geist"/>
                <a:ea typeface="Geist"/>
                <a:cs typeface="Geist"/>
                <a:sym typeface="Geist"/>
              </a:rPr>
              <a:t>Formålet:</a:t>
            </a:r>
            <a:r>
              <a:rPr lang="en-US" sz="1500" b="0" i="0" u="none" strike="noStrike">
                <a:solidFill>
                  <a:srgbClr val="374151"/>
                </a:solidFill>
                <a:latin typeface="Geist"/>
                <a:ea typeface="Geist"/>
                <a:cs typeface="Geist"/>
                <a:sym typeface="Geist"/>
              </a:rPr>
              <a:t>At gøre problemet forståeligt for den, der skal designe eller kode algoritmen – samt for selve computeren. Klarhed i struktur sikrer mindre fejl.</a:t>
            </a:r>
            <a:endParaRPr/>
          </a:p>
          <a:p>
            <a:pPr marL="457200" indent="-342900" algn="l">
              <a:lnSpc>
                <a:spcPct val="116666"/>
              </a:lnSpc>
              <a:buClr>
                <a:srgbClr val="6A62D9"/>
              </a:buClr>
              <a:buFont typeface="+mj-lt"/>
              <a:buAutoNum type="arabicPeriod"/>
            </a:pPr>
            <a:r>
              <a:rPr lang="en-US" sz="1600" b="1" i="0" u="none" strike="noStrike">
                <a:solidFill>
                  <a:srgbClr val="6A62D9"/>
                </a:solidFill>
                <a:latin typeface="Geist"/>
                <a:ea typeface="Geist"/>
                <a:cs typeface="Geist"/>
                <a:sym typeface="Geist"/>
              </a:rPr>
              <a:t>Processen:</a:t>
            </a:r>
            <a:r>
              <a:rPr lang="en-US" sz="1500" b="0" i="0" u="none" strike="noStrike">
                <a:solidFill>
                  <a:srgbClr val="374151"/>
                </a:solidFill>
                <a:latin typeface="Geist"/>
                <a:ea typeface="Geist"/>
                <a:cs typeface="Geist"/>
                <a:sym typeface="Geist"/>
              </a:rPr>
              <a:t>Start med det overordnede mål og iterativt opdel det i delalgoritmer. Fortsæt nedbrydningen, indtil hvert enkelt skridt er så simpelt at det kan udføres direkte (et "trivialt" niveau).</a:t>
            </a:r>
            <a:endParaRPr/>
          </a:p>
          <a:p>
            <a:pPr marL="457200" indent="-342900" algn="l">
              <a:lnSpc>
                <a:spcPct val="116666"/>
              </a:lnSpc>
              <a:buClr>
                <a:srgbClr val="6A62D9"/>
              </a:buClr>
              <a:buFont typeface="+mj-lt"/>
              <a:buAutoNum type="arabicPeriod"/>
            </a:pPr>
            <a:r>
              <a:rPr lang="en-US" sz="1600" b="1" i="0" u="none" strike="noStrike">
                <a:solidFill>
                  <a:srgbClr val="6A62D9"/>
                </a:solidFill>
                <a:latin typeface="Geist"/>
                <a:ea typeface="Geist"/>
                <a:cs typeface="Geist"/>
                <a:sym typeface="Geist"/>
              </a:rPr>
              <a:t>Generel skabelon:</a:t>
            </a:r>
            <a:r>
              <a:rPr lang="en-US" sz="1500" b="0" i="0" u="none" strike="noStrike">
                <a:solidFill>
                  <a:srgbClr val="374151"/>
                </a:solidFill>
                <a:latin typeface="Geist"/>
                <a:ea typeface="Geist"/>
                <a:cs typeface="Geist"/>
                <a:sym typeface="Geist"/>
              </a:rPr>
              <a:t>1) Definer hovedmålet → 2) Identificer nøgle-delproblemer → 3) Løs hvert delproblem adskilt → 4) Kombinér løsningerne til en helhed.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54" name="AutoShape 2"/>
          <p:cNvSpPr/>
          <p:nvPr/>
        </p:nvSpPr>
        <p:spPr>
          <a:xfrm>
            <a:off x="9525000" y="-1270000"/>
            <a:ext cx="3810000" cy="3810000"/>
          </a:xfrm>
          <a:prstGeom prst="ellipse">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55" name="AutoShape 3"/>
          <p:cNvSpPr/>
          <p:nvPr/>
        </p:nvSpPr>
        <p:spPr>
          <a:xfrm>
            <a:off x="-1016000" y="4826000"/>
            <a:ext cx="3175000" cy="3175000"/>
          </a:xfrm>
          <a:prstGeom prst="ellipse">
            <a:avLst/>
          </a:prstGeom>
          <a:solidFill>
            <a:srgbClr val="8B5CF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56" name="AutoShape 4"/>
          <p:cNvSpPr/>
          <p:nvPr/>
        </p:nvSpPr>
        <p:spPr>
          <a:xfrm>
            <a:off x="508000" y="508000"/>
            <a:ext cx="11176000" cy="762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E3A8A"/>
                </a:solidFill>
                <a:latin typeface="Noto Sans SC"/>
                <a:ea typeface="Noto Sans SC"/>
                <a:cs typeface="Noto Sans SC"/>
                <a:sym typeface="Noto Sans SC"/>
              </a:rPr>
              <a:t>Eksempel: ""-</a:t>
            </a:r>
            <a:r>
              <a:rPr lang="en-US" sz="3200" b="1" i="0" u="none" strike="noStrike" err="1">
                <a:solidFill>
                  <a:srgbClr val="1E3A8A"/>
                </a:solidFill>
                <a:latin typeface="Noto Sans SC"/>
                <a:ea typeface="Noto Sans SC"/>
                <a:cs typeface="Noto Sans SC"/>
                <a:sym typeface="Noto Sans SC"/>
              </a:rPr>
              <a:t>algoritmen</a:t>
            </a:r>
            <a:endParaRPr lang="en-US" sz="1100"/>
          </a:p>
        </p:txBody>
      </p:sp>
      <p:sp>
        <p:nvSpPr>
          <p:cNvPr id="257" name="AutoShape 5"/>
          <p:cNvSpPr/>
          <p:nvPr/>
        </p:nvSpPr>
        <p:spPr>
          <a:xfrm>
            <a:off x="508000" y="1651000"/>
            <a:ext cx="3065517" cy="3175000"/>
          </a:xfrm>
          <a:prstGeom prst="roundRect">
            <a:avLst>
              <a:gd name="adj" fmla="val 0"/>
            </a:avLst>
          </a:prstGeom>
          <a:solidFill>
            <a:srgbClr val="DBEAFE">
              <a:alpha val="4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258" name="Picture 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000" y="1905000"/>
            <a:ext cx="350345" cy="350345"/>
          </a:xfrm>
          <a:prstGeom prst="rect">
            <a:avLst/>
          </a:prstGeom>
        </p:spPr>
      </p:pic>
      <p:sp>
        <p:nvSpPr>
          <p:cNvPr id="259" name="AutoShape 7"/>
          <p:cNvSpPr/>
          <p:nvPr/>
        </p:nvSpPr>
        <p:spPr>
          <a:xfrm>
            <a:off x="1270000" y="1905000"/>
            <a:ext cx="2189657" cy="38319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40AF"/>
                </a:solidFill>
                <a:latin typeface="Noto Sans SC"/>
                <a:ea typeface="Noto Sans SC"/>
                <a:cs typeface="Noto Sans SC"/>
                <a:sym typeface="Noto Sans SC"/>
              </a:rPr>
              <a:t>01. Løs Beskrivelse</a:t>
            </a:r>
            <a:endParaRPr lang="en-US" sz="1100"/>
          </a:p>
        </p:txBody>
      </p:sp>
      <p:cxnSp>
        <p:nvCxnSpPr>
          <p:cNvPr id="260" name="Connector 8"/>
          <p:cNvCxnSpPr>
            <a:cxnSpLocks/>
          </p:cNvCxnSpPr>
          <p:nvPr/>
        </p:nvCxnSpPr>
        <p:spPr>
          <a:xfrm>
            <a:off x="762000" y="2476500"/>
            <a:ext cx="2627543" cy="0"/>
          </a:xfrm>
          <a:prstGeom prst="straightConnector1">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sp>
        <p:nvSpPr>
          <p:cNvPr id="261" name="AutoShape 9"/>
          <p:cNvSpPr/>
          <p:nvPr/>
        </p:nvSpPr>
        <p:spPr>
          <a:xfrm>
            <a:off x="762000" y="2667000"/>
            <a:ext cx="2627586" cy="2080172"/>
          </a:xfrm>
          <a:prstGeom prst="rect">
            <a:avLst/>
          </a:prstGeom>
          <a:noFill/>
          <a:ln w="9525"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Noto Sans SC"/>
                <a:ea typeface="Noto Sans SC"/>
                <a:cs typeface="Noto Sans SC"/>
                <a:sym typeface="Noto Sans SC"/>
              </a:rPr>
              <a:t>Den mest abstrakte og overordnede form for algoritmen. Her beskrives målet uden tekniske detaljer eller specifikke handlinger:</a:t>
            </a:r>
            <a:endParaRPr lang="en-US" sz="1100"/>
          </a:p>
          <a:p>
            <a:pPr marL="0" indent="0" algn="l">
              <a:lnSpc>
                <a:spcPct val="116666"/>
              </a:lnSpc>
              <a:spcBef>
                <a:spcPts val="1000"/>
              </a:spcBef>
            </a:pPr>
            <a:r>
              <a:rPr lang="en-US" sz="1500" b="1" i="0" u="none" strike="noStrike">
                <a:solidFill>
                  <a:srgbClr val="2563EB"/>
                </a:solidFill>
                <a:latin typeface="Noto Sans SC"/>
                <a:ea typeface="Noto Sans SC"/>
                <a:cs typeface="Noto Sans SC"/>
                <a:sym typeface="Noto Sans SC"/>
              </a:rPr>
              <a:t>"Lav en kop te "</a:t>
            </a:r>
            <a:endParaRPr/>
          </a:p>
        </p:txBody>
      </p:sp>
      <p:sp>
        <p:nvSpPr>
          <p:cNvPr id="262" name="AutoShape 10"/>
          <p:cNvSpPr/>
          <p:nvPr/>
        </p:nvSpPr>
        <p:spPr>
          <a:xfrm>
            <a:off x="4318000" y="1651000"/>
            <a:ext cx="3065517" cy="3175000"/>
          </a:xfrm>
          <a:prstGeom prst="roundRect">
            <a:avLst>
              <a:gd name="adj" fmla="val 0"/>
            </a:avLst>
          </a:prstGeom>
          <a:solidFill>
            <a:srgbClr val="DDD6FE">
              <a:alpha val="40000"/>
            </a:srgbClr>
          </a:solidFill>
          <a:ln w="12700" cap="flat" cmpd="sng">
            <a:solidFill>
              <a:srgbClr val="C4B5FD">
                <a:alpha val="100000"/>
              </a:srgbClr>
            </a:solidFill>
            <a:prstDash val="solid"/>
            <a:round/>
          </a:ln>
        </p:spPr>
        <p:txBody>
          <a:bodyPr vert="horz" wrap="square" lIns="63500" tIns="63500" rIns="63500" bIns="63500" rtlCol="0" anchor="ctr"/>
          <a:lstStyle/>
          <a:p>
            <a:pPr algn="ctr">
              <a:defRPr/>
            </a:pPr>
            <a:endParaRPr/>
          </a:p>
        </p:txBody>
      </p:sp>
      <p:pic>
        <p:nvPicPr>
          <p:cNvPr id="263" name="Picture 1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05000"/>
            <a:ext cx="350345" cy="350345"/>
          </a:xfrm>
          <a:prstGeom prst="rect">
            <a:avLst/>
          </a:prstGeom>
        </p:spPr>
      </p:pic>
      <p:sp>
        <p:nvSpPr>
          <p:cNvPr id="264" name="AutoShape 12"/>
          <p:cNvSpPr/>
          <p:nvPr/>
        </p:nvSpPr>
        <p:spPr>
          <a:xfrm>
            <a:off x="5080000" y="1905000"/>
            <a:ext cx="2189657" cy="38319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5B21B6"/>
                </a:solidFill>
                <a:latin typeface="Noto Sans SC"/>
                <a:ea typeface="Noto Sans SC"/>
                <a:cs typeface="Noto Sans SC"/>
                <a:sym typeface="Noto Sans SC"/>
              </a:rPr>
              <a:t>02.  </a:t>
            </a:r>
            <a:r>
              <a:rPr lang="en-US" sz="2000" b="1" i="0" u="none" strike="noStrike" dirty="0" err="1">
                <a:solidFill>
                  <a:srgbClr val="5B21B6"/>
                </a:solidFill>
                <a:latin typeface="Noto Sans SC"/>
                <a:ea typeface="Noto Sans SC"/>
                <a:cs typeface="Noto Sans SC"/>
                <a:sym typeface="Noto Sans SC"/>
              </a:rPr>
              <a:t>Nedbrydning</a:t>
            </a:r>
            <a:endParaRPr lang="en-US" sz="1100" dirty="0"/>
          </a:p>
        </p:txBody>
      </p:sp>
      <p:cxnSp>
        <p:nvCxnSpPr>
          <p:cNvPr id="265" name="Connector 13"/>
          <p:cNvCxnSpPr>
            <a:cxnSpLocks/>
          </p:cNvCxnSpPr>
          <p:nvPr/>
        </p:nvCxnSpPr>
        <p:spPr>
          <a:xfrm>
            <a:off x="4572000" y="2476500"/>
            <a:ext cx="2627543" cy="0"/>
          </a:xfrm>
          <a:prstGeom prst="straightConnector1">
            <a:avLst/>
          </a:prstGeom>
          <a:solidFill>
            <a:srgbClr val="DEE0E3">
              <a:alpha val="100000"/>
            </a:srgbClr>
          </a:solidFill>
          <a:ln w="12700" cap="flat" cmpd="sng">
            <a:solidFill>
              <a:srgbClr val="7C3AED">
                <a:alpha val="20000"/>
              </a:srgbClr>
            </a:solidFill>
            <a:prstDash val="solid"/>
            <a:round/>
            <a:headEnd type="none" w="med" len="med"/>
            <a:tailEnd type="none" w="med" len="med"/>
          </a:ln>
        </p:spPr>
      </p:cxnSp>
      <p:sp>
        <p:nvSpPr>
          <p:cNvPr id="266" name="AutoShape 14"/>
          <p:cNvSpPr/>
          <p:nvPr/>
        </p:nvSpPr>
        <p:spPr>
          <a:xfrm>
            <a:off x="4572000" y="2667000"/>
            <a:ext cx="2627586" cy="2080172"/>
          </a:xfrm>
          <a:prstGeom prst="rect">
            <a:avLst/>
          </a:prstGeom>
          <a:noFill/>
          <a:ln w="9525"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dirty="0">
                <a:solidFill>
                  <a:srgbClr val="374151"/>
                </a:solidFill>
                <a:latin typeface="Noto Sans SC"/>
                <a:ea typeface="Noto Sans SC"/>
                <a:cs typeface="Noto Sans SC"/>
                <a:sym typeface="Noto Sans SC"/>
              </a:rPr>
              <a:t>Bryder </a:t>
            </a:r>
            <a:r>
              <a:rPr lang="en-US" sz="1500" b="0" i="0" u="none" strike="noStrike" dirty="0" err="1">
                <a:solidFill>
                  <a:srgbClr val="374151"/>
                </a:solidFill>
                <a:latin typeface="Noto Sans SC"/>
                <a:ea typeface="Noto Sans SC"/>
                <a:cs typeface="Noto Sans SC"/>
                <a:sym typeface="Noto Sans SC"/>
              </a:rPr>
              <a:t>opgaven</a:t>
            </a:r>
            <a:r>
              <a:rPr lang="en-US" sz="1500" b="0" i="0" u="none" strike="noStrike" dirty="0">
                <a:solidFill>
                  <a:srgbClr val="374151"/>
                </a:solidFill>
                <a:latin typeface="Noto Sans SC"/>
                <a:ea typeface="Noto Sans SC"/>
                <a:cs typeface="Noto Sans SC"/>
                <a:sym typeface="Noto Sans SC"/>
              </a:rPr>
              <a:t> </a:t>
            </a:r>
            <a:r>
              <a:rPr lang="en-US" sz="1500" b="0" i="0" u="none" strike="noStrike" dirty="0" err="1">
                <a:solidFill>
                  <a:srgbClr val="374151"/>
                </a:solidFill>
                <a:latin typeface="Noto Sans SC"/>
                <a:ea typeface="Noto Sans SC"/>
                <a:cs typeface="Noto Sans SC"/>
                <a:sym typeface="Noto Sans SC"/>
              </a:rPr>
              <a:t>ned</a:t>
            </a:r>
            <a:r>
              <a:rPr lang="en-US" sz="1500" b="0" i="0" u="none" strike="noStrike" dirty="0">
                <a:solidFill>
                  <a:srgbClr val="374151"/>
                </a:solidFill>
                <a:latin typeface="Noto Sans SC"/>
                <a:ea typeface="Noto Sans SC"/>
                <a:cs typeface="Noto Sans SC"/>
                <a:sym typeface="Noto Sans SC"/>
              </a:rPr>
              <a:t> </a:t>
            </a:r>
            <a:r>
              <a:rPr lang="en-US" sz="1500" b="0" i="0" u="none" strike="noStrike" dirty="0" err="1">
                <a:solidFill>
                  <a:srgbClr val="374151"/>
                </a:solidFill>
                <a:latin typeface="Noto Sans SC"/>
                <a:ea typeface="Noto Sans SC"/>
                <a:cs typeface="Noto Sans SC"/>
                <a:sym typeface="Noto Sans SC"/>
              </a:rPr>
              <a:t>i</a:t>
            </a:r>
            <a:r>
              <a:rPr lang="en-US" sz="1500" b="0" i="0" u="none" strike="noStrike" dirty="0">
                <a:solidFill>
                  <a:srgbClr val="374151"/>
                </a:solidFill>
                <a:latin typeface="Noto Sans SC"/>
                <a:ea typeface="Noto Sans SC"/>
                <a:cs typeface="Noto Sans SC"/>
                <a:sym typeface="Noto Sans SC"/>
              </a:rPr>
              <a:t> to </a:t>
            </a:r>
            <a:r>
              <a:rPr lang="en-US" sz="1500" b="0" i="0" u="none" strike="noStrike" dirty="0" err="1">
                <a:solidFill>
                  <a:srgbClr val="374151"/>
                </a:solidFill>
                <a:latin typeface="Noto Sans SC"/>
                <a:ea typeface="Noto Sans SC"/>
                <a:cs typeface="Noto Sans SC"/>
                <a:sym typeface="Noto Sans SC"/>
              </a:rPr>
              <a:t>logiske</a:t>
            </a:r>
            <a:r>
              <a:rPr lang="en-US" sz="1500" b="0" i="0" u="none" strike="noStrike" dirty="0">
                <a:solidFill>
                  <a:srgbClr val="374151"/>
                </a:solidFill>
                <a:latin typeface="Noto Sans SC"/>
                <a:ea typeface="Noto Sans SC"/>
                <a:cs typeface="Noto Sans SC"/>
                <a:sym typeface="Noto Sans SC"/>
              </a:rPr>
              <a:t>, </a:t>
            </a:r>
            <a:r>
              <a:rPr lang="en-US" sz="1500" b="0" i="0" u="none" strike="noStrike" dirty="0" err="1">
                <a:solidFill>
                  <a:srgbClr val="374151"/>
                </a:solidFill>
                <a:latin typeface="Noto Sans SC"/>
                <a:ea typeface="Noto Sans SC"/>
                <a:cs typeface="Noto Sans SC"/>
                <a:sym typeface="Noto Sans SC"/>
              </a:rPr>
              <a:t>hovedsædvanlige</a:t>
            </a:r>
            <a:r>
              <a:rPr lang="en-US" sz="1500" b="0" i="0" u="none" strike="noStrike" dirty="0">
                <a:solidFill>
                  <a:srgbClr val="374151"/>
                </a:solidFill>
                <a:latin typeface="Noto Sans SC"/>
                <a:ea typeface="Noto Sans SC"/>
                <a:cs typeface="Noto Sans SC"/>
                <a:sym typeface="Noto Sans SC"/>
              </a:rPr>
              <a:t> </a:t>
            </a:r>
            <a:r>
              <a:rPr lang="en-US" sz="1500" b="0" i="0" u="none" strike="noStrike" dirty="0" err="1">
                <a:solidFill>
                  <a:srgbClr val="374151"/>
                </a:solidFill>
                <a:latin typeface="Noto Sans SC"/>
                <a:ea typeface="Noto Sans SC"/>
                <a:cs typeface="Noto Sans SC"/>
                <a:sym typeface="Noto Sans SC"/>
              </a:rPr>
              <a:t>blokke</a:t>
            </a:r>
            <a:r>
              <a:rPr lang="en-US" sz="1500" b="0" i="0" u="none" strike="noStrike" dirty="0">
                <a:solidFill>
                  <a:srgbClr val="374151"/>
                </a:solidFill>
                <a:latin typeface="Noto Sans SC"/>
                <a:ea typeface="Noto Sans SC"/>
                <a:cs typeface="Noto Sans SC"/>
                <a:sym typeface="Noto Sans SC"/>
              </a:rPr>
              <a:t>, der </a:t>
            </a:r>
            <a:r>
              <a:rPr lang="en-US" sz="1500" b="0" i="0" u="none" strike="noStrike" dirty="0" err="1">
                <a:solidFill>
                  <a:srgbClr val="374151"/>
                </a:solidFill>
                <a:latin typeface="Noto Sans SC"/>
                <a:ea typeface="Noto Sans SC"/>
                <a:cs typeface="Noto Sans SC"/>
                <a:sym typeface="Noto Sans SC"/>
              </a:rPr>
              <a:t>adskiller</a:t>
            </a:r>
            <a:r>
              <a:rPr lang="en-US" sz="1500" b="0" i="0" u="none" strike="noStrike" dirty="0">
                <a:solidFill>
                  <a:srgbClr val="374151"/>
                </a:solidFill>
                <a:latin typeface="Noto Sans SC"/>
                <a:ea typeface="Noto Sans SC"/>
                <a:cs typeface="Noto Sans SC"/>
                <a:sym typeface="Noto Sans SC"/>
              </a:rPr>
              <a:t> </a:t>
            </a:r>
            <a:r>
              <a:rPr lang="en-US" sz="1500" b="0" i="0" u="none" strike="noStrike" dirty="0" err="1">
                <a:solidFill>
                  <a:srgbClr val="374151"/>
                </a:solidFill>
                <a:latin typeface="Noto Sans SC"/>
                <a:ea typeface="Noto Sans SC"/>
                <a:cs typeface="Noto Sans SC"/>
                <a:sym typeface="Noto Sans SC"/>
              </a:rPr>
              <a:t>præparation</a:t>
            </a:r>
            <a:r>
              <a:rPr lang="en-US" sz="1500" b="0" i="0" u="none" strike="noStrike" dirty="0">
                <a:solidFill>
                  <a:srgbClr val="374151"/>
                </a:solidFill>
                <a:latin typeface="Noto Sans SC"/>
                <a:ea typeface="Noto Sans SC"/>
                <a:cs typeface="Noto Sans SC"/>
                <a:sym typeface="Noto Sans SC"/>
              </a:rPr>
              <a:t> </a:t>
            </a:r>
            <a:r>
              <a:rPr lang="en-US" sz="1500" b="0" i="0" u="none" strike="noStrike" dirty="0" err="1">
                <a:solidFill>
                  <a:srgbClr val="374151"/>
                </a:solidFill>
                <a:latin typeface="Noto Sans SC"/>
                <a:ea typeface="Noto Sans SC"/>
                <a:cs typeface="Noto Sans SC"/>
                <a:sym typeface="Noto Sans SC"/>
              </a:rPr>
              <a:t>fra</a:t>
            </a:r>
            <a:r>
              <a:rPr lang="en-US" sz="1500" b="0" i="0" u="none" strike="noStrike" dirty="0">
                <a:solidFill>
                  <a:srgbClr val="374151"/>
                </a:solidFill>
                <a:latin typeface="Noto Sans SC"/>
                <a:ea typeface="Noto Sans SC"/>
                <a:cs typeface="Noto Sans SC"/>
                <a:sym typeface="Noto Sans SC"/>
              </a:rPr>
              <a:t> </a:t>
            </a:r>
            <a:r>
              <a:rPr lang="en-US" sz="1500" b="0" i="0" u="none" strike="noStrike" dirty="0" err="1">
                <a:solidFill>
                  <a:srgbClr val="374151"/>
                </a:solidFill>
                <a:latin typeface="Noto Sans SC"/>
                <a:ea typeface="Noto Sans SC"/>
                <a:cs typeface="Noto Sans SC"/>
                <a:sym typeface="Noto Sans SC"/>
              </a:rPr>
              <a:t>udførelse</a:t>
            </a:r>
            <a:r>
              <a:rPr lang="en-US" sz="1500" b="0" i="0" u="none" strike="noStrike" dirty="0">
                <a:solidFill>
                  <a:srgbClr val="374151"/>
                </a:solidFill>
                <a:latin typeface="Noto Sans SC"/>
                <a:ea typeface="Noto Sans SC"/>
                <a:cs typeface="Noto Sans SC"/>
                <a:sym typeface="Noto Sans SC"/>
              </a:rPr>
              <a:t>:</a:t>
            </a:r>
            <a:endParaRPr lang="en-US" sz="1100" dirty="0"/>
          </a:p>
          <a:p>
            <a:pPr marL="0" indent="0" algn="l">
              <a:lnSpc>
                <a:spcPct val="116666"/>
              </a:lnSpc>
            </a:pPr>
            <a:r>
              <a:rPr lang="en-US" sz="1500" b="1" i="0" u="none" strike="noStrike" dirty="0" err="1">
                <a:solidFill>
                  <a:srgbClr val="374151"/>
                </a:solidFill>
                <a:latin typeface="Noto Sans SC"/>
                <a:ea typeface="Noto Sans SC"/>
                <a:cs typeface="Noto Sans SC"/>
                <a:sym typeface="Noto Sans SC"/>
              </a:rPr>
              <a:t>Forbered</a:t>
            </a:r>
            <a:r>
              <a:rPr lang="en-US" sz="1500" b="0" i="0" u="none" strike="noStrike" dirty="0">
                <a:solidFill>
                  <a:srgbClr val="374151"/>
                </a:solidFill>
                <a:latin typeface="Noto Sans SC"/>
                <a:ea typeface="Noto Sans SC"/>
                <a:cs typeface="Noto Sans SC"/>
                <a:sym typeface="Noto Sans SC"/>
              </a:rPr>
              <a:t>
</a:t>
            </a:r>
            <a:endParaRPr dirty="0"/>
          </a:p>
          <a:p>
            <a:pPr marL="0" indent="0" algn="l">
              <a:lnSpc>
                <a:spcPct val="125000"/>
              </a:lnSpc>
            </a:pPr>
            <a:r>
              <a:rPr lang="en-US" sz="1500" b="1" i="0" u="none" strike="noStrike" dirty="0">
                <a:solidFill>
                  <a:srgbClr val="374151"/>
                </a:solidFill>
                <a:latin typeface="Noto Sans SC"/>
                <a:ea typeface="Noto Sans SC"/>
                <a:cs typeface="Noto Sans SC"/>
                <a:sym typeface="Noto Sans SC"/>
              </a:rPr>
              <a:t>Kog </a:t>
            </a:r>
            <a:r>
              <a:rPr lang="en-US" sz="1500" b="1" i="0" u="none" strike="noStrike" dirty="0" err="1">
                <a:solidFill>
                  <a:srgbClr val="374151"/>
                </a:solidFill>
                <a:latin typeface="Noto Sans SC"/>
                <a:ea typeface="Noto Sans SC"/>
                <a:cs typeface="Noto Sans SC"/>
                <a:sym typeface="Noto Sans SC"/>
              </a:rPr>
              <a:t>vandet</a:t>
            </a:r>
            <a:r>
              <a:rPr lang="en-US" sz="1500" b="0" i="0" u="none" strike="noStrike" dirty="0">
                <a:solidFill>
                  <a:srgbClr val="374151"/>
                </a:solidFill>
                <a:latin typeface="Noto Sans SC"/>
                <a:ea typeface="Noto Sans SC"/>
                <a:cs typeface="Noto Sans SC"/>
                <a:sym typeface="Noto Sans SC"/>
              </a:rPr>
              <a:t>
</a:t>
            </a:r>
            <a:endParaRPr dirty="0"/>
          </a:p>
          <a:p>
            <a:pPr marL="0" indent="0" algn="l">
              <a:lnSpc>
                <a:spcPct val="125000"/>
              </a:lnSpc>
            </a:pPr>
            <a:r>
              <a:rPr lang="en-US" sz="1500" b="1" i="0" u="none" strike="noStrike" dirty="0">
                <a:solidFill>
                  <a:srgbClr val="374151"/>
                </a:solidFill>
                <a:latin typeface="Noto Sans SC"/>
                <a:ea typeface="Noto Sans SC"/>
                <a:cs typeface="Noto Sans SC"/>
                <a:sym typeface="Noto Sans SC"/>
              </a:rPr>
              <a:t>Lav teen</a:t>
            </a:r>
            <a:endParaRPr dirty="0"/>
          </a:p>
          <a:p>
            <a:pPr marL="0" indent="0" algn="l">
              <a:lnSpc>
                <a:spcPct val="125000"/>
              </a:lnSpc>
              <a:spcBef>
                <a:spcPts val="1000"/>
              </a:spcBef>
            </a:pPr>
            <a:r>
              <a:rPr lang="en-US" sz="1500" b="1" i="0" u="none" strike="noStrike" dirty="0">
                <a:solidFill>
                  <a:srgbClr val="7C3AED"/>
                </a:solidFill>
                <a:latin typeface="Noto Sans SC"/>
                <a:ea typeface="Noto Sans SC"/>
                <a:cs typeface="Noto Sans SC"/>
                <a:sym typeface="Noto Sans SC"/>
              </a:rPr>
              <a:t> </a:t>
            </a:r>
            <a:endParaRPr dirty="0"/>
          </a:p>
        </p:txBody>
      </p:sp>
      <p:sp>
        <p:nvSpPr>
          <p:cNvPr id="272" name="AutoShape 20"/>
          <p:cNvSpPr/>
          <p:nvPr/>
        </p:nvSpPr>
        <p:spPr>
          <a:xfrm>
            <a:off x="508000" y="5524500"/>
            <a:ext cx="11176000" cy="889000"/>
          </a:xfrm>
          <a:prstGeom prst="roundRect">
            <a:avLst>
              <a:gd name="adj" fmla="val 0"/>
            </a:avLst>
          </a:prstGeom>
          <a:solidFill>
            <a:srgbClr val="1E3A8A">
              <a:alpha val="5000"/>
            </a:srgbClr>
          </a:solidFill>
          <a:ln w="12700" cap="flat" cmpd="sng">
            <a:solidFill>
              <a:srgbClr val="1E3A8A">
                <a:alpha val="10000"/>
              </a:srgbClr>
            </a:solidFill>
            <a:prstDash val="solid"/>
            <a:round/>
          </a:ln>
        </p:spPr>
        <p:txBody>
          <a:bodyPr vert="horz" wrap="square" lIns="63500" tIns="63500" rIns="63500" bIns="63500" rtlCol="0" anchor="ctr"/>
          <a:lstStyle/>
          <a:p>
            <a:pPr algn="ctr">
              <a:defRPr/>
            </a:pPr>
            <a:endParaRPr/>
          </a:p>
        </p:txBody>
      </p:sp>
      <p:sp>
        <p:nvSpPr>
          <p:cNvPr id="273" name="AutoShape 21"/>
          <p:cNvSpPr/>
          <p:nvPr/>
        </p:nvSpPr>
        <p:spPr>
          <a:xfrm>
            <a:off x="635000" y="5651500"/>
            <a:ext cx="10922000" cy="635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a:ea typeface="Noto Sans SC"/>
                <a:cs typeface="Noto Sans SC"/>
                <a:sym typeface="Noto Sans SC"/>
              </a:rPr>
              <a:t>Hvad vi lærer her:</a:t>
            </a:r>
            <a:r>
              <a:rPr lang="en-US" sz="1500" b="0" i="0" u="none" strike="noStrike">
                <a:solidFill>
                  <a:srgbClr val="4B5563"/>
                </a:solidFill>
                <a:latin typeface="Noto Sans SC"/>
                <a:ea typeface="Noto Sans SC"/>
                <a:cs typeface="Noto Sans SC"/>
                <a:sym typeface="Noto Sans SC"/>
              </a:rPr>
              <a:t>Algoritme-design er processen med at tage en vag, abstrakt idé (top-down) og bryde den iterativt ned i små, præcise og udbare handlinger, indtil hver eneste del er så konkret at den kan udføres af en computer eller en person.</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p:nvPr/>
        </p:nvSpPr>
        <p:spPr>
          <a:xfrm>
            <a:off x="508000" y="508000"/>
            <a:ext cx="11176000" cy="762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err="1">
                <a:solidFill>
                  <a:srgbClr val="1E3A8A"/>
                </a:solidFill>
                <a:latin typeface="Noto Sans SC"/>
                <a:ea typeface="Noto Sans SC"/>
                <a:cs typeface="Noto Sans SC"/>
                <a:sym typeface="Noto Sans SC"/>
              </a:rPr>
              <a:t>Øvelse</a:t>
            </a:r>
            <a:r>
              <a:rPr lang="en-US" sz="3200" b="1" i="0" u="none" strike="noStrike">
                <a:solidFill>
                  <a:srgbClr val="1E3A8A"/>
                </a:solidFill>
                <a:latin typeface="Noto Sans SC"/>
                <a:ea typeface="Noto Sans SC"/>
                <a:cs typeface="Noto Sans SC"/>
                <a:sym typeface="Noto Sans SC"/>
              </a:rPr>
              <a:t> + </a:t>
            </a:r>
            <a:r>
              <a:rPr lang="en-US" sz="3200" b="1" i="0" u="none" strike="noStrike" err="1">
                <a:solidFill>
                  <a:srgbClr val="1E3A8A"/>
                </a:solidFill>
                <a:latin typeface="Noto Sans SC"/>
                <a:ea typeface="Noto Sans SC"/>
                <a:cs typeface="Noto Sans SC"/>
                <a:sym typeface="Noto Sans SC"/>
              </a:rPr>
              <a:t>lille</a:t>
            </a:r>
            <a:r>
              <a:rPr lang="en-US" sz="3200" b="1" i="0" u="none" strike="noStrike">
                <a:solidFill>
                  <a:srgbClr val="1E3A8A"/>
                </a:solidFill>
                <a:latin typeface="Noto Sans SC"/>
                <a:ea typeface="Noto Sans SC"/>
                <a:cs typeface="Noto Sans SC"/>
                <a:sym typeface="Noto Sans SC"/>
              </a:rPr>
              <a:t> test</a:t>
            </a:r>
            <a:endParaRPr lang="en-US" sz="1100"/>
          </a:p>
        </p:txBody>
      </p:sp>
      <p:sp>
        <p:nvSpPr>
          <p:cNvPr id="7" name="TextBox 3"/>
          <p:cNvSpPr txBox="1"/>
          <p:nvPr/>
        </p:nvSpPr>
        <p:spPr>
          <a:xfrm>
            <a:off x="588169" y="2710190"/>
            <a:ext cx="5843586" cy="523220"/>
          </a:xfrm>
          <a:prstGeom prst="rect">
            <a:avLst/>
          </a:prstGeom>
          <a:noFill/>
        </p:spPr>
        <p:txBody>
          <a:bodyPr wrap="square">
            <a:spAutoFit/>
          </a:bodyPr>
          <a:lstStyle/>
          <a:p>
            <a:r>
              <a:rPr lang="en-DK"/>
              <a:t>https://www.docjava.dk/grundlaeggende_programmering/algoritmer/opgaver.htm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A62D9">
            <a:alpha val="100000"/>
          </a:srgbClr>
        </a:solidFill>
        <a:effectLst/>
      </p:bgPr>
    </p:bg>
    <p:spTree>
      <p:nvGrpSpPr>
        <p:cNvPr id="1" name=""/>
        <p:cNvGrpSpPr/>
        <p:nvPr/>
      </p:nvGrpSpPr>
      <p:grpSpPr>
        <a:xfrm>
          <a:off x="0" y="0"/>
          <a:ext cx="0" cy="0"/>
          <a:chOff x="0" y="0"/>
          <a:chExt cx="0" cy="0"/>
        </a:xfrm>
      </p:grpSpPr>
      <p:pic>
        <p:nvPicPr>
          <p:cNvPr id="9"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10"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4"/>
          <p:cNvSpPr/>
          <p:nvPr/>
        </p:nvSpPr>
        <p:spPr>
          <a:xfrm>
            <a:off x="1003300" y="1625600"/>
            <a:ext cx="7137400" cy="2070100"/>
          </a:xfrm>
          <a:prstGeom prst="rect">
            <a:avLst/>
          </a:prstGeom>
          <a:noFill/>
          <a:ln w="9525" cap="flat" cmpd="sng">
            <a:noFill/>
            <a:prstDash val="solid"/>
            <a:round/>
          </a:ln>
        </p:spPr>
        <p:txBody>
          <a:bodyPr vert="horz" wrap="square" lIns="88900" tIns="88900" rIns="88900" bIns="88900" rtlCol="0" anchor="b" anchorCtr="0"/>
          <a:lstStyle/>
          <a:p>
            <a:pPr algn="ctr">
              <a:defRPr/>
            </a:pPr>
            <a:endParaRPr/>
          </a:p>
        </p:txBody>
      </p:sp>
      <p:cxnSp>
        <p:nvCxnSpPr>
          <p:cNvPr id="12" name="Connector 5"/>
          <p:cNvCxnSpPr/>
          <p:nvPr/>
        </p:nvCxnSpPr>
        <p:spPr>
          <a:xfrm>
            <a:off x="3708400" y="3746500"/>
            <a:ext cx="1727247" cy="12700"/>
          </a:xfrm>
          <a:prstGeom prst="straightConnector1">
            <a:avLst/>
          </a:prstGeom>
          <a:solidFill>
            <a:srgbClr val="DEE0E3">
              <a:alpha val="100000"/>
            </a:srgbClr>
          </a:solidFill>
          <a:ln w="38100" cap="flat" cmpd="sng">
            <a:solidFill>
              <a:srgbClr val="000000">
                <a:alpha val="100000"/>
              </a:srgbClr>
            </a:solidFill>
            <a:prstDash val="solid"/>
            <a:round/>
            <a:headEnd type="none" w="med" len="med"/>
            <a:tailEnd type="none" w="med" len="med"/>
          </a:ln>
        </p:spPr>
      </p:cxnSp>
      <p:sp>
        <p:nvSpPr>
          <p:cNvPr id="13" name="AutoShape 6"/>
          <p:cNvSpPr/>
          <p:nvPr/>
        </p:nvSpPr>
        <p:spPr>
          <a:xfrm>
            <a:off x="7962900" y="4775200"/>
            <a:ext cx="1066800" cy="2540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8"/>
          <p:cNvSpPr/>
          <p:nvPr/>
        </p:nvSpPr>
        <p:spPr>
          <a:xfrm>
            <a:off x="279400" y="1663700"/>
            <a:ext cx="8572500" cy="18288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00000"/>
              </a:lnSpc>
              <a:defRPr/>
            </a:pPr>
            <a:r>
              <a:rPr lang="en-US" sz="4500" b="1" i="0" u="none" strike="noStrike">
                <a:solidFill>
                  <a:srgbClr val="FFFFFF"/>
                </a:solidFill>
                <a:latin typeface="Geist"/>
                <a:ea typeface="Geist"/>
                <a:cs typeface="Geist"/>
                <a:sym typeface="Geist"/>
              </a:rPr>
              <a:t> </a:t>
            </a:r>
            <a:endParaRPr lang="en-US" sz="1100"/>
          </a:p>
          <a:p>
            <a:pPr marL="0" indent="0" algn="ctr">
              <a:lnSpc>
                <a:spcPct val="100000"/>
              </a:lnSpc>
            </a:pPr>
            <a:r>
              <a:rPr lang="en-US" sz="4500" b="1" i="0" u="none" strike="noStrike" err="1">
                <a:solidFill>
                  <a:srgbClr val="FFFFFF"/>
                </a:solidFill>
                <a:latin typeface="Geist"/>
                <a:ea typeface="Geist"/>
                <a:cs typeface="Geist"/>
                <a:sym typeface="Geist"/>
              </a:rPr>
              <a:t>Kontrolstrukturer</a:t>
            </a:r>
            <a:endParaRPr lang="en-US" sz="4500" b="1" i="0" u="none" strike="noStrike">
              <a:solidFill>
                <a:srgbClr val="FFFFFF"/>
              </a:solidFill>
              <a:latin typeface="Geist"/>
              <a:ea typeface="Geist"/>
              <a:cs typeface="Geist"/>
              <a:sym typeface="Geist"/>
            </a:endParaRPr>
          </a:p>
        </p:txBody>
      </p:sp>
      <p:sp>
        <p:nvSpPr>
          <p:cNvPr id="15" name="AutoShape 9"/>
          <p:cNvSpPr/>
          <p:nvPr/>
        </p:nvSpPr>
        <p:spPr>
          <a:xfrm>
            <a:off x="1244600" y="4114800"/>
            <a:ext cx="6654800" cy="6350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16666"/>
              </a:lnSpc>
              <a:spcAft>
                <a:spcPts val="1600"/>
              </a:spcAft>
              <a:defRPr/>
            </a:pPr>
            <a:r>
              <a:rPr lang="en-US" sz="2400" b="0" i="0" u="none" strike="noStrike">
                <a:solidFill>
                  <a:srgbClr val="FFFFFF"/>
                </a:solidFill>
                <a:latin typeface="Geist"/>
                <a:ea typeface="Geist"/>
                <a:cs typeface="Geist"/>
                <a:sym typeface="Geist"/>
              </a:rPr>
              <a:t>Styring af algoritmisk eksekveringsrækkefølge</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17"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18"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4"/>
          <p:cNvSpPr/>
          <p:nvPr/>
        </p:nvSpPr>
        <p:spPr>
          <a:xfrm>
            <a:off x="-12700" y="-12700"/>
            <a:ext cx="9156700" cy="3429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5"/>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1" name="AutoShape 6"/>
          <p:cNvSpPr/>
          <p:nvPr/>
        </p:nvSpPr>
        <p:spPr>
          <a:xfrm>
            <a:off x="83947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2"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23"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CSP '24-25</a:t>
            </a:r>
            <a:r>
              <a:rPr lang="en-US" sz="1300" b="0" i="0" u="none" strike="noStrike">
                <a:solidFill>
                  <a:srgbClr val="FFFFFF"/>
                </a:solidFill>
                <a:latin typeface="Geist"/>
                <a:ea typeface="Geist"/>
                <a:cs typeface="Geist"/>
                <a:sym typeface="Geist"/>
              </a:rPr>
              <a:t>Unit 10 – Algoritmer &amp; Logik</a:t>
            </a:r>
            <a:endParaRPr lang="en-US" sz="1100"/>
          </a:p>
        </p:txBody>
      </p:sp>
      <p:sp>
        <p:nvSpPr>
          <p:cNvPr id="24" name="AutoShape 9"/>
          <p:cNvSpPr/>
          <p:nvPr/>
        </p:nvSpPr>
        <p:spPr>
          <a:xfrm>
            <a:off x="914400" y="635000"/>
            <a:ext cx="3810000" cy="6350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3000" b="1" i="0" u="none" strike="noStrike">
                <a:solidFill>
                  <a:srgbClr val="000000"/>
                </a:solidFill>
                <a:latin typeface="Poppins"/>
                <a:ea typeface="Poppins"/>
                <a:cs typeface="Poppins"/>
                <a:sym typeface="Poppins"/>
              </a:rPr>
              <a:t>Kontrolstrukturer</a:t>
            </a:r>
            <a:endParaRPr lang="en-US" sz="1100"/>
          </a:p>
        </p:txBody>
      </p:sp>
      <p:pic>
        <p:nvPicPr>
          <p:cNvPr id="25" name="Picture 10"/>
          <p:cNvPicPr>
            <a:picLocks noChangeAspect="1"/>
          </p:cNvPicPr>
          <p:nvPr/>
        </p:nvPicPr>
        <p:blipFill>
          <a:blip r:embed="rId4"/>
          <a:srcRect/>
          <a:stretch>
            <a:fillRect/>
          </a:stretch>
        </p:blipFill>
        <p:spPr>
          <a:xfrm>
            <a:off x="508000" y="812800"/>
            <a:ext cx="368300" cy="317500"/>
          </a:xfrm>
          <a:prstGeom prst="rect">
            <a:avLst/>
          </a:prstGeom>
          <a:noFill/>
          <a:ln w="25400" cap="flat" cmpd="sng">
            <a:noFill/>
            <a:prstDash val="solid"/>
            <a:round/>
          </a:ln>
        </p:spPr>
      </p:pic>
      <p:sp>
        <p:nvSpPr>
          <p:cNvPr id="26" name="AutoShape 11"/>
          <p:cNvSpPr/>
          <p:nvPr/>
        </p:nvSpPr>
        <p:spPr>
          <a:xfrm>
            <a:off x="482600" y="1524000"/>
            <a:ext cx="8204200" cy="2921000"/>
          </a:xfrm>
          <a:prstGeom prst="rect">
            <a:avLst/>
          </a:prstGeom>
          <a:noFill/>
          <a:ln w="9525" cap="flat" cmpd="sng">
            <a:noFill/>
            <a:prstDash val="solid"/>
            <a:round/>
          </a:ln>
        </p:spPr>
        <p:txBody>
          <a:bodyPr vert="horz" wrap="square" lIns="88900" tIns="88900" rIns="88900" bIns="88900" rtlCol="0" anchor="t" anchorCtr="0"/>
          <a:lstStyle>
            <a:lvl1pPr marL="736600" indent="-279400"/>
            <a:lvl2pPr marL="1193800" indent="-279400"/>
            <a:lvl3pPr marL="1651000" indent="-279400"/>
            <a:lvl4pPr marL="2108200" indent="-279400"/>
            <a:lvl5pPr marL="2565400" indent="-279400"/>
            <a:lvl6pPr marL="3022600" indent="-279400"/>
            <a:lvl7pPr marL="3479800" indent="-279400"/>
            <a:lvl8pPr marL="3937000" indent="-279400"/>
            <a:lvl9pPr marL="4394200" indent="-279400"/>
          </a:lstStyle>
          <a:p>
            <a:pPr marL="457200" indent="-406400" algn="l">
              <a:lnSpc>
                <a:spcPct val="108333"/>
              </a:lnSpc>
              <a:buClr>
                <a:srgbClr val="000000"/>
              </a:buClr>
              <a:buChar char="•"/>
              <a:defRPr/>
            </a:pPr>
            <a:r>
              <a:rPr lang="en-US" sz="2200" b="1" i="0" u="none" strike="noStrike">
                <a:solidFill>
                  <a:srgbClr val="000000"/>
                </a:solidFill>
                <a:latin typeface="Geist"/>
                <a:ea typeface="Geist"/>
                <a:cs typeface="Geist"/>
                <a:sym typeface="Geist"/>
              </a:rPr>
              <a:t>Formålet:</a:t>
            </a:r>
            <a:r>
              <a:rPr lang="en-US" sz="2000" b="0" i="0" u="none" strike="noStrike">
                <a:solidFill>
                  <a:srgbClr val="000000"/>
                </a:solidFill>
                <a:latin typeface="Geist"/>
                <a:ea typeface="Geist"/>
                <a:cs typeface="Geist"/>
                <a:sym typeface="Geist"/>
              </a:rPr>
              <a:t>Styre følgen af udførelse af delalgoritmerne – bestemme rækkefølge, valg og gentagelser i koden.</a:t>
            </a:r>
            <a:endParaRPr lang="en-US" sz="1100"/>
          </a:p>
          <a:p>
            <a:pPr marL="457200" indent="-406400" algn="l">
              <a:lnSpc>
                <a:spcPct val="108333"/>
              </a:lnSpc>
              <a:spcBef>
                <a:spcPts val="1200"/>
              </a:spcBef>
              <a:buClr>
                <a:srgbClr val="000000"/>
              </a:buClr>
              <a:buChar char="•"/>
            </a:pPr>
            <a:r>
              <a:rPr lang="en-US" sz="2200" b="1" i="0" u="none" strike="noStrike">
                <a:solidFill>
                  <a:srgbClr val="000000"/>
                </a:solidFill>
                <a:latin typeface="Geist"/>
                <a:ea typeface="Geist"/>
                <a:cs typeface="Geist"/>
                <a:sym typeface="Geist"/>
              </a:rPr>
              <a:t>3 Grundlæggende Typer:</a:t>
            </a:r>
            <a:endParaRPr/>
          </a:p>
          <a:p>
            <a:pPr marL="711200" indent="-406400" algn="l">
              <a:lnSpc>
                <a:spcPct val="108333"/>
              </a:lnSpc>
              <a:buClr>
                <a:srgbClr val="505050"/>
              </a:buClr>
              <a:buChar char="•"/>
            </a:pPr>
            <a:r>
              <a:rPr lang="en-US" sz="1900" b="0" i="0" u="none" strike="noStrike">
                <a:solidFill>
                  <a:srgbClr val="000000"/>
                </a:solidFill>
                <a:latin typeface="Geist"/>
                <a:ea typeface="Geist"/>
                <a:cs typeface="Geist"/>
                <a:sym typeface="Geist"/>
              </a:rPr>
              <a:t>1. Sekventiel: Linje-for-linje eksekvering uden afvigelser.</a:t>
            </a:r>
            <a:endParaRPr/>
          </a:p>
          <a:p>
            <a:pPr marL="711200" indent="-406400" algn="l">
              <a:lnSpc>
                <a:spcPct val="108333"/>
              </a:lnSpc>
              <a:buClr>
                <a:srgbClr val="505050"/>
              </a:buClr>
              <a:buChar char="•"/>
            </a:pPr>
            <a:r>
              <a:rPr lang="en-US" sz="1900" b="0" i="0" u="none" strike="noStrike">
                <a:solidFill>
                  <a:srgbClr val="000000"/>
                </a:solidFill>
                <a:latin typeface="Geist"/>
                <a:ea typeface="Geist"/>
                <a:cs typeface="Geist"/>
                <a:sym typeface="Geist"/>
              </a:rPr>
              <a:t>2. Valg (If-Struktur): Vælg sti baseret på en betingelse (sandt/falsk).</a:t>
            </a:r>
            <a:endParaRPr/>
          </a:p>
          <a:p>
            <a:pPr marL="711200" indent="-406400" algn="l">
              <a:lnSpc>
                <a:spcPct val="108333"/>
              </a:lnSpc>
              <a:buClr>
                <a:srgbClr val="505050"/>
              </a:buClr>
              <a:buChar char="•"/>
            </a:pPr>
            <a:r>
              <a:rPr lang="en-US" sz="1900" b="0" i="0" u="none" strike="noStrike">
                <a:solidFill>
                  <a:srgbClr val="000000"/>
                </a:solidFill>
                <a:latin typeface="Geist"/>
                <a:ea typeface="Geist"/>
                <a:cs typeface="Geist"/>
                <a:sym typeface="Geist"/>
              </a:rPr>
              <a:t>3. Gentagelse (Loop): Gentag kode indtil en betingelse er opfyldt.</a:t>
            </a:r>
            <a:endParaRPr/>
          </a:p>
        </p:txBody>
      </p:sp>
      <p:sp>
        <p:nvSpPr>
          <p:cNvPr id="27" name="AutoShape 12"/>
          <p:cNvSpPr/>
          <p:nvPr/>
        </p:nvSpPr>
        <p:spPr>
          <a:xfrm>
            <a:off x="88900" y="48260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28" name="AutoShape 13"/>
          <p:cNvSpPr/>
          <p:nvPr/>
        </p:nvSpPr>
        <p:spPr>
          <a:xfrm>
            <a:off x="139700" y="47879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29" name="AutoShape 14"/>
          <p:cNvSpPr/>
          <p:nvPr/>
        </p:nvSpPr>
        <p:spPr>
          <a:xfrm>
            <a:off x="177800" y="47371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31"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2"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35"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36"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37"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CSP '24-25</a:t>
            </a:r>
            <a:r>
              <a:rPr lang="en-US" sz="1300" b="0" i="0" u="none" strike="noStrike">
                <a:solidFill>
                  <a:srgbClr val="FFFFFF"/>
                </a:solidFill>
                <a:latin typeface="Geist"/>
                <a:ea typeface="Geist"/>
                <a:cs typeface="Geist"/>
                <a:sym typeface="Geist"/>
              </a:rPr>
              <a:t>Unit 10 – Tilstanden (State)</a:t>
            </a:r>
            <a:endParaRPr lang="en-US" sz="1100"/>
          </a:p>
        </p:txBody>
      </p:sp>
      <p:sp>
        <p:nvSpPr>
          <p:cNvPr id="38" name="AutoShape 9"/>
          <p:cNvSpPr/>
          <p:nvPr/>
        </p:nvSpPr>
        <p:spPr>
          <a:xfrm>
            <a:off x="457200" y="419100"/>
            <a:ext cx="8001000" cy="13335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8333"/>
              </a:lnSpc>
              <a:defRPr/>
            </a:pPr>
            <a:r>
              <a:rPr lang="en-US" sz="1500" b="1" i="0" u="none" strike="noStrike" err="1">
                <a:solidFill>
                  <a:srgbClr val="6A62D9"/>
                </a:solidFill>
                <a:latin typeface="Geist"/>
                <a:ea typeface="Geist"/>
                <a:cs typeface="Geist"/>
                <a:sym typeface="Geist"/>
              </a:rPr>
              <a:t>Hvad</a:t>
            </a:r>
            <a:r>
              <a:rPr lang="en-US" sz="1500" b="1" i="0" u="none" strike="noStrike">
                <a:solidFill>
                  <a:srgbClr val="6A62D9"/>
                </a:solidFill>
                <a:latin typeface="Geist"/>
                <a:ea typeface="Geist"/>
                <a:cs typeface="Geist"/>
                <a:sym typeface="Geist"/>
              </a:rPr>
              <a:t> er </a:t>
            </a:r>
            <a:r>
              <a:rPr lang="en-US" sz="1500" b="1" i="0" u="none" strike="noStrike" err="1">
                <a:solidFill>
                  <a:srgbClr val="6A62D9"/>
                </a:solidFill>
                <a:latin typeface="Geist"/>
                <a:ea typeface="Geist"/>
                <a:cs typeface="Geist"/>
                <a:sym typeface="Geist"/>
              </a:rPr>
              <a:t>en</a:t>
            </a:r>
            <a:r>
              <a:rPr lang="en-US" sz="1500" b="1" i="0" u="none" strike="noStrike">
                <a:solidFill>
                  <a:srgbClr val="6A62D9"/>
                </a:solidFill>
                <a:latin typeface="Geist"/>
                <a:ea typeface="Geist"/>
                <a:cs typeface="Geist"/>
                <a:sym typeface="Geist"/>
              </a:rPr>
              <a:t> </a:t>
            </a:r>
            <a:r>
              <a:rPr lang="en-US" sz="1500" b="1" i="0" u="none" strike="noStrike" err="1">
                <a:solidFill>
                  <a:srgbClr val="6A62D9"/>
                </a:solidFill>
                <a:latin typeface="Geist"/>
                <a:ea typeface="Geist"/>
                <a:cs typeface="Geist"/>
                <a:sym typeface="Geist"/>
              </a:rPr>
              <a:t>Tilstand</a:t>
            </a:r>
            <a:r>
              <a:rPr lang="en-US" sz="1500" b="1" i="0" u="none" strike="noStrike">
                <a:solidFill>
                  <a:srgbClr val="6A62D9"/>
                </a:solidFill>
                <a:latin typeface="Geist"/>
                <a:ea typeface="Geist"/>
                <a:cs typeface="Geist"/>
                <a:sym typeface="Geist"/>
              </a:rPr>
              <a:t>?</a:t>
            </a:r>
            <a:endParaRPr lang="en-US" sz="1100"/>
          </a:p>
          <a:p>
            <a:pPr marL="0" indent="0" algn="l">
              <a:lnSpc>
                <a:spcPct val="108333"/>
              </a:lnSpc>
            </a:pPr>
            <a:r>
              <a:rPr lang="en-US" sz="1400" b="0" i="0" u="none" strike="noStrike">
                <a:solidFill>
                  <a:srgbClr val="374151"/>
                </a:solidFill>
                <a:latin typeface="Geist"/>
                <a:ea typeface="Geist"/>
                <a:cs typeface="Geist"/>
                <a:sym typeface="Geist"/>
              </a:rPr>
              <a:t>En </a:t>
            </a:r>
            <a:r>
              <a:rPr lang="en-US" sz="1400" b="0" i="0" u="none" strike="noStrike" err="1">
                <a:solidFill>
                  <a:srgbClr val="374151"/>
                </a:solidFill>
                <a:latin typeface="Geist"/>
                <a:ea typeface="Geist"/>
                <a:cs typeface="Geist"/>
                <a:sym typeface="Geist"/>
              </a:rPr>
              <a:t>algoritme</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udføres</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altid</a:t>
            </a:r>
            <a:r>
              <a:rPr lang="en-US" sz="1400" b="0" i="0" u="none" strike="noStrike">
                <a:solidFill>
                  <a:srgbClr val="374151"/>
                </a:solidFill>
                <a:latin typeface="Geist"/>
                <a:ea typeface="Geist"/>
                <a:cs typeface="Geist"/>
                <a:sym typeface="Geist"/>
              </a:rPr>
              <a:t> mod </a:t>
            </a:r>
            <a:r>
              <a:rPr lang="en-US" sz="1400" b="0" i="0" u="none" strike="noStrike" err="1">
                <a:solidFill>
                  <a:srgbClr val="374151"/>
                </a:solidFill>
                <a:latin typeface="Geist"/>
                <a:ea typeface="Geist"/>
                <a:cs typeface="Geist"/>
                <a:sym typeface="Geist"/>
              </a:rPr>
              <a:t>baggrund</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af</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en</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bestemt</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tilstand</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f.eks</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en</a:t>
            </a:r>
            <a:r>
              <a:rPr lang="en-US" sz="1400" b="0" i="0" u="none" strike="noStrike">
                <a:solidFill>
                  <a:srgbClr val="374151"/>
                </a:solidFill>
                <a:latin typeface="Geist"/>
                <a:ea typeface="Geist"/>
                <a:cs typeface="Geist"/>
                <a:sym typeface="Geist"/>
              </a:rPr>
              <a:t> tom cup). En </a:t>
            </a:r>
            <a:r>
              <a:rPr lang="en-US" sz="1400" b="0" i="0" u="none" strike="noStrike" err="1">
                <a:solidFill>
                  <a:srgbClr val="374151"/>
                </a:solidFill>
                <a:latin typeface="Geist"/>
                <a:ea typeface="Geist"/>
                <a:cs typeface="Geist"/>
                <a:sym typeface="Geist"/>
              </a:rPr>
              <a:t>delalgoritme</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kan</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kræve</a:t>
            </a:r>
            <a:r>
              <a:rPr lang="en-US" sz="1400" b="0" i="0" u="none" strike="noStrike">
                <a:solidFill>
                  <a:srgbClr val="374151"/>
                </a:solidFill>
                <a:latin typeface="Geist"/>
                <a:ea typeface="Geist"/>
                <a:cs typeface="Geist"/>
                <a:sym typeface="Geist"/>
              </a:rPr>
              <a:t>, at </a:t>
            </a:r>
            <a:r>
              <a:rPr lang="en-US" sz="1400" b="0" i="0" u="none" strike="noStrike" err="1">
                <a:solidFill>
                  <a:srgbClr val="374151"/>
                </a:solidFill>
                <a:latin typeface="Geist"/>
                <a:ea typeface="Geist"/>
                <a:cs typeface="Geist"/>
                <a:sym typeface="Geist"/>
              </a:rPr>
              <a:t>en</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specifik</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tilstand</a:t>
            </a:r>
            <a:r>
              <a:rPr lang="en-US" sz="1400" b="0" i="0" u="none" strike="noStrike">
                <a:solidFill>
                  <a:srgbClr val="374151"/>
                </a:solidFill>
                <a:latin typeface="Geist"/>
                <a:ea typeface="Geist"/>
                <a:cs typeface="Geist"/>
                <a:sym typeface="Geist"/>
              </a:rPr>
              <a:t> er </a:t>
            </a:r>
            <a:r>
              <a:rPr lang="en-US" sz="1400" b="0" i="0" u="none" strike="noStrike" err="1">
                <a:solidFill>
                  <a:srgbClr val="374151"/>
                </a:solidFill>
                <a:latin typeface="Geist"/>
                <a:ea typeface="Geist"/>
                <a:cs typeface="Geist"/>
                <a:sym typeface="Geist"/>
              </a:rPr>
              <a:t>opfyldt</a:t>
            </a:r>
            <a:r>
              <a:rPr lang="en-US" sz="1400" b="0" i="0" u="none" strike="noStrike">
                <a:solidFill>
                  <a:srgbClr val="374151"/>
                </a:solidFill>
                <a:latin typeface="Geist"/>
                <a:ea typeface="Geist"/>
                <a:cs typeface="Geist"/>
                <a:sym typeface="Geist"/>
              </a:rPr>
              <a:t> for at </a:t>
            </a:r>
            <a:r>
              <a:rPr lang="en-US" sz="1400" b="0" i="0" u="none" strike="noStrike" err="1">
                <a:solidFill>
                  <a:srgbClr val="374151"/>
                </a:solidFill>
                <a:latin typeface="Geist"/>
                <a:ea typeface="Geist"/>
                <a:cs typeface="Geist"/>
                <a:sym typeface="Geist"/>
              </a:rPr>
              <a:t>virke</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korrekt</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og</a:t>
            </a:r>
            <a:r>
              <a:rPr lang="en-US" sz="1400" b="0" i="0" u="none" strike="noStrike">
                <a:solidFill>
                  <a:srgbClr val="374151"/>
                </a:solidFill>
                <a:latin typeface="Geist"/>
                <a:ea typeface="Geist"/>
                <a:cs typeface="Geist"/>
                <a:sym typeface="Geist"/>
              </a:rPr>
              <a:t> den </a:t>
            </a:r>
            <a:r>
              <a:rPr lang="en-US" sz="1400" b="0" i="0" u="none" strike="noStrike" err="1">
                <a:solidFill>
                  <a:srgbClr val="374151"/>
                </a:solidFill>
                <a:latin typeface="Geist"/>
                <a:ea typeface="Geist"/>
                <a:cs typeface="Geist"/>
                <a:sym typeface="Geist"/>
              </a:rPr>
              <a:t>ændrer</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systemets</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tilstand</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når</a:t>
            </a:r>
            <a:r>
              <a:rPr lang="en-US" sz="1400" b="0" i="0" u="none" strike="noStrike">
                <a:solidFill>
                  <a:srgbClr val="374151"/>
                </a:solidFill>
                <a:latin typeface="Geist"/>
                <a:ea typeface="Geist"/>
                <a:cs typeface="Geist"/>
                <a:sym typeface="Geist"/>
              </a:rPr>
              <a:t> den er </a:t>
            </a:r>
            <a:r>
              <a:rPr lang="en-US" sz="1400" b="0" i="0" u="none" strike="noStrike" err="1">
                <a:solidFill>
                  <a:srgbClr val="374151"/>
                </a:solidFill>
                <a:latin typeface="Geist"/>
                <a:ea typeface="Geist"/>
                <a:cs typeface="Geist"/>
                <a:sym typeface="Geist"/>
              </a:rPr>
              <a:t>udført</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Tilstanden</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repræsenterer</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systemets</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nuværende</a:t>
            </a:r>
            <a:r>
              <a:rPr lang="en-US" sz="1400" b="0" i="0" u="none" strike="noStrike">
                <a:solidFill>
                  <a:srgbClr val="374151"/>
                </a:solidFill>
                <a:latin typeface="Geist"/>
                <a:ea typeface="Geist"/>
                <a:cs typeface="Geist"/>
                <a:sym typeface="Geist"/>
              </a:rPr>
              <a:t> "stand" </a:t>
            </a:r>
            <a:r>
              <a:rPr lang="en-US" sz="1400" b="0" i="0" u="none" strike="noStrike" err="1">
                <a:solidFill>
                  <a:srgbClr val="374151"/>
                </a:solidFill>
                <a:latin typeface="Geist"/>
                <a:ea typeface="Geist"/>
                <a:cs typeface="Geist"/>
                <a:sym typeface="Geist"/>
              </a:rPr>
              <a:t>eller</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konfiguration</a:t>
            </a:r>
            <a:r>
              <a:rPr lang="en-US" sz="1400" b="0" i="0" u="none" strike="noStrike">
                <a:solidFill>
                  <a:srgbClr val="374151"/>
                </a:solidFill>
                <a:latin typeface="Geist"/>
                <a:ea typeface="Geist"/>
                <a:cs typeface="Geist"/>
                <a:sym typeface="Geist"/>
              </a:rPr>
              <a:t>.</a:t>
            </a:r>
            <a:endParaRPr/>
          </a:p>
        </p:txBody>
      </p:sp>
      <p:sp>
        <p:nvSpPr>
          <p:cNvPr id="39" name="AutoShape 10"/>
          <p:cNvSpPr/>
          <p:nvPr/>
        </p:nvSpPr>
        <p:spPr>
          <a:xfrm>
            <a:off x="203200" y="1892300"/>
            <a:ext cx="3086100" cy="9525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500" b="1" i="0" u="none" strike="noStrike">
                <a:solidFill>
                  <a:srgbClr val="6A62D9"/>
                </a:solidFill>
                <a:latin typeface="Geist"/>
                <a:ea typeface="Geist"/>
                <a:cs typeface="Geist"/>
                <a:sym typeface="Geist"/>
              </a:rPr>
              <a:t>01. Start Tilstand</a:t>
            </a:r>
            <a:endParaRPr lang="en-US" sz="1100"/>
          </a:p>
          <a:p>
            <a:pPr marL="0" indent="0" algn="ctr">
              <a:lnSpc>
                <a:spcPct val="100000"/>
              </a:lnSpc>
            </a:pPr>
            <a:r>
              <a:rPr lang="en-US" sz="1300" b="0" i="0" u="none" strike="noStrike">
                <a:solidFill>
                  <a:srgbClr val="505050"/>
                </a:solidFill>
                <a:latin typeface="Geist"/>
                <a:ea typeface="Geist"/>
                <a:cs typeface="Geist"/>
                <a:sym typeface="Geist"/>
              </a:rPr>
              <a:t>Udgangspunkt: En tom, renset cementbalje er klar. Systemet er i en "tom" tilstand, klar til at modtage ingredienser.</a:t>
            </a:r>
            <a:endParaRPr/>
          </a:p>
        </p:txBody>
      </p:sp>
      <p:sp>
        <p:nvSpPr>
          <p:cNvPr id="40" name="AutoShape 11"/>
          <p:cNvSpPr/>
          <p:nvPr/>
        </p:nvSpPr>
        <p:spPr>
          <a:xfrm>
            <a:off x="3086100" y="1892300"/>
            <a:ext cx="2730500" cy="9525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500" b="1" i="0" u="none" strike="noStrike" dirty="0">
                <a:solidFill>
                  <a:srgbClr val="6A62D9"/>
                </a:solidFill>
                <a:latin typeface="Geist"/>
                <a:ea typeface="Geist"/>
                <a:cs typeface="Geist"/>
                <a:sym typeface="Geist"/>
              </a:rPr>
              <a:t>02. </a:t>
            </a:r>
            <a:r>
              <a:rPr lang="en-US" sz="1500" b="1" i="0" u="none" strike="noStrike" dirty="0" err="1">
                <a:solidFill>
                  <a:srgbClr val="6A62D9"/>
                </a:solidFill>
                <a:latin typeface="Geist"/>
                <a:ea typeface="Geist"/>
                <a:cs typeface="Geist"/>
                <a:sym typeface="Geist"/>
              </a:rPr>
              <a:t>Udfør</a:t>
            </a:r>
            <a:r>
              <a:rPr lang="en-US" sz="1500" b="1" i="0" u="none" strike="noStrike" dirty="0">
                <a:solidFill>
                  <a:srgbClr val="6A62D9"/>
                </a:solidFill>
                <a:latin typeface="Geist"/>
                <a:ea typeface="Geist"/>
                <a:cs typeface="Geist"/>
                <a:sym typeface="Geist"/>
              </a:rPr>
              <a:t>: </a:t>
            </a:r>
            <a:r>
              <a:rPr lang="en-US" sz="1500" b="1" i="0" u="none" strike="noStrike" dirty="0" err="1">
                <a:solidFill>
                  <a:srgbClr val="6A62D9"/>
                </a:solidFill>
                <a:latin typeface="Geist"/>
                <a:ea typeface="Geist"/>
                <a:cs typeface="Geist"/>
                <a:sym typeface="Geist"/>
              </a:rPr>
              <a:t>Tilføj</a:t>
            </a:r>
            <a:r>
              <a:rPr lang="en-US" sz="1500" b="1" i="0" u="none" strike="noStrike" dirty="0">
                <a:solidFill>
                  <a:srgbClr val="6A62D9"/>
                </a:solidFill>
                <a:latin typeface="Geist"/>
                <a:ea typeface="Geist"/>
                <a:cs typeface="Geist"/>
                <a:sym typeface="Geist"/>
              </a:rPr>
              <a:t> Vand</a:t>
            </a:r>
            <a:endParaRPr lang="en-US" sz="1100" dirty="0"/>
          </a:p>
          <a:p>
            <a:pPr marL="0" indent="0" algn="ctr">
              <a:lnSpc>
                <a:spcPct val="100000"/>
              </a:lnSpc>
            </a:pPr>
            <a:r>
              <a:rPr lang="en-US" sz="1300" b="0" i="0" u="none" strike="noStrike" dirty="0" err="1">
                <a:solidFill>
                  <a:srgbClr val="505050"/>
                </a:solidFill>
                <a:latin typeface="Geist"/>
                <a:ea typeface="Geist"/>
                <a:cs typeface="Geist"/>
                <a:sym typeface="Geist"/>
              </a:rPr>
              <a:t>Delalgoritmen</a:t>
            </a:r>
            <a:r>
              <a:rPr lang="en-US" sz="1300" b="0" i="0" u="none" strike="noStrike" dirty="0">
                <a:solidFill>
                  <a:srgbClr val="505050"/>
                </a:solidFill>
                <a:latin typeface="Geist"/>
                <a:ea typeface="Geist"/>
                <a:cs typeface="Geist"/>
                <a:sym typeface="Geist"/>
              </a:rPr>
              <a:t> </a:t>
            </a:r>
            <a:r>
              <a:rPr lang="en-US" sz="1300" b="0" i="0" u="none" strike="noStrike" dirty="0" err="1">
                <a:solidFill>
                  <a:srgbClr val="505050"/>
                </a:solidFill>
                <a:latin typeface="Geist"/>
                <a:ea typeface="Geist"/>
                <a:cs typeface="Geist"/>
                <a:sym typeface="Geist"/>
              </a:rPr>
              <a:t>kræver</a:t>
            </a:r>
            <a:r>
              <a:rPr lang="en-US" sz="1300" b="0" i="0" u="none" strike="noStrike" dirty="0">
                <a:solidFill>
                  <a:srgbClr val="505050"/>
                </a:solidFill>
                <a:latin typeface="Geist"/>
                <a:ea typeface="Geist"/>
                <a:cs typeface="Geist"/>
                <a:sym typeface="Geist"/>
              </a:rPr>
              <a:t> </a:t>
            </a:r>
            <a:r>
              <a:rPr lang="en-US" sz="1300" b="0" i="0" u="none" strike="noStrike" dirty="0" err="1">
                <a:solidFill>
                  <a:srgbClr val="505050"/>
                </a:solidFill>
                <a:latin typeface="Geist"/>
                <a:ea typeface="Geist"/>
                <a:cs typeface="Geist"/>
                <a:sym typeface="Geist"/>
              </a:rPr>
              <a:t>en</a:t>
            </a:r>
            <a:r>
              <a:rPr lang="en-US" sz="1300" b="0" i="0" u="none" strike="noStrike" dirty="0">
                <a:solidFill>
                  <a:srgbClr val="505050"/>
                </a:solidFill>
                <a:latin typeface="Geist"/>
                <a:ea typeface="Geist"/>
                <a:cs typeface="Geist"/>
                <a:sym typeface="Geist"/>
              </a:rPr>
              <a:t> tom cup. </a:t>
            </a:r>
            <a:r>
              <a:rPr lang="en-US" sz="1300" b="0" i="0" u="none" strike="noStrike" dirty="0" err="1">
                <a:solidFill>
                  <a:srgbClr val="505050"/>
                </a:solidFill>
                <a:latin typeface="Geist"/>
                <a:ea typeface="Geist"/>
                <a:cs typeface="Geist"/>
                <a:sym typeface="Geist"/>
              </a:rPr>
              <a:t>Efter</a:t>
            </a:r>
            <a:r>
              <a:rPr lang="en-US" sz="1300" b="0" i="0" u="none" strike="noStrike" dirty="0">
                <a:solidFill>
                  <a:srgbClr val="505050"/>
                </a:solidFill>
                <a:latin typeface="Geist"/>
                <a:ea typeface="Geist"/>
                <a:cs typeface="Geist"/>
                <a:sym typeface="Geist"/>
              </a:rPr>
              <a:t> </a:t>
            </a:r>
            <a:r>
              <a:rPr lang="en-US" sz="1300" b="0" i="0" u="none" strike="noStrike" dirty="0" err="1">
                <a:solidFill>
                  <a:srgbClr val="505050"/>
                </a:solidFill>
                <a:latin typeface="Geist"/>
                <a:ea typeface="Geist"/>
                <a:cs typeface="Geist"/>
                <a:sym typeface="Geist"/>
              </a:rPr>
              <a:t>udførelse</a:t>
            </a:r>
            <a:r>
              <a:rPr lang="en-US" sz="1300" b="0" i="0" u="none" strike="noStrike" dirty="0">
                <a:solidFill>
                  <a:srgbClr val="505050"/>
                </a:solidFill>
                <a:latin typeface="Geist"/>
                <a:ea typeface="Geist"/>
                <a:cs typeface="Geist"/>
                <a:sym typeface="Geist"/>
              </a:rPr>
              <a:t>: Ny </a:t>
            </a:r>
            <a:r>
              <a:rPr lang="en-US" sz="1300" b="0" i="0" u="none" strike="noStrike" dirty="0" err="1">
                <a:solidFill>
                  <a:srgbClr val="505050"/>
                </a:solidFill>
                <a:latin typeface="Geist"/>
                <a:ea typeface="Geist"/>
                <a:cs typeface="Geist"/>
                <a:sym typeface="Geist"/>
              </a:rPr>
              <a:t>Tilstand</a:t>
            </a:r>
            <a:r>
              <a:rPr lang="en-US" sz="1300" b="0" i="0" u="none" strike="noStrike" dirty="0">
                <a:solidFill>
                  <a:srgbClr val="505050"/>
                </a:solidFill>
                <a:latin typeface="Geist"/>
                <a:ea typeface="Geist"/>
                <a:cs typeface="Geist"/>
                <a:sym typeface="Geist"/>
              </a:rPr>
              <a:t> = ”cup med </a:t>
            </a:r>
            <a:r>
              <a:rPr lang="en-US" sz="1300" b="0" i="0" u="none" strike="noStrike" dirty="0" err="1">
                <a:solidFill>
                  <a:srgbClr val="505050"/>
                </a:solidFill>
                <a:latin typeface="Geist"/>
                <a:ea typeface="Geist"/>
                <a:cs typeface="Geist"/>
                <a:sym typeface="Geist"/>
              </a:rPr>
              <a:t>vand</a:t>
            </a:r>
            <a:r>
              <a:rPr lang="en-US" sz="1300" b="0" i="0" u="none" strike="noStrike" dirty="0">
                <a:solidFill>
                  <a:srgbClr val="505050"/>
                </a:solidFill>
                <a:latin typeface="Geist"/>
                <a:ea typeface="Geist"/>
                <a:cs typeface="Geist"/>
                <a:sym typeface="Geist"/>
              </a:rPr>
              <a:t>"  </a:t>
            </a:r>
            <a:endParaRPr dirty="0"/>
          </a:p>
        </p:txBody>
      </p:sp>
      <p:pic>
        <p:nvPicPr>
          <p:cNvPr id="42" name="Picture 13"/>
          <p:cNvPicPr>
            <a:picLocks noChangeAspect="1"/>
          </p:cNvPicPr>
          <p:nvPr/>
        </p:nvPicPr>
        <p:blipFill>
          <a:blip r:embed="rId4"/>
          <a:srcRect/>
          <a:stretch>
            <a:fillRect/>
          </a:stretch>
        </p:blipFill>
        <p:spPr>
          <a:xfrm>
            <a:off x="1371600" y="3048000"/>
            <a:ext cx="622300" cy="1917700"/>
          </a:xfrm>
          <a:prstGeom prst="rect">
            <a:avLst/>
          </a:prstGeom>
          <a:noFill/>
          <a:ln w="25400" cap="flat" cmpd="sng">
            <a:noFill/>
            <a:prstDash val="solid"/>
            <a:round/>
          </a:ln>
        </p:spPr>
      </p:pic>
      <p:pic>
        <p:nvPicPr>
          <p:cNvPr id="43" name="Picture 14"/>
          <p:cNvPicPr>
            <a:picLocks noChangeAspect="1"/>
          </p:cNvPicPr>
          <p:nvPr/>
        </p:nvPicPr>
        <p:blipFill>
          <a:blip r:embed="rId5"/>
          <a:srcRect/>
          <a:stretch>
            <a:fillRect/>
          </a:stretch>
        </p:blipFill>
        <p:spPr>
          <a:xfrm>
            <a:off x="3416300" y="3302000"/>
            <a:ext cx="2082800" cy="1181100"/>
          </a:xfrm>
          <a:prstGeom prst="rect">
            <a:avLst/>
          </a:prstGeom>
          <a:noFill/>
          <a:ln w="25400" cap="flat" cmpd="sng">
            <a:noFill/>
            <a:prstDash val="solid"/>
            <a:round/>
          </a:ln>
        </p:spPr>
      </p:pic>
      <p:pic>
        <p:nvPicPr>
          <p:cNvPr id="44" name="Picture 15"/>
          <p:cNvPicPr>
            <a:picLocks noChangeAspect="1"/>
          </p:cNvPicPr>
          <p:nvPr/>
        </p:nvPicPr>
        <p:blipFill>
          <a:blip r:embed="rId6"/>
          <a:srcRect/>
          <a:stretch>
            <a:fillRect/>
          </a:stretch>
        </p:blipFill>
        <p:spPr>
          <a:xfrm>
            <a:off x="6502400" y="3175000"/>
            <a:ext cx="1739900" cy="1651000"/>
          </a:xfrm>
          <a:prstGeom prst="rect">
            <a:avLst/>
          </a:prstGeom>
          <a:noFill/>
          <a:ln w="25400" cap="flat" cmpd="sng">
            <a:noFill/>
            <a:prstDash val="solid"/>
            <a:rou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46"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47"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
          <p:cNvSpPr/>
          <p:nvPr/>
        </p:nvSpPr>
        <p:spPr>
          <a:xfrm>
            <a:off x="812800" y="685800"/>
            <a:ext cx="5080000" cy="6477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spcAft>
                <a:spcPts val="1600"/>
              </a:spcAft>
              <a:defRPr/>
            </a:pPr>
            <a:r>
              <a:rPr lang="en-US" sz="3000" b="0" i="0" u="none" strike="noStrike">
                <a:solidFill>
                  <a:srgbClr val="000000"/>
                </a:solidFill>
                <a:latin typeface="Geist ExtraBold"/>
                <a:ea typeface="Geist ExtraBold"/>
                <a:cs typeface="Geist ExtraBold"/>
                <a:sym typeface="Geist ExtraBold"/>
              </a:rPr>
              <a:t>Sekventiel Eksekvering</a:t>
            </a:r>
            <a:endParaRPr lang="en-US" sz="1100"/>
          </a:p>
        </p:txBody>
      </p:sp>
      <p:pic>
        <p:nvPicPr>
          <p:cNvPr id="49" name="Picture 5"/>
          <p:cNvPicPr>
            <a:picLocks noChangeAspect="1"/>
          </p:cNvPicPr>
          <p:nvPr/>
        </p:nvPicPr>
        <p:blipFill>
          <a:blip r:embed="rId4"/>
          <a:srcRect/>
          <a:stretch>
            <a:fillRect/>
          </a:stretch>
        </p:blipFill>
        <p:spPr>
          <a:xfrm>
            <a:off x="508000" y="825500"/>
            <a:ext cx="317500" cy="368300"/>
          </a:xfrm>
          <a:prstGeom prst="rect">
            <a:avLst/>
          </a:prstGeom>
          <a:noFill/>
          <a:ln w="25400" cap="flat" cmpd="sng">
            <a:noFill/>
            <a:prstDash val="solid"/>
            <a:round/>
          </a:ln>
        </p:spPr>
      </p:pic>
      <p:sp>
        <p:nvSpPr>
          <p:cNvPr id="50" name="AutoShape 6"/>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7"/>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52" name="AutoShape 8"/>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53" name="AutoShape 9"/>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54" name="AutoShape 10"/>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CSP '24-25</a:t>
            </a:r>
            <a:r>
              <a:rPr lang="en-US" sz="1300" b="0" i="0" u="none" strike="noStrike">
                <a:solidFill>
                  <a:srgbClr val="FFFFFF"/>
                </a:solidFill>
                <a:latin typeface="Geist"/>
                <a:ea typeface="Geist"/>
                <a:cs typeface="Geist"/>
                <a:sym typeface="Geist"/>
              </a:rPr>
              <a:t>Algoritmer – Grundlæggende Kontrol</a:t>
            </a:r>
            <a:endParaRPr lang="en-US" sz="1100"/>
          </a:p>
        </p:txBody>
      </p:sp>
      <p:sp>
        <p:nvSpPr>
          <p:cNvPr id="55" name="AutoShape 11"/>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12"/>
          <p:cNvSpPr/>
          <p:nvPr/>
        </p:nvSpPr>
        <p:spPr>
          <a:xfrm>
            <a:off x="495300" y="1473200"/>
            <a:ext cx="7759700" cy="29210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defRPr/>
            </a:pPr>
            <a:r>
              <a:rPr lang="en-US" sz="2000" b="1" i="0" u="none" strike="noStrike" err="1">
                <a:solidFill>
                  <a:srgbClr val="6A62D9"/>
                </a:solidFill>
                <a:latin typeface="Geist"/>
                <a:ea typeface="Geist"/>
                <a:cs typeface="Geist"/>
                <a:sym typeface="Geist"/>
              </a:rPr>
              <a:t>Hvad</a:t>
            </a:r>
            <a:r>
              <a:rPr lang="en-US" sz="2000" b="1" i="0" u="none" strike="noStrike">
                <a:solidFill>
                  <a:srgbClr val="6A62D9"/>
                </a:solidFill>
                <a:latin typeface="Geist"/>
                <a:ea typeface="Geist"/>
                <a:cs typeface="Geist"/>
                <a:sym typeface="Geist"/>
              </a:rPr>
              <a:t> er </a:t>
            </a:r>
            <a:r>
              <a:rPr lang="en-US" sz="2000" b="1" i="0" u="none" strike="noStrike" err="1">
                <a:solidFill>
                  <a:srgbClr val="6A62D9"/>
                </a:solidFill>
                <a:latin typeface="Geist"/>
                <a:ea typeface="Geist"/>
                <a:cs typeface="Geist"/>
                <a:sym typeface="Geist"/>
              </a:rPr>
              <a:t>sekventiel</a:t>
            </a:r>
            <a:r>
              <a:rPr lang="en-US" sz="2000" b="1" i="0" u="none" strike="noStrike">
                <a:solidFill>
                  <a:srgbClr val="6A62D9"/>
                </a:solidFill>
                <a:latin typeface="Geist"/>
                <a:ea typeface="Geist"/>
                <a:cs typeface="Geist"/>
                <a:sym typeface="Geist"/>
              </a:rPr>
              <a:t> </a:t>
            </a:r>
            <a:r>
              <a:rPr lang="en-US" sz="2000" b="1" i="0" u="none" strike="noStrike" err="1">
                <a:solidFill>
                  <a:srgbClr val="6A62D9"/>
                </a:solidFill>
                <a:latin typeface="Geist"/>
                <a:ea typeface="Geist"/>
                <a:cs typeface="Geist"/>
                <a:sym typeface="Geist"/>
              </a:rPr>
              <a:t>eksekvering</a:t>
            </a:r>
            <a:r>
              <a:rPr lang="en-US" sz="2000" b="1" i="0" u="none" strike="noStrike">
                <a:solidFill>
                  <a:srgbClr val="6A62D9"/>
                </a:solidFill>
                <a:latin typeface="Geist"/>
                <a:ea typeface="Geist"/>
                <a:cs typeface="Geist"/>
                <a:sym typeface="Geist"/>
              </a:rPr>
              <a:t>?</a:t>
            </a:r>
            <a:endParaRPr lang="en-US" sz="1100"/>
          </a:p>
          <a:p>
            <a:pPr marL="0" indent="0" algn="l">
              <a:lnSpc>
                <a:spcPct val="116666"/>
              </a:lnSpc>
              <a:spcBef>
                <a:spcPts val="1200"/>
              </a:spcBef>
            </a:pPr>
            <a:r>
              <a:rPr lang="en-US" sz="1600" b="0" i="0" u="none" strike="noStrike">
                <a:solidFill>
                  <a:srgbClr val="374151"/>
                </a:solidFill>
                <a:latin typeface="Noto Sans SC"/>
                <a:ea typeface="Noto Sans SC"/>
                <a:cs typeface="Noto Sans SC"/>
                <a:sym typeface="Noto Sans SC"/>
              </a:rPr>
              <a:t>Det er den </a:t>
            </a:r>
            <a:r>
              <a:rPr lang="en-US" sz="1600" b="0" i="0" u="none" strike="noStrike" err="1">
                <a:solidFill>
                  <a:srgbClr val="374151"/>
                </a:solidFill>
                <a:latin typeface="Noto Sans SC"/>
                <a:ea typeface="Noto Sans SC"/>
                <a:cs typeface="Noto Sans SC"/>
                <a:sym typeface="Noto Sans SC"/>
              </a:rPr>
              <a:t>mest</a:t>
            </a:r>
            <a:r>
              <a:rPr lang="en-US" sz="1600" b="0" i="0" u="none" strike="noStrike">
                <a:solidFill>
                  <a:srgbClr val="374151"/>
                </a:solidFill>
                <a:latin typeface="Noto Sans SC"/>
                <a:ea typeface="Noto Sans SC"/>
                <a:cs typeface="Noto Sans SC"/>
                <a:sym typeface="Noto Sans SC"/>
              </a:rPr>
              <a:t> simple form for </a:t>
            </a:r>
            <a:r>
              <a:rPr lang="en-US" sz="1600" b="0" i="0" u="none" strike="noStrike" err="1">
                <a:solidFill>
                  <a:srgbClr val="374151"/>
                </a:solidFill>
                <a:latin typeface="Noto Sans SC"/>
                <a:ea typeface="Noto Sans SC"/>
                <a:cs typeface="Noto Sans SC"/>
                <a:sym typeface="Noto Sans SC"/>
              </a:rPr>
              <a:t>kontrol</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i</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algoritmer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hvor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delalgoritmerne</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udføres</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nøjagtig</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i</a:t>
            </a:r>
            <a:r>
              <a:rPr lang="en-US" sz="1600" b="0" i="0" u="none" strike="noStrike">
                <a:solidFill>
                  <a:srgbClr val="374151"/>
                </a:solidFill>
                <a:latin typeface="Noto Sans SC"/>
                <a:ea typeface="Noto Sans SC"/>
                <a:cs typeface="Noto Sans SC"/>
                <a:sym typeface="Noto Sans SC"/>
              </a:rPr>
              <a:t> den </a:t>
            </a:r>
            <a:r>
              <a:rPr lang="en-US" sz="1600" b="0" i="0" u="none" strike="noStrike" err="1">
                <a:solidFill>
                  <a:srgbClr val="374151"/>
                </a:solidFill>
                <a:latin typeface="Noto Sans SC"/>
                <a:ea typeface="Noto Sans SC"/>
                <a:cs typeface="Noto Sans SC"/>
                <a:sym typeface="Noto Sans SC"/>
              </a:rPr>
              <a:t>rækkefølge</a:t>
            </a:r>
            <a:r>
              <a:rPr lang="en-US" sz="1600" b="0" i="0" u="none" strike="noStrike">
                <a:solidFill>
                  <a:srgbClr val="374151"/>
                </a:solidFill>
                <a:latin typeface="Noto Sans SC"/>
                <a:ea typeface="Noto Sans SC"/>
                <a:cs typeface="Noto Sans SC"/>
                <a:sym typeface="Noto Sans SC"/>
              </a:rPr>
              <a:t> de er </a:t>
            </a:r>
            <a:r>
              <a:rPr lang="en-US" sz="1600" b="0" i="0" u="none" strike="noStrike" err="1">
                <a:solidFill>
                  <a:srgbClr val="374151"/>
                </a:solidFill>
                <a:latin typeface="Noto Sans SC"/>
                <a:ea typeface="Noto Sans SC"/>
                <a:cs typeface="Noto Sans SC"/>
                <a:sym typeface="Noto Sans SC"/>
              </a:rPr>
              <a:t>skrevet</a:t>
            </a:r>
            <a:r>
              <a:rPr lang="en-US" sz="1600" b="0" i="0" u="none" strike="noStrike">
                <a:solidFill>
                  <a:srgbClr val="374151"/>
                </a:solidFill>
                <a:latin typeface="Noto Sans SC"/>
                <a:ea typeface="Noto Sans SC"/>
                <a:cs typeface="Noto Sans SC"/>
                <a:sym typeface="Noto Sans SC"/>
              </a:rPr>
              <a:t> – </a:t>
            </a:r>
            <a:r>
              <a:rPr lang="en-US" sz="1600" b="0" i="0" u="none" strike="noStrike" err="1">
                <a:solidFill>
                  <a:srgbClr val="374151"/>
                </a:solidFill>
                <a:latin typeface="Noto Sans SC"/>
                <a:ea typeface="Noto Sans SC"/>
                <a:cs typeface="Noto Sans SC"/>
                <a:sym typeface="Noto Sans SC"/>
              </a:rPr>
              <a:t>som</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perler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på</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en</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snor</a:t>
            </a:r>
            <a:r>
              <a:rPr lang="en-US" sz="1600" b="0" i="0" u="none" strike="noStrike">
                <a:solidFill>
                  <a:srgbClr val="374151"/>
                </a:solidFill>
                <a:latin typeface="Noto Sans SC"/>
                <a:ea typeface="Noto Sans SC"/>
                <a:cs typeface="Noto Sans SC"/>
                <a:sym typeface="Noto Sans SC"/>
              </a:rPr>
              <a:t>”. Der er </a:t>
            </a:r>
            <a:r>
              <a:rPr lang="en-US" sz="1600" b="0" i="0" u="none" strike="noStrike" err="1">
                <a:solidFill>
                  <a:srgbClr val="374151"/>
                </a:solidFill>
                <a:latin typeface="Noto Sans SC"/>
                <a:ea typeface="Noto Sans SC"/>
                <a:cs typeface="Noto Sans SC"/>
                <a:sym typeface="Noto Sans SC"/>
              </a:rPr>
              <a:t>ingen</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afgørelser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eller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gentagelser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programmet</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løber</a:t>
            </a:r>
            <a:r>
              <a:rPr lang="en-US" sz="1600" b="0" i="0" u="none" strike="noStrike">
                <a:solidFill>
                  <a:srgbClr val="374151"/>
                </a:solidFill>
                <a:latin typeface="Noto Sans SC"/>
                <a:ea typeface="Noto Sans SC"/>
                <a:cs typeface="Noto Sans SC"/>
                <a:sym typeface="Noto Sans SC"/>
              </a:rPr>
              <a:t> bare </a:t>
            </a:r>
            <a:r>
              <a:rPr lang="en-US" sz="1600" b="0" i="0" u="none" strike="noStrike" err="1">
                <a:solidFill>
                  <a:srgbClr val="374151"/>
                </a:solidFill>
                <a:latin typeface="Noto Sans SC"/>
                <a:ea typeface="Noto Sans SC"/>
                <a:cs typeface="Noto Sans SC"/>
                <a:sym typeface="Noto Sans SC"/>
              </a:rPr>
              <a:t>fra</a:t>
            </a:r>
            <a:r>
              <a:rPr lang="en-US" sz="1600" b="0" i="0" u="none" strike="noStrike">
                <a:solidFill>
                  <a:srgbClr val="374151"/>
                </a:solidFill>
                <a:latin typeface="Noto Sans SC"/>
                <a:ea typeface="Noto Sans SC"/>
                <a:cs typeface="Noto Sans SC"/>
                <a:sym typeface="Noto Sans SC"/>
              </a:rPr>
              <a:t> start </a:t>
            </a:r>
            <a:r>
              <a:rPr lang="en-US" sz="1600" b="0" i="0" u="none" strike="noStrike" err="1">
                <a:solidFill>
                  <a:srgbClr val="374151"/>
                </a:solidFill>
                <a:latin typeface="Noto Sans SC"/>
                <a:ea typeface="Noto Sans SC"/>
                <a:cs typeface="Noto Sans SC"/>
                <a:sym typeface="Noto Sans SC"/>
              </a:rPr>
              <a:t>til</a:t>
            </a:r>
            <a:r>
              <a:rPr lang="en-US" sz="1600" b="0" i="0" u="none" strike="noStrike">
                <a:solidFill>
                  <a:srgbClr val="374151"/>
                </a:solidFill>
                <a:latin typeface="Noto Sans SC"/>
                <a:ea typeface="Noto Sans SC"/>
                <a:cs typeface="Noto Sans SC"/>
                <a:sym typeface="Noto Sans SC"/>
              </a:rPr>
              <a:t> slut </a:t>
            </a:r>
            <a:r>
              <a:rPr lang="en-US" sz="1600" b="0" i="0" u="none" strike="noStrike" err="1">
                <a:solidFill>
                  <a:srgbClr val="374151"/>
                </a:solidFill>
                <a:latin typeface="Noto Sans SC"/>
                <a:ea typeface="Noto Sans SC"/>
                <a:cs typeface="Noto Sans SC"/>
                <a:sym typeface="Noto Sans SC"/>
              </a:rPr>
              <a:t>i</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en</a:t>
            </a:r>
            <a:r>
              <a:rPr lang="en-US" sz="1600" b="0" i="0" u="none" strike="noStrike">
                <a:solidFill>
                  <a:srgbClr val="374151"/>
                </a:solidFill>
                <a:latin typeface="Noto Sans SC"/>
                <a:ea typeface="Noto Sans SC"/>
                <a:cs typeface="Noto Sans SC"/>
                <a:sym typeface="Noto Sans SC"/>
              </a:rPr>
              <a:t> ret </a:t>
            </a:r>
            <a:r>
              <a:rPr lang="en-US" sz="1600" b="0" i="0" u="none" strike="noStrike" err="1">
                <a:solidFill>
                  <a:srgbClr val="374151"/>
                </a:solidFill>
                <a:latin typeface="Noto Sans SC"/>
                <a:ea typeface="Noto Sans SC"/>
                <a:cs typeface="Noto Sans SC"/>
                <a:sym typeface="Noto Sans SC"/>
              </a:rPr>
              <a:t>linje</a:t>
            </a:r>
            <a:r>
              <a:rPr lang="en-US" sz="1600" b="0" i="0" u="none" strike="noStrike">
                <a:solidFill>
                  <a:srgbClr val="374151"/>
                </a:solidFill>
                <a:latin typeface="Noto Sans SC"/>
                <a:ea typeface="Noto Sans SC"/>
                <a:cs typeface="Noto Sans SC"/>
                <a:sym typeface="Noto Sans SC"/>
              </a:rPr>
              <a:t>.</a:t>
            </a:r>
            <a:endParaRPr/>
          </a:p>
          <a:p>
            <a:pPr marL="0" indent="0" algn="l">
              <a:lnSpc>
                <a:spcPct val="116666"/>
              </a:lnSpc>
              <a:spcBef>
                <a:spcPts val="1200"/>
              </a:spcBef>
            </a:pPr>
            <a:endParaRPr lang="en-US" sz="1600" b="0" i="0" u="none" strike="noStrike">
              <a:solidFill>
                <a:srgbClr val="374151"/>
              </a:solidFill>
              <a:latin typeface="Noto Sans SC"/>
              <a:ea typeface="Noto Sans SC"/>
              <a:cs typeface="Noto Sans SC"/>
              <a:sym typeface="Noto Sans SC"/>
            </a:endParaRPr>
          </a:p>
        </p:txBody>
      </p:sp>
      <p:pic>
        <p:nvPicPr>
          <p:cNvPr id="57" name="Picture 15"/>
          <p:cNvPicPr>
            <a:picLocks noChangeAspect="1"/>
          </p:cNvPicPr>
          <p:nvPr/>
        </p:nvPicPr>
        <p:blipFill>
          <a:blip r:embed="rId5"/>
          <a:srcRect/>
          <a:stretch>
            <a:fillRect/>
          </a:stretch>
        </p:blipFill>
        <p:spPr>
          <a:xfrm>
            <a:off x="1371600" y="3200400"/>
            <a:ext cx="622300" cy="1917700"/>
          </a:xfrm>
          <a:prstGeom prst="rect">
            <a:avLst/>
          </a:prstGeom>
          <a:noFill/>
          <a:ln w="25400" cap="flat" cmpd="sng">
            <a:noFill/>
            <a:prstDash val="solid"/>
            <a:rou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59"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60"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3"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4"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5"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Valg (If-Struktur)</a:t>
            </a:r>
            <a:r>
              <a:rPr lang="en-US" sz="1300" b="0" i="0" u="none" strike="noStrike">
                <a:solidFill>
                  <a:srgbClr val="FFFFFF"/>
                </a:solidFill>
                <a:latin typeface="Geist"/>
                <a:ea typeface="Geist"/>
                <a:cs typeface="Geist"/>
                <a:sym typeface="Geist"/>
              </a:rPr>
              <a:t>| Algoritmekontrolstrukturer</a:t>
            </a:r>
            <a:endParaRPr lang="en-US" sz="1100"/>
          </a:p>
        </p:txBody>
      </p:sp>
      <p:sp>
        <p:nvSpPr>
          <p:cNvPr id="66" name="AutoShape 9"/>
          <p:cNvSpPr/>
          <p:nvPr/>
        </p:nvSpPr>
        <p:spPr>
          <a:xfrm>
            <a:off x="457200" y="419100"/>
            <a:ext cx="8001000" cy="1333500"/>
          </a:xfrm>
          <a:prstGeom prst="rect">
            <a:avLst/>
          </a:prstGeom>
          <a:noFill/>
          <a:ln w="9525" cap="flat" cmpd="sng">
            <a:noFill/>
            <a:prstDash val="solid"/>
            <a:round/>
          </a:ln>
        </p:spPr>
        <p:txBody>
          <a:bodyPr vert="horz" wrap="square" lIns="88900" tIns="88900" rIns="88900" bIns="88900" rtlCol="0" anchor="t" anchorCtr="0"/>
          <a:lstStyle/>
          <a:p>
            <a:pPr>
              <a:lnSpc>
                <a:spcPct val="108333"/>
              </a:lnSpc>
              <a:defRPr/>
            </a:pPr>
            <a:r>
              <a:rPr lang="en-US" sz="1500" b="1" i="0" u="none" strike="noStrike" err="1">
                <a:solidFill>
                  <a:srgbClr val="6A62D9"/>
                </a:solidFill>
                <a:latin typeface="Noto Sans SC"/>
                <a:ea typeface="Noto Sans SC"/>
                <a:cs typeface="Noto Sans SC"/>
                <a:sym typeface="Noto Sans SC"/>
              </a:rPr>
              <a:t>Hvad</a:t>
            </a:r>
            <a:r>
              <a:rPr lang="en-US" sz="1500" b="1" i="0" u="none" strike="noStrike">
                <a:solidFill>
                  <a:srgbClr val="6A62D9"/>
                </a:solidFill>
                <a:latin typeface="Noto Sans SC"/>
                <a:ea typeface="Noto Sans SC"/>
                <a:cs typeface="Noto Sans SC"/>
                <a:sym typeface="Noto Sans SC"/>
              </a:rPr>
              <a:t> er</a:t>
            </a:r>
            <a:r>
              <a:rPr lang="en-US" sz="1500" b="1">
                <a:solidFill>
                  <a:srgbClr val="6A62D9"/>
                </a:solidFill>
                <a:latin typeface="Noto Sans SC"/>
                <a:ea typeface="Noto Sans SC"/>
                <a:cs typeface="Noto Sans SC"/>
                <a:sym typeface="Noto Sans SC"/>
              </a:rPr>
              <a:t> </a:t>
            </a:r>
            <a:r>
              <a:rPr lang="en-US" sz="1500" b="1" i="0" u="none" strike="noStrike">
                <a:solidFill>
                  <a:srgbClr val="6A62D9"/>
                </a:solidFill>
                <a:latin typeface="Noto Sans SC"/>
                <a:ea typeface="Noto Sans SC"/>
                <a:cs typeface="Noto Sans SC"/>
                <a:sym typeface="Noto Sans SC"/>
              </a:rPr>
              <a:t> (Selection)?</a:t>
            </a:r>
            <a:endParaRPr lang="en-US" sz="1100"/>
          </a:p>
          <a:p>
            <a:pPr marL="0" indent="0" algn="l">
              <a:lnSpc>
                <a:spcPct val="108333"/>
              </a:lnSpc>
            </a:pPr>
            <a:r>
              <a:rPr lang="en-US" sz="1400" b="0" i="0" u="none" strike="noStrike" err="1">
                <a:solidFill>
                  <a:srgbClr val="1F2329"/>
                </a:solidFill>
                <a:latin typeface="Noto Sans SC"/>
                <a:ea typeface="Noto Sans SC"/>
                <a:cs typeface="Noto Sans SC"/>
                <a:sym typeface="Noto Sans SC"/>
              </a:rPr>
              <a:t>Valg</a:t>
            </a:r>
            <a:r>
              <a:rPr lang="en-US" sz="1400" b="0" i="0" u="none" strike="noStrike">
                <a:solidFill>
                  <a:srgbClr val="1F2329"/>
                </a:solidFill>
                <a:latin typeface="Noto Sans SC"/>
                <a:ea typeface="Noto Sans SC"/>
                <a:cs typeface="Noto Sans SC"/>
                <a:sym typeface="Noto Sans SC"/>
              </a:rPr>
              <a:t> er </a:t>
            </a:r>
            <a:r>
              <a:rPr lang="en-US" sz="1400" b="0" i="0" u="none" strike="noStrike" err="1">
                <a:solidFill>
                  <a:srgbClr val="1F2329"/>
                </a:solidFill>
                <a:latin typeface="Noto Sans SC"/>
                <a:ea typeface="Noto Sans SC"/>
                <a:cs typeface="Noto Sans SC"/>
                <a:sym typeface="Noto Sans SC"/>
              </a:rPr>
              <a:t>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af</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tre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grundlæggende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kontrolstrukturer</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i</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algoritmer</a:t>
            </a:r>
            <a:r>
              <a:rPr lang="en-US" sz="1400" b="0" i="0" u="none" strike="noStrike">
                <a:solidFill>
                  <a:srgbClr val="1F2329"/>
                </a:solidFill>
                <a:latin typeface="Noto Sans SC"/>
                <a:ea typeface="Noto Sans SC"/>
                <a:cs typeface="Noto Sans SC"/>
                <a:sym typeface="Noto Sans SC"/>
              </a:rPr>
              <a:t>. Den </a:t>
            </a:r>
            <a:r>
              <a:rPr lang="en-US" sz="1400" b="0" i="0" u="none" strike="noStrike" err="1">
                <a:solidFill>
                  <a:srgbClr val="1F2329"/>
                </a:solidFill>
                <a:latin typeface="Noto Sans SC"/>
                <a:ea typeface="Noto Sans SC"/>
                <a:cs typeface="Noto Sans SC"/>
                <a:sym typeface="Noto Sans SC"/>
              </a:rPr>
              <a:t>gør</a:t>
            </a:r>
            <a:r>
              <a:rPr lang="en-US" sz="1400" b="0" i="0" u="none" strike="noStrike">
                <a:solidFill>
                  <a:srgbClr val="1F2329"/>
                </a:solidFill>
                <a:latin typeface="Noto Sans SC"/>
                <a:ea typeface="Noto Sans SC"/>
                <a:cs typeface="Noto Sans SC"/>
                <a:sym typeface="Noto Sans SC"/>
              </a:rPr>
              <a:t> det </a:t>
            </a:r>
            <a:r>
              <a:rPr lang="en-US" sz="1400" b="0" i="0" u="none" strike="noStrike" err="1">
                <a:solidFill>
                  <a:srgbClr val="1F2329"/>
                </a:solidFill>
                <a:latin typeface="Noto Sans SC"/>
                <a:ea typeface="Noto Sans SC"/>
                <a:cs typeface="Noto Sans SC"/>
                <a:sym typeface="Noto Sans SC"/>
              </a:rPr>
              <a:t>muligt</a:t>
            </a:r>
            <a:r>
              <a:rPr lang="en-US" sz="1400" b="0" i="0" u="none" strike="noStrike">
                <a:solidFill>
                  <a:srgbClr val="1F2329"/>
                </a:solidFill>
                <a:latin typeface="Noto Sans SC"/>
                <a:ea typeface="Noto Sans SC"/>
                <a:cs typeface="Noto Sans SC"/>
                <a:sym typeface="Noto Sans SC"/>
              </a:rPr>
              <a:t> at </a:t>
            </a:r>
            <a:r>
              <a:rPr lang="en-US" sz="1400" b="0" i="0" u="none" strike="noStrike" err="1">
                <a:solidFill>
                  <a:srgbClr val="1F2329"/>
                </a:solidFill>
                <a:latin typeface="Noto Sans SC"/>
                <a:ea typeface="Noto Sans SC"/>
                <a:cs typeface="Noto Sans SC"/>
                <a:sym typeface="Noto Sans SC"/>
              </a:rPr>
              <a:t>tage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forskellige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veje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i</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udførelsen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af</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algoritmen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baseret</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på</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logisk</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betingelse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enten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sandt</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eller</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falsk</a:t>
            </a:r>
            <a:r>
              <a:rPr lang="en-US" sz="1400" b="0" i="0" u="none" strike="noStrike">
                <a:solidFill>
                  <a:srgbClr val="1F2329"/>
                </a:solidFill>
                <a:latin typeface="Noto Sans SC"/>
                <a:ea typeface="Noto Sans SC"/>
                <a:cs typeface="Noto Sans SC"/>
                <a:sym typeface="Noto Sans SC"/>
              </a:rPr>
              <a:t>). Uden </a:t>
            </a:r>
            <a:r>
              <a:rPr lang="en-US" sz="1400" b="0" i="0" u="none" strike="noStrike" err="1">
                <a:solidFill>
                  <a:srgbClr val="1F2329"/>
                </a:solidFill>
                <a:latin typeface="Noto Sans SC"/>
                <a:ea typeface="Noto Sans SC"/>
                <a:cs typeface="Noto Sans SC"/>
                <a:sym typeface="Noto Sans SC"/>
              </a:rPr>
              <a:t>valg</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ville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algoritmer</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kun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kunne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køre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i</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en</a:t>
            </a:r>
            <a:r>
              <a:rPr lang="en-US" sz="1400" b="0" i="0" u="none" strike="noStrike">
                <a:solidFill>
                  <a:srgbClr val="1F2329"/>
                </a:solidFill>
                <a:latin typeface="Noto Sans SC"/>
                <a:ea typeface="Noto Sans SC"/>
                <a:cs typeface="Noto Sans SC"/>
                <a:sym typeface="Noto Sans SC"/>
              </a:rPr>
              <a:t> fast, </a:t>
            </a:r>
            <a:r>
              <a:rPr lang="en-US" sz="1400" b="0" i="0" u="none" strike="noStrike" err="1">
                <a:solidFill>
                  <a:srgbClr val="1F2329"/>
                </a:solidFill>
                <a:latin typeface="Noto Sans SC"/>
                <a:ea typeface="Noto Sans SC"/>
                <a:cs typeface="Noto Sans SC"/>
                <a:sym typeface="Noto Sans SC"/>
              </a:rPr>
              <a:t>forudbestemt</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rækkefølge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uden</a:t>
            </a:r>
            <a:r>
              <a:rPr lang="en-US" sz="1400" b="0" i="0" u="none" strike="noStrike">
                <a:solidFill>
                  <a:srgbClr val="1F2329"/>
                </a:solidFill>
                <a:latin typeface="Noto Sans SC"/>
                <a:ea typeface="Noto Sans SC"/>
                <a:cs typeface="Noto Sans SC"/>
                <a:sym typeface="Noto Sans SC"/>
              </a:rPr>
              <a:t> at </a:t>
            </a:r>
            <a:r>
              <a:rPr lang="en-US" sz="1400" b="0" i="0" u="none" strike="noStrike" err="1">
                <a:solidFill>
                  <a:srgbClr val="1F2329"/>
                </a:solidFill>
                <a:latin typeface="Noto Sans SC"/>
                <a:ea typeface="Noto Sans SC"/>
                <a:cs typeface="Noto Sans SC"/>
                <a:sym typeface="Noto Sans SC"/>
              </a:rPr>
              <a:t>reagere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på</a:t>
            </a:r>
            <a:r>
              <a:rPr lang="en-US" sz="1400" b="0" i="0" u="none" strike="noStrike">
                <a:solidFill>
                  <a:srgbClr val="1F2329"/>
                </a:solidFill>
                <a:latin typeface="Noto Sans SC"/>
                <a:ea typeface="Noto Sans SC"/>
                <a:cs typeface="Noto Sans SC"/>
                <a:sym typeface="Noto Sans SC"/>
              </a:rPr>
              <a:t> input </a:t>
            </a:r>
            <a:r>
              <a:rPr lang="en-US" sz="1400" b="0" i="0" u="none" strike="noStrike" err="1">
                <a:solidFill>
                  <a:srgbClr val="1F2329"/>
                </a:solidFill>
                <a:latin typeface="Noto Sans SC"/>
                <a:ea typeface="Noto Sans SC"/>
                <a:cs typeface="Noto Sans SC"/>
                <a:sym typeface="Noto Sans SC"/>
              </a:rPr>
              <a:t>eller</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ændringer</a:t>
            </a:r>
            <a:r>
              <a:rPr lang="en-US" sz="1400" b="0" i="0" u="none" strike="noStrike">
                <a:solidFill>
                  <a:srgbClr val="1F2329"/>
                </a:solidFill>
                <a:latin typeface="Noto Sans SC"/>
                <a:ea typeface="Noto Sans SC"/>
                <a:cs typeface="Noto Sans SC"/>
                <a:sym typeface="Noto Sans SC"/>
              </a:rPr>
              <a:t>.</a:t>
            </a:r>
            <a:endParaRPr lang="en-US" sz="1400" b="0" i="0" u="none" strike="noStrike">
              <a:solidFill>
                <a:srgbClr val="1F2329"/>
              </a:solidFill>
              <a:latin typeface="Noto Sans SC"/>
              <a:ea typeface="Noto Sans SC"/>
              <a:cs typeface="Noto Sans SC"/>
            </a:endParaRPr>
          </a:p>
        </p:txBody>
      </p:sp>
      <p:pic>
        <p:nvPicPr>
          <p:cNvPr id="67" name="Picture 13"/>
          <p:cNvPicPr>
            <a:picLocks noChangeAspect="1"/>
          </p:cNvPicPr>
          <p:nvPr/>
        </p:nvPicPr>
        <p:blipFill>
          <a:blip r:embed="rId4"/>
          <a:srcRect/>
          <a:stretch>
            <a:fillRect/>
          </a:stretch>
        </p:blipFill>
        <p:spPr>
          <a:xfrm>
            <a:off x="1695450" y="2453152"/>
            <a:ext cx="3803650" cy="2156948"/>
          </a:xfrm>
          <a:prstGeom prst="rect">
            <a:avLst/>
          </a:prstGeom>
          <a:noFill/>
          <a:ln w="25400" cap="flat" cmpd="sng">
            <a:noFill/>
            <a:prstDash val="solid"/>
            <a:rou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69"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70"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1"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2"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3"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4"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5"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Gentagelse</a:t>
            </a:r>
            <a:r>
              <a:rPr lang="en-US" sz="1300" b="0" i="0" u="none" strike="noStrike">
                <a:solidFill>
                  <a:srgbClr val="FFFFFF"/>
                </a:solidFill>
                <a:latin typeface="Geist"/>
                <a:ea typeface="Geist"/>
                <a:cs typeface="Geist"/>
                <a:sym typeface="Geist"/>
              </a:rPr>
              <a:t>– While-Struktur &amp; Algoritmer</a:t>
            </a:r>
            <a:endParaRPr lang="en-US" sz="1100"/>
          </a:p>
        </p:txBody>
      </p:sp>
      <p:sp>
        <p:nvSpPr>
          <p:cNvPr id="76" name="AutoShape 9"/>
          <p:cNvSpPr/>
          <p:nvPr/>
        </p:nvSpPr>
        <p:spPr>
          <a:xfrm>
            <a:off x="457200" y="419100"/>
            <a:ext cx="8001000" cy="13335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0000"/>
              </a:lnSpc>
              <a:defRPr/>
            </a:pPr>
            <a:r>
              <a:rPr lang="en-US" sz="1400" b="1" i="0" u="none" strike="noStrike">
                <a:solidFill>
                  <a:srgbClr val="000000"/>
                </a:solidFill>
                <a:latin typeface="Geist"/>
                <a:ea typeface="Geist"/>
                <a:cs typeface="Geist"/>
                <a:sym typeface="Geist"/>
              </a:rPr>
              <a:t>Hvad er en While-Løkke?</a:t>
            </a:r>
            <a:endParaRPr lang="en-US" sz="1100"/>
          </a:p>
          <a:p>
            <a:pPr marL="0" indent="0" algn="l">
              <a:lnSpc>
                <a:spcPct val="100000"/>
              </a:lnSpc>
            </a:pPr>
            <a:r>
              <a:rPr lang="en-US" sz="1400" b="0" i="0" u="none" strike="noStrike">
                <a:solidFill>
                  <a:srgbClr val="000000"/>
                </a:solidFill>
                <a:latin typeface="Geist"/>
                <a:ea typeface="Geist"/>
                <a:cs typeface="Geist"/>
                <a:sym typeface="Geist"/>
              </a:rPr>
              <a:t>Den tredje grundlæggende kontrolstruktur i algoritmer, brugt til at gentage en sekvens af handlinger *så længe* en logisk betingelse er sand. Den sikrer, at du ikke skal skrive den samme kode manuelt mange gange.</a:t>
            </a:r>
            <a:endParaRPr/>
          </a:p>
          <a:p>
            <a:pPr marL="0" indent="0" algn="l">
              <a:lnSpc>
                <a:spcPct val="100000"/>
              </a:lnSpc>
            </a:pPr>
            <a:r>
              <a:rPr lang="en-US" sz="1400" b="0" i="0" u="none" strike="noStrike">
                <a:solidFill>
                  <a:srgbClr val="000000"/>
                </a:solidFill>
                <a:latin typeface="Geist"/>
                <a:ea typeface="Geist"/>
                <a:cs typeface="Geist"/>
                <a:sym typeface="Geist"/>
              </a:rPr>
              <a:t>Betingelsen tjekkes FØR hver gentagelse – hvis den er falsk fra start, kører koden i løkken aldrig. Dette kaldes en "præ-testet løkke".</a:t>
            </a:r>
            <a:endParaRPr/>
          </a:p>
        </p:txBody>
      </p:sp>
      <p:sp>
        <p:nvSpPr>
          <p:cNvPr id="77" name="AutoShape 12"/>
          <p:cNvSpPr/>
          <p:nvPr/>
        </p:nvSpPr>
        <p:spPr>
          <a:xfrm>
            <a:off x="1714500" y="2159000"/>
            <a:ext cx="2857500" cy="11430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400" b="1" i="0" u="none" strike="noStrike" err="1">
                <a:solidFill>
                  <a:srgbClr val="6A62D9"/>
                </a:solidFill>
                <a:latin typeface="Geist"/>
                <a:ea typeface="Geist"/>
                <a:cs typeface="Geist"/>
                <a:sym typeface="Geist"/>
              </a:rPr>
              <a:t>Praktisk</a:t>
            </a:r>
            <a:r>
              <a:rPr lang="en-US" sz="1400" b="1" i="0" u="none" strike="noStrike">
                <a:solidFill>
                  <a:srgbClr val="6A62D9"/>
                </a:solidFill>
                <a:latin typeface="Geist"/>
                <a:ea typeface="Geist"/>
                <a:cs typeface="Geist"/>
                <a:sym typeface="Geist"/>
              </a:rPr>
              <a:t> Eksempel</a:t>
            </a:r>
            <a:endParaRPr lang="en-US" sz="1100"/>
          </a:p>
          <a:p>
            <a:pPr marL="0" indent="0" algn="ctr">
              <a:lnSpc>
                <a:spcPct val="100000"/>
              </a:lnSpc>
            </a:pPr>
            <a:r>
              <a:rPr lang="en-US" sz="1300" b="0" i="0" u="none" strike="noStrike">
                <a:solidFill>
                  <a:srgbClr val="374151"/>
                </a:solidFill>
                <a:latin typeface="Geist"/>
                <a:ea typeface="Geist"/>
                <a:cs typeface="Geist"/>
                <a:sym typeface="Geist"/>
              </a:rPr>
              <a:t>SÅ LÆNGE (</a:t>
            </a:r>
            <a:r>
              <a:rPr lang="en-US" sz="1300" b="0" i="0" u="none" strike="noStrike" err="1">
                <a:solidFill>
                  <a:srgbClr val="374151"/>
                </a:solidFill>
                <a:latin typeface="Geist"/>
                <a:ea typeface="Geist"/>
                <a:cs typeface="Geist"/>
                <a:sym typeface="Geist"/>
              </a:rPr>
              <a:t>ild</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brænder</a:t>
            </a:r>
            <a:r>
              <a:rPr lang="en-US" sz="1300" b="0" i="0" u="none" strike="noStrike">
                <a:solidFill>
                  <a:srgbClr val="374151"/>
                </a:solidFill>
                <a:latin typeface="Geist"/>
                <a:ea typeface="Geist"/>
                <a:cs typeface="Geist"/>
                <a:sym typeface="Geist"/>
              </a:rPr>
              <a:t>) GØR</a:t>
            </a:r>
            <a:br>
              <a:rPr lang="en-US" sz="1600" b="0" i="0" u="none" strike="noStrike">
                <a:solidFill>
                  <a:srgbClr val="1F2329"/>
                </a:solidFill>
                <a:latin typeface="Geist"/>
                <a:ea typeface="Geist"/>
                <a:cs typeface="Geist"/>
                <a:sym typeface="Geist"/>
              </a:rPr>
            </a:br>
            <a:r>
              <a:rPr lang="en-US" sz="1300" b="0" i="0" u="none" strike="noStrike">
                <a:solidFill>
                  <a:srgbClr val="374151"/>
                </a:solidFill>
                <a:latin typeface="Geist"/>
                <a:ea typeface="Geist"/>
                <a:cs typeface="Geist"/>
                <a:sym typeface="Geist"/>
              </a:rPr>
              <a:t>→ Smid </a:t>
            </a:r>
            <a:r>
              <a:rPr lang="en-US" sz="1300" b="0" i="0" u="none" strike="noStrike" err="1">
                <a:solidFill>
                  <a:srgbClr val="374151"/>
                </a:solidFill>
                <a:latin typeface="Geist"/>
                <a:ea typeface="Geist"/>
                <a:cs typeface="Geist"/>
                <a:sym typeface="Geist"/>
              </a:rPr>
              <a:t>en</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spand</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vand</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på</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ilden</a:t>
            </a:r>
            <a:br>
              <a:rPr lang="en-US" sz="1600" b="0" i="0" u="none" strike="noStrike">
                <a:solidFill>
                  <a:srgbClr val="1F2329"/>
                </a:solidFill>
                <a:latin typeface="Geist"/>
                <a:ea typeface="Geist"/>
                <a:cs typeface="Geist"/>
                <a:sym typeface="Geist"/>
              </a:rPr>
            </a:br>
            <a:r>
              <a:rPr lang="en-US" sz="1300" b="0" i="0" u="none" strike="noStrike">
                <a:solidFill>
                  <a:srgbClr val="374151"/>
                </a:solidFill>
                <a:latin typeface="Geist"/>
                <a:ea typeface="Geist"/>
                <a:cs typeface="Geist"/>
                <a:sym typeface="Geist"/>
              </a:rPr>
              <a:t>SLUT (</a:t>
            </a:r>
            <a:r>
              <a:rPr lang="en-US" sz="1300" b="0" i="0" u="none" strike="noStrike" err="1">
                <a:solidFill>
                  <a:srgbClr val="374151"/>
                </a:solidFill>
                <a:latin typeface="Geist"/>
                <a:ea typeface="Geist"/>
                <a:cs typeface="Geist"/>
                <a:sym typeface="Geist"/>
              </a:rPr>
              <a:t>når</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ilden</a:t>
            </a:r>
            <a:r>
              <a:rPr lang="en-US" sz="1300" b="0" i="0" u="none" strike="noStrike">
                <a:solidFill>
                  <a:srgbClr val="374151"/>
                </a:solidFill>
                <a:latin typeface="Geist"/>
                <a:ea typeface="Geist"/>
                <a:cs typeface="Geist"/>
                <a:sym typeface="Geist"/>
              </a:rPr>
              <a:t> er </a:t>
            </a:r>
            <a:r>
              <a:rPr lang="en-US" sz="1300" b="0" i="0" u="none" strike="noStrike" err="1">
                <a:solidFill>
                  <a:srgbClr val="374151"/>
                </a:solidFill>
                <a:latin typeface="Geist"/>
                <a:ea typeface="Geist"/>
                <a:cs typeface="Geist"/>
                <a:sym typeface="Geist"/>
              </a:rPr>
              <a:t>slukket</a:t>
            </a:r>
            <a:r>
              <a:rPr lang="en-US" sz="1300" b="0" i="0" u="none" strike="noStrike">
                <a:solidFill>
                  <a:srgbClr val="374151"/>
                </a:solidFill>
                <a:latin typeface="Geist"/>
                <a:ea typeface="Geist"/>
                <a:cs typeface="Geist"/>
                <a:sym typeface="Geist"/>
              </a:rPr>
              <a:t>)</a:t>
            </a:r>
            <a:endParaRPr/>
          </a:p>
        </p:txBody>
      </p:sp>
      <p:pic>
        <p:nvPicPr>
          <p:cNvPr id="78" name="Picture 14"/>
          <p:cNvPicPr>
            <a:picLocks noChangeAspect="1"/>
          </p:cNvPicPr>
          <p:nvPr/>
        </p:nvPicPr>
        <p:blipFill>
          <a:blip r:embed="rId4"/>
          <a:srcRect/>
          <a:stretch>
            <a:fillRect/>
          </a:stretch>
        </p:blipFill>
        <p:spPr>
          <a:xfrm>
            <a:off x="2444750" y="3251200"/>
            <a:ext cx="1739900" cy="1651000"/>
          </a:xfrm>
          <a:prstGeom prst="rect">
            <a:avLst/>
          </a:prstGeom>
          <a:noFill/>
          <a:ln w="25400" cap="flat" cmpd="sng">
            <a:noFill/>
            <a:prstDash val="solid"/>
            <a:rou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AutoShape 2"/>
          <p:cNvSpPr/>
          <p:nvPr/>
        </p:nvSpPr>
        <p:spPr>
          <a:xfrm>
            <a:off x="508000" y="762000"/>
            <a:ext cx="8128000" cy="889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F2329"/>
                </a:solidFill>
                <a:latin typeface="Noto Sans SC"/>
                <a:ea typeface="Noto Sans SC"/>
                <a:cs typeface="Noto Sans SC"/>
                <a:sym typeface="Noto Sans SC"/>
              </a:rPr>
              <a:t>Øvelse</a:t>
            </a:r>
            <a:endParaRPr lang="en-US" sz="1100"/>
          </a:p>
        </p:txBody>
      </p:sp>
      <p:sp>
        <p:nvSpPr>
          <p:cNvPr id="81" name="AutoShape 3"/>
          <p:cNvSpPr/>
          <p:nvPr/>
        </p:nvSpPr>
        <p:spPr>
          <a:xfrm>
            <a:off x="-12700" y="2120900"/>
            <a:ext cx="9156700" cy="10033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2" name="AutoShape 4"/>
          <p:cNvSpPr/>
          <p:nvPr/>
        </p:nvSpPr>
        <p:spPr>
          <a:xfrm>
            <a:off x="4826000" y="27559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3" name="AutoShape 5"/>
          <p:cNvSpPr/>
          <p:nvPr/>
        </p:nvSpPr>
        <p:spPr>
          <a:xfrm>
            <a:off x="4470400" y="27559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4" name="AutoShape 6"/>
          <p:cNvSpPr/>
          <p:nvPr/>
        </p:nvSpPr>
        <p:spPr>
          <a:xfrm>
            <a:off x="4102100" y="27559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5" name="AutoShape 7"/>
          <p:cNvSpPr/>
          <p:nvPr/>
        </p:nvSpPr>
        <p:spPr>
          <a:xfrm>
            <a:off x="254000" y="2222500"/>
            <a:ext cx="8636000" cy="762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FFFFF"/>
                </a:solidFill>
                <a:latin typeface="Noto Sans SC"/>
                <a:ea typeface="Noto Sans SC"/>
                <a:cs typeface="Noto Sans SC"/>
                <a:sym typeface="Noto Sans SC"/>
              </a:rPr>
              <a:t>Konstruer din egen Algoritme</a:t>
            </a:r>
            <a:endParaRPr lang="en-US" sz="1100"/>
          </a:p>
        </p:txBody>
      </p:sp>
      <p:sp>
        <p:nvSpPr>
          <p:cNvPr id="86" name="AutoShape 8"/>
          <p:cNvSpPr/>
          <p:nvPr/>
        </p:nvSpPr>
        <p:spPr>
          <a:xfrm>
            <a:off x="508000" y="3492500"/>
            <a:ext cx="8128000" cy="1524000"/>
          </a:xfrm>
          <a:prstGeom prst="rect">
            <a:avLst/>
          </a:prstGeom>
          <a:noFill/>
          <a:ln w="9525"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dirty="0" err="1">
                <a:solidFill>
                  <a:srgbClr val="43474E"/>
                </a:solidFill>
                <a:latin typeface="Noto Sans SC"/>
                <a:ea typeface="Noto Sans SC"/>
                <a:cs typeface="Noto Sans SC"/>
                <a:sym typeface="Noto Sans SC"/>
              </a:rPr>
              <a:t>Gør</a:t>
            </a:r>
            <a:r>
              <a:rPr lang="en-US" sz="1500" b="0" i="0" u="none" strike="noStrike" dirty="0">
                <a:solidFill>
                  <a:srgbClr val="43474E"/>
                </a:solidFill>
                <a:latin typeface="Noto Sans SC"/>
                <a:ea typeface="Noto Sans SC"/>
                <a:cs typeface="Noto Sans SC"/>
                <a:sym typeface="Noto Sans SC"/>
              </a:rPr>
              <a:t> det </a:t>
            </a:r>
            <a:r>
              <a:rPr lang="en-US" sz="1500" b="0" i="0" u="none" strike="noStrike" dirty="0" err="1">
                <a:solidFill>
                  <a:srgbClr val="43474E"/>
                </a:solidFill>
                <a:latin typeface="Noto Sans SC"/>
                <a:ea typeface="Noto Sans SC"/>
                <a:cs typeface="Noto Sans SC"/>
                <a:sym typeface="Noto Sans SC"/>
              </a:rPr>
              <a:t>teoretiske</a:t>
            </a:r>
            <a:r>
              <a:rPr lang="en-US" sz="1500" b="0" i="0" u="none" strike="noStrike" dirty="0">
                <a:solidFill>
                  <a:srgbClr val="43474E"/>
                </a:solidFill>
                <a:latin typeface="Noto Sans SC"/>
                <a:ea typeface="Noto Sans SC"/>
                <a:cs typeface="Noto Sans SC"/>
                <a:sym typeface="Noto Sans SC"/>
              </a:rPr>
              <a:t> </a:t>
            </a:r>
            <a:r>
              <a:rPr lang="en-US" sz="1500" b="0" i="0" u="none" strike="noStrike" dirty="0" err="1">
                <a:solidFill>
                  <a:srgbClr val="43474E"/>
                </a:solidFill>
                <a:latin typeface="Noto Sans SC"/>
                <a:ea typeface="Noto Sans SC"/>
                <a:cs typeface="Noto Sans SC"/>
                <a:sym typeface="Noto Sans SC"/>
              </a:rPr>
              <a:t>praktisk</a:t>
            </a:r>
            <a:r>
              <a:rPr lang="en-US" sz="1500" b="0" i="0" u="none" strike="noStrike" dirty="0">
                <a:solidFill>
                  <a:srgbClr val="43474E"/>
                </a:solidFill>
                <a:latin typeface="Noto Sans SC"/>
                <a:ea typeface="Noto Sans SC"/>
                <a:cs typeface="Noto Sans SC"/>
                <a:sym typeface="Noto Sans SC"/>
              </a:rPr>
              <a:t>!  Kode demo _</a:t>
            </a:r>
            <a:endParaRPr dirty="0"/>
          </a:p>
        </p:txBody>
      </p:sp>
      <p:sp>
        <p:nvSpPr>
          <p:cNvPr id="87" name="AutoShape 9"/>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8" name="Picture 10"/>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A62D9">
            <a:alpha val="100000"/>
          </a:srgbClr>
        </a:solidFill>
        <a:effectLst/>
      </p:bgPr>
    </p:bg>
    <p:spTree>
      <p:nvGrpSpPr>
        <p:cNvPr id="1" name=""/>
        <p:cNvGrpSpPr/>
        <p:nvPr/>
      </p:nvGrpSpPr>
      <p:grpSpPr>
        <a:xfrm>
          <a:off x="0" y="0"/>
          <a:ext cx="0" cy="0"/>
          <a:chOff x="0" y="0"/>
          <a:chExt cx="0" cy="0"/>
        </a:xfrm>
      </p:grpSpPr>
      <p:pic>
        <p:nvPicPr>
          <p:cNvPr id="90"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91"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2" name="AutoShape 4"/>
          <p:cNvSpPr/>
          <p:nvPr/>
        </p:nvSpPr>
        <p:spPr>
          <a:xfrm>
            <a:off x="1003300" y="1625600"/>
            <a:ext cx="7137400" cy="2070100"/>
          </a:xfrm>
          <a:prstGeom prst="rect">
            <a:avLst/>
          </a:prstGeom>
          <a:noFill/>
          <a:ln w="9525" cap="flat" cmpd="sng">
            <a:noFill/>
            <a:prstDash val="solid"/>
            <a:round/>
          </a:ln>
        </p:spPr>
        <p:txBody>
          <a:bodyPr vert="horz" wrap="square" lIns="88900" tIns="88900" rIns="88900" bIns="88900" rtlCol="0" anchor="b" anchorCtr="0"/>
          <a:lstStyle/>
          <a:p>
            <a:pPr algn="ctr">
              <a:defRPr/>
            </a:pPr>
            <a:endParaRPr/>
          </a:p>
        </p:txBody>
      </p:sp>
      <p:cxnSp>
        <p:nvCxnSpPr>
          <p:cNvPr id="93" name="Connector 5"/>
          <p:cNvCxnSpPr/>
          <p:nvPr/>
        </p:nvCxnSpPr>
        <p:spPr>
          <a:xfrm>
            <a:off x="3708400" y="3746500"/>
            <a:ext cx="1727247" cy="12700"/>
          </a:xfrm>
          <a:prstGeom prst="straightConnector1">
            <a:avLst/>
          </a:prstGeom>
          <a:solidFill>
            <a:srgbClr val="DEE0E3">
              <a:alpha val="100000"/>
            </a:srgbClr>
          </a:solidFill>
          <a:ln w="38100" cap="flat" cmpd="sng">
            <a:solidFill>
              <a:srgbClr val="000000">
                <a:alpha val="100000"/>
              </a:srgbClr>
            </a:solidFill>
            <a:prstDash val="solid"/>
            <a:round/>
            <a:headEnd type="none" w="med" len="med"/>
            <a:tailEnd type="none" w="med" len="med"/>
          </a:ln>
        </p:spPr>
      </p:cxnSp>
      <p:sp>
        <p:nvSpPr>
          <p:cNvPr id="94" name="AutoShape 6"/>
          <p:cNvSpPr/>
          <p:nvPr/>
        </p:nvSpPr>
        <p:spPr>
          <a:xfrm>
            <a:off x="7962900" y="4775200"/>
            <a:ext cx="1066800" cy="2540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5" name="AutoShape 8"/>
          <p:cNvSpPr/>
          <p:nvPr/>
        </p:nvSpPr>
        <p:spPr>
          <a:xfrm>
            <a:off x="279400" y="1663700"/>
            <a:ext cx="8572500" cy="18288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00000"/>
              </a:lnSpc>
            </a:pPr>
            <a:r>
              <a:rPr lang="en-US" sz="4500" b="1" i="0" u="none" strike="noStrike">
                <a:solidFill>
                  <a:srgbClr val="FFFFFF"/>
                </a:solidFill>
                <a:latin typeface="Geist"/>
                <a:ea typeface="Geist"/>
                <a:cs typeface="Geist"/>
                <a:sym typeface="Geist"/>
              </a:rPr>
              <a:t>Definition </a:t>
            </a:r>
            <a:r>
              <a:rPr lang="en-US" sz="4500" b="1" i="0" u="none" strike="noStrike" err="1">
                <a:solidFill>
                  <a:srgbClr val="FFFFFF"/>
                </a:solidFill>
                <a:latin typeface="Geist"/>
                <a:ea typeface="Geist"/>
                <a:cs typeface="Geist"/>
                <a:sym typeface="Geist"/>
              </a:rPr>
              <a:t>og</a:t>
            </a:r>
            <a:r>
              <a:rPr lang="en-US" sz="4500" b="1" i="0" u="none" strike="noStrike">
                <a:solidFill>
                  <a:srgbClr val="FFFFFF"/>
                </a:solidFill>
                <a:latin typeface="Geist"/>
                <a:ea typeface="Geist"/>
                <a:cs typeface="Geist"/>
                <a:sym typeface="Geist"/>
              </a:rPr>
              <a:t> </a:t>
            </a:r>
            <a:r>
              <a:rPr lang="en-US" sz="4500" b="1" i="0" u="none" strike="noStrike" err="1">
                <a:solidFill>
                  <a:srgbClr val="FFFFFF"/>
                </a:solidFill>
                <a:latin typeface="Geist"/>
                <a:ea typeface="Geist"/>
                <a:cs typeface="Geist"/>
                <a:sym typeface="Geist"/>
              </a:rPr>
              <a:t>Egenskaber</a:t>
            </a:r>
            <a:endParaRPr lang="en-US" sz="4500" b="1" i="0" u="none" strike="noStrike">
              <a:solidFill>
                <a:srgbClr val="FFFFFF"/>
              </a:solidFill>
              <a:latin typeface="Geist"/>
              <a:ea typeface="Geist"/>
              <a:cs typeface="Geist"/>
              <a:sym typeface="Geist"/>
            </a:endParaRPr>
          </a:p>
        </p:txBody>
      </p:sp>
      <p:sp>
        <p:nvSpPr>
          <p:cNvPr id="96" name="AutoShape 9"/>
          <p:cNvSpPr/>
          <p:nvPr/>
        </p:nvSpPr>
        <p:spPr>
          <a:xfrm>
            <a:off x="1244600" y="4114800"/>
            <a:ext cx="6654800" cy="6350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16666"/>
              </a:lnSpc>
              <a:spcAft>
                <a:spcPts val="1600"/>
              </a:spcAft>
              <a:defRPr/>
            </a:pPr>
            <a:r>
              <a:rPr lang="en-US" sz="2400" b="0" i="0" u="none" strike="noStrike">
                <a:solidFill>
                  <a:srgbClr val="FFFFFF"/>
                </a:solidFill>
                <a:latin typeface="Geist"/>
                <a:ea typeface="Geist"/>
                <a:cs typeface="Geist"/>
                <a:sym typeface="Geist"/>
              </a:rPr>
              <a:t>Algoritmer: Teori og Grundlæggende Principper</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98"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99"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0"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1"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02"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03"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04"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Algoritmer</a:t>
            </a:r>
            <a:r>
              <a:rPr lang="en-US" sz="1300" b="0" i="0" u="none" strike="noStrike">
                <a:solidFill>
                  <a:srgbClr val="FFFFFF"/>
                </a:solidFill>
                <a:latin typeface="Geist"/>
                <a:ea typeface="Geist"/>
                <a:cs typeface="Geist"/>
                <a:sym typeface="Geist"/>
              </a:rPr>
              <a:t>| Grundlæggende Begreber</a:t>
            </a:r>
            <a:endParaRPr lang="en-US" sz="1100"/>
          </a:p>
        </p:txBody>
      </p:sp>
      <p:sp>
        <p:nvSpPr>
          <p:cNvPr id="105" name="AutoShape 9"/>
          <p:cNvSpPr/>
          <p:nvPr/>
        </p:nvSpPr>
        <p:spPr>
          <a:xfrm>
            <a:off x="889000" y="685800"/>
            <a:ext cx="6826250" cy="6477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spcAft>
                <a:spcPts val="1600"/>
              </a:spcAft>
              <a:defRPr/>
            </a:pPr>
            <a:r>
              <a:rPr lang="en-US" sz="3000" b="1" i="0" u="none" strike="noStrike" dirty="0" err="1">
                <a:solidFill>
                  <a:srgbClr val="000000"/>
                </a:solidFill>
                <a:latin typeface="Poppins"/>
                <a:ea typeface="Poppins"/>
                <a:cs typeface="Poppins"/>
                <a:sym typeface="Poppins"/>
              </a:rPr>
              <a:t>Nøgleegenskaber</a:t>
            </a:r>
            <a:endParaRPr lang="en-US" sz="1100" dirty="0"/>
          </a:p>
        </p:txBody>
      </p:sp>
      <p:pic>
        <p:nvPicPr>
          <p:cNvPr id="106" name="Picture 10"/>
          <p:cNvPicPr>
            <a:picLocks noChangeAspect="1"/>
          </p:cNvPicPr>
          <p:nvPr/>
        </p:nvPicPr>
        <p:blipFill>
          <a:blip r:embed="rId4"/>
          <a:srcRect/>
          <a:stretch>
            <a:fillRect/>
          </a:stretch>
        </p:blipFill>
        <p:spPr>
          <a:xfrm>
            <a:off x="482600" y="825500"/>
            <a:ext cx="368300" cy="368300"/>
          </a:xfrm>
          <a:prstGeom prst="rect">
            <a:avLst/>
          </a:prstGeom>
          <a:noFill/>
          <a:ln w="25400" cap="flat" cmpd="sng">
            <a:noFill/>
            <a:prstDash val="solid"/>
            <a:round/>
          </a:ln>
        </p:spPr>
      </p:pic>
      <p:sp>
        <p:nvSpPr>
          <p:cNvPr id="107" name="AutoShape 11"/>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8" name="AutoShape 12"/>
          <p:cNvSpPr/>
          <p:nvPr/>
        </p:nvSpPr>
        <p:spPr>
          <a:xfrm>
            <a:off x="482600" y="1333500"/>
            <a:ext cx="8204200" cy="3429000"/>
          </a:xfrm>
          <a:prstGeom prst="rect">
            <a:avLst/>
          </a:prstGeom>
          <a:noFill/>
          <a:ln w="9525" cap="flat" cmpd="sng">
            <a:noFill/>
            <a:prstDash val="solid"/>
            <a:round/>
          </a:ln>
        </p:spPr>
        <p:txBody>
          <a:bodyPr vert="horz" wrap="square" lIns="88900" tIns="88900" rIns="88900" bIns="88900" rtlCol="0" anchor="t" anchorCtr="0"/>
          <a:lstStyle>
            <a:lvl1pPr marL="711200" indent="-254000"/>
            <a:lvl2pPr marL="1168400" indent="-254000"/>
            <a:lvl3pPr marL="1625600" indent="-254000"/>
            <a:lvl4pPr marL="2082800" indent="-254000"/>
            <a:lvl5pPr marL="2540000" indent="-254000"/>
            <a:lvl6pPr marL="2997200" indent="-254000"/>
            <a:lvl7pPr marL="3454400" indent="-254000"/>
            <a:lvl8pPr marL="3911600" indent="-254000"/>
            <a:lvl9pPr marL="4368800" indent="-254000"/>
          </a:lstStyle>
          <a:p>
            <a:pPr marL="457200" indent="-368300" algn="l">
              <a:lnSpc>
                <a:spcPct val="108333"/>
              </a:lnSpc>
              <a:buClr>
                <a:srgbClr val="000000"/>
              </a:buClr>
              <a:buChar char="•"/>
              <a:defRPr/>
            </a:pPr>
            <a:r>
              <a:rPr lang="en-US" sz="2000" b="1" i="0" u="none" strike="noStrike" dirty="0">
                <a:solidFill>
                  <a:srgbClr val="000000"/>
                </a:solidFill>
                <a:latin typeface="Geist"/>
                <a:ea typeface="Geist"/>
                <a:cs typeface="Geist"/>
                <a:sym typeface="Geist"/>
              </a:rPr>
              <a:t>Formel Definition</a:t>
            </a:r>
            <a:r>
              <a:rPr lang="en-US" sz="1800" b="0" i="0" u="none" strike="noStrike" dirty="0">
                <a:solidFill>
                  <a:srgbClr val="000000"/>
                </a:solidFill>
                <a:latin typeface="Geist"/>
                <a:ea typeface="Geist"/>
                <a:cs typeface="Geist"/>
                <a:sym typeface="Geist"/>
              </a:rPr>
              <a:t>: En </a:t>
            </a:r>
            <a:r>
              <a:rPr lang="en-US" sz="1800" b="0" i="0" u="none" strike="noStrike" dirty="0" err="1">
                <a:solidFill>
                  <a:srgbClr val="000000"/>
                </a:solidFill>
                <a:latin typeface="Geist"/>
                <a:ea typeface="Geist"/>
                <a:cs typeface="Geist"/>
                <a:sym typeface="Geist"/>
              </a:rPr>
              <a:t>præcis</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trinvis</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beskrivelse</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af</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en</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fremgangsmåde</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til</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løsning</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af</a:t>
            </a:r>
            <a:r>
              <a:rPr lang="en-US" sz="1800" b="0" i="0" u="none" strike="noStrike" dirty="0">
                <a:solidFill>
                  <a:srgbClr val="000000"/>
                </a:solidFill>
                <a:latin typeface="Geist"/>
                <a:ea typeface="Geist"/>
                <a:cs typeface="Geist"/>
                <a:sym typeface="Geist"/>
              </a:rPr>
              <a:t> et </a:t>
            </a:r>
            <a:r>
              <a:rPr lang="en-US" sz="1800" b="0" i="0" u="none" strike="noStrike" dirty="0" err="1">
                <a:solidFill>
                  <a:srgbClr val="000000"/>
                </a:solidFill>
                <a:latin typeface="Geist"/>
                <a:ea typeface="Geist"/>
                <a:cs typeface="Geist"/>
                <a:sym typeface="Geist"/>
              </a:rPr>
              <a:t>specifikt</a:t>
            </a:r>
            <a:r>
              <a:rPr lang="en-US" sz="1800" b="0" i="0" u="none" strike="noStrike" dirty="0">
                <a:solidFill>
                  <a:srgbClr val="000000"/>
                </a:solidFill>
                <a:latin typeface="Geist"/>
                <a:ea typeface="Geist"/>
                <a:cs typeface="Geist"/>
                <a:sym typeface="Geist"/>
              </a:rPr>
              <a:t> problem, der er </a:t>
            </a:r>
            <a:r>
              <a:rPr lang="en-US" sz="1800" b="0" i="0" u="none" strike="noStrike" dirty="0" err="1">
                <a:solidFill>
                  <a:srgbClr val="000000"/>
                </a:solidFill>
                <a:latin typeface="Geist"/>
                <a:ea typeface="Geist"/>
                <a:cs typeface="Geist"/>
                <a:sym typeface="Geist"/>
              </a:rPr>
              <a:t>logisk</a:t>
            </a:r>
            <a:r>
              <a:rPr lang="en-US" sz="1800" b="0" i="0" u="none" strike="noStrike" dirty="0">
                <a:solidFill>
                  <a:srgbClr val="000000"/>
                </a:solidFill>
                <a:latin typeface="Geist"/>
                <a:ea typeface="Geist"/>
                <a:cs typeface="Geist"/>
                <a:sym typeface="Geist"/>
              </a:rPr>
              <a:t> </a:t>
            </a:r>
          </a:p>
          <a:p>
            <a:pPr marL="457200" indent="-368300" algn="l">
              <a:lnSpc>
                <a:spcPct val="108333"/>
              </a:lnSpc>
              <a:buClr>
                <a:srgbClr val="000000"/>
              </a:buClr>
              <a:buChar char="•"/>
              <a:defRPr/>
            </a:pPr>
            <a:endParaRPr lang="en-US" sz="1800" dirty="0">
              <a:latin typeface="Geist"/>
              <a:ea typeface="Geist"/>
              <a:cs typeface="Geist"/>
              <a:sym typeface="Geist"/>
            </a:endParaRPr>
          </a:p>
          <a:p>
            <a:pPr marL="457200" indent="-368300" algn="l">
              <a:lnSpc>
                <a:spcPct val="108333"/>
              </a:lnSpc>
              <a:buClr>
                <a:srgbClr val="000000"/>
              </a:buClr>
              <a:buChar char="•"/>
              <a:defRPr/>
            </a:pPr>
            <a:r>
              <a:rPr lang="en-US" sz="2000" b="1" i="0" u="none" strike="noStrike" dirty="0" err="1">
                <a:solidFill>
                  <a:srgbClr val="000000"/>
                </a:solidFill>
                <a:latin typeface="Geist"/>
                <a:ea typeface="Geist"/>
                <a:cs typeface="Geist"/>
                <a:sym typeface="Geist"/>
              </a:rPr>
              <a:t>Velledefinerede</a:t>
            </a:r>
            <a:r>
              <a:rPr lang="en-US" sz="2000" b="1" i="0" u="none" strike="noStrike" dirty="0">
                <a:solidFill>
                  <a:srgbClr val="000000"/>
                </a:solidFill>
                <a:latin typeface="Geist"/>
                <a:ea typeface="Geist"/>
                <a:cs typeface="Geist"/>
                <a:sym typeface="Geist"/>
              </a:rPr>
              <a:t> </a:t>
            </a:r>
            <a:r>
              <a:rPr lang="en-US" sz="2000" b="1" i="0" u="none" strike="noStrike" dirty="0" err="1">
                <a:solidFill>
                  <a:srgbClr val="000000"/>
                </a:solidFill>
                <a:latin typeface="Geist"/>
                <a:ea typeface="Geist"/>
                <a:cs typeface="Geist"/>
                <a:sym typeface="Geist"/>
              </a:rPr>
              <a:t>Skridt</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Hvert</a:t>
            </a:r>
            <a:r>
              <a:rPr lang="en-US" sz="1800" b="0" i="0" u="none" strike="noStrike" dirty="0">
                <a:solidFill>
                  <a:srgbClr val="000000"/>
                </a:solidFill>
                <a:latin typeface="Geist"/>
                <a:ea typeface="Geist"/>
                <a:cs typeface="Geist"/>
                <a:sym typeface="Geist"/>
              </a:rPr>
              <a:t> trin er </a:t>
            </a:r>
            <a:r>
              <a:rPr lang="en-US" sz="1800" b="0" i="0" u="none" strike="noStrike" dirty="0" err="1">
                <a:solidFill>
                  <a:srgbClr val="000000"/>
                </a:solidFill>
                <a:latin typeface="Geist"/>
                <a:ea typeface="Geist"/>
                <a:cs typeface="Geist"/>
                <a:sym typeface="Geist"/>
              </a:rPr>
              <a:t>entydigt</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og</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klart</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defineret</a:t>
            </a:r>
            <a:r>
              <a:rPr lang="en-US" sz="1800" b="0" i="0" u="none" strike="noStrike" dirty="0">
                <a:solidFill>
                  <a:srgbClr val="000000"/>
                </a:solidFill>
                <a:latin typeface="Geist"/>
                <a:ea typeface="Geist"/>
                <a:cs typeface="Geist"/>
                <a:sym typeface="Geist"/>
              </a:rPr>
              <a:t> – </a:t>
            </a:r>
            <a:r>
              <a:rPr lang="en-US" sz="1800" b="0" i="0" u="none" strike="noStrike" dirty="0" err="1">
                <a:solidFill>
                  <a:srgbClr val="000000"/>
                </a:solidFill>
                <a:latin typeface="Geist"/>
                <a:ea typeface="Geist"/>
                <a:cs typeface="Geist"/>
                <a:sym typeface="Geist"/>
              </a:rPr>
              <a:t>ingen</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misforståelser</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i</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udførelsen</a:t>
            </a:r>
            <a:r>
              <a:rPr lang="en-US" sz="1800" b="0" i="0" u="none" strike="noStrike" dirty="0">
                <a:solidFill>
                  <a:srgbClr val="000000"/>
                </a:solidFill>
                <a:latin typeface="Geist"/>
                <a:ea typeface="Geist"/>
                <a:cs typeface="Geist"/>
                <a:sym typeface="Geist"/>
              </a:rPr>
              <a:t>.</a:t>
            </a:r>
            <a:endParaRPr dirty="0"/>
          </a:p>
          <a:p>
            <a:pPr marL="457200" indent="-368300" algn="l">
              <a:lnSpc>
                <a:spcPct val="108333"/>
              </a:lnSpc>
              <a:spcBef>
                <a:spcPts val="1200"/>
              </a:spcBef>
              <a:buClr>
                <a:srgbClr val="000000"/>
              </a:buClr>
              <a:buChar char="•"/>
            </a:pPr>
            <a:r>
              <a:rPr lang="en-US" sz="2000" b="1" i="0" u="none" strike="noStrike" dirty="0" err="1">
                <a:solidFill>
                  <a:srgbClr val="000000"/>
                </a:solidFill>
                <a:latin typeface="Geist"/>
                <a:ea typeface="Geist"/>
                <a:cs typeface="Geist"/>
                <a:sym typeface="Geist"/>
              </a:rPr>
              <a:t>Garanteret</a:t>
            </a:r>
            <a:r>
              <a:rPr lang="en-US" sz="2000" b="1" i="0" u="none" strike="noStrike" dirty="0">
                <a:solidFill>
                  <a:srgbClr val="000000"/>
                </a:solidFill>
                <a:latin typeface="Geist"/>
                <a:ea typeface="Geist"/>
                <a:cs typeface="Geist"/>
                <a:sym typeface="Geist"/>
              </a:rPr>
              <a:t> </a:t>
            </a:r>
            <a:r>
              <a:rPr lang="en-US" sz="2000" b="1" i="0" u="none" strike="noStrike" dirty="0" err="1">
                <a:solidFill>
                  <a:srgbClr val="000000"/>
                </a:solidFill>
                <a:latin typeface="Geist"/>
                <a:ea typeface="Geist"/>
                <a:cs typeface="Geist"/>
                <a:sym typeface="Geist"/>
              </a:rPr>
              <a:t>Terminering</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Algoritmen</a:t>
            </a:r>
            <a:r>
              <a:rPr lang="en-US" sz="1800" b="0" i="0" u="none" strike="noStrike" dirty="0">
                <a:solidFill>
                  <a:srgbClr val="000000"/>
                </a:solidFill>
                <a:latin typeface="Geist"/>
                <a:ea typeface="Geist"/>
                <a:cs typeface="Geist"/>
                <a:sym typeface="Geist"/>
              </a:rPr>
              <a:t> stopper </a:t>
            </a:r>
            <a:r>
              <a:rPr lang="en-US" sz="1800" b="0" i="0" u="none" strike="noStrike" dirty="0" err="1">
                <a:solidFill>
                  <a:srgbClr val="000000"/>
                </a:solidFill>
                <a:latin typeface="Geist"/>
                <a:ea typeface="Geist"/>
                <a:cs typeface="Geist"/>
                <a:sym typeface="Geist"/>
              </a:rPr>
              <a:t>altid</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efter</a:t>
            </a:r>
            <a:r>
              <a:rPr lang="en-US" sz="1800" b="0" i="0" u="none" strike="noStrike" dirty="0">
                <a:solidFill>
                  <a:srgbClr val="000000"/>
                </a:solidFill>
                <a:latin typeface="Geist"/>
                <a:ea typeface="Geist"/>
                <a:cs typeface="Geist"/>
                <a:sym typeface="Geist"/>
              </a:rPr>
              <a:t> et </a:t>
            </a:r>
            <a:r>
              <a:rPr lang="en-US" sz="1800" b="0" i="0" u="none" strike="noStrike" dirty="0" err="1">
                <a:solidFill>
                  <a:srgbClr val="000000"/>
                </a:solidFill>
                <a:latin typeface="Geist"/>
                <a:ea typeface="Geist"/>
                <a:cs typeface="Geist"/>
                <a:sym typeface="Geist"/>
              </a:rPr>
              <a:t>endeligt</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antal</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skridt</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og</a:t>
            </a:r>
            <a:r>
              <a:rPr lang="en-US" sz="1800" b="0" i="0" u="none" strike="noStrike" dirty="0">
                <a:solidFill>
                  <a:srgbClr val="000000"/>
                </a:solidFill>
                <a:latin typeface="Geist"/>
                <a:ea typeface="Geist"/>
                <a:cs typeface="Geist"/>
                <a:sym typeface="Geist"/>
              </a:rPr>
              <a:t> giver et </a:t>
            </a:r>
            <a:r>
              <a:rPr lang="en-US" sz="1800" b="0" i="0" u="none" strike="noStrike" dirty="0" err="1">
                <a:solidFill>
                  <a:srgbClr val="000000"/>
                </a:solidFill>
                <a:latin typeface="Geist"/>
                <a:ea typeface="Geist"/>
                <a:cs typeface="Geist"/>
                <a:sym typeface="Geist"/>
              </a:rPr>
              <a:t>afsluttet</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resultat</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ingen</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uendelige</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løkker</a:t>
            </a:r>
            <a:r>
              <a:rPr lang="en-US" sz="1800" b="0" i="0" u="none" strike="noStrike" dirty="0">
                <a:solidFill>
                  <a:srgbClr val="000000"/>
                </a:solidFill>
                <a:latin typeface="Geist"/>
                <a:ea typeface="Geist"/>
                <a:cs typeface="Geist"/>
                <a:sym typeface="Geist"/>
              </a:rPr>
              <a:t>).</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15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15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4" name="AutoShape 6"/>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5" name="AutoShape 7"/>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56" name="AutoShape 8"/>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57" name="AutoShape 9"/>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58" name="AutoShape 11"/>
          <p:cNvSpPr/>
          <p:nvPr/>
        </p:nvSpPr>
        <p:spPr>
          <a:xfrm>
            <a:off x="469900" y="784711"/>
            <a:ext cx="7759700" cy="30480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defRPr/>
            </a:pPr>
            <a:r>
              <a:rPr lang="en-US" sz="2400" b="1" i="0" u="none" strike="noStrike" dirty="0" err="1">
                <a:solidFill>
                  <a:srgbClr val="6A62D9"/>
                </a:solidFill>
                <a:latin typeface="Geist"/>
                <a:ea typeface="Geist"/>
                <a:cs typeface="Geist"/>
                <a:sym typeface="Geist"/>
              </a:rPr>
              <a:t>Øvelse</a:t>
            </a:r>
            <a:r>
              <a:rPr lang="en-US" sz="2400" b="1" i="0" u="none" strike="noStrike" dirty="0">
                <a:solidFill>
                  <a:srgbClr val="6A62D9"/>
                </a:solidFill>
                <a:latin typeface="Geist"/>
                <a:ea typeface="Geist"/>
                <a:cs typeface="Geist"/>
                <a:sym typeface="Geist"/>
              </a:rPr>
              <a:t>: I scratch!</a:t>
            </a:r>
            <a:endParaRPr lang="en-US" sz="1100" dirty="0"/>
          </a:p>
          <a:p>
            <a:pPr marL="457200" indent="-457200">
              <a:lnSpc>
                <a:spcPct val="116666"/>
              </a:lnSpc>
              <a:spcBef>
                <a:spcPts val="1200"/>
              </a:spcBef>
              <a:buAutoNum type="arabicPeriod"/>
            </a:pPr>
            <a:r>
              <a:rPr lang="en-US" sz="1900" b="1" i="0" u="none" strike="noStrike" dirty="0" err="1">
                <a:solidFill>
                  <a:srgbClr val="000000"/>
                </a:solidFill>
                <a:latin typeface="Geist"/>
                <a:ea typeface="Geist"/>
                <a:cs typeface="Geist"/>
                <a:sym typeface="Geist"/>
              </a:rPr>
              <a:t>Gruppeopgave</a:t>
            </a:r>
            <a:br>
              <a:rPr lang="en-US" sz="1800" b="0" i="0" u="none" strike="noStrike" dirty="0">
                <a:solidFill>
                  <a:srgbClr val="000000"/>
                </a:solidFill>
                <a:latin typeface="Geist"/>
                <a:ea typeface="Geist"/>
                <a:cs typeface="Geist"/>
                <a:sym typeface="Geist"/>
              </a:rPr>
            </a:br>
            <a:r>
              <a:rPr lang="en-US" sz="1800" b="0" i="0" u="none" strike="noStrike" dirty="0" err="1">
                <a:solidFill>
                  <a:srgbClr val="000000"/>
                </a:solidFill>
                <a:latin typeface="Geist"/>
                <a:ea typeface="Geist"/>
                <a:cs typeface="Geist"/>
                <a:sym typeface="Geist"/>
              </a:rPr>
              <a:t>læs</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kode</a:t>
            </a:r>
            <a:r>
              <a:rPr lang="en-US" sz="1800" b="0" i="0" u="none" strike="noStrike" dirty="0">
                <a:solidFill>
                  <a:srgbClr val="000000"/>
                </a:solidFill>
                <a:latin typeface="Geist"/>
                <a:ea typeface="Geist"/>
                <a:cs typeface="Geist"/>
                <a:sym typeface="Geist"/>
              </a:rPr>
              <a:t> </a:t>
            </a:r>
            <a:r>
              <a:rPr lang="en-US" sz="1800" b="0" i="0" u="none" strike="noStrike" dirty="0" err="1">
                <a:solidFill>
                  <a:srgbClr val="000000"/>
                </a:solidFill>
                <a:latin typeface="Geist"/>
                <a:ea typeface="Geist"/>
                <a:cs typeface="Geist"/>
                <a:sym typeface="Geist"/>
              </a:rPr>
              <a:t>selv</a:t>
            </a:r>
            <a:r>
              <a:rPr lang="en-US" sz="1800" b="0" i="0" u="none" strike="noStrike" dirty="0">
                <a:solidFill>
                  <a:srgbClr val="000000"/>
                </a:solidFill>
                <a:latin typeface="Geist"/>
                <a:ea typeface="Geist"/>
                <a:cs typeface="Geist"/>
                <a:sym typeface="Geist"/>
              </a:rPr>
              <a:t> (10min)  </a:t>
            </a:r>
            <a:r>
              <a:rPr lang="en-US" sz="1800" b="0" i="0" u="none" strike="noStrike" dirty="0" err="1">
                <a:solidFill>
                  <a:srgbClr val="000000"/>
                </a:solidFill>
                <a:latin typeface="Geist"/>
                <a:ea typeface="Geist"/>
                <a:cs typeface="Geist"/>
                <a:sym typeface="Geist"/>
              </a:rPr>
              <a:t>og</a:t>
            </a:r>
            <a:r>
              <a:rPr lang="en-US" sz="18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Diskutér</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i</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grupper</a:t>
            </a:r>
            <a:r>
              <a:rPr lang="en-US" sz="1700" b="0" i="0" u="none" strike="noStrike" dirty="0">
                <a:solidFill>
                  <a:srgbClr val="000000"/>
                </a:solidFill>
                <a:latin typeface="Geist"/>
                <a:ea typeface="Geist"/>
                <a:cs typeface="Geist"/>
                <a:sym typeface="Geist"/>
              </a:rPr>
              <a:t> (3-4 </a:t>
            </a:r>
            <a:r>
              <a:rPr lang="en-US" sz="1700" b="0" i="0" u="none" strike="noStrike" dirty="0" err="1">
                <a:solidFill>
                  <a:srgbClr val="000000"/>
                </a:solidFill>
                <a:latin typeface="Geist"/>
                <a:ea typeface="Geist"/>
                <a:cs typeface="Geist"/>
                <a:sym typeface="Geist"/>
              </a:rPr>
              <a:t>personer</a:t>
            </a:r>
            <a:r>
              <a:rPr lang="en-US" sz="1700" b="0" i="0" u="none" strike="noStrike" dirty="0">
                <a:solidFill>
                  <a:srgbClr val="000000"/>
                </a:solidFill>
                <a:latin typeface="Geist"/>
                <a:ea typeface="Geist"/>
                <a:cs typeface="Geist"/>
                <a:sym typeface="Geist"/>
              </a:rPr>
              <a:t> -</a:t>
            </a:r>
            <a:r>
              <a:rPr lang="en-US" sz="1800" dirty="0">
                <a:latin typeface="Geist"/>
                <a:ea typeface="Geist"/>
                <a:cs typeface="Geist"/>
                <a:sym typeface="Geist"/>
              </a:rPr>
              <a:t>15 </a:t>
            </a:r>
            <a:r>
              <a:rPr lang="en-US" sz="1800" dirty="0" err="1">
                <a:latin typeface="Geist"/>
                <a:ea typeface="Geist"/>
                <a:cs typeface="Geist"/>
                <a:sym typeface="Geist"/>
              </a:rPr>
              <a:t>minutter</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og</a:t>
            </a:r>
            <a:r>
              <a:rPr lang="en-US" sz="1700" b="0" i="0" u="none" strike="noStrike" dirty="0">
                <a:solidFill>
                  <a:srgbClr val="000000"/>
                </a:solidFill>
                <a:latin typeface="Geist"/>
                <a:ea typeface="Geist"/>
                <a:cs typeface="Geist"/>
                <a:sym typeface="Geist"/>
              </a:rPr>
              <a:t> </a:t>
            </a:r>
            <a:r>
              <a:rPr lang="en-US" sz="1700" b="0" i="0" u="none" strike="noStrike" dirty="0" err="1">
                <a:solidFill>
                  <a:srgbClr val="000000"/>
                </a:solidFill>
                <a:latin typeface="Geist"/>
                <a:ea typeface="Geist"/>
                <a:cs typeface="Geist"/>
                <a:sym typeface="Geist"/>
              </a:rPr>
              <a:t>analyse</a:t>
            </a:r>
            <a:r>
              <a:rPr lang="en-US" sz="1700" b="0" i="0" u="none" strike="noStrike" dirty="0">
                <a:solidFill>
                  <a:srgbClr val="000000"/>
                </a:solidFill>
                <a:latin typeface="Geist"/>
                <a:ea typeface="Geist"/>
                <a:cs typeface="Geist"/>
                <a:sym typeface="Geist"/>
              </a:rPr>
              <a:t>  scratch </a:t>
            </a:r>
            <a:r>
              <a:rPr lang="en-US" sz="1700" b="0" i="0" u="none" strike="noStrike" dirty="0" err="1">
                <a:solidFill>
                  <a:srgbClr val="000000"/>
                </a:solidFill>
                <a:latin typeface="Geist"/>
                <a:ea typeface="Geist"/>
                <a:cs typeface="Geist"/>
                <a:sym typeface="Geist"/>
              </a:rPr>
              <a:t>kode</a:t>
            </a:r>
            <a:r>
              <a:rPr lang="en-US" sz="1700" b="0" i="0" u="none" strike="noStrike" dirty="0">
                <a:solidFill>
                  <a:srgbClr val="000000"/>
                </a:solidFill>
                <a:latin typeface="Geist"/>
                <a:ea typeface="Geist"/>
                <a:cs typeface="Geist"/>
                <a:sym typeface="Geist"/>
              </a:rPr>
              <a:t> links</a:t>
            </a:r>
            <a:endParaRPr dirty="0"/>
          </a:p>
          <a:p>
            <a:pPr>
              <a:lnSpc>
                <a:spcPct val="116666"/>
              </a:lnSpc>
              <a:spcBef>
                <a:spcPts val="1200"/>
              </a:spcBef>
            </a:pPr>
            <a:r>
              <a:rPr lang="en-US" sz="1700" dirty="0">
                <a:latin typeface="Geist"/>
                <a:ea typeface="Geist"/>
                <a:cs typeface="Geist"/>
                <a:sym typeface="Geist"/>
                <a:hlinkClick r:id="rId4"/>
              </a:rPr>
              <a:t>https://scratch.mit.edu/projects/1368477162/</a:t>
            </a:r>
            <a:endParaRPr lang="en-US" sz="1700" dirty="0">
              <a:latin typeface="Geist"/>
              <a:ea typeface="Geist"/>
              <a:cs typeface="Geist"/>
              <a:sym typeface="Geist"/>
            </a:endParaRPr>
          </a:p>
          <a:p>
            <a:pPr>
              <a:lnSpc>
                <a:spcPct val="116666"/>
              </a:lnSpc>
              <a:spcBef>
                <a:spcPts val="1200"/>
              </a:spcBef>
            </a:pPr>
            <a:r>
              <a:rPr lang="en-US" sz="1700" dirty="0">
                <a:latin typeface="Geist"/>
                <a:ea typeface="Geist"/>
                <a:cs typeface="Geist"/>
                <a:sym typeface="Geist"/>
                <a:hlinkClick r:id="rId5"/>
              </a:rPr>
              <a:t>https://scratch.mit.edu/projects/1368477528</a:t>
            </a:r>
            <a:endParaRPr lang="en-US" sz="1700" dirty="0">
              <a:latin typeface="Geist"/>
              <a:ea typeface="Geist"/>
              <a:cs typeface="Geist"/>
              <a:sym typeface="Geist"/>
            </a:endParaRPr>
          </a:p>
          <a:p>
            <a:pPr algn="l">
              <a:lnSpc>
                <a:spcPct val="116666"/>
              </a:lnSpc>
              <a:spcBef>
                <a:spcPts val="1200"/>
              </a:spcBef>
            </a:pPr>
            <a:endParaRPr lang="en-US" sz="1700" b="0" i="0" u="none" strike="noStrike" dirty="0">
              <a:solidFill>
                <a:srgbClr val="000000"/>
              </a:solidFill>
              <a:latin typeface="Geist"/>
              <a:ea typeface="Geist"/>
              <a:cs typeface="Geist"/>
              <a:sym typeface="Geist"/>
            </a:endParaRPr>
          </a:p>
          <a:p>
            <a:pPr>
              <a:spcBef>
                <a:spcPts val="1200"/>
              </a:spcBef>
            </a:pPr>
            <a:r>
              <a:rPr lang="en-US" sz="1900" b="1" i="0" u="none" strike="noStrike" dirty="0">
                <a:solidFill>
                  <a:srgbClr val="000000"/>
                </a:solidFill>
                <a:latin typeface="Geist"/>
                <a:ea typeface="Geist"/>
                <a:cs typeface="Geist"/>
                <a:sym typeface="Geist"/>
              </a:rPr>
              <a:t>2. </a:t>
            </a:r>
            <a:r>
              <a:rPr lang="en-US" sz="1900" b="1" i="0" u="none" strike="noStrike" dirty="0" err="1">
                <a:solidFill>
                  <a:srgbClr val="000000"/>
                </a:solidFill>
                <a:latin typeface="Geist"/>
                <a:ea typeface="Geist"/>
                <a:cs typeface="Geist"/>
                <a:sym typeface="Geist"/>
              </a:rPr>
              <a:t>Præsentation</a:t>
            </a:r>
            <a:r>
              <a:rPr lang="en-US" sz="1900" b="1" i="0" u="none" strike="noStrike" dirty="0">
                <a:solidFill>
                  <a:srgbClr val="000000"/>
                </a:solidFill>
                <a:latin typeface="Geist"/>
                <a:ea typeface="Geist"/>
                <a:cs typeface="Geist"/>
                <a:sym typeface="Geist"/>
              </a:rPr>
              <a:t> &amp; </a:t>
            </a:r>
            <a:r>
              <a:rPr lang="en-US" sz="1900" b="1" i="0" u="none" strike="noStrike" dirty="0" err="1">
                <a:solidFill>
                  <a:srgbClr val="000000"/>
                </a:solidFill>
                <a:latin typeface="Geist"/>
                <a:ea typeface="Geist"/>
                <a:cs typeface="Geist"/>
                <a:sym typeface="Geist"/>
              </a:rPr>
              <a:t>Diskussion</a:t>
            </a:r>
            <a:r>
              <a:rPr lang="en-US" sz="1900" b="1" i="0" u="none" strike="noStrike" dirty="0">
                <a:solidFill>
                  <a:srgbClr val="000000"/>
                </a:solidFill>
                <a:latin typeface="Geist"/>
                <a:ea typeface="Geist"/>
                <a:cs typeface="Geist"/>
                <a:sym typeface="Geist"/>
              </a:rPr>
              <a:t>:</a:t>
            </a:r>
            <a:br>
              <a:rPr lang="en-US" sz="1800" b="0" i="0" u="none" strike="noStrike" dirty="0">
                <a:solidFill>
                  <a:srgbClr val="000000"/>
                </a:solidFill>
                <a:latin typeface="Geist"/>
                <a:ea typeface="Geist"/>
                <a:cs typeface="Geist"/>
                <a:sym typeface="Geist"/>
              </a:rPr>
            </a:br>
            <a:r>
              <a:rPr lang="en-US" sz="1700" dirty="0">
                <a:latin typeface="Geist"/>
                <a:sym typeface="Geist"/>
              </a:rPr>
              <a:t>? </a:t>
            </a:r>
            <a:r>
              <a:rPr lang="en-US" sz="1700" dirty="0" err="1">
                <a:latin typeface="Geist"/>
                <a:sym typeface="Geist"/>
              </a:rPr>
              <a:t>Hvordan</a:t>
            </a:r>
            <a:r>
              <a:rPr lang="en-US" sz="1700" dirty="0">
                <a:latin typeface="Geist"/>
                <a:sym typeface="Geist"/>
              </a:rPr>
              <a:t> </a:t>
            </a:r>
            <a:r>
              <a:rPr lang="en-DK" sz="1700" dirty="0">
                <a:latin typeface="Geist"/>
              </a:rPr>
              <a:t>dokumentere jeres Kommentarer direkte i Scratch-koden?</a:t>
            </a:r>
            <a:endParaRPr lang="en-US" sz="1700" dirty="0">
              <a:latin typeface="Geist"/>
              <a:sym typeface="Gei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164"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165"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6"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7"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68"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69"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70"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dirty="0" err="1">
                <a:solidFill>
                  <a:srgbClr val="FFFFFF"/>
                </a:solidFill>
                <a:latin typeface="Geist"/>
                <a:ea typeface="Geist"/>
                <a:cs typeface="Geist"/>
                <a:sym typeface="Geist"/>
              </a:rPr>
              <a:t>Algoritmer</a:t>
            </a:r>
            <a:r>
              <a:rPr lang="en-US" sz="1300" b="0" i="0" u="none" strike="noStrike" dirty="0" err="1">
                <a:solidFill>
                  <a:srgbClr val="FFFFFF"/>
                </a:solidFill>
                <a:latin typeface="Geist"/>
                <a:ea typeface="Geist"/>
                <a:cs typeface="Geist"/>
                <a:sym typeface="Geist"/>
              </a:rPr>
              <a:t>Grundlæggende</a:t>
            </a:r>
            <a:r>
              <a:rPr lang="en-US" sz="1300" b="0" i="0" u="none" strike="noStrike" dirty="0">
                <a:solidFill>
                  <a:srgbClr val="FFFFFF"/>
                </a:solidFill>
                <a:latin typeface="Geist"/>
                <a:ea typeface="Geist"/>
                <a:cs typeface="Geist"/>
                <a:sym typeface="Geist"/>
              </a:rPr>
              <a:t> </a:t>
            </a:r>
            <a:r>
              <a:rPr lang="en-US" sz="1300" b="0" i="0" u="none" strike="noStrike" dirty="0" err="1">
                <a:solidFill>
                  <a:srgbClr val="FFFFFF"/>
                </a:solidFill>
                <a:latin typeface="Geist"/>
                <a:ea typeface="Geist"/>
                <a:cs typeface="Geist"/>
                <a:sym typeface="Geist"/>
              </a:rPr>
              <a:t>Koncepter</a:t>
            </a:r>
            <a:r>
              <a:rPr lang="en-US" sz="1300" b="0" i="0" u="none" strike="noStrike" dirty="0">
                <a:solidFill>
                  <a:srgbClr val="FFFFFF"/>
                </a:solidFill>
                <a:latin typeface="Geist"/>
                <a:ea typeface="Geist"/>
                <a:cs typeface="Geist"/>
                <a:sym typeface="Geist"/>
              </a:rPr>
              <a:t> – </a:t>
            </a:r>
            <a:r>
              <a:rPr lang="en-US" sz="1300" b="0" i="0" u="none" strike="noStrike" dirty="0" err="1">
                <a:solidFill>
                  <a:srgbClr val="FFFFFF"/>
                </a:solidFill>
                <a:latin typeface="Geist"/>
                <a:ea typeface="Geist"/>
                <a:cs typeface="Geist"/>
                <a:sym typeface="Geist"/>
              </a:rPr>
              <a:t>Opsummering</a:t>
            </a:r>
            <a:endParaRPr lang="en-US" sz="1100" dirty="0"/>
          </a:p>
        </p:txBody>
      </p:sp>
      <p:sp>
        <p:nvSpPr>
          <p:cNvPr id="171" name="AutoShape 9"/>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2" name="Picture 10"/>
          <p:cNvPicPr>
            <a:picLocks noChangeAspect="1"/>
          </p:cNvPicPr>
          <p:nvPr/>
        </p:nvPicPr>
        <p:blipFill>
          <a:blip r:embed="rId4"/>
          <a:srcRect/>
          <a:stretch>
            <a:fillRect/>
          </a:stretch>
        </p:blipFill>
        <p:spPr>
          <a:xfrm>
            <a:off x="3556000" y="2933700"/>
            <a:ext cx="2032000" cy="2032000"/>
          </a:xfrm>
          <a:prstGeom prst="star16">
            <a:avLst>
              <a:gd name="adj" fmla="val 39699"/>
            </a:avLst>
          </a:prstGeom>
          <a:noFill/>
          <a:ln w="25400" cap="flat" cmpd="sng">
            <a:noFill/>
            <a:prstDash val="solid"/>
            <a:round/>
          </a:ln>
        </p:spPr>
      </p:pic>
      <p:sp>
        <p:nvSpPr>
          <p:cNvPr id="173" name="AutoShape 11"/>
          <p:cNvSpPr/>
          <p:nvPr/>
        </p:nvSpPr>
        <p:spPr>
          <a:xfrm>
            <a:off x="4318000" y="3530600"/>
            <a:ext cx="762000" cy="6477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900" b="1" i="0" u="none" strike="noStrike">
                <a:solidFill>
                  <a:srgbClr val="D9EAD3"/>
                </a:solidFill>
                <a:latin typeface="Geist"/>
                <a:ea typeface="Geist"/>
                <a:cs typeface="Geist"/>
                <a:sym typeface="Geist"/>
              </a:rPr>
              <a:t>Kernebegreber</a:t>
            </a:r>
            <a:endParaRPr lang="en-US" sz="1100"/>
          </a:p>
          <a:p>
            <a:pPr marL="0" indent="0" algn="ctr">
              <a:lnSpc>
                <a:spcPct val="100000"/>
              </a:lnSpc>
            </a:pPr>
            <a:r>
              <a:rPr lang="en-US" sz="900" b="1" i="0" u="none" strike="noStrike">
                <a:solidFill>
                  <a:srgbClr val="D9EAD3"/>
                </a:solidFill>
                <a:latin typeface="Geist"/>
                <a:ea typeface="Geist"/>
                <a:cs typeface="Geist"/>
                <a:sym typeface="Geist"/>
              </a:rPr>
              <a:t>Termination</a:t>
            </a:r>
            <a:endParaRPr/>
          </a:p>
        </p:txBody>
      </p:sp>
      <p:sp>
        <p:nvSpPr>
          <p:cNvPr id="174" name="AutoShape 12"/>
          <p:cNvSpPr/>
          <p:nvPr/>
        </p:nvSpPr>
        <p:spPr>
          <a:xfrm>
            <a:off x="739775" y="409575"/>
            <a:ext cx="4108450" cy="5969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0000"/>
              </a:lnSpc>
              <a:defRPr/>
            </a:pPr>
            <a:r>
              <a:rPr lang="en-US" sz="2700" b="1" i="0" u="none" strike="noStrike" err="1">
                <a:solidFill>
                  <a:srgbClr val="000000"/>
                </a:solidFill>
                <a:latin typeface="Geist"/>
                <a:ea typeface="Geist"/>
                <a:cs typeface="Geist"/>
                <a:sym typeface="Geist"/>
              </a:rPr>
              <a:t>Afslut</a:t>
            </a:r>
            <a:r>
              <a:rPr lang="en-US" sz="2700" b="1" i="0" u="none" strike="noStrike">
                <a:solidFill>
                  <a:srgbClr val="000000"/>
                </a:solidFill>
                <a:latin typeface="Geist"/>
                <a:ea typeface="Geist"/>
                <a:cs typeface="Geist"/>
                <a:sym typeface="Geist"/>
              </a:rPr>
              <a:t> Kerne </a:t>
            </a:r>
            <a:r>
              <a:rPr lang="en-US" sz="2700" b="1" i="0" u="none" strike="noStrike" err="1">
                <a:solidFill>
                  <a:srgbClr val="000000"/>
                </a:solidFill>
                <a:latin typeface="Geist"/>
                <a:ea typeface="Geist"/>
                <a:cs typeface="Geist"/>
                <a:sym typeface="Geist"/>
              </a:rPr>
              <a:t>Koncepter</a:t>
            </a:r>
            <a:endParaRPr lang="en-US" sz="1100"/>
          </a:p>
        </p:txBody>
      </p:sp>
      <p:pic>
        <p:nvPicPr>
          <p:cNvPr id="175" name="Picture 13"/>
          <p:cNvPicPr>
            <a:picLocks noChangeAspect="1"/>
          </p:cNvPicPr>
          <p:nvPr/>
        </p:nvPicPr>
        <p:blipFill>
          <a:blip r:embed="rId5"/>
          <a:srcRect/>
          <a:stretch>
            <a:fillRect/>
          </a:stretch>
        </p:blipFill>
        <p:spPr>
          <a:xfrm rot="5400000">
            <a:off x="2438400" y="3225800"/>
            <a:ext cx="1079500" cy="1079500"/>
          </a:xfrm>
          <a:prstGeom prst="rect">
            <a:avLst/>
          </a:prstGeom>
          <a:noFill/>
          <a:ln w="25400" cap="flat" cmpd="sng">
            <a:noFill/>
            <a:prstDash val="solid"/>
            <a:round/>
          </a:ln>
        </p:spPr>
      </p:pic>
      <p:pic>
        <p:nvPicPr>
          <p:cNvPr id="176" name="Picture 14"/>
          <p:cNvPicPr>
            <a:picLocks noChangeAspect="1"/>
          </p:cNvPicPr>
          <p:nvPr/>
        </p:nvPicPr>
        <p:blipFill>
          <a:blip r:embed="rId5"/>
          <a:srcRect/>
          <a:stretch>
            <a:fillRect/>
          </a:stretch>
        </p:blipFill>
        <p:spPr>
          <a:xfrm rot="5399999" flipV="1">
            <a:off x="5778500" y="3416300"/>
            <a:ext cx="1079500" cy="1079500"/>
          </a:xfrm>
          <a:prstGeom prst="rect">
            <a:avLst/>
          </a:prstGeom>
          <a:noFill/>
          <a:ln w="25400" cap="flat" cmpd="sng">
            <a:noFill/>
            <a:prstDash val="solid"/>
            <a:round/>
          </a:ln>
        </p:spPr>
      </p:pic>
      <p:sp>
        <p:nvSpPr>
          <p:cNvPr id="177" name="AutoShape 15"/>
          <p:cNvSpPr/>
          <p:nvPr/>
        </p:nvSpPr>
        <p:spPr>
          <a:xfrm>
            <a:off x="50800" y="3416300"/>
            <a:ext cx="17907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800" b="0" i="0" u="none" strike="noStrike" dirty="0">
                <a:solidFill>
                  <a:srgbClr val="000000"/>
                </a:solidFill>
                <a:latin typeface="Geist"/>
                <a:ea typeface="Geist"/>
                <a:cs typeface="Geist"/>
                <a:sym typeface="Geist"/>
              </a:rPr>
              <a:t>Selection (If)</a:t>
            </a:r>
            <a:endParaRPr lang="en-US" sz="1100" dirty="0"/>
          </a:p>
        </p:txBody>
      </p:sp>
      <p:pic>
        <p:nvPicPr>
          <p:cNvPr id="178" name="Picture 16"/>
          <p:cNvPicPr>
            <a:picLocks noChangeAspect="1"/>
          </p:cNvPicPr>
          <p:nvPr/>
        </p:nvPicPr>
        <p:blipFill>
          <a:blip r:embed="rId6"/>
          <a:srcRect/>
          <a:stretch>
            <a:fillRect/>
          </a:stretch>
        </p:blipFill>
        <p:spPr>
          <a:xfrm rot="-480000">
            <a:off x="609600" y="3835400"/>
            <a:ext cx="2438400" cy="1206500"/>
          </a:xfrm>
          <a:prstGeom prst="rect">
            <a:avLst/>
          </a:prstGeom>
          <a:noFill/>
          <a:ln w="25400" cap="flat" cmpd="sng">
            <a:noFill/>
            <a:prstDash val="solid"/>
            <a:round/>
          </a:ln>
        </p:spPr>
      </p:pic>
      <p:pic>
        <p:nvPicPr>
          <p:cNvPr id="179" name="Picture 18"/>
          <p:cNvPicPr>
            <a:picLocks noChangeAspect="1"/>
          </p:cNvPicPr>
          <p:nvPr/>
        </p:nvPicPr>
        <p:blipFill>
          <a:blip r:embed="rId6"/>
          <a:srcRect/>
          <a:stretch>
            <a:fillRect/>
          </a:stretch>
        </p:blipFill>
        <p:spPr>
          <a:xfrm rot="-10319999" flipV="1">
            <a:off x="6172200" y="3810000"/>
            <a:ext cx="2057400" cy="1016000"/>
          </a:xfrm>
          <a:prstGeom prst="rect">
            <a:avLst/>
          </a:prstGeom>
          <a:noFill/>
          <a:ln w="25400" cap="flat" cmpd="sng">
            <a:noFill/>
            <a:prstDash val="solid"/>
            <a:round/>
          </a:ln>
        </p:spPr>
      </p:pic>
      <p:pic>
        <p:nvPicPr>
          <p:cNvPr id="180" name="Picture 19"/>
          <p:cNvPicPr>
            <a:picLocks noChangeAspect="1"/>
          </p:cNvPicPr>
          <p:nvPr/>
        </p:nvPicPr>
        <p:blipFill>
          <a:blip r:embed="rId7"/>
          <a:srcRect/>
          <a:stretch>
            <a:fillRect/>
          </a:stretch>
        </p:blipFill>
        <p:spPr>
          <a:xfrm rot="2220000">
            <a:off x="4254500" y="2260600"/>
            <a:ext cx="1079500" cy="1066800"/>
          </a:xfrm>
          <a:prstGeom prst="rect">
            <a:avLst/>
          </a:prstGeom>
          <a:noFill/>
          <a:ln w="25400" cap="flat" cmpd="sng">
            <a:noFill/>
            <a:prstDash val="solid"/>
            <a:round/>
          </a:ln>
        </p:spPr>
      </p:pic>
      <p:sp>
        <p:nvSpPr>
          <p:cNvPr id="181" name="AutoShape 20"/>
          <p:cNvSpPr/>
          <p:nvPr/>
        </p:nvSpPr>
        <p:spPr>
          <a:xfrm>
            <a:off x="1041400" y="2641600"/>
            <a:ext cx="29972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800" b="0" i="0" u="none" strike="noStrike" err="1">
                <a:solidFill>
                  <a:srgbClr val="000000"/>
                </a:solidFill>
                <a:latin typeface="Geist"/>
                <a:ea typeface="Geist"/>
                <a:cs typeface="Geist"/>
                <a:sym typeface="Geist"/>
              </a:rPr>
              <a:t>Algoritme</a:t>
            </a:r>
            <a:endParaRPr lang="en-US" sz="1100"/>
          </a:p>
        </p:txBody>
      </p:sp>
      <p:sp>
        <p:nvSpPr>
          <p:cNvPr id="182" name="AutoShape 21"/>
          <p:cNvSpPr/>
          <p:nvPr/>
        </p:nvSpPr>
        <p:spPr>
          <a:xfrm>
            <a:off x="4051000" y="2207517"/>
            <a:ext cx="35941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800" b="0" i="0" u="none" strike="noStrike" err="1">
                <a:solidFill>
                  <a:srgbClr val="000000"/>
                </a:solidFill>
                <a:latin typeface="Geist"/>
                <a:ea typeface="Geist"/>
                <a:cs typeface="Geist"/>
                <a:sym typeface="Geist"/>
              </a:rPr>
              <a:t>Nedbrydning</a:t>
            </a:r>
            <a:endParaRPr lang="en-US" sz="1100"/>
          </a:p>
        </p:txBody>
      </p:sp>
      <p:sp>
        <p:nvSpPr>
          <p:cNvPr id="183" name="AutoShape 22"/>
          <p:cNvSpPr/>
          <p:nvPr/>
        </p:nvSpPr>
        <p:spPr>
          <a:xfrm>
            <a:off x="5156200" y="2819400"/>
            <a:ext cx="29972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800" b="0" i="0" u="none" strike="noStrike">
                <a:solidFill>
                  <a:srgbClr val="000000"/>
                </a:solidFill>
                <a:latin typeface="Geist"/>
                <a:ea typeface="Geist"/>
                <a:cs typeface="Geist"/>
                <a:sym typeface="Geist"/>
              </a:rPr>
              <a:t>Sekventiel</a:t>
            </a:r>
            <a:endParaRPr lang="en-US" sz="1100"/>
          </a:p>
        </p:txBody>
      </p:sp>
      <p:sp>
        <p:nvSpPr>
          <p:cNvPr id="184" name="AutoShape 23"/>
          <p:cNvSpPr/>
          <p:nvPr/>
        </p:nvSpPr>
        <p:spPr>
          <a:xfrm>
            <a:off x="7302500" y="3492500"/>
            <a:ext cx="16891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400" b="0" i="0" u="none" strike="noStrike" dirty="0">
                <a:solidFill>
                  <a:srgbClr val="000000"/>
                </a:solidFill>
                <a:latin typeface="Geist"/>
                <a:ea typeface="Geist"/>
                <a:cs typeface="Geist"/>
                <a:sym typeface="Geist"/>
              </a:rPr>
              <a:t>Iteration: </a:t>
            </a:r>
            <a:r>
              <a:rPr lang="en-US" sz="2400" b="0" i="0" u="none" strike="noStrike" dirty="0" err="1">
                <a:solidFill>
                  <a:srgbClr val="000000"/>
                </a:solidFill>
                <a:latin typeface="Geist"/>
                <a:ea typeface="Geist"/>
                <a:cs typeface="Geist"/>
                <a:sym typeface="Geist"/>
              </a:rPr>
              <a:t>Gentagelse</a:t>
            </a:r>
            <a:endParaRPr lang="en-US" sz="1100" dirty="0"/>
          </a:p>
        </p:txBody>
      </p:sp>
      <p:sp>
        <p:nvSpPr>
          <p:cNvPr id="185" name="AutoShape 24"/>
          <p:cNvSpPr/>
          <p:nvPr/>
        </p:nvSpPr>
        <p:spPr>
          <a:xfrm>
            <a:off x="1094517" y="976378"/>
            <a:ext cx="7645400" cy="1066800"/>
          </a:xfrm>
          <a:prstGeom prst="rect">
            <a:avLst/>
          </a:prstGeom>
          <a:noFill/>
          <a:ln w="9525" cap="flat" cmpd="sng">
            <a:noFill/>
            <a:prstDash val="solid"/>
            <a:round/>
          </a:ln>
        </p:spPr>
        <p:txBody>
          <a:bodyPr vert="horz" wrap="square" lIns="88900" tIns="88900" rIns="88900" bIns="88900" rtlCol="0" anchor="t" anchorCtr="0"/>
          <a:lstStyle/>
          <a:p>
            <a:pPr>
              <a:defRPr/>
            </a:pPr>
            <a:r>
              <a:rPr lang="en-US" sz="1800" b="0" i="0" u="none" strike="noStrike">
                <a:solidFill>
                  <a:srgbClr val="000000"/>
                </a:solidFill>
                <a:latin typeface="Geist"/>
                <a:ea typeface="Geist"/>
                <a:cs typeface="Geist"/>
                <a:sym typeface="Geist"/>
              </a:rPr>
              <a:t>En </a:t>
            </a:r>
            <a:r>
              <a:rPr lang="en-US" sz="1800" b="0" i="0" u="none" strike="noStrike" err="1">
                <a:solidFill>
                  <a:srgbClr val="000000"/>
                </a:solidFill>
                <a:latin typeface="Geist"/>
                <a:ea typeface="Geist"/>
                <a:cs typeface="Geist"/>
                <a:sym typeface="Geist"/>
              </a:rPr>
              <a:t>algoritme</a:t>
            </a:r>
            <a:r>
              <a:rPr lang="en-US" sz="1800" b="0" i="0" u="none" strike="noStrike">
                <a:solidFill>
                  <a:srgbClr val="000000"/>
                </a:solidFill>
                <a:latin typeface="Geist"/>
                <a:ea typeface="Geist"/>
                <a:cs typeface="Geist"/>
                <a:sym typeface="Geist"/>
              </a:rPr>
              <a:t> er </a:t>
            </a:r>
            <a:r>
              <a:rPr lang="en-US" sz="1800" b="0" i="0" u="none" strike="noStrike" err="1">
                <a:solidFill>
                  <a:srgbClr val="000000"/>
                </a:solidFill>
                <a:latin typeface="Geist"/>
                <a:ea typeface="Geist"/>
                <a:cs typeface="Geist"/>
                <a:sym typeface="Geist"/>
              </a:rPr>
              <a:t>en</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trinvis</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fremgangsmåde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til</a:t>
            </a:r>
            <a:r>
              <a:rPr lang="en-US" sz="1800" b="0" i="0" u="none" strike="noStrike">
                <a:solidFill>
                  <a:srgbClr val="000000"/>
                </a:solidFill>
                <a:latin typeface="Geist"/>
                <a:ea typeface="Geist"/>
                <a:cs typeface="Geist"/>
                <a:sym typeface="Geist"/>
              </a:rPr>
              <a:t> at </a:t>
            </a:r>
            <a:r>
              <a:rPr lang="en-US" sz="1800" b="0" i="0" u="none" strike="noStrike" err="1">
                <a:solidFill>
                  <a:srgbClr val="000000"/>
                </a:solidFill>
                <a:latin typeface="Geist"/>
                <a:ea typeface="Geist"/>
                <a:cs typeface="Geist"/>
                <a:sym typeface="Geist"/>
              </a:rPr>
              <a:t>løse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problemer</a:t>
            </a:r>
            <a:r>
              <a:rPr lang="en-US" sz="1800" b="0" i="0" u="none" strike="noStrike">
                <a:solidFill>
                  <a:srgbClr val="000000"/>
                </a:solidFill>
                <a:latin typeface="Geist"/>
                <a:ea typeface="Geist"/>
                <a:cs typeface="Geist"/>
                <a:sym typeface="Geist"/>
              </a:rPr>
              <a:t>. Vi </a:t>
            </a:r>
            <a:r>
              <a:rPr lang="en-US" sz="1800" b="0" i="0" u="none" strike="noStrike" err="1">
                <a:solidFill>
                  <a:srgbClr val="000000"/>
                </a:solidFill>
                <a:latin typeface="Geist"/>
                <a:ea typeface="Geist"/>
                <a:cs typeface="Geist"/>
                <a:sym typeface="Geist"/>
              </a:rPr>
              <a:t>bruger</a:t>
            </a:r>
            <a:r>
              <a:rPr lang="en-US" sz="1800" b="1" i="0" u="none" strike="noStrike" err="1">
                <a:solidFill>
                  <a:srgbClr val="6A62D9"/>
                </a:solidFill>
                <a:latin typeface="Geist"/>
                <a:ea typeface="Geist"/>
                <a:cs typeface="Geist"/>
                <a:sym typeface="Geist"/>
              </a:rPr>
              <a:t>nedbrydning</a:t>
            </a:r>
            <a:r>
              <a:rPr lang="en-US" sz="1800" b="0" i="0" u="none" strike="noStrike" err="1">
                <a:solidFill>
                  <a:srgbClr val="000000"/>
                </a:solidFill>
                <a:latin typeface="Geist"/>
                <a:ea typeface="Geist"/>
                <a:cs typeface="Geist"/>
                <a:sym typeface="Geist"/>
              </a:rPr>
              <a:t>til</a:t>
            </a:r>
            <a:r>
              <a:rPr lang="en-US" sz="1800" b="0" i="0" u="none" strike="noStrike">
                <a:solidFill>
                  <a:srgbClr val="000000"/>
                </a:solidFill>
                <a:latin typeface="Geist"/>
                <a:ea typeface="Geist"/>
                <a:cs typeface="Geist"/>
                <a:sym typeface="Geist"/>
              </a:rPr>
              <a:t> at </a:t>
            </a:r>
            <a:r>
              <a:rPr lang="en-US" sz="1800" b="0" i="0" u="none" strike="noStrike" err="1">
                <a:solidFill>
                  <a:srgbClr val="000000"/>
                </a:solidFill>
                <a:latin typeface="Geist"/>
                <a:ea typeface="Geist"/>
                <a:cs typeface="Geist"/>
                <a:sym typeface="Geist"/>
              </a:rPr>
              <a:t>håndtere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kompleksitet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og</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kontrolstrukturer</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som</a:t>
            </a:r>
            <a:r>
              <a:rPr lang="en-US" sz="1800" b="1" i="0" u="none" strike="noStrike" err="1">
                <a:solidFill>
                  <a:srgbClr val="6A62D9"/>
                </a:solidFill>
                <a:latin typeface="Geist"/>
                <a:ea typeface="Geist"/>
                <a:cs typeface="Geist"/>
                <a:sym typeface="Geist"/>
              </a:rPr>
              <a:t>valg</a:t>
            </a:r>
            <a:r>
              <a:rPr lang="en-US" sz="1800" b="0" i="0" u="none" strike="noStrike" err="1">
                <a:solidFill>
                  <a:srgbClr val="000000"/>
                </a:solidFill>
                <a:latin typeface="Geist"/>
                <a:ea typeface="Geist"/>
                <a:cs typeface="Geist"/>
                <a:sym typeface="Geist"/>
              </a:rPr>
              <a:t>og</a:t>
            </a:r>
            <a:r>
              <a:rPr lang="en-US" sz="1800" b="1" i="0" u="none" strike="noStrike" err="1">
                <a:solidFill>
                  <a:srgbClr val="6A62D9"/>
                </a:solidFill>
                <a:latin typeface="Geist"/>
                <a:ea typeface="Geist"/>
                <a:cs typeface="Geist"/>
                <a:sym typeface="Geist"/>
              </a:rPr>
              <a:t>gentagelse</a:t>
            </a:r>
            <a:r>
              <a:rPr lang="en-US" sz="1800" b="0" i="0" u="none" strike="noStrike" err="1">
                <a:solidFill>
                  <a:srgbClr val="000000"/>
                </a:solidFill>
                <a:latin typeface="Geist"/>
                <a:ea typeface="Geist"/>
                <a:cs typeface="Geist"/>
                <a:sym typeface="Geist"/>
              </a:rPr>
              <a:t>til</a:t>
            </a:r>
            <a:r>
              <a:rPr lang="en-US" sz="1800" b="0" i="0" u="none" strike="noStrike">
                <a:solidFill>
                  <a:srgbClr val="000000"/>
                </a:solidFill>
                <a:latin typeface="Geist"/>
                <a:ea typeface="Geist"/>
                <a:cs typeface="Geist"/>
                <a:sym typeface="Geist"/>
              </a:rPr>
              <a:t> at </a:t>
            </a:r>
            <a:r>
              <a:rPr lang="en-US" sz="1800" b="0" i="0" u="none" strike="noStrike" err="1">
                <a:solidFill>
                  <a:srgbClr val="000000"/>
                </a:solidFill>
                <a:latin typeface="Geist"/>
                <a:ea typeface="Geist"/>
                <a:cs typeface="Geist"/>
                <a:sym typeface="Geist"/>
              </a:rPr>
              <a:t>styre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udførelsen</a:t>
            </a:r>
            <a:r>
              <a:rPr lang="en-US" sz="1800" b="0" i="0" u="none" strike="noStrike">
                <a:solidFill>
                  <a:srgbClr val="000000"/>
                </a:solidFill>
                <a:latin typeface="Geist"/>
                <a:ea typeface="Geist"/>
                <a:cs typeface="Geist"/>
                <a:sym typeface="Geist"/>
              </a:rPr>
              <a:t>. Husk: </a:t>
            </a:r>
            <a:r>
              <a:rPr lang="en-US" sz="1800" b="0" i="0" u="none" strike="noStrike" err="1">
                <a:solidFill>
                  <a:srgbClr val="000000"/>
                </a:solidFill>
                <a:latin typeface="Geist"/>
                <a:ea typeface="Geist"/>
                <a:cs typeface="Geist"/>
                <a:sym typeface="Geist"/>
              </a:rPr>
              <a:t>en</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algoritme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skal</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altid</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terminere</a:t>
            </a:r>
            <a:r>
              <a:rPr lang="en-US" sz="1800" b="0" i="0" u="none" strike="noStrike">
                <a:solidFill>
                  <a:srgbClr val="000000"/>
                </a:solidFill>
                <a:latin typeface="Geist"/>
                <a:ea typeface="Geist"/>
                <a:cs typeface="Geist"/>
                <a:sym typeface="Geist"/>
              </a:rPr>
              <a:t>! </a:t>
            </a:r>
            <a:r>
              <a:rPr lang="en-DK" sz="1800">
                <a:latin typeface="Geist"/>
              </a:rPr>
              <a:t>Til næste gang kan du forklare:</a:t>
            </a:r>
            <a:endParaRPr lang="en-US" sz="1800">
              <a:latin typeface="Geist"/>
            </a:endParaRPr>
          </a:p>
        </p:txBody>
      </p:sp>
    </p:spTree>
  </p:cSld>
  <p:clrMapOvr>
    <a:masterClrMapping/>
  </p:clrMapOvr>
</p:sld>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2600</Words>
  <Application>Microsoft Macintosh PowerPoint</Application>
  <PresentationFormat>On-screen Show (16:9)</PresentationFormat>
  <Paragraphs>178</Paragraphs>
  <Slides>23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Geist</vt:lpstr>
      <vt:lpstr>Geist ExtraBold</vt:lpstr>
      <vt:lpstr>Noto Sans SC</vt:lpstr>
      <vt:lpstr>Arial</vt:lpstr>
      <vt:lpstr>Poppins</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Xiaolei Bi</cp:lastModifiedBy>
  <cp:revision>5</cp:revision>
  <dcterms:created xsi:type="dcterms:W3CDTF">2026-09-01T14:09:12Z</dcterms:created>
  <dcterms:modified xsi:type="dcterms:W3CDTF">2026-09-01T15:02:29Z</dcterms:modified>
</cp:coreProperties>
</file>