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31"/>
  </p:notesMasterIdLst>
  <p:sldIdLst>
    <p:sldId id="256" r:id="rId5"/>
    <p:sldId id="257" r:id="rId6"/>
    <p:sldId id="293" r:id="rId7"/>
    <p:sldId id="294" r:id="rId8"/>
    <p:sldId id="295" r:id="rId9"/>
    <p:sldId id="286" r:id="rId10"/>
    <p:sldId id="296" r:id="rId11"/>
    <p:sldId id="263" r:id="rId12"/>
    <p:sldId id="261" r:id="rId13"/>
    <p:sldId id="262" r:id="rId14"/>
    <p:sldId id="264" r:id="rId15"/>
    <p:sldId id="297" r:id="rId16"/>
    <p:sldId id="268" r:id="rId17"/>
    <p:sldId id="269" r:id="rId18"/>
    <p:sldId id="270" r:id="rId19"/>
    <p:sldId id="298" r:id="rId20"/>
    <p:sldId id="290" r:id="rId21"/>
    <p:sldId id="259" r:id="rId22"/>
    <p:sldId id="299" r:id="rId23"/>
    <p:sldId id="288" r:id="rId24"/>
    <p:sldId id="300" r:id="rId25"/>
    <p:sldId id="276" r:id="rId26"/>
    <p:sldId id="274" r:id="rId27"/>
    <p:sldId id="273" r:id="rId28"/>
    <p:sldId id="289" r:id="rId29"/>
    <p:sldId id="301" r:id="rId3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12"/>
    <p:restoredTop sz="75439"/>
  </p:normalViewPr>
  <p:slideViewPr>
    <p:cSldViewPr>
      <p:cViewPr>
        <p:scale>
          <a:sx n="85" d="100"/>
          <a:sy n="85" d="100"/>
        </p:scale>
        <p:origin x="-64" y="1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D4008-C922-4108-9D85-1F41057B5639}" type="doc">
      <dgm:prSet loTypeId="urn:microsoft.com/office/officeart/2008/layout/LinedList" loCatId="list" qsTypeId="urn:microsoft.com/office/officeart/2005/8/quickstyle/simple1#20" qsCatId="simple" csTypeId="urn:microsoft.com/office/officeart/2005/8/colors/accent1_2#13" csCatId="accent1"/>
      <dgm:spPr/>
      <dgm:t>
        <a:bodyPr/>
        <a:lstStyle/>
        <a:p>
          <a:endParaRPr lang="en-US"/>
        </a:p>
      </dgm:t>
    </dgm:pt>
    <dgm:pt modelId="{DE07F560-29EC-4022-AAA7-78D0CAFC9898}">
      <dgm:prSet/>
      <dgm:spPr/>
      <dgm:t>
        <a:bodyPr/>
        <a:lstStyle/>
        <a:p>
          <a:r>
            <a:rPr lang="en-US"/>
            <a:t>public class ArrayDemo {</a:t>
          </a:r>
        </a:p>
      </dgm:t>
    </dgm:pt>
    <dgm:pt modelId="{D83633B9-C82C-4C06-A577-5BE991EAA382}" type="parTrans" cxnId="{5FFAEB38-F8F5-4BEB-B930-CA3640A39340}">
      <dgm:prSet/>
      <dgm:spPr/>
      <dgm:t>
        <a:bodyPr/>
        <a:lstStyle/>
        <a:p>
          <a:endParaRPr lang="en-US"/>
        </a:p>
      </dgm:t>
    </dgm:pt>
    <dgm:pt modelId="{0941F6FE-47D3-461D-9B56-EA53D6408CC2}" type="sibTrans" cxnId="{5FFAEB38-F8F5-4BEB-B930-CA3640A39340}">
      <dgm:prSet/>
      <dgm:spPr/>
      <dgm:t>
        <a:bodyPr/>
        <a:lstStyle/>
        <a:p>
          <a:endParaRPr lang="en-US"/>
        </a:p>
      </dgm:t>
    </dgm:pt>
    <dgm:pt modelId="{53748849-E4BB-4E44-8D4C-530BF42A76B2}">
      <dgm:prSet/>
      <dgm:spPr/>
      <dgm:t>
        <a:bodyPr/>
        <a:lstStyle/>
        <a:p>
          <a:r>
            <a:rPr lang="en-US"/>
            <a:t>public static void main(String[] args) {</a:t>
          </a:r>
        </a:p>
      </dgm:t>
    </dgm:pt>
    <dgm:pt modelId="{78F16D70-B7B6-4017-ACF8-6D2D69F77833}" type="parTrans" cxnId="{CED13DC1-469B-4EC9-9173-1203A2F10A26}">
      <dgm:prSet/>
      <dgm:spPr/>
      <dgm:t>
        <a:bodyPr/>
        <a:lstStyle/>
        <a:p>
          <a:endParaRPr lang="en-US"/>
        </a:p>
      </dgm:t>
    </dgm:pt>
    <dgm:pt modelId="{6BB867AF-E702-4928-BFA9-E88958370059}" type="sibTrans" cxnId="{CED13DC1-469B-4EC9-9173-1203A2F10A26}">
      <dgm:prSet/>
      <dgm:spPr/>
      <dgm:t>
        <a:bodyPr/>
        <a:lstStyle/>
        <a:p>
          <a:endParaRPr lang="en-US"/>
        </a:p>
      </dgm:t>
    </dgm:pt>
    <dgm:pt modelId="{6D627561-D9CB-486D-A907-2F5FED0768CF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int[] </a:t>
          </a:r>
          <a:r>
            <a:rPr lang="en-US" dirty="0" err="1"/>
            <a:t>vorTabel</a:t>
          </a:r>
          <a:r>
            <a:rPr lang="en-US" dirty="0"/>
            <a:t> = {5, 3, -2, 9, 0, -5, 10, 11, -7, 10};</a:t>
          </a:r>
        </a:p>
      </dgm:t>
    </dgm:pt>
    <dgm:pt modelId="{A3C3C5DA-61BB-4288-8EDE-24C4D5ABA586}" type="parTrans" cxnId="{2D3F134F-60F6-4817-B0D1-A6076929E32B}">
      <dgm:prSet/>
      <dgm:spPr/>
      <dgm:t>
        <a:bodyPr/>
        <a:lstStyle/>
        <a:p>
          <a:endParaRPr lang="en-US"/>
        </a:p>
      </dgm:t>
    </dgm:pt>
    <dgm:pt modelId="{ED033004-D420-42C1-99E0-55347264E4F8}" type="sibTrans" cxnId="{2D3F134F-60F6-4817-B0D1-A6076929E32B}">
      <dgm:prSet/>
      <dgm:spPr/>
      <dgm:t>
        <a:bodyPr/>
        <a:lstStyle/>
        <a:p>
          <a:endParaRPr lang="en-US"/>
        </a:p>
      </dgm:t>
    </dgm:pt>
    <dgm:pt modelId="{DC75136D-53CF-487A-BA7C-08DFD4FA26DC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for</a:t>
          </a:r>
          <a:r>
            <a:rPr lang="en-US" dirty="0"/>
            <a:t> (int </a:t>
          </a:r>
          <a:r>
            <a:rPr lang="en-US" dirty="0" err="1"/>
            <a:t>i</a:t>
          </a:r>
          <a:r>
            <a:rPr lang="en-US" dirty="0"/>
            <a:t> = 0; </a:t>
          </a:r>
          <a:r>
            <a:rPr lang="en-US" dirty="0" err="1"/>
            <a:t>i</a:t>
          </a:r>
          <a:r>
            <a:rPr lang="en-US" dirty="0"/>
            <a:t> &lt; </a:t>
          </a:r>
          <a:r>
            <a:rPr lang="en-US" dirty="0" err="1"/>
            <a:t>vorTabel.length</a:t>
          </a:r>
          <a:r>
            <a:rPr lang="en-US" dirty="0"/>
            <a:t>; </a:t>
          </a:r>
          <a:r>
            <a:rPr lang="en-US" dirty="0" err="1"/>
            <a:t>i</a:t>
          </a:r>
          <a:r>
            <a:rPr lang="en-US" dirty="0"/>
            <a:t>++) {</a:t>
          </a:r>
        </a:p>
      </dgm:t>
    </dgm:pt>
    <dgm:pt modelId="{B7755767-92F7-4D5D-8F2B-A710C9CD75BF}" type="parTrans" cxnId="{928042D6-50B4-4AE9-832B-E13B8CEF4EA1}">
      <dgm:prSet/>
      <dgm:spPr/>
      <dgm:t>
        <a:bodyPr/>
        <a:lstStyle/>
        <a:p>
          <a:endParaRPr lang="en-US"/>
        </a:p>
      </dgm:t>
    </dgm:pt>
    <dgm:pt modelId="{FCA2FA6B-0EA9-4B1B-AF8D-24BD2C02E478}" type="sibTrans" cxnId="{928042D6-50B4-4AE9-832B-E13B8CEF4EA1}">
      <dgm:prSet/>
      <dgm:spPr/>
      <dgm:t>
        <a:bodyPr/>
        <a:lstStyle/>
        <a:p>
          <a:endParaRPr lang="en-US"/>
        </a:p>
      </dgm:t>
    </dgm:pt>
    <dgm:pt modelId="{0D1DDC7A-779F-4B9B-B699-51596572EC33}">
      <dgm:prSet/>
      <dgm:spPr/>
      <dgm:t>
        <a:bodyPr/>
        <a:lstStyle/>
        <a:p>
          <a:r>
            <a:rPr lang="en-US" dirty="0" err="1"/>
            <a:t>System.out.println</a:t>
          </a:r>
          <a:r>
            <a:rPr lang="en-US" dirty="0"/>
            <a:t>(</a:t>
          </a:r>
          <a:r>
            <a:rPr lang="en-US" dirty="0" err="1"/>
            <a:t>vorTabel</a:t>
          </a:r>
          <a:r>
            <a:rPr lang="en-US" dirty="0"/>
            <a:t>[</a:t>
          </a:r>
          <a:r>
            <a:rPr lang="en-US" dirty="0" err="1"/>
            <a:t>i</a:t>
          </a:r>
          <a:r>
            <a:rPr lang="en-US" dirty="0"/>
            <a:t>]);</a:t>
          </a:r>
        </a:p>
      </dgm:t>
    </dgm:pt>
    <dgm:pt modelId="{437D5344-0947-4B19-AA96-FACF56DBF475}" type="parTrans" cxnId="{9A053617-1C96-4386-B1B2-747C10363FA8}">
      <dgm:prSet/>
      <dgm:spPr/>
      <dgm:t>
        <a:bodyPr/>
        <a:lstStyle/>
        <a:p>
          <a:endParaRPr lang="en-US"/>
        </a:p>
      </dgm:t>
    </dgm:pt>
    <dgm:pt modelId="{56B56120-2EFE-4E4C-B4F2-367E11E95E2C}" type="sibTrans" cxnId="{9A053617-1C96-4386-B1B2-747C10363FA8}">
      <dgm:prSet/>
      <dgm:spPr/>
      <dgm:t>
        <a:bodyPr/>
        <a:lstStyle/>
        <a:p>
          <a:endParaRPr lang="en-US"/>
        </a:p>
      </dgm:t>
    </dgm:pt>
    <dgm:pt modelId="{56952FBF-E470-45B1-A131-DB31E673D3D3}">
      <dgm:prSet/>
      <dgm:spPr/>
      <dgm:t>
        <a:bodyPr/>
        <a:lstStyle/>
        <a:p>
          <a:r>
            <a:rPr lang="en-US" dirty="0"/>
            <a:t>}</a:t>
          </a:r>
        </a:p>
      </dgm:t>
    </dgm:pt>
    <dgm:pt modelId="{D938164C-FDBB-435E-A701-664E13CC668F}" type="parTrans" cxnId="{F7128F3F-830A-49F0-A710-63F5A4A559AB}">
      <dgm:prSet/>
      <dgm:spPr/>
      <dgm:t>
        <a:bodyPr/>
        <a:lstStyle/>
        <a:p>
          <a:endParaRPr lang="en-US"/>
        </a:p>
      </dgm:t>
    </dgm:pt>
    <dgm:pt modelId="{EF4889D6-716B-484A-8E0D-7AC38635BB98}" type="sibTrans" cxnId="{F7128F3F-830A-49F0-A710-63F5A4A559AB}">
      <dgm:prSet/>
      <dgm:spPr/>
      <dgm:t>
        <a:bodyPr/>
        <a:lstStyle/>
        <a:p>
          <a:endParaRPr lang="en-US"/>
        </a:p>
      </dgm:t>
    </dgm:pt>
    <dgm:pt modelId="{9BF3A7AF-5472-4F14-9C39-8B15A7FDFD24}">
      <dgm:prSet/>
      <dgm:spPr/>
      <dgm:t>
        <a:bodyPr/>
        <a:lstStyle/>
        <a:p>
          <a:r>
            <a:rPr lang="en-US"/>
            <a:t>}</a:t>
          </a:r>
        </a:p>
      </dgm:t>
    </dgm:pt>
    <dgm:pt modelId="{5E3F1034-D1AB-46A1-90BD-A5B11F59D033}" type="parTrans" cxnId="{AB37F85C-C640-4275-A756-779F9C51E5DE}">
      <dgm:prSet/>
      <dgm:spPr/>
      <dgm:t>
        <a:bodyPr/>
        <a:lstStyle/>
        <a:p>
          <a:endParaRPr lang="en-US"/>
        </a:p>
      </dgm:t>
    </dgm:pt>
    <dgm:pt modelId="{A2A5317C-ED6B-461E-89DA-07865590E4BD}" type="sibTrans" cxnId="{AB37F85C-C640-4275-A756-779F9C51E5DE}">
      <dgm:prSet/>
      <dgm:spPr/>
      <dgm:t>
        <a:bodyPr/>
        <a:lstStyle/>
        <a:p>
          <a:endParaRPr lang="en-US"/>
        </a:p>
      </dgm:t>
    </dgm:pt>
    <dgm:pt modelId="{1DA29542-621A-49F5-9602-31C067760761}">
      <dgm:prSet/>
      <dgm:spPr/>
      <dgm:t>
        <a:bodyPr/>
        <a:lstStyle/>
        <a:p>
          <a:r>
            <a:rPr lang="en-US"/>
            <a:t>}</a:t>
          </a:r>
        </a:p>
      </dgm:t>
    </dgm:pt>
    <dgm:pt modelId="{F6FAD349-8784-40D1-ABE9-8EDD26A2E50A}" type="parTrans" cxnId="{CF060B7A-6667-4A7F-9F99-FAE4983ADF51}">
      <dgm:prSet/>
      <dgm:spPr/>
      <dgm:t>
        <a:bodyPr/>
        <a:lstStyle/>
        <a:p>
          <a:endParaRPr lang="en-US"/>
        </a:p>
      </dgm:t>
    </dgm:pt>
    <dgm:pt modelId="{AA1FC85E-884A-4D0A-8ACB-731B39087859}" type="sibTrans" cxnId="{CF060B7A-6667-4A7F-9F99-FAE4983ADF51}">
      <dgm:prSet/>
      <dgm:spPr/>
      <dgm:t>
        <a:bodyPr/>
        <a:lstStyle/>
        <a:p>
          <a:endParaRPr lang="en-US"/>
        </a:p>
      </dgm:t>
    </dgm:pt>
    <dgm:pt modelId="{B549078E-1829-EF42-AA58-B60D60E263CA}" type="pres">
      <dgm:prSet presAssocID="{C10D4008-C922-4108-9D85-1F41057B5639}" presName="vert0" presStyleCnt="0">
        <dgm:presLayoutVars>
          <dgm:dir/>
          <dgm:animOne val="branch"/>
          <dgm:animLvl val="lvl"/>
        </dgm:presLayoutVars>
      </dgm:prSet>
      <dgm:spPr/>
    </dgm:pt>
    <dgm:pt modelId="{2EC94FE9-2E5B-674C-B7B0-F61187BE1837}" type="pres">
      <dgm:prSet presAssocID="{DE07F560-29EC-4022-AAA7-78D0CAFC9898}" presName="thickLine" presStyleLbl="alignNode1" presStyleIdx="0" presStyleCnt="8"/>
      <dgm:spPr/>
    </dgm:pt>
    <dgm:pt modelId="{CE61EBAC-A237-E14A-AD46-C10B51AA318E}" type="pres">
      <dgm:prSet presAssocID="{DE07F560-29EC-4022-AAA7-78D0CAFC9898}" presName="horz1" presStyleCnt="0"/>
      <dgm:spPr/>
    </dgm:pt>
    <dgm:pt modelId="{A33A9946-DCAA-BF40-8198-029AAFFD2966}" type="pres">
      <dgm:prSet presAssocID="{DE07F560-29EC-4022-AAA7-78D0CAFC9898}" presName="tx1" presStyleLbl="revTx" presStyleIdx="0" presStyleCnt="8"/>
      <dgm:spPr/>
    </dgm:pt>
    <dgm:pt modelId="{C1CACF0C-CE8B-D540-9C68-59599F1B0038}" type="pres">
      <dgm:prSet presAssocID="{DE07F560-29EC-4022-AAA7-78D0CAFC9898}" presName="vert1" presStyleCnt="0"/>
      <dgm:spPr/>
    </dgm:pt>
    <dgm:pt modelId="{200847A5-EB9B-8A44-866F-EC3426B38890}" type="pres">
      <dgm:prSet presAssocID="{53748849-E4BB-4E44-8D4C-530BF42A76B2}" presName="thickLine" presStyleLbl="alignNode1" presStyleIdx="1" presStyleCnt="8"/>
      <dgm:spPr/>
    </dgm:pt>
    <dgm:pt modelId="{C0E7CAC2-8319-F64B-93F2-F730365A46E0}" type="pres">
      <dgm:prSet presAssocID="{53748849-E4BB-4E44-8D4C-530BF42A76B2}" presName="horz1" presStyleCnt="0"/>
      <dgm:spPr/>
    </dgm:pt>
    <dgm:pt modelId="{F0742BDD-162B-C046-BDDA-6916A8F207BB}" type="pres">
      <dgm:prSet presAssocID="{53748849-E4BB-4E44-8D4C-530BF42A76B2}" presName="tx1" presStyleLbl="revTx" presStyleIdx="1" presStyleCnt="8"/>
      <dgm:spPr/>
    </dgm:pt>
    <dgm:pt modelId="{D735F032-7B94-7E41-9021-F7D2AB47003C}" type="pres">
      <dgm:prSet presAssocID="{53748849-E4BB-4E44-8D4C-530BF42A76B2}" presName="vert1" presStyleCnt="0"/>
      <dgm:spPr/>
    </dgm:pt>
    <dgm:pt modelId="{97AF92D6-1027-EE4C-BD7B-1C53482E639E}" type="pres">
      <dgm:prSet presAssocID="{6D627561-D9CB-486D-A907-2F5FED0768CF}" presName="thickLine" presStyleLbl="alignNode1" presStyleIdx="2" presStyleCnt="8"/>
      <dgm:spPr/>
    </dgm:pt>
    <dgm:pt modelId="{49B22595-BB89-DE40-86D3-149AFFE53A59}" type="pres">
      <dgm:prSet presAssocID="{6D627561-D9CB-486D-A907-2F5FED0768CF}" presName="horz1" presStyleCnt="0"/>
      <dgm:spPr/>
    </dgm:pt>
    <dgm:pt modelId="{8C151899-D574-9C49-A5C0-B62938448151}" type="pres">
      <dgm:prSet presAssocID="{6D627561-D9CB-486D-A907-2F5FED0768CF}" presName="tx1" presStyleLbl="revTx" presStyleIdx="2" presStyleCnt="8"/>
      <dgm:spPr/>
    </dgm:pt>
    <dgm:pt modelId="{8F772AB0-3B7B-B64D-8616-4DA058932E92}" type="pres">
      <dgm:prSet presAssocID="{6D627561-D9CB-486D-A907-2F5FED0768CF}" presName="vert1" presStyleCnt="0"/>
      <dgm:spPr/>
    </dgm:pt>
    <dgm:pt modelId="{DD4F6B58-842B-2C45-ADF4-1AA85883A708}" type="pres">
      <dgm:prSet presAssocID="{DC75136D-53CF-487A-BA7C-08DFD4FA26DC}" presName="thickLine" presStyleLbl="alignNode1" presStyleIdx="3" presStyleCnt="8"/>
      <dgm:spPr/>
    </dgm:pt>
    <dgm:pt modelId="{12540DC1-DE22-F94B-B6BE-17B9F2FE2139}" type="pres">
      <dgm:prSet presAssocID="{DC75136D-53CF-487A-BA7C-08DFD4FA26DC}" presName="horz1" presStyleCnt="0"/>
      <dgm:spPr/>
    </dgm:pt>
    <dgm:pt modelId="{68D15D12-E300-884E-879F-2C5F3A3C4873}" type="pres">
      <dgm:prSet presAssocID="{DC75136D-53CF-487A-BA7C-08DFD4FA26DC}" presName="tx1" presStyleLbl="revTx" presStyleIdx="3" presStyleCnt="8"/>
      <dgm:spPr/>
    </dgm:pt>
    <dgm:pt modelId="{9F157810-0F28-2842-B98B-E965227D4CDF}" type="pres">
      <dgm:prSet presAssocID="{DC75136D-53CF-487A-BA7C-08DFD4FA26DC}" presName="vert1" presStyleCnt="0"/>
      <dgm:spPr/>
    </dgm:pt>
    <dgm:pt modelId="{7DDBF8A7-FB4A-FA43-B01B-7623E27B35C6}" type="pres">
      <dgm:prSet presAssocID="{0D1DDC7A-779F-4B9B-B699-51596572EC33}" presName="thickLine" presStyleLbl="alignNode1" presStyleIdx="4" presStyleCnt="8"/>
      <dgm:spPr/>
    </dgm:pt>
    <dgm:pt modelId="{787750C9-0A9C-B44D-B267-F59973C9C91A}" type="pres">
      <dgm:prSet presAssocID="{0D1DDC7A-779F-4B9B-B699-51596572EC33}" presName="horz1" presStyleCnt="0"/>
      <dgm:spPr/>
    </dgm:pt>
    <dgm:pt modelId="{06671207-8F43-B44E-9FC0-DEB64A713775}" type="pres">
      <dgm:prSet presAssocID="{0D1DDC7A-779F-4B9B-B699-51596572EC33}" presName="tx1" presStyleLbl="revTx" presStyleIdx="4" presStyleCnt="8"/>
      <dgm:spPr/>
    </dgm:pt>
    <dgm:pt modelId="{512981FE-520C-794D-83B1-D2A40FEBF14F}" type="pres">
      <dgm:prSet presAssocID="{0D1DDC7A-779F-4B9B-B699-51596572EC33}" presName="vert1" presStyleCnt="0"/>
      <dgm:spPr/>
    </dgm:pt>
    <dgm:pt modelId="{C94CF5D7-2949-7548-BE64-29DCEAE61634}" type="pres">
      <dgm:prSet presAssocID="{56952FBF-E470-45B1-A131-DB31E673D3D3}" presName="thickLine" presStyleLbl="alignNode1" presStyleIdx="5" presStyleCnt="8"/>
      <dgm:spPr/>
    </dgm:pt>
    <dgm:pt modelId="{3DFDFC3A-B447-A846-9EA5-401457DC76EE}" type="pres">
      <dgm:prSet presAssocID="{56952FBF-E470-45B1-A131-DB31E673D3D3}" presName="horz1" presStyleCnt="0"/>
      <dgm:spPr/>
    </dgm:pt>
    <dgm:pt modelId="{C940AA7A-1C7B-D74E-A79E-428CDB109C23}" type="pres">
      <dgm:prSet presAssocID="{56952FBF-E470-45B1-A131-DB31E673D3D3}" presName="tx1" presStyleLbl="revTx" presStyleIdx="5" presStyleCnt="8"/>
      <dgm:spPr/>
    </dgm:pt>
    <dgm:pt modelId="{F2339A14-D06B-7C44-B570-736750683696}" type="pres">
      <dgm:prSet presAssocID="{56952FBF-E470-45B1-A131-DB31E673D3D3}" presName="vert1" presStyleCnt="0"/>
      <dgm:spPr/>
    </dgm:pt>
    <dgm:pt modelId="{16741459-3435-FA45-B00C-801EE37091E7}" type="pres">
      <dgm:prSet presAssocID="{9BF3A7AF-5472-4F14-9C39-8B15A7FDFD24}" presName="thickLine" presStyleLbl="alignNode1" presStyleIdx="6" presStyleCnt="8"/>
      <dgm:spPr/>
    </dgm:pt>
    <dgm:pt modelId="{33F7E452-2404-5144-A380-1695415BD542}" type="pres">
      <dgm:prSet presAssocID="{9BF3A7AF-5472-4F14-9C39-8B15A7FDFD24}" presName="horz1" presStyleCnt="0"/>
      <dgm:spPr/>
    </dgm:pt>
    <dgm:pt modelId="{213A5241-DAE6-2B4B-9A5B-51D461CB1655}" type="pres">
      <dgm:prSet presAssocID="{9BF3A7AF-5472-4F14-9C39-8B15A7FDFD24}" presName="tx1" presStyleLbl="revTx" presStyleIdx="6" presStyleCnt="8"/>
      <dgm:spPr/>
    </dgm:pt>
    <dgm:pt modelId="{C1679F8C-A109-BD48-BC23-54524AE6D783}" type="pres">
      <dgm:prSet presAssocID="{9BF3A7AF-5472-4F14-9C39-8B15A7FDFD24}" presName="vert1" presStyleCnt="0"/>
      <dgm:spPr/>
    </dgm:pt>
    <dgm:pt modelId="{4BAB5A06-93EC-7448-96D7-9531ACD253EF}" type="pres">
      <dgm:prSet presAssocID="{1DA29542-621A-49F5-9602-31C067760761}" presName="thickLine" presStyleLbl="alignNode1" presStyleIdx="7" presStyleCnt="8"/>
      <dgm:spPr/>
    </dgm:pt>
    <dgm:pt modelId="{3E5FA47D-7A6F-EE44-9A4B-E11B3E8968CB}" type="pres">
      <dgm:prSet presAssocID="{1DA29542-621A-49F5-9602-31C067760761}" presName="horz1" presStyleCnt="0"/>
      <dgm:spPr/>
    </dgm:pt>
    <dgm:pt modelId="{E05C8A42-6861-294C-ADE6-CE592CA947E1}" type="pres">
      <dgm:prSet presAssocID="{1DA29542-621A-49F5-9602-31C067760761}" presName="tx1" presStyleLbl="revTx" presStyleIdx="7" presStyleCnt="8"/>
      <dgm:spPr/>
    </dgm:pt>
    <dgm:pt modelId="{33450AA7-27B0-8E4C-A761-E2666880D880}" type="pres">
      <dgm:prSet presAssocID="{1DA29542-621A-49F5-9602-31C067760761}" presName="vert1" presStyleCnt="0"/>
      <dgm:spPr/>
    </dgm:pt>
  </dgm:ptLst>
  <dgm:cxnLst>
    <dgm:cxn modelId="{9A053617-1C96-4386-B1B2-747C10363FA8}" srcId="{C10D4008-C922-4108-9D85-1F41057B5639}" destId="{0D1DDC7A-779F-4B9B-B699-51596572EC33}" srcOrd="4" destOrd="0" parTransId="{437D5344-0947-4B19-AA96-FACF56DBF475}" sibTransId="{56B56120-2EFE-4E4C-B4F2-367E11E95E2C}"/>
    <dgm:cxn modelId="{D8B7BF17-2F0D-6B44-A364-166C8B715E7E}" type="presOf" srcId="{56952FBF-E470-45B1-A131-DB31E673D3D3}" destId="{C940AA7A-1C7B-D74E-A79E-428CDB109C23}" srcOrd="0" destOrd="0" presId="urn:microsoft.com/office/officeart/2008/layout/LinedList"/>
    <dgm:cxn modelId="{D744D023-868A-C143-98DB-5C519DC511E0}" type="presOf" srcId="{DC75136D-53CF-487A-BA7C-08DFD4FA26DC}" destId="{68D15D12-E300-884E-879F-2C5F3A3C4873}" srcOrd="0" destOrd="0" presId="urn:microsoft.com/office/officeart/2008/layout/LinedList"/>
    <dgm:cxn modelId="{5FFAEB38-F8F5-4BEB-B930-CA3640A39340}" srcId="{C10D4008-C922-4108-9D85-1F41057B5639}" destId="{DE07F560-29EC-4022-AAA7-78D0CAFC9898}" srcOrd="0" destOrd="0" parTransId="{D83633B9-C82C-4C06-A577-5BE991EAA382}" sibTransId="{0941F6FE-47D3-461D-9B56-EA53D6408CC2}"/>
    <dgm:cxn modelId="{F7128F3F-830A-49F0-A710-63F5A4A559AB}" srcId="{C10D4008-C922-4108-9D85-1F41057B5639}" destId="{56952FBF-E470-45B1-A131-DB31E673D3D3}" srcOrd="5" destOrd="0" parTransId="{D938164C-FDBB-435E-A701-664E13CC668F}" sibTransId="{EF4889D6-716B-484A-8E0D-7AC38635BB98}"/>
    <dgm:cxn modelId="{2D3F134F-60F6-4817-B0D1-A6076929E32B}" srcId="{C10D4008-C922-4108-9D85-1F41057B5639}" destId="{6D627561-D9CB-486D-A907-2F5FED0768CF}" srcOrd="2" destOrd="0" parTransId="{A3C3C5DA-61BB-4288-8EDE-24C4D5ABA586}" sibTransId="{ED033004-D420-42C1-99E0-55347264E4F8}"/>
    <dgm:cxn modelId="{F834E65C-303F-F943-9E38-9AA3CE8F7849}" type="presOf" srcId="{0D1DDC7A-779F-4B9B-B699-51596572EC33}" destId="{06671207-8F43-B44E-9FC0-DEB64A713775}" srcOrd="0" destOrd="0" presId="urn:microsoft.com/office/officeart/2008/layout/LinedList"/>
    <dgm:cxn modelId="{AB37F85C-C640-4275-A756-779F9C51E5DE}" srcId="{C10D4008-C922-4108-9D85-1F41057B5639}" destId="{9BF3A7AF-5472-4F14-9C39-8B15A7FDFD24}" srcOrd="6" destOrd="0" parTransId="{5E3F1034-D1AB-46A1-90BD-A5B11F59D033}" sibTransId="{A2A5317C-ED6B-461E-89DA-07865590E4BD}"/>
    <dgm:cxn modelId="{CF060B7A-6667-4A7F-9F99-FAE4983ADF51}" srcId="{C10D4008-C922-4108-9D85-1F41057B5639}" destId="{1DA29542-621A-49F5-9602-31C067760761}" srcOrd="7" destOrd="0" parTransId="{F6FAD349-8784-40D1-ABE9-8EDD26A2E50A}" sibTransId="{AA1FC85E-884A-4D0A-8ACB-731B39087859}"/>
    <dgm:cxn modelId="{61896B83-AD19-7447-8B9C-2B44CA8801F6}" type="presOf" srcId="{9BF3A7AF-5472-4F14-9C39-8B15A7FDFD24}" destId="{213A5241-DAE6-2B4B-9A5B-51D461CB1655}" srcOrd="0" destOrd="0" presId="urn:microsoft.com/office/officeart/2008/layout/LinedList"/>
    <dgm:cxn modelId="{DEDFFB94-73B9-D546-B0E8-E89CBDA3A351}" type="presOf" srcId="{1DA29542-621A-49F5-9602-31C067760761}" destId="{E05C8A42-6861-294C-ADE6-CE592CA947E1}" srcOrd="0" destOrd="0" presId="urn:microsoft.com/office/officeart/2008/layout/LinedList"/>
    <dgm:cxn modelId="{205E9BBE-AB0C-454C-9CE6-9B02F4C9C89A}" type="presOf" srcId="{C10D4008-C922-4108-9D85-1F41057B5639}" destId="{B549078E-1829-EF42-AA58-B60D60E263CA}" srcOrd="0" destOrd="0" presId="urn:microsoft.com/office/officeart/2008/layout/LinedList"/>
    <dgm:cxn modelId="{CED13DC1-469B-4EC9-9173-1203A2F10A26}" srcId="{C10D4008-C922-4108-9D85-1F41057B5639}" destId="{53748849-E4BB-4E44-8D4C-530BF42A76B2}" srcOrd="1" destOrd="0" parTransId="{78F16D70-B7B6-4017-ACF8-6D2D69F77833}" sibTransId="{6BB867AF-E702-4928-BFA9-E88958370059}"/>
    <dgm:cxn modelId="{069E65C2-1CC4-1047-A5E2-C739609B8A0B}" type="presOf" srcId="{53748849-E4BB-4E44-8D4C-530BF42A76B2}" destId="{F0742BDD-162B-C046-BDDA-6916A8F207BB}" srcOrd="0" destOrd="0" presId="urn:microsoft.com/office/officeart/2008/layout/LinedList"/>
    <dgm:cxn modelId="{2748C7D2-197F-3E43-9FA8-3F45A4827632}" type="presOf" srcId="{6D627561-D9CB-486D-A907-2F5FED0768CF}" destId="{8C151899-D574-9C49-A5C0-B62938448151}" srcOrd="0" destOrd="0" presId="urn:microsoft.com/office/officeart/2008/layout/LinedList"/>
    <dgm:cxn modelId="{928042D6-50B4-4AE9-832B-E13B8CEF4EA1}" srcId="{C10D4008-C922-4108-9D85-1F41057B5639}" destId="{DC75136D-53CF-487A-BA7C-08DFD4FA26DC}" srcOrd="3" destOrd="0" parTransId="{B7755767-92F7-4D5D-8F2B-A710C9CD75BF}" sibTransId="{FCA2FA6B-0EA9-4B1B-AF8D-24BD2C02E478}"/>
    <dgm:cxn modelId="{DADD6BE4-3307-C147-9971-E8D790186F04}" type="presOf" srcId="{DE07F560-29EC-4022-AAA7-78D0CAFC9898}" destId="{A33A9946-DCAA-BF40-8198-029AAFFD2966}" srcOrd="0" destOrd="0" presId="urn:microsoft.com/office/officeart/2008/layout/LinedList"/>
    <dgm:cxn modelId="{6610FB43-029E-5744-879D-DE27E648FE7B}" type="presParOf" srcId="{B549078E-1829-EF42-AA58-B60D60E263CA}" destId="{2EC94FE9-2E5B-674C-B7B0-F61187BE1837}" srcOrd="0" destOrd="0" presId="urn:microsoft.com/office/officeart/2008/layout/LinedList"/>
    <dgm:cxn modelId="{61ECDCF6-8F49-D24C-A40F-51A491EC468C}" type="presParOf" srcId="{B549078E-1829-EF42-AA58-B60D60E263CA}" destId="{CE61EBAC-A237-E14A-AD46-C10B51AA318E}" srcOrd="1" destOrd="0" presId="urn:microsoft.com/office/officeart/2008/layout/LinedList"/>
    <dgm:cxn modelId="{25AE7659-CB24-AC4B-B98F-DE0F35C68A2C}" type="presParOf" srcId="{CE61EBAC-A237-E14A-AD46-C10B51AA318E}" destId="{A33A9946-DCAA-BF40-8198-029AAFFD2966}" srcOrd="0" destOrd="0" presId="urn:microsoft.com/office/officeart/2008/layout/LinedList"/>
    <dgm:cxn modelId="{E2F4DB25-1CA0-C548-90B1-92AE2B2597A7}" type="presParOf" srcId="{CE61EBAC-A237-E14A-AD46-C10B51AA318E}" destId="{C1CACF0C-CE8B-D540-9C68-59599F1B0038}" srcOrd="1" destOrd="0" presId="urn:microsoft.com/office/officeart/2008/layout/LinedList"/>
    <dgm:cxn modelId="{FA88EDBC-C895-034F-B18E-BCF85C145739}" type="presParOf" srcId="{B549078E-1829-EF42-AA58-B60D60E263CA}" destId="{200847A5-EB9B-8A44-866F-EC3426B38890}" srcOrd="2" destOrd="0" presId="urn:microsoft.com/office/officeart/2008/layout/LinedList"/>
    <dgm:cxn modelId="{E8A8FB5E-CF17-D242-8DB4-F915FDF983BC}" type="presParOf" srcId="{B549078E-1829-EF42-AA58-B60D60E263CA}" destId="{C0E7CAC2-8319-F64B-93F2-F730365A46E0}" srcOrd="3" destOrd="0" presId="urn:microsoft.com/office/officeart/2008/layout/LinedList"/>
    <dgm:cxn modelId="{A8192E50-2A3C-734F-8756-ECEFBC5E6A13}" type="presParOf" srcId="{C0E7CAC2-8319-F64B-93F2-F730365A46E0}" destId="{F0742BDD-162B-C046-BDDA-6916A8F207BB}" srcOrd="0" destOrd="0" presId="urn:microsoft.com/office/officeart/2008/layout/LinedList"/>
    <dgm:cxn modelId="{5A38A4F6-2C3A-5B42-8488-452838191192}" type="presParOf" srcId="{C0E7CAC2-8319-F64B-93F2-F730365A46E0}" destId="{D735F032-7B94-7E41-9021-F7D2AB47003C}" srcOrd="1" destOrd="0" presId="urn:microsoft.com/office/officeart/2008/layout/LinedList"/>
    <dgm:cxn modelId="{F8E1DC0A-57BF-4E4C-92D9-353F5E85D6DD}" type="presParOf" srcId="{B549078E-1829-EF42-AA58-B60D60E263CA}" destId="{97AF92D6-1027-EE4C-BD7B-1C53482E639E}" srcOrd="4" destOrd="0" presId="urn:microsoft.com/office/officeart/2008/layout/LinedList"/>
    <dgm:cxn modelId="{69FE09C4-35F0-A249-B064-5205CAAA361B}" type="presParOf" srcId="{B549078E-1829-EF42-AA58-B60D60E263CA}" destId="{49B22595-BB89-DE40-86D3-149AFFE53A59}" srcOrd="5" destOrd="0" presId="urn:microsoft.com/office/officeart/2008/layout/LinedList"/>
    <dgm:cxn modelId="{57896EE5-FF47-444A-96A7-63AA478238B1}" type="presParOf" srcId="{49B22595-BB89-DE40-86D3-149AFFE53A59}" destId="{8C151899-D574-9C49-A5C0-B62938448151}" srcOrd="0" destOrd="0" presId="urn:microsoft.com/office/officeart/2008/layout/LinedList"/>
    <dgm:cxn modelId="{88E72F25-2CA8-8C4E-B679-206FF64979B8}" type="presParOf" srcId="{49B22595-BB89-DE40-86D3-149AFFE53A59}" destId="{8F772AB0-3B7B-B64D-8616-4DA058932E92}" srcOrd="1" destOrd="0" presId="urn:microsoft.com/office/officeart/2008/layout/LinedList"/>
    <dgm:cxn modelId="{A3218AA2-1F76-0E49-8879-0C7873F48CEE}" type="presParOf" srcId="{B549078E-1829-EF42-AA58-B60D60E263CA}" destId="{DD4F6B58-842B-2C45-ADF4-1AA85883A708}" srcOrd="6" destOrd="0" presId="urn:microsoft.com/office/officeart/2008/layout/LinedList"/>
    <dgm:cxn modelId="{60CD3F7B-92E6-3346-A470-7CD38054683B}" type="presParOf" srcId="{B549078E-1829-EF42-AA58-B60D60E263CA}" destId="{12540DC1-DE22-F94B-B6BE-17B9F2FE2139}" srcOrd="7" destOrd="0" presId="urn:microsoft.com/office/officeart/2008/layout/LinedList"/>
    <dgm:cxn modelId="{C57DE470-76F3-6C4F-AD34-EB142D25BA51}" type="presParOf" srcId="{12540DC1-DE22-F94B-B6BE-17B9F2FE2139}" destId="{68D15D12-E300-884E-879F-2C5F3A3C4873}" srcOrd="0" destOrd="0" presId="urn:microsoft.com/office/officeart/2008/layout/LinedList"/>
    <dgm:cxn modelId="{54C871FE-2A7A-0C42-9E6A-572FF0ABF7E2}" type="presParOf" srcId="{12540DC1-DE22-F94B-B6BE-17B9F2FE2139}" destId="{9F157810-0F28-2842-B98B-E965227D4CDF}" srcOrd="1" destOrd="0" presId="urn:microsoft.com/office/officeart/2008/layout/LinedList"/>
    <dgm:cxn modelId="{2F7DC021-62AB-6348-9ACA-06954EA052B7}" type="presParOf" srcId="{B549078E-1829-EF42-AA58-B60D60E263CA}" destId="{7DDBF8A7-FB4A-FA43-B01B-7623E27B35C6}" srcOrd="8" destOrd="0" presId="urn:microsoft.com/office/officeart/2008/layout/LinedList"/>
    <dgm:cxn modelId="{F3B5CD8E-6915-7E45-B8B4-D1A6B708188D}" type="presParOf" srcId="{B549078E-1829-EF42-AA58-B60D60E263CA}" destId="{787750C9-0A9C-B44D-B267-F59973C9C91A}" srcOrd="9" destOrd="0" presId="urn:microsoft.com/office/officeart/2008/layout/LinedList"/>
    <dgm:cxn modelId="{05C3B66E-3085-884D-BD70-1A685230F87A}" type="presParOf" srcId="{787750C9-0A9C-B44D-B267-F59973C9C91A}" destId="{06671207-8F43-B44E-9FC0-DEB64A713775}" srcOrd="0" destOrd="0" presId="urn:microsoft.com/office/officeart/2008/layout/LinedList"/>
    <dgm:cxn modelId="{ECCAE4A4-E3EB-C247-8475-B42924C577BA}" type="presParOf" srcId="{787750C9-0A9C-B44D-B267-F59973C9C91A}" destId="{512981FE-520C-794D-83B1-D2A40FEBF14F}" srcOrd="1" destOrd="0" presId="urn:microsoft.com/office/officeart/2008/layout/LinedList"/>
    <dgm:cxn modelId="{B718F63B-7235-E247-B765-E9E3A5354BE7}" type="presParOf" srcId="{B549078E-1829-EF42-AA58-B60D60E263CA}" destId="{C94CF5D7-2949-7548-BE64-29DCEAE61634}" srcOrd="10" destOrd="0" presId="urn:microsoft.com/office/officeart/2008/layout/LinedList"/>
    <dgm:cxn modelId="{06DA07BB-EB47-1441-A735-BE612815EE0C}" type="presParOf" srcId="{B549078E-1829-EF42-AA58-B60D60E263CA}" destId="{3DFDFC3A-B447-A846-9EA5-401457DC76EE}" srcOrd="11" destOrd="0" presId="urn:microsoft.com/office/officeart/2008/layout/LinedList"/>
    <dgm:cxn modelId="{A1481FD6-C15A-694A-B73D-9F8A89F5E01C}" type="presParOf" srcId="{3DFDFC3A-B447-A846-9EA5-401457DC76EE}" destId="{C940AA7A-1C7B-D74E-A79E-428CDB109C23}" srcOrd="0" destOrd="0" presId="urn:microsoft.com/office/officeart/2008/layout/LinedList"/>
    <dgm:cxn modelId="{E997BED5-D9FF-0041-BEF4-086327EF3BC8}" type="presParOf" srcId="{3DFDFC3A-B447-A846-9EA5-401457DC76EE}" destId="{F2339A14-D06B-7C44-B570-736750683696}" srcOrd="1" destOrd="0" presId="urn:microsoft.com/office/officeart/2008/layout/LinedList"/>
    <dgm:cxn modelId="{B9893081-8133-A140-A1BC-F2E46F75A26C}" type="presParOf" srcId="{B549078E-1829-EF42-AA58-B60D60E263CA}" destId="{16741459-3435-FA45-B00C-801EE37091E7}" srcOrd="12" destOrd="0" presId="urn:microsoft.com/office/officeart/2008/layout/LinedList"/>
    <dgm:cxn modelId="{CA1E1797-88AA-5A4F-AF4B-DB919B3E81E0}" type="presParOf" srcId="{B549078E-1829-EF42-AA58-B60D60E263CA}" destId="{33F7E452-2404-5144-A380-1695415BD542}" srcOrd="13" destOrd="0" presId="urn:microsoft.com/office/officeart/2008/layout/LinedList"/>
    <dgm:cxn modelId="{8AC9E51C-2354-3349-8A03-55B254F3FAC5}" type="presParOf" srcId="{33F7E452-2404-5144-A380-1695415BD542}" destId="{213A5241-DAE6-2B4B-9A5B-51D461CB1655}" srcOrd="0" destOrd="0" presId="urn:microsoft.com/office/officeart/2008/layout/LinedList"/>
    <dgm:cxn modelId="{C70BF44E-2761-B54F-B9EE-D0AF18FCD15E}" type="presParOf" srcId="{33F7E452-2404-5144-A380-1695415BD542}" destId="{C1679F8C-A109-BD48-BC23-54524AE6D783}" srcOrd="1" destOrd="0" presId="urn:microsoft.com/office/officeart/2008/layout/LinedList"/>
    <dgm:cxn modelId="{5E5ED70E-ADEC-E84F-B447-BBFAA23D0BE5}" type="presParOf" srcId="{B549078E-1829-EF42-AA58-B60D60E263CA}" destId="{4BAB5A06-93EC-7448-96D7-9531ACD253EF}" srcOrd="14" destOrd="0" presId="urn:microsoft.com/office/officeart/2008/layout/LinedList"/>
    <dgm:cxn modelId="{031BBDA3-C1BD-B24E-B281-8CDA9A5D222F}" type="presParOf" srcId="{B549078E-1829-EF42-AA58-B60D60E263CA}" destId="{3E5FA47D-7A6F-EE44-9A4B-E11B3E8968CB}" srcOrd="15" destOrd="0" presId="urn:microsoft.com/office/officeart/2008/layout/LinedList"/>
    <dgm:cxn modelId="{8C60F942-FE6B-C74B-A7F6-8BD687E3AEA8}" type="presParOf" srcId="{3E5FA47D-7A6F-EE44-9A4B-E11B3E8968CB}" destId="{E05C8A42-6861-294C-ADE6-CE592CA947E1}" srcOrd="0" destOrd="0" presId="urn:microsoft.com/office/officeart/2008/layout/LinedList"/>
    <dgm:cxn modelId="{0EF47E4B-0786-DD45-82A8-6BC0F9170D07}" type="presParOf" srcId="{3E5FA47D-7A6F-EE44-9A4B-E11B3E8968CB}" destId="{33450AA7-27B0-8E4C-A761-E2666880D8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C94FE9-2E5B-674C-B7B0-F61187BE1837}">
      <dsp:nvSpPr>
        <dsp:cNvPr id="0" name=""/>
        <dsp:cNvSpPr/>
      </dsp:nvSpPr>
      <dsp:spPr>
        <a:xfrm>
          <a:off x="0" y="0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3A9946-DCAA-BF40-8198-029AAFFD2966}">
      <dsp:nvSpPr>
        <dsp:cNvPr id="0" name=""/>
        <dsp:cNvSpPr/>
      </dsp:nvSpPr>
      <dsp:spPr>
        <a:xfrm>
          <a:off x="0" y="0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class ArrayDemo {</a:t>
          </a:r>
        </a:p>
      </dsp:txBody>
      <dsp:txXfrm>
        <a:off x="0" y="0"/>
        <a:ext cx="9880893" cy="494952"/>
      </dsp:txXfrm>
    </dsp:sp>
    <dsp:sp modelId="{200847A5-EB9B-8A44-866F-EC3426B38890}">
      <dsp:nvSpPr>
        <dsp:cNvPr id="0" name=""/>
        <dsp:cNvSpPr/>
      </dsp:nvSpPr>
      <dsp:spPr>
        <a:xfrm>
          <a:off x="0" y="494952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42BDD-162B-C046-BDDA-6916A8F207BB}">
      <dsp:nvSpPr>
        <dsp:cNvPr id="0" name=""/>
        <dsp:cNvSpPr/>
      </dsp:nvSpPr>
      <dsp:spPr>
        <a:xfrm>
          <a:off x="0" y="494952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static void main(String[] args) {</a:t>
          </a:r>
        </a:p>
      </dsp:txBody>
      <dsp:txXfrm>
        <a:off x="0" y="494952"/>
        <a:ext cx="9880893" cy="494952"/>
      </dsp:txXfrm>
    </dsp:sp>
    <dsp:sp modelId="{97AF92D6-1027-EE4C-BD7B-1C53482E639E}">
      <dsp:nvSpPr>
        <dsp:cNvPr id="0" name=""/>
        <dsp:cNvSpPr/>
      </dsp:nvSpPr>
      <dsp:spPr>
        <a:xfrm>
          <a:off x="0" y="98990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151899-D574-9C49-A5C0-B62938448151}">
      <dsp:nvSpPr>
        <dsp:cNvPr id="0" name=""/>
        <dsp:cNvSpPr/>
      </dsp:nvSpPr>
      <dsp:spPr>
        <a:xfrm>
          <a:off x="0" y="98990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int[] </a:t>
          </a:r>
          <a:r>
            <a:rPr lang="en-US" sz="2200" kern="1200" dirty="0" err="1"/>
            <a:t>vorTabel</a:t>
          </a:r>
          <a:r>
            <a:rPr lang="en-US" sz="2200" kern="1200" dirty="0"/>
            <a:t> = {5, 3, -2, 9, 0, -5, 10, 11, -7, 10};</a:t>
          </a:r>
        </a:p>
      </dsp:txBody>
      <dsp:txXfrm>
        <a:off x="0" y="989904"/>
        <a:ext cx="9880893" cy="494952"/>
      </dsp:txXfrm>
    </dsp:sp>
    <dsp:sp modelId="{DD4F6B58-842B-2C45-ADF4-1AA85883A708}">
      <dsp:nvSpPr>
        <dsp:cNvPr id="0" name=""/>
        <dsp:cNvSpPr/>
      </dsp:nvSpPr>
      <dsp:spPr>
        <a:xfrm>
          <a:off x="0" y="1484857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15D12-E300-884E-879F-2C5F3A3C4873}">
      <dsp:nvSpPr>
        <dsp:cNvPr id="0" name=""/>
        <dsp:cNvSpPr/>
      </dsp:nvSpPr>
      <dsp:spPr>
        <a:xfrm>
          <a:off x="0" y="1484857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for</a:t>
          </a:r>
          <a:r>
            <a:rPr lang="en-US" sz="2200" kern="1200" dirty="0"/>
            <a:t> (int </a:t>
          </a:r>
          <a:r>
            <a:rPr lang="en-US" sz="2200" kern="1200" dirty="0" err="1"/>
            <a:t>i</a:t>
          </a:r>
          <a:r>
            <a:rPr lang="en-US" sz="2200" kern="1200" dirty="0"/>
            <a:t> = 0; </a:t>
          </a:r>
          <a:r>
            <a:rPr lang="en-US" sz="2200" kern="1200" dirty="0" err="1"/>
            <a:t>i</a:t>
          </a:r>
          <a:r>
            <a:rPr lang="en-US" sz="2200" kern="1200" dirty="0"/>
            <a:t> &lt; </a:t>
          </a:r>
          <a:r>
            <a:rPr lang="en-US" sz="2200" kern="1200" dirty="0" err="1"/>
            <a:t>vorTabel.length</a:t>
          </a:r>
          <a:r>
            <a:rPr lang="en-US" sz="2200" kern="1200" dirty="0"/>
            <a:t>; </a:t>
          </a:r>
          <a:r>
            <a:rPr lang="en-US" sz="2200" kern="1200" dirty="0" err="1"/>
            <a:t>i</a:t>
          </a:r>
          <a:r>
            <a:rPr lang="en-US" sz="2200" kern="1200" dirty="0"/>
            <a:t>++) {</a:t>
          </a:r>
        </a:p>
      </dsp:txBody>
      <dsp:txXfrm>
        <a:off x="0" y="1484857"/>
        <a:ext cx="9880893" cy="494952"/>
      </dsp:txXfrm>
    </dsp:sp>
    <dsp:sp modelId="{7DDBF8A7-FB4A-FA43-B01B-7623E27B35C6}">
      <dsp:nvSpPr>
        <dsp:cNvPr id="0" name=""/>
        <dsp:cNvSpPr/>
      </dsp:nvSpPr>
      <dsp:spPr>
        <a:xfrm>
          <a:off x="0" y="1979809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671207-8F43-B44E-9FC0-DEB64A713775}">
      <dsp:nvSpPr>
        <dsp:cNvPr id="0" name=""/>
        <dsp:cNvSpPr/>
      </dsp:nvSpPr>
      <dsp:spPr>
        <a:xfrm>
          <a:off x="0" y="1979809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/>
            <a:t>System.out.println</a:t>
          </a:r>
          <a:r>
            <a:rPr lang="en-US" sz="2200" kern="1200" dirty="0"/>
            <a:t>(</a:t>
          </a:r>
          <a:r>
            <a:rPr lang="en-US" sz="2200" kern="1200" dirty="0" err="1"/>
            <a:t>vorTabel</a:t>
          </a:r>
          <a:r>
            <a:rPr lang="en-US" sz="2200" kern="1200" dirty="0"/>
            <a:t>[</a:t>
          </a:r>
          <a:r>
            <a:rPr lang="en-US" sz="2200" kern="1200" dirty="0" err="1"/>
            <a:t>i</a:t>
          </a:r>
          <a:r>
            <a:rPr lang="en-US" sz="2200" kern="1200" dirty="0"/>
            <a:t>]);</a:t>
          </a:r>
        </a:p>
      </dsp:txBody>
      <dsp:txXfrm>
        <a:off x="0" y="1979809"/>
        <a:ext cx="9880893" cy="494952"/>
      </dsp:txXfrm>
    </dsp:sp>
    <dsp:sp modelId="{C94CF5D7-2949-7548-BE64-29DCEAE61634}">
      <dsp:nvSpPr>
        <dsp:cNvPr id="0" name=""/>
        <dsp:cNvSpPr/>
      </dsp:nvSpPr>
      <dsp:spPr>
        <a:xfrm>
          <a:off x="0" y="2474761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40AA7A-1C7B-D74E-A79E-428CDB109C23}">
      <dsp:nvSpPr>
        <dsp:cNvPr id="0" name=""/>
        <dsp:cNvSpPr/>
      </dsp:nvSpPr>
      <dsp:spPr>
        <a:xfrm>
          <a:off x="0" y="2474761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}</a:t>
          </a:r>
        </a:p>
      </dsp:txBody>
      <dsp:txXfrm>
        <a:off x="0" y="2474761"/>
        <a:ext cx="9880893" cy="494952"/>
      </dsp:txXfrm>
    </dsp:sp>
    <dsp:sp modelId="{16741459-3435-FA45-B00C-801EE37091E7}">
      <dsp:nvSpPr>
        <dsp:cNvPr id="0" name=""/>
        <dsp:cNvSpPr/>
      </dsp:nvSpPr>
      <dsp:spPr>
        <a:xfrm>
          <a:off x="0" y="296971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A5241-DAE6-2B4B-9A5B-51D461CB1655}">
      <dsp:nvSpPr>
        <dsp:cNvPr id="0" name=""/>
        <dsp:cNvSpPr/>
      </dsp:nvSpPr>
      <dsp:spPr>
        <a:xfrm>
          <a:off x="0" y="296971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969714"/>
        <a:ext cx="9880893" cy="494952"/>
      </dsp:txXfrm>
    </dsp:sp>
    <dsp:sp modelId="{4BAB5A06-93EC-7448-96D7-9531ACD253EF}">
      <dsp:nvSpPr>
        <dsp:cNvPr id="0" name=""/>
        <dsp:cNvSpPr/>
      </dsp:nvSpPr>
      <dsp:spPr>
        <a:xfrm>
          <a:off x="0" y="3464666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5C8A42-6861-294C-ADE6-CE592CA947E1}">
      <dsp:nvSpPr>
        <dsp:cNvPr id="0" name=""/>
        <dsp:cNvSpPr/>
      </dsp:nvSpPr>
      <dsp:spPr>
        <a:xfrm>
          <a:off x="0" y="3464666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3464666"/>
        <a:ext cx="9880893" cy="4949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8561 7941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7757 7800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7762 7968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19/09/2026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94568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41910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Specifier</a:t>
            </a:r>
          </a:p>
          <a:p>
            <a:r>
              <a:rPr lang="en-DK" dirty="0"/>
              <a:t>Used for</a:t>
            </a:r>
          </a:p>
          <a:p>
            <a:r>
              <a:rPr lang="en-DK" dirty="0"/>
              <a:t>Example</a:t>
            </a:r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%d</a:t>
            </a:r>
            <a:r>
              <a:rPr lang="en-DK" dirty="0"/>
              <a:t>Integer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42</a:t>
            </a:r>
            <a:endParaRPr lang="en-DK" dirty="0"/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%f</a:t>
            </a:r>
            <a:r>
              <a:rPr lang="en-DK" dirty="0"/>
              <a:t>Floating-point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3.14</a:t>
            </a:r>
            <a:endParaRPr lang="en-DK" dirty="0"/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en-DK" dirty="0"/>
              <a:t>String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endParaRPr lang="en-DK" dirty="0"/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%c</a:t>
            </a:r>
            <a:r>
              <a:rPr lang="en-DK" dirty="0"/>
              <a:t>Character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endParaRPr lang="en-DK" dirty="0"/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%b</a:t>
            </a:r>
            <a:r>
              <a:rPr lang="en-DK" dirty="0"/>
              <a:t>Boolean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endParaRPr lang="en-DK" dirty="0"/>
          </a:p>
          <a:p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%n</a:t>
            </a:r>
            <a:r>
              <a:rPr lang="en-DK" dirty="0"/>
              <a:t>New line—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86968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K" dirty="0"/>
              <a:t>al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014880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K" dirty="0"/>
              <a:t>ry while couter in intelli J- refactor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(true)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(counter &gt;= 10) break;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.println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update expression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33623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normal while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(counter &lt;= 10)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end do...while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84784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25856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6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customXml" Target="../ink/ink3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080434" y="2048497"/>
            <a:ext cx="4180204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 –part I</a:t>
            </a: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we are  in Part 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 — in the order you'll use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F3F7F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Declaring, indexing, and measuring the length of a table of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F3F7F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Shape 9"/>
          <p:cNvSpPr/>
          <p:nvPr/>
        </p:nvSpPr>
        <p:spPr>
          <a:xfrm>
            <a:off x="4709160" y="2514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470916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 statement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63440" y="37947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Counter-controlled iteration, written as one compact header.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148840"/>
            <a:ext cx="3520440" cy="3749040"/>
          </a:xfrm>
          <a:prstGeom prst="roundRect">
            <a:avLst>
              <a:gd name="adj" fmla="val 2597"/>
            </a:avLst>
          </a:prstGeom>
          <a:solidFill>
            <a:srgbClr val="F3F7F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Shape 14"/>
          <p:cNvSpPr/>
          <p:nvPr/>
        </p:nvSpPr>
        <p:spPr>
          <a:xfrm>
            <a:off x="8549640" y="25146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854964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while statement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03920" y="3794760"/>
            <a:ext cx="2971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general-purpose loop that for is built on top of.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 will cover multi-dimensional arrays, ArrayList, do-while, break &amp; continue.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48640" y="15087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groups values of the </a:t>
            </a: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type</a:t>
            </a:r>
            <a:r>
              <a:rPr lang="en-US" sz="15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one table-like structure.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0487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slot is called an element.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has a position, its index.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1071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run from 0 to length − 1.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913632"/>
            <a:ext cx="109728" cy="109728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is fixed once the array is created.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35040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6035040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65392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6565392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65392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95744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/>
          <p:nvPr/>
        </p:nvSpPr>
        <p:spPr>
          <a:xfrm>
            <a:off x="7095744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95744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26096" y="2011680"/>
            <a:ext cx="530352" cy="566928"/>
          </a:xfrm>
          <a:prstGeom prst="rect">
            <a:avLst/>
          </a:prstGeom>
          <a:solidFill>
            <a:srgbClr val="F2A93B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3" name="Text 21"/>
          <p:cNvSpPr/>
          <p:nvPr/>
        </p:nvSpPr>
        <p:spPr>
          <a:xfrm>
            <a:off x="7626096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12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26096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56448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6" name="Text 24"/>
          <p:cNvSpPr/>
          <p:nvPr/>
        </p:nvSpPr>
        <p:spPr>
          <a:xfrm>
            <a:off x="8156448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56448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0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8686800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86800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217152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2" name="Text 30"/>
          <p:cNvSpPr/>
          <p:nvPr/>
        </p:nvSpPr>
        <p:spPr>
          <a:xfrm>
            <a:off x="9217152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17152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747504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5" name="Text 33"/>
          <p:cNvSpPr/>
          <p:nvPr/>
        </p:nvSpPr>
        <p:spPr>
          <a:xfrm>
            <a:off x="9747504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747504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277856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8" name="Text 36"/>
          <p:cNvSpPr/>
          <p:nvPr/>
        </p:nvSpPr>
        <p:spPr>
          <a:xfrm>
            <a:off x="10277856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277856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808208" y="2011680"/>
            <a:ext cx="530352" cy="566928"/>
          </a:xfrm>
          <a:prstGeom prst="rect">
            <a:avLst/>
          </a:prstGeom>
          <a:solidFill>
            <a:srgbClr val="F3F7F7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1" name="Text 39"/>
          <p:cNvSpPr/>
          <p:nvPr/>
        </p:nvSpPr>
        <p:spPr>
          <a:xfrm>
            <a:off x="10808208" y="2011680"/>
            <a:ext cx="530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0808208" y="263347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169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35040" y="2926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035040" y="1508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vorTabel[3]</a:t>
            </a:r>
            <a:r>
              <a:rPr lang="en-US" sz="1500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9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035040" y="33558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= 10  (largest index = 9)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 courses often use "tabel" as a synonym for array.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  <p:sp>
        <p:nvSpPr>
          <p:cNvPr id="48" name="Text 0">
            <a:extLst>
              <a:ext uri="{FF2B5EF4-FFF2-40B4-BE49-F238E27FC236}">
                <a16:creationId xmlns:a16="http://schemas.microsoft.com/office/drawing/2014/main" id="{4D66C790-641E-B6E3-BC5D-62B07D5D2F8F}"/>
              </a:ext>
            </a:extLst>
          </p:cNvPr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1 · ARRAYS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Declaring and initializing an array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042E31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9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vorTabel = {
    5, 3, -2, 9, 0, -5, 10, 11, -7, 10
};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32004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type, followed by [ 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12464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548640" y="371246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vorTabel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371246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array's name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24528"/>
            <a:ext cx="155448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548640" y="422452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... }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42245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initializer list — comma-separated values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5577840" cy="685800"/>
          </a:xfrm>
          <a:prstGeom prst="roundRect">
            <a:avLst>
              <a:gd name="adj" fmla="val 10667"/>
            </a:avLst>
          </a:prstGeom>
          <a:solidFill>
            <a:srgbClr val="FBF1DE"/>
          </a:solidFill>
          <a:ln w="12700">
            <a:solidFill>
              <a:srgbClr val="F2A93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777240" y="48920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4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initializer list can only be used at the moment of declaration.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Allocating without values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46520" y="1965960"/>
            <a:ext cx="5166360" cy="868680"/>
          </a:xfrm>
          <a:prstGeom prst="roundRect">
            <a:avLst>
              <a:gd name="adj" fmla="val 8421"/>
            </a:avLst>
          </a:prstGeom>
          <a:solidFill>
            <a:srgbClr val="042E31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/>
          <p:nvPr/>
        </p:nvSpPr>
        <p:spPr>
          <a:xfrm>
            <a:off x="6675120" y="214884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9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vorTabel = new int[10];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46520" y="297180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10 slots, each defaulting to 0 — then fill them one by one: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042E31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2" name="Text 20"/>
          <p:cNvSpPr/>
          <p:nvPr/>
        </p:nvSpPr>
        <p:spPr>
          <a:xfrm>
            <a:off x="6675120" y="361188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9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vorTabel[0] = 5;
vorTabel[1] = 3;
vorTabel[2] = -2;
// ... and so 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46520" y="5029200"/>
            <a:ext cx="5166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array's size is fixed at allocation — this is its static property.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array's length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hard-code the size of an array.</a:t>
            </a:r>
            <a:r>
              <a:rPr lang="en-US" sz="15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 the array itself with </a:t>
            </a:r>
            <a:r>
              <a:rPr lang="en-US" sz="15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.length</a:t>
            </a:r>
            <a:r>
              <a:rPr lang="en-US" sz="15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then your loops still work if the array's size ever changes.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042E31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9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System.out.println(vorTabel.length);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0" y="251460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EAF6F4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6126480" y="26060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26480" y="28620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72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AF4939-2B5E-14D6-6E76-1B647E0C0665}"/>
              </a:ext>
            </a:extLst>
          </p:cNvPr>
          <p:cNvSpPr txBox="1"/>
          <p:nvPr/>
        </p:nvSpPr>
        <p:spPr>
          <a:xfrm>
            <a:off x="1156851" y="637762"/>
            <a:ext cx="9888496" cy="9001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. Print java array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extBox 2">
            <a:extLst>
              <a:ext uri="{FF2B5EF4-FFF2-40B4-BE49-F238E27FC236}">
                <a16:creationId xmlns:a16="http://schemas.microsoft.com/office/drawing/2014/main" id="{B4ACC937-0EC3-B656-4E86-872A23CC69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6142329"/>
              </p:ext>
            </p:extLst>
          </p:nvPr>
        </p:nvGraphicFramePr>
        <p:xfrm>
          <a:off x="1155548" y="2217343"/>
          <a:ext cx="9880893" cy="39596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26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Counter-controlled iteration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023B3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12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40487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variable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926080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variable that tracks progress through the loop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14884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023B3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Shape 9"/>
          <p:cNvSpPr/>
          <p:nvPr/>
        </p:nvSpPr>
        <p:spPr>
          <a:xfrm>
            <a:off x="6263640" y="242316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626364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12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49440" y="240487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value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949440" y="2926080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control variable starts at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074920" cy="1737360"/>
          </a:xfrm>
          <a:prstGeom prst="roundRect">
            <a:avLst>
              <a:gd name="adj" fmla="val 5263"/>
            </a:avLst>
          </a:prstGeom>
          <a:solidFill>
            <a:srgbClr val="023B3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82296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12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46227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4983480"/>
            <a:ext cx="3886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F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 changes on each iteration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949440" y="4462272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Continuation condition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000" dirty="0"/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95D67A13-54CE-2123-462B-BB496C57E855}"/>
              </a:ext>
            </a:extLst>
          </p:cNvPr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2 For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9447" y="2292107"/>
            <a:ext cx="8313104" cy="227378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05200" y="843970"/>
            <a:ext cx="5495636" cy="51700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15103" y="1286345"/>
            <a:ext cx="8361792" cy="428530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061591" y="4435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For1.java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73"/>
            <a:ext cx="509121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206436"/>
            <a:ext cx="7504430" cy="97206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203200" indent="-190500">
              <a:lnSpc>
                <a:spcPct val="100000"/>
              </a:lnSpc>
              <a:spcBef>
                <a:spcPts val="100"/>
              </a:spcBef>
              <a:buClr>
                <a:srgbClr val="2CA1BE"/>
              </a:buClr>
              <a:buSzPct val="68750"/>
              <a:buFont typeface="Wingdings 3"/>
              <a:buChar char=""/>
              <a:tabLst>
                <a:tab pos="203200" algn="l"/>
              </a:tabLst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14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Times New Roman"/>
                <a:cs typeface="Times New Roman"/>
              </a:rPr>
              <a:t>general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5" dirty="0">
                <a:latin typeface="Times New Roman"/>
                <a:cs typeface="Times New Roman"/>
              </a:rPr>
              <a:t>format</a:t>
            </a:r>
            <a:r>
              <a:rPr sz="2400" spc="-1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130" dirty="0">
                <a:latin typeface="Times New Roman"/>
                <a:cs typeface="Times New Roman"/>
              </a:rPr>
              <a:t>the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20" dirty="0">
                <a:latin typeface="Monaco"/>
                <a:cs typeface="Monaco"/>
              </a:rPr>
              <a:t>for</a:t>
            </a:r>
            <a:r>
              <a:rPr sz="2400" spc="-944" dirty="0">
                <a:latin typeface="Monaco"/>
                <a:cs typeface="Monaco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statement</a:t>
            </a:r>
            <a:r>
              <a:rPr sz="2400" spc="-28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</a:t>
            </a:r>
            <a:endParaRPr sz="2400" dirty="0">
              <a:latin typeface="Times New Roman"/>
              <a:cs typeface="Times New Roman"/>
            </a:endParaRPr>
          </a:p>
          <a:p>
            <a:pPr marL="994410" marR="210820" indent="-419100">
              <a:lnSpc>
                <a:spcPts val="2100"/>
              </a:lnSpc>
              <a:spcBef>
                <a:spcPts val="395"/>
              </a:spcBef>
            </a:pPr>
            <a:r>
              <a:rPr sz="2000" spc="-5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2000" spc="-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2000" dirty="0">
                <a:latin typeface="Monaco"/>
                <a:cs typeface="Monaco"/>
              </a:rPr>
              <a:t>(</a:t>
            </a:r>
            <a:r>
              <a:rPr sz="2000" i="1" dirty="0">
                <a:latin typeface="Times New Roman"/>
                <a:cs typeface="Times New Roman"/>
              </a:rPr>
              <a:t>initialization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loopContinuationCondition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-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increment</a:t>
            </a:r>
            <a:r>
              <a:rPr sz="2000" i="1" spc="-10" dirty="0">
                <a:latin typeface="Courier New"/>
                <a:cs typeface="Courier New"/>
              </a:rPr>
              <a:t>) </a:t>
            </a:r>
            <a:r>
              <a:rPr sz="2000" i="1" spc="60" dirty="0">
                <a:latin typeface="Times New Roman"/>
                <a:cs typeface="Times New Roman"/>
              </a:rPr>
              <a:t>statement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47316" y="3972242"/>
            <a:ext cx="137160" cy="277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50" dirty="0">
                <a:solidFill>
                  <a:srgbClr val="2CA1BE"/>
                </a:solidFill>
                <a:latin typeface="Wingdings 3"/>
                <a:cs typeface="Wingdings 3"/>
              </a:rPr>
              <a:t></a:t>
            </a:r>
            <a:endParaRPr sz="1650">
              <a:latin typeface="Wingdings 3"/>
              <a:cs typeface="Wingdings 3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48864" y="3903345"/>
            <a:ext cx="6737350" cy="36195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1905">
              <a:lnSpc>
                <a:spcPts val="2775"/>
              </a:lnSpc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spc="114" dirty="0">
                <a:latin typeface="Times New Roman"/>
                <a:cs typeface="Times New Roman"/>
              </a:rPr>
              <a:t>two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70" dirty="0">
                <a:latin typeface="Times New Roman"/>
                <a:cs typeface="Times New Roman"/>
              </a:rPr>
              <a:t>semicolons</a:t>
            </a:r>
            <a:r>
              <a:rPr sz="2400" spc="-200" dirty="0">
                <a:latin typeface="Times New Roman"/>
                <a:cs typeface="Times New Roman"/>
              </a:rPr>
              <a:t> </a:t>
            </a:r>
            <a:r>
              <a:rPr sz="2400" spc="60" dirty="0">
                <a:latin typeface="Times New Roman"/>
                <a:cs typeface="Times New Roman"/>
              </a:rPr>
              <a:t>in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125" dirty="0">
                <a:latin typeface="Times New Roman"/>
                <a:cs typeface="Times New Roman"/>
              </a:rPr>
              <a:t>the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14" dirty="0">
                <a:latin typeface="Monaco"/>
                <a:cs typeface="Monaco"/>
              </a:rPr>
              <a:t>for</a:t>
            </a:r>
            <a:r>
              <a:rPr sz="2400" spc="-965" dirty="0">
                <a:latin typeface="Monaco"/>
                <a:cs typeface="Monaco"/>
              </a:rPr>
              <a:t> </a:t>
            </a:r>
            <a:r>
              <a:rPr sz="2400" spc="145" dirty="0">
                <a:latin typeface="Times New Roman"/>
                <a:cs typeface="Times New Roman"/>
              </a:rPr>
              <a:t>header</a:t>
            </a:r>
            <a:r>
              <a:rPr sz="2400" spc="-160" dirty="0">
                <a:latin typeface="Times New Roman"/>
                <a:cs typeface="Times New Roman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are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0" dirty="0">
                <a:latin typeface="Times New Roman"/>
                <a:cs typeface="Times New Roman"/>
              </a:rPr>
              <a:t>required.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47316" y="4249102"/>
            <a:ext cx="7639684" cy="380489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065" marR="5080">
              <a:lnSpc>
                <a:spcPct val="90400"/>
              </a:lnSpc>
              <a:spcBef>
                <a:spcPts val="375"/>
              </a:spcBef>
              <a:buClr>
                <a:srgbClr val="2CA1BE"/>
              </a:buClr>
              <a:buSzPct val="68750"/>
              <a:tabLst>
                <a:tab pos="203200" algn="l"/>
              </a:tabLst>
            </a:pPr>
            <a:r>
              <a:rPr lang="da-DK" sz="2400" spc="-45" dirty="0">
                <a:latin typeface="Times New Roman"/>
                <a:cs typeface="Times New Roman"/>
              </a:rPr>
              <a:t> 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A20719-714F-DA2F-8664-BBED25AE11A8}"/>
              </a:ext>
            </a:extLst>
          </p:cNvPr>
          <p:cNvSpPr txBox="1"/>
          <p:nvPr/>
        </p:nvSpPr>
        <p:spPr>
          <a:xfrm>
            <a:off x="3048000" y="26903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for (int i = 0; i &lt; 5; i++) {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    System.out.println(i);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}</a:t>
            </a:r>
          </a:p>
          <a:p>
            <a:pPr rtl="0">
              <a:buNone/>
            </a:pPr>
            <a:endParaRPr lang="en-DK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System.out.println(i); // ERROR</a:t>
            </a: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80875D3F-117D-17FA-1B75-1B863B55A8F2}"/>
              </a:ext>
            </a:extLst>
          </p:cNvPr>
          <p:cNvSpPr/>
          <p:nvPr/>
        </p:nvSpPr>
        <p:spPr>
          <a:xfrm>
            <a:off x="548640" y="384048"/>
            <a:ext cx="9433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4. 3  </a:t>
            </a:r>
            <a:r>
              <a:rPr lang="en-DK" sz="3600" dirty="0"/>
              <a:t>Scope of the for-loop counter variable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47537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290445" y="6340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For2.java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49300" y="1478216"/>
            <a:ext cx="10666730" cy="27590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7965" indent="-189865" algn="just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7965" algn="l"/>
              </a:tabLst>
            </a:pPr>
            <a:r>
              <a:rPr sz="2000" spc="55" dirty="0">
                <a:latin typeface="Times New Roman"/>
                <a:cs typeface="Times New Roman"/>
              </a:rPr>
              <a:t>Compound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interest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application</a:t>
            </a:r>
            <a:endParaRPr sz="2000">
              <a:latin typeface="Times New Roman"/>
              <a:cs typeface="Times New Roman"/>
            </a:endParaRPr>
          </a:p>
          <a:p>
            <a:pPr marL="228600" marR="30480" indent="-190500" algn="just">
              <a:lnSpc>
                <a:spcPct val="92300"/>
              </a:lnSpc>
              <a:spcBef>
                <a:spcPts val="26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8600" algn="l"/>
              </a:tabLst>
            </a:pPr>
            <a:r>
              <a:rPr sz="2000" i="1" dirty="0">
                <a:latin typeface="Times New Roman"/>
                <a:cs typeface="Times New Roman"/>
              </a:rPr>
              <a:t>A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person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invests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$1,000</a:t>
            </a:r>
            <a:r>
              <a:rPr sz="2000" i="1" spc="1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a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savings</a:t>
            </a:r>
            <a:r>
              <a:rPr sz="2000" i="1" spc="165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yielding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5%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interest.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Assuming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90" dirty="0">
                <a:latin typeface="Times New Roman"/>
                <a:cs typeface="Times New Roman"/>
              </a:rPr>
              <a:t>that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all</a:t>
            </a:r>
            <a:r>
              <a:rPr sz="2000" i="1" spc="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is </a:t>
            </a:r>
            <a:r>
              <a:rPr sz="2000" i="1" dirty="0">
                <a:latin typeface="Times New Roman"/>
                <a:cs typeface="Times New Roman"/>
              </a:rPr>
              <a:t>left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on</a:t>
            </a:r>
            <a:r>
              <a:rPr sz="2000" i="1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deposit,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calculate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and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print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85" dirty="0">
                <a:latin typeface="Times New Roman"/>
                <a:cs typeface="Times New Roman"/>
              </a:rPr>
              <a:t>amount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money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95" dirty="0">
                <a:latin typeface="Times New Roman"/>
                <a:cs typeface="Times New Roman"/>
              </a:rPr>
              <a:t>at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end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each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for </a:t>
            </a:r>
            <a:r>
              <a:rPr sz="2000" i="1" spc="55" dirty="0">
                <a:latin typeface="Times New Roman"/>
                <a:cs typeface="Times New Roman"/>
              </a:rPr>
              <a:t>10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years.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Use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following</a:t>
            </a:r>
            <a:r>
              <a:rPr sz="2000" i="1" spc="-114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formula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i="1" spc="70" dirty="0">
                <a:latin typeface="Times New Roman"/>
                <a:cs typeface="Times New Roman"/>
              </a:rPr>
              <a:t>to</a:t>
            </a:r>
            <a:r>
              <a:rPr sz="2000" i="1" spc="-1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determine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-55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amounts:</a:t>
            </a:r>
            <a:endParaRPr sz="2000">
              <a:latin typeface="Times New Roman"/>
              <a:cs typeface="Times New Roman"/>
            </a:endParaRPr>
          </a:p>
          <a:p>
            <a:pPr marL="419100" algn="just">
              <a:lnSpc>
                <a:spcPct val="100000"/>
              </a:lnSpc>
              <a:spcBef>
                <a:spcPts val="5"/>
              </a:spcBef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50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=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80" dirty="0">
                <a:latin typeface="Times New Roman"/>
                <a:cs typeface="Times New Roman"/>
              </a:rPr>
              <a:t>(1</a:t>
            </a:r>
            <a:r>
              <a:rPr sz="1700" i="1" spc="-55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+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30" dirty="0">
                <a:latin typeface="Times New Roman"/>
                <a:cs typeface="Times New Roman"/>
              </a:rPr>
              <a:t>r)</a:t>
            </a:r>
            <a:r>
              <a:rPr sz="1650" i="1" spc="44" baseline="27777" dirty="0">
                <a:latin typeface="Times New Roman"/>
                <a:cs typeface="Times New Roman"/>
              </a:rPr>
              <a:t>n</a:t>
            </a:r>
            <a:endParaRPr sz="1650" baseline="27777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60"/>
              </a:spcBef>
            </a:pPr>
            <a:r>
              <a:rPr sz="2000" i="1" spc="45" dirty="0">
                <a:latin typeface="Times New Roman"/>
                <a:cs typeface="Times New Roman"/>
              </a:rPr>
              <a:t>where</a:t>
            </a:r>
            <a:endParaRPr sz="2000">
              <a:latin typeface="Times New Roman"/>
              <a:cs typeface="Times New Roman"/>
            </a:endParaRPr>
          </a:p>
          <a:p>
            <a:pPr marL="419100" marR="5579110">
              <a:lnSpc>
                <a:spcPts val="1800"/>
              </a:lnSpc>
              <a:spcBef>
                <a:spcPts val="340"/>
              </a:spcBef>
            </a:pP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dirty="0">
                <a:latin typeface="Times New Roman"/>
                <a:cs typeface="Times New Roman"/>
              </a:rPr>
              <a:t> original</a:t>
            </a:r>
            <a:r>
              <a:rPr sz="1700" i="1" spc="3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35" dirty="0">
                <a:latin typeface="Times New Roman"/>
                <a:cs typeface="Times New Roman"/>
              </a:rPr>
              <a:t> </a:t>
            </a:r>
            <a:r>
              <a:rPr sz="1700" i="1" spc="45" dirty="0">
                <a:latin typeface="Times New Roman"/>
                <a:cs typeface="Times New Roman"/>
              </a:rPr>
              <a:t>invested</a:t>
            </a:r>
            <a:r>
              <a:rPr sz="1700" i="1" spc="-12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(i.e.,</a:t>
            </a:r>
            <a:r>
              <a:rPr sz="1700" i="1" spc="-16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75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principal) </a:t>
            </a:r>
            <a:r>
              <a:rPr sz="1700" i="1" dirty="0">
                <a:latin typeface="Times New Roman"/>
                <a:cs typeface="Times New Roman"/>
              </a:rPr>
              <a:t>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annual</a:t>
            </a:r>
            <a:r>
              <a:rPr sz="1700" i="1" spc="7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interest</a:t>
            </a:r>
            <a:r>
              <a:rPr sz="1700" i="1" spc="-8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rate</a:t>
            </a:r>
            <a:r>
              <a:rPr sz="1700" i="1" spc="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(e.g.,</a:t>
            </a:r>
            <a:r>
              <a:rPr sz="1700" i="1" spc="-1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use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0.05</a:t>
            </a:r>
            <a:r>
              <a:rPr sz="1700" i="1" spc="-1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for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35" dirty="0">
                <a:latin typeface="Times New Roman"/>
                <a:cs typeface="Times New Roman"/>
              </a:rPr>
              <a:t>5%)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780"/>
              </a:lnSpc>
            </a:pPr>
            <a:r>
              <a:rPr sz="1700" i="1" spc="65" dirty="0">
                <a:latin typeface="Times New Roman"/>
                <a:cs typeface="Times New Roman"/>
              </a:rPr>
              <a:t>n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number</a:t>
            </a:r>
            <a:r>
              <a:rPr sz="1700" i="1" dirty="0">
                <a:latin typeface="Times New Roman"/>
                <a:cs typeface="Times New Roman"/>
              </a:rPr>
              <a:t> of</a:t>
            </a:r>
            <a:r>
              <a:rPr sz="1700" i="1" spc="-100" dirty="0">
                <a:latin typeface="Times New Roman"/>
                <a:cs typeface="Times New Roman"/>
              </a:rPr>
              <a:t> </a:t>
            </a:r>
            <a:r>
              <a:rPr sz="1700" i="1" spc="-20" dirty="0">
                <a:latin typeface="Times New Roman"/>
                <a:cs typeface="Times New Roman"/>
              </a:rPr>
              <a:t>years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960"/>
              </a:lnSpc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on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deposit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75" dirty="0">
                <a:latin typeface="Times New Roman"/>
                <a:cs typeface="Times New Roman"/>
              </a:rPr>
              <a:t>at</a:t>
            </a:r>
            <a:r>
              <a:rPr sz="1700" i="1" spc="-1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end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of</a:t>
            </a:r>
            <a:r>
              <a:rPr sz="1700" i="1" spc="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70" dirty="0">
                <a:latin typeface="Times New Roman"/>
                <a:cs typeface="Times New Roman"/>
              </a:rPr>
              <a:t>nth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year.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9263" y="1194528"/>
            <a:ext cx="7193472" cy="446894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748026" y="7102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For3.java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while statement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0" cy="1280160"/>
          </a:xfrm>
          <a:prstGeom prst="roundRect">
            <a:avLst>
              <a:gd name="adj" fmla="val 5714"/>
            </a:avLst>
          </a:prstGeom>
          <a:solidFill>
            <a:srgbClr val="042E31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9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(condition) {
    statement
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48400" y="1629431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CFEFEA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Syntactically, </a:t>
            </a:r>
            <a:r>
              <a:rPr lang="en-US" sz="2000" b="1" dirty="0">
                <a:solidFill>
                  <a:srgbClr val="F2A93B"/>
                </a:solidFill>
                <a:highlight>
                  <a:srgbClr val="00000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2000" dirty="0">
                <a:solidFill>
                  <a:srgbClr val="CFEFEA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looks just like </a:t>
            </a:r>
            <a:r>
              <a:rPr lang="en-US" sz="2000" b="1" dirty="0">
                <a:solidFill>
                  <a:srgbClr val="F2A93B"/>
                </a:solidFill>
                <a:highlight>
                  <a:srgbClr val="000000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2000" dirty="0">
                <a:solidFill>
                  <a:srgbClr val="CFEFEA"/>
                </a:solidFill>
                <a:highlight>
                  <a:srgbClr val="0000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— parentheses around a condition, then a statement (or block) to control.</a:t>
            </a:r>
            <a:endParaRPr lang="en-US" sz="2000" dirty="0">
              <a:highlight>
                <a:srgbClr val="0000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029200" cy="1645920"/>
          </a:xfrm>
          <a:prstGeom prst="roundRect">
            <a:avLst>
              <a:gd name="adj" fmla="val 5556"/>
            </a:avLst>
          </a:prstGeom>
          <a:solidFill>
            <a:srgbClr val="023B3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777240" y="40416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real difference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CF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statement runs, while loops back and re-checks the condition  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784080" y="2880360"/>
            <a:ext cx="0" cy="0"/>
          </a:xfrm>
          <a:prstGeom prst="line">
            <a:avLst/>
          </a:prstGeom>
          <a:noFill/>
          <a:ln w="25400">
            <a:solidFill>
              <a:srgbClr val="9FD8D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Shape 15"/>
          <p:cNvSpPr/>
          <p:nvPr/>
        </p:nvSpPr>
        <p:spPr>
          <a:xfrm>
            <a:off x="9784080" y="1828800"/>
            <a:ext cx="0" cy="0"/>
          </a:xfrm>
          <a:prstGeom prst="line">
            <a:avLst/>
          </a:prstGeom>
          <a:noFill/>
          <a:ln w="25400">
            <a:solidFill>
              <a:srgbClr val="9FD8D3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998C5F96-E20A-055A-C5F6-923859F4DB37}"/>
              </a:ext>
            </a:extLst>
          </p:cNvPr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5 While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1B459A0F-130E-87D6-681B-775510B47503}"/>
              </a:ext>
            </a:extLst>
          </p:cNvPr>
          <p:cNvPicPr/>
          <p:nvPr/>
        </p:nvPicPr>
        <p:blipFill>
          <a:blip r:embed="rId3" cstate="print"/>
          <a:srcRect l="24128" t="-37093" b="-1"/>
          <a:stretch>
            <a:fillRect/>
          </a:stretch>
        </p:blipFill>
        <p:spPr>
          <a:xfrm>
            <a:off x="1752600" y="914400"/>
            <a:ext cx="3833893" cy="385978"/>
          </a:xfrm>
          <a:prstGeom prst="rect">
            <a:avLst/>
          </a:prstGeom>
        </p:spPr>
      </p:pic>
      <p:pic>
        <p:nvPicPr>
          <p:cNvPr id="3" name="Picture 2" descr="Python While Loop Tutorial – While True Syntax Examples and Infinite Loops">
            <a:extLst>
              <a:ext uri="{FF2B5EF4-FFF2-40B4-BE49-F238E27FC236}">
                <a16:creationId xmlns:a16="http://schemas.microsoft.com/office/drawing/2014/main" id="{DA353188-8986-90F1-8CD3-DD12172DD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057400"/>
            <a:ext cx="6718300" cy="4330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32633B-C6C4-7522-5BB4-423D98B21C0A}"/>
              </a:ext>
            </a:extLst>
          </p:cNvPr>
          <p:cNvSpPr txBox="1"/>
          <p:nvPr/>
        </p:nvSpPr>
        <p:spPr>
          <a:xfrm>
            <a:off x="6705600" y="2362200"/>
            <a:ext cx="478207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n-DK" dirty="0">
                <a:solidFill>
                  <a:schemeClr val="accent2"/>
                </a:solidFill>
              </a:rPr>
              <a:t>int tal;</a:t>
            </a:r>
          </a:p>
          <a:p>
            <a:pPr rtl="0"/>
            <a:endParaRPr lang="en-DK" dirty="0"/>
          </a:p>
          <a:p>
            <a:pPr rtl="0"/>
            <a:r>
              <a:rPr lang="en-DK" b="1" dirty="0"/>
              <a:t>while (true) </a:t>
            </a:r>
            <a:r>
              <a:rPr lang="en-DK" dirty="0"/>
              <a:t>{</a:t>
            </a:r>
          </a:p>
          <a:p>
            <a:pPr rtl="0"/>
            <a:r>
              <a:rPr lang="en-DK" dirty="0"/>
              <a:t>    System.out.println("Indtast tal:");</a:t>
            </a:r>
          </a:p>
          <a:p>
            <a:pPr rtl="0"/>
            <a:r>
              <a:rPr lang="en-DK" dirty="0"/>
              <a:t>    tal = Integer.parseInt(indlæser.readLine());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if (tal == 0) {</a:t>
            </a:r>
          </a:p>
          <a:p>
            <a:pPr rtl="0"/>
            <a:r>
              <a:rPr lang="en-DK" dirty="0"/>
              <a:t>        break;</a:t>
            </a:r>
          </a:p>
          <a:p>
            <a:pPr rtl="0"/>
            <a:r>
              <a:rPr lang="en-DK" dirty="0"/>
              <a:t>    }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System.out.println("Du indtastede: " + tal);</a:t>
            </a:r>
          </a:p>
          <a:p>
            <a:pPr rtl="0"/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5949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0135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vs. while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F3F7F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035040" y="155448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012A2D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0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the iteration count is known up front
</a:t>
            </a: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000" dirty="0">
                <a:solidFill>
                  <a:srgbClr val="17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Initialization, condition, increment sit in one header
</a:t>
            </a:r>
            <a:r>
              <a:rPr lang="en-US" sz="2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09360" y="23317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000" dirty="0">
                <a:solidFill>
                  <a:srgbClr val="E9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purpose — works for any condition
</a:t>
            </a: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2000" dirty="0">
                <a:solidFill>
                  <a:srgbClr val="E9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fit for sentinel-controlled loops</a:t>
            </a:r>
            <a:r>
              <a:rPr lang="en-US" sz="1300" dirty="0">
                <a:solidFill>
                  <a:srgbClr val="E9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69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A0AD9E-0EEA-3463-9A82-AC6BBA27FF40}"/>
              </a:ext>
            </a:extLst>
          </p:cNvPr>
          <p:cNvSpPr txBox="1"/>
          <p:nvPr/>
        </p:nvSpPr>
        <p:spPr>
          <a:xfrm>
            <a:off x="1219200" y="53340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b="1" dirty="0"/>
              <a:t>Important distinction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counter-controlled loop</a:t>
            </a:r>
            <a:r>
              <a:rPr lang="en-DK" dirty="0"/>
              <a:t> usually stops because a condition becomes false: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(i &lt; 10)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sentinel-controlled loop</a:t>
            </a:r>
            <a:r>
              <a:rPr lang="en-DK" dirty="0"/>
              <a:t> stops when the user/program gives a special value: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(number != -1)</a:t>
            </a:r>
          </a:p>
        </p:txBody>
      </p:sp>
    </p:spTree>
    <p:extLst>
      <p:ext uri="{BB962C8B-B14F-4D97-AF65-F5344CB8AC3E}">
        <p14:creationId xmlns:p14="http://schemas.microsoft.com/office/powerpoint/2010/main" val="2521940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EE6DED-ED50-3BF3-8724-B1099BC71239}"/>
              </a:ext>
            </a:extLst>
          </p:cNvPr>
          <p:cNvSpPr txBox="1"/>
          <p:nvPr/>
        </p:nvSpPr>
        <p:spPr>
          <a:xfrm>
            <a:off x="1143000" y="609600"/>
            <a:ext cx="6100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dirty="0"/>
              <a:t>sentinel-controlled loop</a:t>
            </a:r>
            <a:r>
              <a:rPr lang="en-DK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B30BD9-F187-F317-8F08-A6C459888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226" y="1600200"/>
            <a:ext cx="7772400" cy="1412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09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445750" cy="1688283"/>
          </a:xfrm>
          <a:prstGeom prst="rect">
            <a:avLst/>
          </a:prstGeom>
        </p:spPr>
        <p:txBody>
          <a:bodyPr vert="horz" wrap="square" lIns="0" tIns="15875" rIns="0" bIns="0" rtlCol="0" anchor="t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endParaRPr lang="en-US" sz="2000" spc="60" dirty="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Thus,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one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45" dirty="0">
                <a:latin typeface="Times New Roman"/>
                <a:cs typeface="Times New Roman"/>
              </a:rPr>
              <a:t>usually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written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as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follows:</a:t>
            </a:r>
            <a:endParaRPr sz="2000">
              <a:latin typeface="Times New Roman"/>
              <a:cs typeface="Times New Roman"/>
            </a:endParaRPr>
          </a:p>
          <a:p>
            <a:pPr marL="574040" lvl="1" indent="-170815">
              <a:lnSpc>
                <a:spcPct val="100000"/>
              </a:lnSpc>
              <a:spcBef>
                <a:spcPts val="380"/>
              </a:spcBef>
              <a:buClr>
                <a:srgbClr val="DA1F28"/>
              </a:buClr>
              <a:buFont typeface="Wingdings 2"/>
              <a:buChar char=""/>
              <a:tabLst>
                <a:tab pos="574040" algn="l"/>
              </a:tabLst>
            </a:pPr>
            <a:r>
              <a:rPr sz="1550" spc="-25" dirty="0">
                <a:solidFill>
                  <a:srgbClr val="0000FF"/>
                </a:solidFill>
                <a:latin typeface="Monaco"/>
                <a:cs typeface="Monaco"/>
              </a:rPr>
              <a:t>do</a:t>
            </a:r>
            <a:endParaRPr sz="1550">
              <a:latin typeface="Monaco"/>
              <a:cs typeface="Monaco"/>
            </a:endParaRPr>
          </a:p>
          <a:p>
            <a:pPr marL="574675">
              <a:lnSpc>
                <a:spcPct val="100000"/>
              </a:lnSpc>
              <a:spcBef>
                <a:spcPts val="15"/>
              </a:spcBef>
            </a:pPr>
            <a:r>
              <a:rPr sz="1550" spc="-50" dirty="0">
                <a:latin typeface="Monaco"/>
                <a:cs typeface="Monaco"/>
              </a:rPr>
              <a:t>{</a:t>
            </a:r>
            <a:endParaRPr sz="1550">
              <a:latin typeface="Monaco"/>
              <a:cs typeface="Monaco"/>
            </a:endParaRPr>
          </a:p>
          <a:p>
            <a:pPr marL="899160">
              <a:lnSpc>
                <a:spcPct val="100000"/>
              </a:lnSpc>
              <a:spcBef>
                <a:spcPts val="20"/>
              </a:spcBef>
            </a:pPr>
            <a:r>
              <a:rPr sz="1550" i="1" spc="60" dirty="0">
                <a:latin typeface="Times New Roman"/>
                <a:cs typeface="Times New Roman"/>
              </a:rPr>
              <a:t>statement</a:t>
            </a:r>
            <a:endParaRPr sz="1550">
              <a:latin typeface="Times New Roman"/>
              <a:cs typeface="Times New Roman"/>
            </a:endParaRPr>
          </a:p>
          <a:p>
            <a:pPr marL="574675">
              <a:lnSpc>
                <a:spcPct val="100000"/>
              </a:lnSpc>
              <a:spcBef>
                <a:spcPts val="90"/>
              </a:spcBef>
            </a:pPr>
            <a:r>
              <a:rPr sz="1550" dirty="0">
                <a:latin typeface="Monaco"/>
                <a:cs typeface="Monaco"/>
              </a:rPr>
              <a:t>}</a:t>
            </a:r>
            <a:r>
              <a:rPr sz="1550" spc="-114" dirty="0">
                <a:latin typeface="Monaco"/>
                <a:cs typeface="Monaco"/>
              </a:rPr>
              <a:t> </a:t>
            </a:r>
            <a:r>
              <a:rPr sz="1550" spc="-45" dirty="0">
                <a:solidFill>
                  <a:srgbClr val="0000FF"/>
                </a:solidFill>
                <a:latin typeface="Monaco"/>
                <a:cs typeface="Monaco"/>
              </a:rPr>
              <a:t>while</a:t>
            </a:r>
            <a:r>
              <a:rPr sz="1550" spc="-22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latin typeface="Monaco"/>
                <a:cs typeface="Monaco"/>
              </a:rPr>
              <a:t>(</a:t>
            </a:r>
            <a:r>
              <a:rPr sz="1550" i="1" spc="-10" dirty="0">
                <a:latin typeface="Times New Roman"/>
                <a:cs typeface="Times New Roman"/>
              </a:rPr>
              <a:t>condition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  <p:extLst>
      <p:ext uri="{BB962C8B-B14F-4D97-AF65-F5344CB8AC3E}">
        <p14:creationId xmlns:p14="http://schemas.microsoft.com/office/powerpoint/2010/main" val="2792610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3CA779E6-E999-8940-B2B4-039B12F4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522" y="1454643"/>
            <a:ext cx="5893479" cy="515459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14:cNvPr>
              <p14:cNvContentPartPr/>
              <p14:nvPr/>
            </p14:nvContentPartPr>
            <p14:xfrm>
              <a:off x="4763886" y="4812379"/>
              <a:ext cx="19086" cy="19086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09586" y="3877165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14:cNvPr>
              <p14:cNvContentPartPr/>
              <p14:nvPr/>
            </p14:nvContentPartPr>
            <p14:xfrm>
              <a:off x="4183659" y="4710771"/>
              <a:ext cx="19086" cy="19086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48445" y="3775557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14:cNvPr>
              <p14:cNvContentPartPr/>
              <p14:nvPr/>
            </p14:nvContentPartPr>
            <p14:xfrm>
              <a:off x="4187590" y="4832088"/>
              <a:ext cx="19086" cy="19086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33290" y="3896874"/>
                <a:ext cx="1908600" cy="190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08707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84785" y="1241954"/>
            <a:ext cx="8222429" cy="437409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7791" y="512127"/>
            <a:ext cx="12103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While4.java</a:t>
            </a:r>
            <a:endParaRPr sz="1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0541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F97375-F54C-B706-C7B4-E6213646EAFB}"/>
              </a:ext>
            </a:extLst>
          </p:cNvPr>
          <p:cNvSpPr txBox="1"/>
          <p:nvPr/>
        </p:nvSpPr>
        <p:spPr>
          <a:xfrm>
            <a:off x="2590800" y="228600"/>
            <a:ext cx="8686800" cy="674030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DK" dirty="0"/>
              <a:t>import java.io.BufferedReader;</a:t>
            </a:r>
          </a:p>
          <a:p>
            <a:r>
              <a:rPr lang="en-DK" dirty="0"/>
              <a:t>import java.io.InputStreamReader;</a:t>
            </a:r>
          </a:p>
          <a:p>
            <a:endParaRPr lang="en-DK" dirty="0"/>
          </a:p>
          <a:p>
            <a:r>
              <a:rPr lang="en-DK" dirty="0"/>
              <a:t>public class Sentinel {</a:t>
            </a:r>
          </a:p>
          <a:p>
            <a:endParaRPr lang="en-DK" dirty="0"/>
          </a:p>
          <a:p>
            <a:r>
              <a:rPr lang="en-DK" dirty="0"/>
              <a:t>    public static void main(String[] args) throws Exception {</a:t>
            </a:r>
          </a:p>
          <a:p>
            <a:endParaRPr lang="en-DK" dirty="0"/>
          </a:p>
          <a:p>
            <a:r>
              <a:rPr lang="en-DK" dirty="0"/>
              <a:t>        BufferedReader indlæser =</a:t>
            </a:r>
          </a:p>
          <a:p>
            <a:r>
              <a:rPr lang="en-DK" dirty="0"/>
              <a:t>                new BufferedReader(new InputStreamReader(System.in));</a:t>
            </a:r>
          </a:p>
          <a:p>
            <a:endParaRPr lang="en-DK" dirty="0"/>
          </a:p>
          <a:p>
            <a:r>
              <a:rPr lang="en-DK" dirty="0"/>
              <a:t>        int sum = 0;</a:t>
            </a:r>
          </a:p>
          <a:p>
            <a:r>
              <a:rPr lang="en-DK" dirty="0"/>
              <a:t>        int tal;</a:t>
            </a:r>
          </a:p>
          <a:p>
            <a:endParaRPr lang="en-DK" dirty="0"/>
          </a:p>
          <a:p>
            <a:r>
              <a:rPr lang="en-DK" dirty="0"/>
              <a:t>        do {</a:t>
            </a:r>
          </a:p>
          <a:p>
            <a:r>
              <a:rPr lang="en-DK" dirty="0"/>
              <a:t>            System.out.println("Indtast tal: ");</a:t>
            </a:r>
          </a:p>
          <a:p>
            <a:r>
              <a:rPr lang="en-DK" dirty="0"/>
              <a:t>            tal = Integer.parseInt(indlæser.readLine());</a:t>
            </a:r>
          </a:p>
          <a:p>
            <a:endParaRPr lang="en-DK" dirty="0"/>
          </a:p>
          <a:p>
            <a:r>
              <a:rPr lang="en-DK" dirty="0"/>
              <a:t>            sum += tal;</a:t>
            </a:r>
          </a:p>
          <a:p>
            <a:endParaRPr lang="en-DK" dirty="0"/>
          </a:p>
          <a:p>
            <a:r>
              <a:rPr lang="en-DK" dirty="0"/>
              <a:t>        } </a:t>
            </a:r>
            <a:r>
              <a:rPr lang="en-DK" b="1" dirty="0"/>
              <a:t>while (tal != 0);</a:t>
            </a:r>
          </a:p>
          <a:p>
            <a:endParaRPr lang="en-DK" dirty="0"/>
          </a:p>
          <a:p>
            <a:r>
              <a:rPr lang="en-DK" dirty="0"/>
              <a:t>        System.out.println("Summen er " + sum);</a:t>
            </a:r>
          </a:p>
          <a:p>
            <a:r>
              <a:rPr lang="en-DK" dirty="0"/>
              <a:t>    }</a:t>
            </a:r>
          </a:p>
          <a:p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0902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6A3FF01-7066-5BE3-BE8D-492DD392C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361712"/>
              </p:ext>
            </p:extLst>
          </p:nvPr>
        </p:nvGraphicFramePr>
        <p:xfrm>
          <a:off x="643467" y="815935"/>
          <a:ext cx="10905066" cy="5226132"/>
        </p:xfrm>
        <a:graphic>
          <a:graphicData uri="http://schemas.openxmlformats.org/drawingml/2006/table">
            <a:tbl>
              <a:tblPr>
                <a:noFill/>
                <a:tableStyleId>{5C22544A-7EE6-4342-B048-85BDC9FD1C3A}</a:tableStyleId>
              </a:tblPr>
              <a:tblGrid>
                <a:gridCol w="2880584">
                  <a:extLst>
                    <a:ext uri="{9D8B030D-6E8A-4147-A177-3AD203B41FA5}">
                      <a16:colId xmlns:a16="http://schemas.microsoft.com/office/drawing/2014/main" val="1957382706"/>
                    </a:ext>
                  </a:extLst>
                </a:gridCol>
                <a:gridCol w="8024482">
                  <a:extLst>
                    <a:ext uri="{9D8B030D-6E8A-4147-A177-3AD203B41FA5}">
                      <a16:colId xmlns:a16="http://schemas.microsoft.com/office/drawing/2014/main" val="2463582355"/>
                    </a:ext>
                  </a:extLst>
                </a:gridCol>
              </a:tblGrid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Gruppe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>
                          <a:solidFill>
                            <a:schemeClr val="tx1"/>
                          </a:solidFill>
                        </a:rPr>
                        <a:t>Ansvar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919326"/>
                  </a:ext>
                </a:extLst>
              </a:tr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>
                          <a:solidFill>
                            <a:schemeClr val="tx1"/>
                          </a:solidFill>
                        </a:rPr>
                        <a:t>Arrays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613515"/>
                  </a:ext>
                </a:extLst>
              </a:tr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>
                          <a:solidFill>
                            <a:schemeClr val="tx1"/>
                          </a:solidFill>
                        </a:rPr>
                        <a:t>while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9089481"/>
                  </a:ext>
                </a:extLst>
              </a:tr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>
                          <a:solidFill>
                            <a:schemeClr val="tx1"/>
                          </a:solidFill>
                        </a:rPr>
                        <a:t>do-while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8531229"/>
                  </a:ext>
                </a:extLst>
              </a:tr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3200" cap="none" spc="0" dirty="0">
                          <a:solidFill>
                            <a:schemeClr val="tx1"/>
                          </a:solidFill>
                        </a:rPr>
                        <a:t>F</a:t>
                      </a: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or &amp; </a:t>
                      </a:r>
                      <a:r>
                        <a:rPr lang="en-DK" sz="3200" dirty="0"/>
                        <a:t>Scope of counter variable</a:t>
                      </a:r>
                      <a:endParaRPr lang="en-DK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656096"/>
                  </a:ext>
                </a:extLst>
              </a:tr>
              <a:tr h="8710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3200" cap="none" spc="0" dirty="0">
                          <a:solidFill>
                            <a:schemeClr val="tx1"/>
                          </a:solidFill>
                        </a:rPr>
                        <a:t>Sentinel</a:t>
                      </a:r>
                    </a:p>
                  </a:txBody>
                  <a:tcPr marL="205753" marR="205753" marT="205753" marB="102877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9029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0189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Words>1315</Words>
  <Application>Microsoft Macintosh PowerPoint</Application>
  <PresentationFormat>Widescreen</PresentationFormat>
  <Paragraphs>223</Paragraphs>
  <Slides>26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Aptos</vt:lpstr>
      <vt:lpstr>Arial</vt:lpstr>
      <vt:lpstr>Calibri</vt:lpstr>
      <vt:lpstr>Cambria</vt:lpstr>
      <vt:lpstr>Courier New</vt:lpstr>
      <vt:lpstr>Monaco</vt:lpstr>
      <vt:lpstr>Times New Roman</vt:lpstr>
      <vt:lpstr>Wingdings 2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61</cp:revision>
  <dcterms:created xsi:type="dcterms:W3CDTF">2025-09-11T06:00:25Z</dcterms:created>
  <dcterms:modified xsi:type="dcterms:W3CDTF">2026-09-19T13:46:46Z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