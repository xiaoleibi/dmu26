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8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85" r:id="rId23"/>
    <p:sldId id="277" r:id="rId24"/>
    <p:sldId id="278" r:id="rId25"/>
    <p:sldId id="279" r:id="rId26"/>
    <p:sldId id="289" r:id="rId27"/>
    <p:sldId id="280" r:id="rId28"/>
    <p:sldId id="281" r:id="rId29"/>
    <p:sldId id="282" r:id="rId30"/>
    <p:sldId id="283" r:id="rId31"/>
    <p:sldId id="286" r:id="rId32"/>
    <p:sldId id="284" r:id="rId33"/>
    <p:sldId id="287" r:id="rId3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162"/>
    <p:restoredTop sz="94654"/>
  </p:normalViewPr>
  <p:slideViewPr>
    <p:cSldViewPr>
      <p:cViewPr>
        <p:scale>
          <a:sx n="127" d="100"/>
          <a:sy n="127" d="100"/>
        </p:scale>
        <p:origin x="-1288" y="-7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6891-6416-FE43-B3D5-52F62C06C5AB}" type="datetimeFigureOut">
              <a:rPr lang="en-DK" smtClean="0"/>
              <a:t>13/09/2025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7BA93-CAED-0542-AC21-C003D518D0C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097723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U</a:t>
            </a:r>
            <a:r>
              <a:rPr lang="en-DK" dirty="0"/>
              <a:t>se pair programming to type in your 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7BA93-CAED-0542-AC21-C003D518D0C5}" type="slidenum">
              <a:rPr lang="en-DK" smtClean="0"/>
              <a:t>18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5217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K" dirty="0"/>
              <a:t>plantuml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7BA93-CAED-0542-AC21-C003D518D0C5}" type="slidenum">
              <a:rPr lang="en-DK" smtClean="0"/>
              <a:t>26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79657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7BA93-CAED-0542-AC21-C003D518D0C5}" type="slidenum">
              <a:rPr lang="en-DK" smtClean="0"/>
              <a:t>30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393608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615" y="436740"/>
            <a:ext cx="493006" cy="27472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4425" y="180911"/>
            <a:ext cx="4395851" cy="8715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8975" y="279399"/>
            <a:ext cx="4584700" cy="495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464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464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464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615" y="436740"/>
            <a:ext cx="493006" cy="2747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50" b="1" i="0">
                <a:solidFill>
                  <a:srgbClr val="464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9925" y="279399"/>
            <a:ext cx="4829810" cy="62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50" b="1" i="0">
                <a:solidFill>
                  <a:srgbClr val="464646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70476" y="6624399"/>
            <a:ext cx="2407284" cy="121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9/13/25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cppreference.com/w/cpp/language/operator_precedence.html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8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953000"/>
            <a:ext cx="12192000" cy="1900555"/>
            <a:chOff x="0" y="4953000"/>
            <a:chExt cx="12192000" cy="1900555"/>
          </a:xfrm>
        </p:grpSpPr>
        <p:sp>
          <p:nvSpPr>
            <p:cNvPr id="3" name="object 3"/>
            <p:cNvSpPr/>
            <p:nvPr/>
          </p:nvSpPr>
          <p:spPr>
            <a:xfrm>
              <a:off x="2247900" y="4953000"/>
              <a:ext cx="9944100" cy="485775"/>
            </a:xfrm>
            <a:custGeom>
              <a:avLst/>
              <a:gdLst/>
              <a:ahLst/>
              <a:cxnLst/>
              <a:rect l="l" t="t" r="r" b="b"/>
              <a:pathLst>
                <a:path w="9944100" h="485775">
                  <a:moveTo>
                    <a:pt x="9944100" y="0"/>
                  </a:moveTo>
                  <a:lnTo>
                    <a:pt x="0" y="288544"/>
                  </a:lnTo>
                  <a:lnTo>
                    <a:pt x="9944100" y="485775"/>
                  </a:lnTo>
                  <a:lnTo>
                    <a:pt x="9944100" y="0"/>
                  </a:lnTo>
                  <a:close/>
                </a:path>
              </a:pathLst>
            </a:custGeom>
            <a:solidFill>
              <a:srgbClr val="9FCADC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8831" y="5238750"/>
              <a:ext cx="12043410" cy="790575"/>
            </a:xfrm>
            <a:custGeom>
              <a:avLst/>
              <a:gdLst/>
              <a:ahLst/>
              <a:cxnLst/>
              <a:rect l="l" t="t" r="r" b="b"/>
              <a:pathLst>
                <a:path w="12043410" h="790575">
                  <a:moveTo>
                    <a:pt x="12043168" y="0"/>
                  </a:moveTo>
                  <a:lnTo>
                    <a:pt x="0" y="0"/>
                  </a:lnTo>
                  <a:lnTo>
                    <a:pt x="12043168" y="790575"/>
                  </a:lnTo>
                  <a:lnTo>
                    <a:pt x="1204316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991036"/>
              <a:ext cx="12187301" cy="1862201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77" y="4999355"/>
              <a:ext cx="12187622" cy="801496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6713219" y="6602094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Copyright</a:t>
            </a:r>
            <a:r>
              <a:rPr sz="750" spc="-2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©</a:t>
            </a:r>
            <a:r>
              <a:rPr sz="750" spc="8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2020</a:t>
            </a:r>
            <a:r>
              <a:rPr sz="750" spc="7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Pearson</a:t>
            </a:r>
            <a:r>
              <a:rPr sz="750" spc="75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Education</a:t>
            </a:r>
            <a:r>
              <a:rPr sz="750" spc="7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-20" dirty="0">
                <a:solidFill>
                  <a:srgbClr val="E8EFF4"/>
                </a:solidFill>
                <a:latin typeface="Times New Roman"/>
                <a:cs typeface="Times New Roman"/>
              </a:rPr>
              <a:t>Ltd.</a:t>
            </a:r>
            <a:r>
              <a:rPr sz="750" spc="2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spc="-30" dirty="0">
                <a:solidFill>
                  <a:srgbClr val="E8EFF4"/>
                </a:solidFill>
                <a:latin typeface="Times New Roman"/>
                <a:cs typeface="Times New Roman"/>
              </a:rPr>
              <a:t>All</a:t>
            </a:r>
            <a:r>
              <a:rPr sz="750" spc="60" dirty="0">
                <a:solidFill>
                  <a:srgbClr val="E8EFF4"/>
                </a:solidFill>
                <a:latin typeface="Times New Roman"/>
                <a:cs typeface="Times New Roman"/>
              </a:rPr>
              <a:t> </a:t>
            </a:r>
            <a:r>
              <a:rPr sz="750" dirty="0">
                <a:solidFill>
                  <a:srgbClr val="E8EFF4"/>
                </a:solidFill>
                <a:latin typeface="Times New Roman"/>
                <a:cs typeface="Times New Roman"/>
              </a:rPr>
              <a:t>Rights</a:t>
            </a:r>
            <a:r>
              <a:rPr sz="750" spc="-10" dirty="0">
                <a:solidFill>
                  <a:srgbClr val="E8EFF4"/>
                </a:solidFill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9" name="object 8">
            <a:extLst>
              <a:ext uri="{FF2B5EF4-FFF2-40B4-BE49-F238E27FC236}">
                <a16:creationId xmlns:a16="http://schemas.microsoft.com/office/drawing/2014/main" id="{29C0EDE1-95A5-F573-75DA-E1CE195EFC97}"/>
              </a:ext>
            </a:extLst>
          </p:cNvPr>
          <p:cNvSpPr txBox="1"/>
          <p:nvPr/>
        </p:nvSpPr>
        <p:spPr>
          <a:xfrm>
            <a:off x="4080434" y="2048497"/>
            <a:ext cx="4180204" cy="2542427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03250" marR="5080" indent="-591185">
              <a:lnSpc>
                <a:spcPct val="103299"/>
              </a:lnSpc>
              <a:spcBef>
                <a:spcPts val="45"/>
              </a:spcBef>
            </a:pPr>
            <a:r>
              <a:rPr lang="da-DK" sz="5400" b="1" spc="-130" dirty="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Control Statements: </a:t>
            </a:r>
            <a:r>
              <a:rPr lang="da-DK" sz="5400" b="1" spc="-130" dirty="0" err="1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Selection</a:t>
            </a:r>
            <a:endParaRPr sz="5400" b="1" dirty="0">
              <a:solidFill>
                <a:schemeClr val="accent5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03" y="714104"/>
            <a:ext cx="4119679" cy="3957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569584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81475" y="1990725"/>
            <a:ext cx="3829050" cy="2876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7846" y="1753214"/>
            <a:ext cx="8036307" cy="335157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4015" y="190436"/>
            <a:ext cx="2929890" cy="871855"/>
            <a:chOff x="704015" y="190436"/>
            <a:chExt cx="2929890" cy="87185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4015" y="427267"/>
              <a:ext cx="1015987" cy="30314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2575" y="190436"/>
              <a:ext cx="1433449" cy="87153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43174" y="190436"/>
              <a:ext cx="1090612" cy="871537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69925" y="279399"/>
            <a:ext cx="4829810" cy="4860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30"/>
              </a:spcBef>
            </a:pPr>
            <a:r>
              <a:rPr dirty="0"/>
              <a:t>Truth</a:t>
            </a:r>
            <a:r>
              <a:rPr spc="65" dirty="0"/>
              <a:t> </a:t>
            </a:r>
            <a:r>
              <a:rPr spc="140" dirty="0"/>
              <a:t>table</a:t>
            </a:r>
            <a:r>
              <a:rPr lang="da-DK" spc="140" dirty="0"/>
              <a:t>       - and</a:t>
            </a:r>
            <a:r>
              <a:rPr spc="-40" dirty="0"/>
              <a:t> </a:t>
            </a:r>
            <a:r>
              <a:rPr lang="da-DK" spc="-345" dirty="0"/>
              <a:t> </a:t>
            </a:r>
            <a:endParaRPr spc="-34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78" y="714073"/>
            <a:ext cx="4119669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97266"/>
            <a:ext cx="10557510" cy="16986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03200" marR="5080" indent="-190500">
              <a:lnSpc>
                <a:spcPts val="2550"/>
              </a:lnSpc>
              <a:spcBef>
                <a:spcPts val="8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3200" algn="l"/>
              </a:tabLst>
            </a:pPr>
            <a:r>
              <a:rPr sz="2000" spc="60" dirty="0">
                <a:latin typeface="Times New Roman"/>
                <a:cs typeface="Times New Roman"/>
              </a:rPr>
              <a:t>The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385" dirty="0">
                <a:solidFill>
                  <a:srgbClr val="0000FF"/>
                </a:solidFill>
                <a:latin typeface="Arial"/>
                <a:cs typeface="Arial"/>
              </a:rPr>
              <a:t>||</a:t>
            </a:r>
            <a:r>
              <a:rPr sz="2000" spc="-4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(</a:t>
            </a:r>
            <a:r>
              <a:rPr sz="2000" b="1" spc="75" dirty="0">
                <a:solidFill>
                  <a:srgbClr val="0000FF"/>
                </a:solidFill>
                <a:latin typeface="Times New Roman"/>
                <a:cs typeface="Times New Roman"/>
              </a:rPr>
              <a:t>conditional</a:t>
            </a:r>
            <a:r>
              <a:rPr sz="2000" b="1" spc="1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000" b="1" spc="-55" dirty="0">
                <a:solidFill>
                  <a:srgbClr val="0000FF"/>
                </a:solidFill>
                <a:latin typeface="Times New Roman"/>
                <a:cs typeface="Times New Roman"/>
              </a:rPr>
              <a:t>OR</a:t>
            </a:r>
            <a:r>
              <a:rPr sz="2000" spc="-55" dirty="0">
                <a:latin typeface="Times New Roman"/>
                <a:cs typeface="Times New Roman"/>
              </a:rPr>
              <a:t>) </a:t>
            </a:r>
            <a:r>
              <a:rPr sz="2000" spc="100" dirty="0">
                <a:latin typeface="Times New Roman"/>
                <a:cs typeface="Times New Roman"/>
              </a:rPr>
              <a:t>operator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ensures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that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either</a:t>
            </a:r>
            <a:r>
              <a:rPr sz="2000" i="1" spc="130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or</a:t>
            </a:r>
            <a:r>
              <a:rPr sz="2000" i="1" spc="-25" dirty="0">
                <a:latin typeface="Times New Roman"/>
                <a:cs typeface="Times New Roman"/>
              </a:rPr>
              <a:t> </a:t>
            </a:r>
            <a:r>
              <a:rPr sz="2000" i="1" spc="70" dirty="0">
                <a:latin typeface="Times New Roman"/>
                <a:cs typeface="Times New Roman"/>
              </a:rPr>
              <a:t>both</a:t>
            </a:r>
            <a:r>
              <a:rPr sz="2000" i="1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105" dirty="0">
                <a:latin typeface="Times New Roman"/>
                <a:cs typeface="Times New Roman"/>
              </a:rPr>
              <a:t>two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conditions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are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120" dirty="0">
                <a:latin typeface="Times New Roman"/>
                <a:cs typeface="Times New Roman"/>
              </a:rPr>
              <a:t>true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before choosing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a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certain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path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execution.</a:t>
            </a:r>
            <a:endParaRPr sz="2000">
              <a:latin typeface="Times New Roman"/>
              <a:cs typeface="Times New Roman"/>
            </a:endParaRPr>
          </a:p>
          <a:p>
            <a:pPr marL="202565" indent="-189865">
              <a:lnSpc>
                <a:spcPct val="100000"/>
              </a:lnSpc>
              <a:spcBef>
                <a:spcPts val="12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50" dirty="0">
                <a:latin typeface="Times New Roman"/>
                <a:cs typeface="Times New Roman"/>
              </a:rPr>
              <a:t>Figure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4.14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is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a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120" dirty="0">
                <a:latin typeface="Times New Roman"/>
                <a:cs typeface="Times New Roman"/>
              </a:rPr>
              <a:t>truth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table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operator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65" dirty="0">
                <a:latin typeface="Times New Roman"/>
                <a:cs typeface="Times New Roman"/>
              </a:rPr>
              <a:t>conditional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95" dirty="0">
                <a:latin typeface="Times New Roman"/>
                <a:cs typeface="Times New Roman"/>
              </a:rPr>
              <a:t>OR</a:t>
            </a:r>
            <a:r>
              <a:rPr sz="2000" spc="-10" dirty="0">
                <a:latin typeface="Times New Roman"/>
                <a:cs typeface="Times New Roman"/>
              </a:rPr>
              <a:t> (</a:t>
            </a:r>
            <a:r>
              <a:rPr sz="2000" spc="-10" dirty="0">
                <a:latin typeface="Monaco"/>
                <a:cs typeface="Monaco"/>
              </a:rPr>
              <a:t>||</a:t>
            </a:r>
            <a:r>
              <a:rPr sz="2000" spc="-10" dirty="0">
                <a:latin typeface="Times New Roman"/>
                <a:cs typeface="Times New Roman"/>
              </a:rPr>
              <a:t>).</a:t>
            </a:r>
            <a:endParaRPr sz="2000">
              <a:latin typeface="Times New Roman"/>
              <a:cs typeface="Times New Roman"/>
            </a:endParaRPr>
          </a:p>
          <a:p>
            <a:pPr marL="202565" indent="-189865">
              <a:lnSpc>
                <a:spcPct val="100000"/>
              </a:lnSpc>
              <a:spcBef>
                <a:spcPts val="37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85" dirty="0">
                <a:latin typeface="Times New Roman"/>
                <a:cs typeface="Times New Roman"/>
              </a:rPr>
              <a:t>Operator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100" dirty="0">
                <a:latin typeface="Monaco"/>
                <a:cs typeface="Monaco"/>
              </a:rPr>
              <a:t>&amp;&amp;</a:t>
            </a:r>
            <a:r>
              <a:rPr sz="2000" spc="-730" dirty="0">
                <a:latin typeface="Monaco"/>
                <a:cs typeface="Monaco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has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a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80" dirty="0">
                <a:latin typeface="Times New Roman"/>
                <a:cs typeface="Times New Roman"/>
              </a:rPr>
              <a:t>higher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spc="85" dirty="0">
                <a:latin typeface="Times New Roman"/>
                <a:cs typeface="Times New Roman"/>
              </a:rPr>
              <a:t>precedence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than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operator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Monaco"/>
                <a:cs typeface="Monaco"/>
              </a:rPr>
              <a:t>||</a:t>
            </a:r>
            <a:r>
              <a:rPr sz="2000" spc="-2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  <a:p>
            <a:pPr marL="202565" indent="-189865">
              <a:lnSpc>
                <a:spcPct val="100000"/>
              </a:lnSpc>
              <a:spcBef>
                <a:spcPts val="380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50" dirty="0">
                <a:latin typeface="Times New Roman"/>
                <a:cs typeface="Times New Roman"/>
              </a:rPr>
              <a:t>Both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operators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associate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from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left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to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45" dirty="0">
                <a:latin typeface="Times New Roman"/>
                <a:cs typeface="Times New Roman"/>
              </a:rPr>
              <a:t>right.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0476" y="6600507"/>
            <a:ext cx="24072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35" dirty="0">
                <a:latin typeface="Arial"/>
                <a:cs typeface="Arial"/>
              </a:rPr>
              <a:t>Copyright</a:t>
            </a:r>
            <a:r>
              <a:rPr sz="750" spc="25" dirty="0">
                <a:latin typeface="Arial"/>
                <a:cs typeface="Arial"/>
              </a:rPr>
              <a:t> </a:t>
            </a:r>
            <a:r>
              <a:rPr sz="750" spc="75" dirty="0">
                <a:latin typeface="Arial"/>
                <a:cs typeface="Arial"/>
              </a:rPr>
              <a:t>©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45" dirty="0">
                <a:latin typeface="Arial"/>
                <a:cs typeface="Arial"/>
              </a:rPr>
              <a:t>2020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spc="-55" dirty="0">
                <a:latin typeface="Arial"/>
                <a:cs typeface="Arial"/>
              </a:rPr>
              <a:t>Pearson</a:t>
            </a:r>
            <a:r>
              <a:rPr sz="750" dirty="0">
                <a:latin typeface="Arial"/>
                <a:cs typeface="Arial"/>
              </a:rPr>
              <a:t> </a:t>
            </a:r>
            <a:r>
              <a:rPr sz="750" spc="-40" dirty="0">
                <a:latin typeface="Arial"/>
                <a:cs typeface="Arial"/>
              </a:rPr>
              <a:t>Education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Ltd.</a:t>
            </a:r>
            <a:r>
              <a:rPr sz="750" spc="3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All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50" dirty="0">
                <a:latin typeface="Arial"/>
                <a:cs typeface="Arial"/>
              </a:rPr>
              <a:t>Rights</a:t>
            </a:r>
            <a:r>
              <a:rPr sz="750" spc="15" dirty="0">
                <a:latin typeface="Arial"/>
                <a:cs typeface="Arial"/>
              </a:rPr>
              <a:t> </a:t>
            </a:r>
            <a:r>
              <a:rPr sz="750" spc="-30" dirty="0">
                <a:latin typeface="Arial"/>
                <a:cs typeface="Arial"/>
              </a:rPr>
              <a:t>Reserved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68934" y="1774699"/>
            <a:ext cx="8054131" cy="330860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778" y="714073"/>
            <a:ext cx="4119669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87400" y="1459166"/>
            <a:ext cx="10081895" cy="759823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89865" indent="-189865">
              <a:lnSpc>
                <a:spcPts val="2860"/>
              </a:lnSpc>
              <a:spcBef>
                <a:spcPts val="125"/>
              </a:spcBef>
              <a:buClr>
                <a:srgbClr val="2CA1BE"/>
              </a:buClr>
              <a:buSzPct val="69387"/>
              <a:buFont typeface="Wingdings 3"/>
              <a:buChar char=""/>
              <a:tabLst>
                <a:tab pos="189865" algn="l"/>
              </a:tabLst>
            </a:pPr>
            <a:r>
              <a:rPr sz="2450" spc="70" dirty="0">
                <a:latin typeface="Times New Roman"/>
                <a:cs typeface="Times New Roman"/>
              </a:rPr>
              <a:t>The</a:t>
            </a:r>
            <a:r>
              <a:rPr sz="2450" spc="-15" dirty="0">
                <a:latin typeface="Times New Roman"/>
                <a:cs typeface="Times New Roman"/>
              </a:rPr>
              <a:t> </a:t>
            </a:r>
            <a:r>
              <a:rPr sz="2450" spc="125" dirty="0">
                <a:solidFill>
                  <a:srgbClr val="0000FF"/>
                </a:solidFill>
                <a:latin typeface="Arial"/>
                <a:cs typeface="Arial"/>
              </a:rPr>
              <a:t>!</a:t>
            </a:r>
            <a:r>
              <a:rPr sz="2450" spc="-135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450" spc="95" dirty="0">
                <a:latin typeface="Times New Roman"/>
                <a:cs typeface="Times New Roman"/>
              </a:rPr>
              <a:t>(</a:t>
            </a:r>
            <a:r>
              <a:rPr sz="2450" b="1" spc="95" dirty="0">
                <a:solidFill>
                  <a:srgbClr val="0000FF"/>
                </a:solidFill>
                <a:latin typeface="Times New Roman"/>
                <a:cs typeface="Times New Roman"/>
              </a:rPr>
              <a:t>logical</a:t>
            </a:r>
            <a:r>
              <a:rPr sz="2450" b="1" spc="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5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NOT</a:t>
            </a:r>
            <a:r>
              <a:rPr sz="2450" spc="-125" dirty="0">
                <a:latin typeface="Times New Roman"/>
                <a:cs typeface="Times New Roman"/>
              </a:rPr>
              <a:t>,</a:t>
            </a:r>
            <a:r>
              <a:rPr sz="2450" spc="8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also</a:t>
            </a:r>
            <a:r>
              <a:rPr sz="2450" spc="-50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called</a:t>
            </a:r>
            <a:r>
              <a:rPr sz="2450" spc="-20" dirty="0">
                <a:latin typeface="Times New Roman"/>
                <a:cs typeface="Times New Roman"/>
              </a:rPr>
              <a:t> </a:t>
            </a:r>
            <a:r>
              <a:rPr sz="2450" b="1" spc="85" dirty="0">
                <a:solidFill>
                  <a:srgbClr val="0000FF"/>
                </a:solidFill>
                <a:latin typeface="Times New Roman"/>
                <a:cs typeface="Times New Roman"/>
              </a:rPr>
              <a:t>logical</a:t>
            </a:r>
            <a:r>
              <a:rPr sz="2450" b="1" spc="1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50" b="1" spc="125" dirty="0">
                <a:solidFill>
                  <a:srgbClr val="0000FF"/>
                </a:solidFill>
                <a:latin typeface="Times New Roman"/>
                <a:cs typeface="Times New Roman"/>
              </a:rPr>
              <a:t>negation</a:t>
            </a:r>
            <a:r>
              <a:rPr sz="2450" b="1" spc="-1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50" spc="160" dirty="0">
                <a:latin typeface="Times New Roman"/>
                <a:cs typeface="Times New Roman"/>
              </a:rPr>
              <a:t>or</a:t>
            </a:r>
            <a:r>
              <a:rPr sz="2450" spc="-135" dirty="0">
                <a:latin typeface="Times New Roman"/>
                <a:cs typeface="Times New Roman"/>
              </a:rPr>
              <a:t> </a:t>
            </a:r>
            <a:r>
              <a:rPr sz="2450" b="1" spc="85" dirty="0">
                <a:solidFill>
                  <a:srgbClr val="0000FF"/>
                </a:solidFill>
                <a:latin typeface="Times New Roman"/>
                <a:cs typeface="Times New Roman"/>
              </a:rPr>
              <a:t>logical</a:t>
            </a:r>
            <a:r>
              <a:rPr sz="2450" b="1" spc="13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50" b="1" spc="125" dirty="0">
                <a:solidFill>
                  <a:srgbClr val="0000FF"/>
                </a:solidFill>
                <a:latin typeface="Times New Roman"/>
                <a:cs typeface="Times New Roman"/>
              </a:rPr>
              <a:t>complement</a:t>
            </a:r>
            <a:r>
              <a:rPr sz="2450" spc="125" dirty="0">
                <a:latin typeface="Times New Roman"/>
                <a:cs typeface="Times New Roman"/>
              </a:rPr>
              <a:t>)</a:t>
            </a:r>
            <a:endParaRPr sz="2450" dirty="0">
              <a:latin typeface="Times New Roman"/>
              <a:cs typeface="Times New Roman"/>
            </a:endParaRPr>
          </a:p>
          <a:p>
            <a:pPr marL="190500">
              <a:lnSpc>
                <a:spcPts val="2860"/>
              </a:lnSpc>
            </a:pPr>
            <a:r>
              <a:rPr sz="2450" spc="135" dirty="0">
                <a:latin typeface="Times New Roman"/>
                <a:cs typeface="Times New Roman"/>
              </a:rPr>
              <a:t>operator</a:t>
            </a:r>
            <a:r>
              <a:rPr sz="2450" spc="25" dirty="0">
                <a:latin typeface="Times New Roman"/>
                <a:cs typeface="Times New Roman"/>
              </a:rPr>
              <a:t> </a:t>
            </a:r>
            <a:r>
              <a:rPr sz="2450" spc="60" dirty="0">
                <a:latin typeface="Times New Roman"/>
                <a:cs typeface="Times New Roman"/>
              </a:rPr>
              <a:t>“reverses”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125" dirty="0">
                <a:latin typeface="Times New Roman"/>
                <a:cs typeface="Times New Roman"/>
              </a:rPr>
              <a:t>the</a:t>
            </a:r>
            <a:r>
              <a:rPr sz="2450" spc="-5" dirty="0">
                <a:latin typeface="Times New Roman"/>
                <a:cs typeface="Times New Roman"/>
              </a:rPr>
              <a:t> </a:t>
            </a:r>
            <a:r>
              <a:rPr sz="2450" spc="75" dirty="0">
                <a:latin typeface="Times New Roman"/>
                <a:cs typeface="Times New Roman"/>
              </a:rPr>
              <a:t>meaning</a:t>
            </a:r>
            <a:r>
              <a:rPr sz="2450" spc="220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of</a:t>
            </a:r>
            <a:r>
              <a:rPr sz="2450" spc="-75" dirty="0">
                <a:latin typeface="Times New Roman"/>
                <a:cs typeface="Times New Roman"/>
              </a:rPr>
              <a:t> </a:t>
            </a:r>
            <a:r>
              <a:rPr sz="2450" spc="114" dirty="0">
                <a:latin typeface="Times New Roman"/>
                <a:cs typeface="Times New Roman"/>
              </a:rPr>
              <a:t>a</a:t>
            </a:r>
            <a:r>
              <a:rPr sz="2450" spc="-5" dirty="0">
                <a:latin typeface="Times New Roman"/>
                <a:cs typeface="Times New Roman"/>
              </a:rPr>
              <a:t> </a:t>
            </a:r>
            <a:r>
              <a:rPr sz="2450" spc="50" dirty="0">
                <a:latin typeface="Times New Roman"/>
                <a:cs typeface="Times New Roman"/>
              </a:rPr>
              <a:t>condition.</a:t>
            </a:r>
            <a:endParaRPr sz="24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70476" y="6600507"/>
            <a:ext cx="240728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35" dirty="0">
                <a:latin typeface="Arial"/>
                <a:cs typeface="Arial"/>
              </a:rPr>
              <a:t>Copyright</a:t>
            </a:r>
            <a:r>
              <a:rPr sz="750" spc="25" dirty="0">
                <a:latin typeface="Arial"/>
                <a:cs typeface="Arial"/>
              </a:rPr>
              <a:t> </a:t>
            </a:r>
            <a:r>
              <a:rPr sz="750" spc="75" dirty="0">
                <a:latin typeface="Arial"/>
                <a:cs typeface="Arial"/>
              </a:rPr>
              <a:t>©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45" dirty="0">
                <a:latin typeface="Arial"/>
                <a:cs typeface="Arial"/>
              </a:rPr>
              <a:t>2020</a:t>
            </a:r>
            <a:r>
              <a:rPr sz="750" spc="-60" dirty="0">
                <a:latin typeface="Arial"/>
                <a:cs typeface="Arial"/>
              </a:rPr>
              <a:t> </a:t>
            </a:r>
            <a:r>
              <a:rPr sz="750" spc="-55" dirty="0">
                <a:latin typeface="Arial"/>
                <a:cs typeface="Arial"/>
              </a:rPr>
              <a:t>Pearson</a:t>
            </a:r>
            <a:r>
              <a:rPr sz="750" dirty="0">
                <a:latin typeface="Arial"/>
                <a:cs typeface="Arial"/>
              </a:rPr>
              <a:t> </a:t>
            </a:r>
            <a:r>
              <a:rPr sz="750" spc="-40" dirty="0">
                <a:latin typeface="Arial"/>
                <a:cs typeface="Arial"/>
              </a:rPr>
              <a:t>Education</a:t>
            </a:r>
            <a:r>
              <a:rPr sz="750" spc="60" dirty="0">
                <a:latin typeface="Arial"/>
                <a:cs typeface="Arial"/>
              </a:rPr>
              <a:t> </a:t>
            </a:r>
            <a:r>
              <a:rPr sz="750" spc="-25" dirty="0">
                <a:latin typeface="Arial"/>
                <a:cs typeface="Arial"/>
              </a:rPr>
              <a:t>Ltd.</a:t>
            </a:r>
            <a:r>
              <a:rPr sz="750" spc="35" dirty="0">
                <a:latin typeface="Arial"/>
                <a:cs typeface="Arial"/>
              </a:rPr>
              <a:t> </a:t>
            </a:r>
            <a:r>
              <a:rPr sz="750" spc="-10" dirty="0">
                <a:latin typeface="Arial"/>
                <a:cs typeface="Arial"/>
              </a:rPr>
              <a:t>All</a:t>
            </a:r>
            <a:r>
              <a:rPr sz="750" spc="-20" dirty="0">
                <a:latin typeface="Arial"/>
                <a:cs typeface="Arial"/>
              </a:rPr>
              <a:t> </a:t>
            </a:r>
            <a:r>
              <a:rPr sz="750" spc="-50" dirty="0">
                <a:latin typeface="Arial"/>
                <a:cs typeface="Arial"/>
              </a:rPr>
              <a:t>Rights</a:t>
            </a:r>
            <a:r>
              <a:rPr sz="750" spc="15" dirty="0">
                <a:latin typeface="Arial"/>
                <a:cs typeface="Arial"/>
              </a:rPr>
              <a:t> </a:t>
            </a:r>
            <a:r>
              <a:rPr sz="750" spc="-30" dirty="0">
                <a:latin typeface="Arial"/>
                <a:cs typeface="Arial"/>
              </a:rPr>
              <a:t>Reserved</a:t>
            </a:r>
            <a:endParaRPr sz="7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2837" y="1833196"/>
            <a:ext cx="7726325" cy="319160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9800" y="1447800"/>
            <a:ext cx="6562725" cy="424815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0E5930-8B3C-F6E4-04C8-A517BDCEF983}"/>
              </a:ext>
            </a:extLst>
          </p:cNvPr>
          <p:cNvSpPr txBox="1"/>
          <p:nvPr/>
        </p:nvSpPr>
        <p:spPr>
          <a:xfrm>
            <a:off x="1960245" y="639566"/>
            <a:ext cx="6098058" cy="413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Bef>
                <a:spcPts val="225"/>
              </a:spcBef>
              <a:buNone/>
            </a:pPr>
            <a:r>
              <a:rPr lang="en-GB" sz="3800" b="0" i="0" u="sng" strike="noStrike" dirty="0">
                <a:solidFill>
                  <a:srgbClr val="99C3FF"/>
                </a:solidFill>
                <a:effectLst/>
                <a:latin typeface="Google Sans"/>
                <a:hlinkClick r:id="rId3"/>
              </a:rPr>
              <a:t>Operator Precedence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3966" y="180911"/>
            <a:ext cx="5044440" cy="881380"/>
            <a:chOff x="703966" y="180911"/>
            <a:chExt cx="5044440" cy="8813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3966" y="417794"/>
              <a:ext cx="930358" cy="29367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57325" y="190436"/>
              <a:ext cx="1909826" cy="8715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7975" y="180911"/>
              <a:ext cx="2900426" cy="87153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30"/>
              </a:spcBef>
              <a:tabLst>
                <a:tab pos="3726815" algn="l"/>
              </a:tabLst>
            </a:pPr>
            <a:r>
              <a:rPr spc="-220" dirty="0">
                <a:solidFill>
                  <a:srgbClr val="23B5A0"/>
                </a:solidFill>
                <a:latin typeface="Arial"/>
                <a:cs typeface="Arial"/>
              </a:rPr>
              <a:t>demo</a:t>
            </a:r>
            <a:r>
              <a:rPr spc="-150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pc="-330" dirty="0">
                <a:solidFill>
                  <a:srgbClr val="23B5A0"/>
                </a:solidFill>
                <a:latin typeface="Arial"/>
                <a:cs typeface="Arial"/>
              </a:rPr>
              <a:t>se</a:t>
            </a:r>
            <a:r>
              <a:rPr spc="-55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pc="-180" dirty="0">
                <a:solidFill>
                  <a:srgbClr val="23B5A0"/>
                </a:solidFill>
                <a:latin typeface="Arial"/>
                <a:cs typeface="Arial"/>
              </a:rPr>
              <a:t>more</a:t>
            </a:r>
            <a:r>
              <a:rPr spc="-200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pc="200" dirty="0">
                <a:solidFill>
                  <a:srgbClr val="3380E6"/>
                </a:solidFill>
                <a:latin typeface="Arial"/>
                <a:cs typeface="Arial"/>
              </a:rPr>
              <a:t>True/</a:t>
            </a:r>
            <a:r>
              <a:rPr dirty="0">
                <a:solidFill>
                  <a:srgbClr val="3380E6"/>
                </a:solidFill>
                <a:latin typeface="Arial"/>
                <a:cs typeface="Arial"/>
              </a:rPr>
              <a:t>	</a:t>
            </a:r>
            <a:r>
              <a:rPr spc="120" dirty="0">
                <a:solidFill>
                  <a:srgbClr val="3380E6"/>
                </a:solidFill>
                <a:latin typeface="Arial"/>
                <a:cs typeface="Arial"/>
              </a:rPr>
              <a:t>False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65FDAC-320E-5A5F-47B3-2B40A9D51B2F}"/>
              </a:ext>
            </a:extLst>
          </p:cNvPr>
          <p:cNvSpPr txBox="1"/>
          <p:nvPr/>
        </p:nvSpPr>
        <p:spPr>
          <a:xfrm>
            <a:off x="3049030" y="1443841"/>
            <a:ext cx="609805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Review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GB" dirty="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// Correct </a:t>
            </a:r>
            <a:r>
              <a:rPr lang="en-GB" i="1" dirty="0" err="1">
                <a:solidFill>
                  <a:srgbClr val="8C8C8C"/>
                </a:solidFill>
                <a:effectLst/>
                <a:latin typeface="JetBrains Mono"/>
              </a:rPr>
              <a:t>boolean</a:t>
            </a: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 statements</a:t>
            </a:r>
            <a:br>
              <a:rPr lang="en-GB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GB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statement1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GB" dirty="0"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== </a:t>
            </a:r>
            <a:r>
              <a:rPr lang="en-GB" dirty="0">
                <a:solidFill>
                  <a:srgbClr val="1750EB"/>
                </a:solidFill>
                <a:effectLst/>
                <a:latin typeface="JetBrains Mono"/>
              </a:rPr>
              <a:t>1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  </a:t>
            </a: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// equality check</a:t>
            </a:r>
            <a:br>
              <a:rPr lang="en-GB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GB" dirty="0" err="1">
                <a:solidFill>
                  <a:srgbClr val="0033B3"/>
                </a:solidFill>
                <a:effectLst/>
                <a:latin typeface="JetBrains Mono"/>
              </a:rPr>
              <a:t>boolean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statement2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GB" dirty="0">
                <a:solidFill>
                  <a:srgbClr val="1750EB"/>
                </a:solidFill>
                <a:effectLst/>
                <a:latin typeface="JetBrains Mono"/>
              </a:rPr>
              <a:t>1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&lt; </a:t>
            </a:r>
            <a:r>
              <a:rPr lang="en-GB" dirty="0">
                <a:solidFill>
                  <a:srgbClr val="1750EB"/>
                </a:solidFill>
                <a:effectLst/>
                <a:latin typeface="JetBrains Mono"/>
              </a:rPr>
              <a:t>3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   </a:t>
            </a: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// less-than check</a:t>
            </a:r>
            <a:br>
              <a:rPr lang="en-GB" i="1" dirty="0">
                <a:solidFill>
                  <a:srgbClr val="8C8C8C"/>
                </a:solidFill>
                <a:effectLst/>
                <a:latin typeface="JetBrains Mono"/>
              </a:rPr>
            </a:br>
            <a:br>
              <a:rPr lang="en-GB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        // Check both statements using if-else</a:t>
            </a:r>
            <a:br>
              <a:rPr lang="en-GB" i="1" dirty="0">
                <a:solidFill>
                  <a:srgbClr val="8C8C8C"/>
                </a:solidFill>
                <a:effectLst/>
                <a:latin typeface="JetBrains Mono"/>
              </a:rPr>
            </a:br>
            <a:r>
              <a:rPr lang="en-GB" i="1" dirty="0">
                <a:solidFill>
                  <a:srgbClr val="8C8C8C"/>
                </a:solidFill>
                <a:effectLst/>
                <a:latin typeface="JetBrains Mono"/>
              </a:rPr>
              <a:t>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if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statement1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&amp;&amp;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statement2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"Both statements are true"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}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else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"At least one statement is false"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5114" y="1236005"/>
            <a:ext cx="8081770" cy="4385988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5051" y="417794"/>
            <a:ext cx="3891582" cy="359982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1750">
              <a:lnSpc>
                <a:spcPct val="100000"/>
              </a:lnSpc>
              <a:spcBef>
                <a:spcPts val="130"/>
              </a:spcBef>
            </a:pPr>
            <a:r>
              <a:rPr spc="-320" dirty="0">
                <a:solidFill>
                  <a:srgbClr val="23B5A0"/>
                </a:solidFill>
                <a:latin typeface="Arial"/>
                <a:cs typeface="Arial"/>
              </a:rPr>
              <a:t>Test</a:t>
            </a:r>
            <a:r>
              <a:rPr spc="-110" dirty="0">
                <a:solidFill>
                  <a:srgbClr val="23B5A0"/>
                </a:solidFill>
                <a:latin typeface="Arial"/>
                <a:cs typeface="Arial"/>
              </a:rPr>
              <a:t> what</a:t>
            </a:r>
            <a:r>
              <a:rPr spc="-185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pc="-295" dirty="0">
                <a:solidFill>
                  <a:srgbClr val="23B5A0"/>
                </a:solidFill>
                <a:latin typeface="Arial"/>
                <a:cs typeface="Arial"/>
              </a:rPr>
              <a:t>is</a:t>
            </a:r>
            <a:r>
              <a:rPr spc="-200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pc="-130" dirty="0">
                <a:solidFill>
                  <a:srgbClr val="23B5A0"/>
                </a:solidFill>
                <a:latin typeface="Arial"/>
                <a:cs typeface="Arial"/>
              </a:rPr>
              <a:t>the</a:t>
            </a:r>
            <a:r>
              <a:rPr spc="-150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pc="-155" dirty="0">
                <a:solidFill>
                  <a:srgbClr val="23B5A0"/>
                </a:solidFill>
                <a:latin typeface="Arial"/>
                <a:cs typeface="Arial"/>
              </a:rPr>
              <a:t>output?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291" y="514162"/>
            <a:ext cx="2595693" cy="6908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43400" y="0"/>
            <a:ext cx="6858000" cy="68579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4F7523-778D-D1F9-BF4F-2BC345A3B4B4}"/>
              </a:ext>
            </a:extLst>
          </p:cNvPr>
          <p:cNvSpPr txBox="1"/>
          <p:nvPr/>
        </p:nvSpPr>
        <p:spPr>
          <a:xfrm>
            <a:off x="3276600" y="5029200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dirty="0"/>
              <a:t> </a:t>
            </a:r>
            <a:r>
              <a:rPr lang="en-GB" dirty="0"/>
              <a:t>https://</a:t>
            </a:r>
            <a:r>
              <a:rPr lang="en-GB" dirty="0" err="1"/>
              <a:t>www.plantuml.com</a:t>
            </a:r>
            <a:r>
              <a:rPr lang="en-GB" dirty="0"/>
              <a:t>/</a:t>
            </a:r>
            <a:r>
              <a:rPr lang="en-GB" dirty="0" err="1"/>
              <a:t>plantuml</a:t>
            </a:r>
            <a:r>
              <a:rPr lang="en-GB" dirty="0"/>
              <a:t>/</a:t>
            </a:r>
            <a:r>
              <a:rPr lang="en-GB" dirty="0" err="1"/>
              <a:t>uml</a:t>
            </a:r>
            <a:r>
              <a:rPr lang="en-GB" dirty="0"/>
              <a:t>/SyfFKj2rKt3CoKnELR1Io4ZDoSa700003</a:t>
            </a:r>
            <a:endParaRPr lang="en-DK" dirty="0"/>
          </a:p>
          <a:p>
            <a:endParaRPr lang="en-D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BCEBD-469A-80B1-B6FF-267A1AFBF154}"/>
              </a:ext>
            </a:extLst>
          </p:cNvPr>
          <p:cNvSpPr txBox="1"/>
          <p:nvPr/>
        </p:nvSpPr>
        <p:spPr>
          <a:xfrm>
            <a:off x="3276600" y="2684959"/>
            <a:ext cx="31951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K" sz="4400" dirty="0"/>
              <a:t>Flow Charts</a:t>
            </a:r>
          </a:p>
        </p:txBody>
      </p:sp>
    </p:spTree>
    <p:extLst>
      <p:ext uri="{BB962C8B-B14F-4D97-AF65-F5344CB8AC3E}">
        <p14:creationId xmlns:p14="http://schemas.microsoft.com/office/powerpoint/2010/main" val="18381704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297" y="723547"/>
            <a:ext cx="3186231" cy="2720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68181"/>
            <a:ext cx="7216775" cy="79502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430"/>
              </a:spcBef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-110" dirty="0">
                <a:solidFill>
                  <a:srgbClr val="FF0000"/>
                </a:solidFill>
                <a:latin typeface="Monaco"/>
                <a:cs typeface="Monaco"/>
              </a:rPr>
              <a:t>if</a:t>
            </a:r>
            <a:r>
              <a:rPr sz="2450" spc="-11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50" spc="-4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50" spc="-120" dirty="0">
                <a:solidFill>
                  <a:srgbClr val="FF0000"/>
                </a:solidFill>
                <a:latin typeface="Monaco"/>
                <a:cs typeface="Monaco"/>
              </a:rPr>
              <a:t>else</a:t>
            </a:r>
            <a:r>
              <a:rPr sz="2450" spc="-120" dirty="0">
                <a:solidFill>
                  <a:srgbClr val="FF0000"/>
                </a:solidFill>
                <a:latin typeface="Times New Roman"/>
                <a:cs typeface="Times New Roman"/>
              </a:rPr>
              <a:t>,</a:t>
            </a:r>
            <a:r>
              <a:rPr sz="2450" spc="-3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450" spc="-120" dirty="0">
                <a:solidFill>
                  <a:srgbClr val="FF0000"/>
                </a:solidFill>
                <a:latin typeface="Monaco"/>
                <a:cs typeface="Monaco"/>
              </a:rPr>
              <a:t>switch</a:t>
            </a:r>
            <a:r>
              <a:rPr sz="2450" spc="-120" dirty="0">
                <a:latin typeface="Times New Roman"/>
                <a:cs typeface="Times New Roman"/>
              </a:rPr>
              <a:t>,</a:t>
            </a:r>
            <a:r>
              <a:rPr sz="2450" spc="40" dirty="0">
                <a:latin typeface="Times New Roman"/>
                <a:cs typeface="Times New Roman"/>
              </a:rPr>
              <a:t> </a:t>
            </a:r>
            <a:r>
              <a:rPr sz="2450" spc="-110" dirty="0">
                <a:latin typeface="Monaco"/>
                <a:cs typeface="Monaco"/>
              </a:rPr>
              <a:t>while</a:t>
            </a:r>
            <a:r>
              <a:rPr sz="2450" spc="-110" dirty="0">
                <a:latin typeface="Times New Roman"/>
                <a:cs typeface="Times New Roman"/>
              </a:rPr>
              <a:t>,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-135" dirty="0">
                <a:latin typeface="Monaco"/>
                <a:cs typeface="Monaco"/>
              </a:rPr>
              <a:t>do</a:t>
            </a:r>
            <a:r>
              <a:rPr sz="2450" spc="-885" dirty="0">
                <a:latin typeface="Monaco"/>
                <a:cs typeface="Monaco"/>
              </a:rPr>
              <a:t> </a:t>
            </a:r>
            <a:r>
              <a:rPr sz="2450" spc="120" dirty="0">
                <a:latin typeface="Times New Roman"/>
                <a:cs typeface="Times New Roman"/>
              </a:rPr>
              <a:t>and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-130" dirty="0">
                <a:latin typeface="Monaco"/>
                <a:cs typeface="Monaco"/>
              </a:rPr>
              <a:t>for</a:t>
            </a:r>
            <a:r>
              <a:rPr sz="2450" spc="-885" dirty="0">
                <a:latin typeface="Monaco"/>
                <a:cs typeface="Monaco"/>
              </a:rPr>
              <a:t> </a:t>
            </a:r>
            <a:r>
              <a:rPr sz="2450" spc="150" dirty="0">
                <a:latin typeface="Times New Roman"/>
                <a:cs typeface="Times New Roman"/>
              </a:rPr>
              <a:t>are</a:t>
            </a:r>
            <a:r>
              <a:rPr sz="2450" spc="-50" dirty="0">
                <a:latin typeface="Times New Roman"/>
                <a:cs typeface="Times New Roman"/>
              </a:rPr>
              <a:t> </a:t>
            </a:r>
            <a:r>
              <a:rPr sz="2450" spc="70" dirty="0">
                <a:latin typeface="Times New Roman"/>
                <a:cs typeface="Times New Roman"/>
              </a:rPr>
              <a:t>keywords.</a:t>
            </a:r>
            <a:endParaRPr sz="2450" dirty="0">
              <a:latin typeface="Times New Roman"/>
              <a:cs typeface="Times New Roman"/>
            </a:endParaRPr>
          </a:p>
          <a:p>
            <a:pPr marL="393065" lvl="1" indent="-170815">
              <a:lnSpc>
                <a:spcPct val="100000"/>
              </a:lnSpc>
              <a:spcBef>
                <a:spcPts val="265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spc="45" dirty="0">
                <a:latin typeface="Times New Roman"/>
                <a:cs typeface="Times New Roman"/>
              </a:rPr>
              <a:t>Appendix</a:t>
            </a:r>
            <a:r>
              <a:rPr sz="2100" spc="-125" dirty="0">
                <a:latin typeface="Times New Roman"/>
                <a:cs typeface="Times New Roman"/>
              </a:rPr>
              <a:t> </a:t>
            </a:r>
            <a:r>
              <a:rPr sz="2100" spc="-130" dirty="0">
                <a:latin typeface="Times New Roman"/>
                <a:cs typeface="Times New Roman"/>
              </a:rPr>
              <a:t>C: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Complete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50" dirty="0">
                <a:latin typeface="Times New Roman"/>
                <a:cs typeface="Times New Roman"/>
              </a:rPr>
              <a:t>list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25" dirty="0">
                <a:latin typeface="Times New Roman"/>
                <a:cs typeface="Times New Roman"/>
              </a:rPr>
              <a:t> </a:t>
            </a:r>
            <a:r>
              <a:rPr sz="2100" spc="-20" dirty="0">
                <a:latin typeface="Times New Roman"/>
                <a:cs typeface="Times New Roman"/>
              </a:rPr>
              <a:t>Java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keywords.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297" y="723547"/>
            <a:ext cx="3186231" cy="2720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30591"/>
            <a:ext cx="10187305" cy="66675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203200" marR="5080" indent="-190500">
              <a:lnSpc>
                <a:spcPts val="2250"/>
              </a:lnSpc>
              <a:spcBef>
                <a:spcPts val="625"/>
              </a:spcBef>
              <a:buClr>
                <a:srgbClr val="2CA1BE"/>
              </a:buClr>
              <a:buSzPct val="67391"/>
              <a:buFont typeface="Wingdings 3"/>
              <a:buChar char=""/>
              <a:tabLst>
                <a:tab pos="203200" algn="l"/>
              </a:tabLst>
            </a:pPr>
            <a:r>
              <a:rPr sz="2300" spc="60" dirty="0">
                <a:solidFill>
                  <a:srgbClr val="0000FF"/>
                </a:solidFill>
                <a:latin typeface="Times New Roman"/>
                <a:cs typeface="Times New Roman"/>
              </a:rPr>
              <a:t>Sequential</a:t>
            </a:r>
            <a:r>
              <a:rPr sz="2300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spc="45" dirty="0">
                <a:solidFill>
                  <a:srgbClr val="0000FF"/>
                </a:solidFill>
                <a:latin typeface="Times New Roman"/>
                <a:cs typeface="Times New Roman"/>
              </a:rPr>
              <a:t>execution</a:t>
            </a:r>
            <a:r>
              <a:rPr sz="2300" spc="45" dirty="0">
                <a:latin typeface="Times New Roman"/>
                <a:cs typeface="Times New Roman"/>
              </a:rPr>
              <a:t>: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75" dirty="0">
                <a:latin typeface="Times New Roman"/>
                <a:cs typeface="Times New Roman"/>
              </a:rPr>
              <a:t>Statements</a:t>
            </a:r>
            <a:r>
              <a:rPr sz="2300" spc="-70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in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100" dirty="0">
                <a:latin typeface="Times New Roman"/>
                <a:cs typeface="Times New Roman"/>
              </a:rPr>
              <a:t>a</a:t>
            </a:r>
            <a:r>
              <a:rPr sz="2300" spc="-55" dirty="0">
                <a:latin typeface="Times New Roman"/>
                <a:cs typeface="Times New Roman"/>
              </a:rPr>
              <a:t> </a:t>
            </a:r>
            <a:r>
              <a:rPr sz="2300" spc="100" dirty="0">
                <a:latin typeface="Times New Roman"/>
                <a:cs typeface="Times New Roman"/>
              </a:rPr>
              <a:t>program</a:t>
            </a:r>
            <a:r>
              <a:rPr sz="2300" spc="-100" dirty="0">
                <a:latin typeface="Times New Roman"/>
                <a:cs typeface="Times New Roman"/>
              </a:rPr>
              <a:t> </a:t>
            </a:r>
            <a:r>
              <a:rPr sz="2300" spc="55" dirty="0">
                <a:latin typeface="Times New Roman"/>
                <a:cs typeface="Times New Roman"/>
              </a:rPr>
              <a:t>execute</a:t>
            </a:r>
            <a:r>
              <a:rPr sz="2300" spc="-130" dirty="0">
                <a:latin typeface="Times New Roman"/>
                <a:cs typeface="Times New Roman"/>
              </a:rPr>
              <a:t> </a:t>
            </a:r>
            <a:r>
              <a:rPr sz="2300" spc="85" dirty="0">
                <a:latin typeface="Times New Roman"/>
                <a:cs typeface="Times New Roman"/>
              </a:rPr>
              <a:t>one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75" dirty="0">
                <a:latin typeface="Times New Roman"/>
                <a:cs typeface="Times New Roman"/>
              </a:rPr>
              <a:t>after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spc="105" dirty="0">
                <a:latin typeface="Times New Roman"/>
                <a:cs typeface="Times New Roman"/>
              </a:rPr>
              <a:t>the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110" dirty="0">
                <a:latin typeface="Times New Roman"/>
                <a:cs typeface="Times New Roman"/>
              </a:rPr>
              <a:t>other</a:t>
            </a:r>
            <a:r>
              <a:rPr sz="2300" spc="45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in</a:t>
            </a:r>
            <a:r>
              <a:rPr sz="2300" spc="-140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the </a:t>
            </a:r>
            <a:r>
              <a:rPr sz="2300" spc="130" dirty="0">
                <a:latin typeface="Times New Roman"/>
                <a:cs typeface="Times New Roman"/>
              </a:rPr>
              <a:t>order</a:t>
            </a:r>
            <a:r>
              <a:rPr sz="2300" spc="-105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in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85" dirty="0">
                <a:latin typeface="Times New Roman"/>
                <a:cs typeface="Times New Roman"/>
              </a:rPr>
              <a:t>which</a:t>
            </a:r>
            <a:r>
              <a:rPr sz="2300" spc="-195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they</a:t>
            </a:r>
            <a:r>
              <a:rPr sz="2300" spc="-85" dirty="0">
                <a:latin typeface="Times New Roman"/>
                <a:cs typeface="Times New Roman"/>
              </a:rPr>
              <a:t> </a:t>
            </a:r>
            <a:r>
              <a:rPr sz="2300" spc="130" dirty="0">
                <a:latin typeface="Times New Roman"/>
                <a:cs typeface="Times New Roman"/>
              </a:rPr>
              <a:t>are</a:t>
            </a:r>
            <a:r>
              <a:rPr sz="2300" spc="-125" dirty="0">
                <a:latin typeface="Times New Roman"/>
                <a:cs typeface="Times New Roman"/>
              </a:rPr>
              <a:t> </a:t>
            </a:r>
            <a:r>
              <a:rPr sz="2300" spc="75" dirty="0">
                <a:latin typeface="Times New Roman"/>
                <a:cs typeface="Times New Roman"/>
              </a:rPr>
              <a:t>written.</a:t>
            </a:r>
            <a:endParaRPr sz="23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04" y="714073"/>
            <a:ext cx="4224442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98867" y="1062816"/>
            <a:ext cx="10627360" cy="2425664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35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r>
              <a:rPr sz="2000" spc="55" dirty="0">
                <a:latin typeface="Times New Roman"/>
                <a:cs typeface="Times New Roman"/>
              </a:rPr>
              <a:t>Sequence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100" dirty="0">
                <a:latin typeface="Times New Roman"/>
                <a:cs typeface="Times New Roman"/>
              </a:rPr>
              <a:t>structure</a:t>
            </a:r>
            <a:r>
              <a:rPr lang="da-DK" sz="2000" spc="100" dirty="0">
                <a:latin typeface="Times New Roman"/>
                <a:cs typeface="Times New Roman"/>
              </a:rPr>
              <a:t>- </a:t>
            </a:r>
            <a:r>
              <a:rPr lang="da-DK" sz="2000" spc="100" dirty="0" err="1">
                <a:latin typeface="Times New Roman"/>
                <a:cs typeface="Times New Roman"/>
              </a:rPr>
              <a:t>flowchart</a:t>
            </a:r>
            <a:r>
              <a:rPr lang="da-DK" sz="2000" spc="100" dirty="0">
                <a:latin typeface="Times New Roman"/>
                <a:cs typeface="Times New Roman"/>
              </a:rPr>
              <a:t>  </a:t>
            </a:r>
          </a:p>
          <a:p>
            <a:pPr marL="202565" indent="-189865">
              <a:lnSpc>
                <a:spcPct val="100000"/>
              </a:lnSpc>
              <a:spcBef>
                <a:spcPts val="355"/>
              </a:spcBef>
              <a:buClr>
                <a:srgbClr val="2CA1BE"/>
              </a:buClr>
              <a:buSzPct val="67500"/>
              <a:buFont typeface="Wingdings 3"/>
              <a:buChar char=""/>
              <a:tabLst>
                <a:tab pos="202565" algn="l"/>
              </a:tabLst>
            </a:pPr>
            <a:endParaRPr sz="2000" dirty="0">
              <a:latin typeface="Times New Roman"/>
              <a:cs typeface="Times New Roman"/>
            </a:endParaRPr>
          </a:p>
          <a:p>
            <a:pPr marL="393065" lvl="1" indent="-171450">
              <a:lnSpc>
                <a:spcPct val="100000"/>
              </a:lnSpc>
              <a:spcBef>
                <a:spcPts val="229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1700" dirty="0">
                <a:latin typeface="Times New Roman"/>
                <a:cs typeface="Times New Roman"/>
              </a:rPr>
              <a:t>Built </a:t>
            </a:r>
            <a:r>
              <a:rPr sz="1700" spc="65" dirty="0">
                <a:latin typeface="Times New Roman"/>
                <a:cs typeface="Times New Roman"/>
              </a:rPr>
              <a:t>into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-20" dirty="0">
                <a:latin typeface="Times New Roman"/>
                <a:cs typeface="Times New Roman"/>
              </a:rPr>
              <a:t>Java.</a:t>
            </a:r>
            <a:endParaRPr sz="1700" dirty="0">
              <a:latin typeface="Times New Roman"/>
              <a:cs typeface="Times New Roman"/>
            </a:endParaRPr>
          </a:p>
          <a:p>
            <a:pPr marL="393065" lvl="1" indent="-171450">
              <a:lnSpc>
                <a:spcPts val="2035"/>
              </a:lnSpc>
              <a:spcBef>
                <a:spcPts val="290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1700" dirty="0">
                <a:latin typeface="Times New Roman"/>
                <a:cs typeface="Times New Roman"/>
              </a:rPr>
              <a:t>Unless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directed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otherwise,</a:t>
            </a:r>
            <a:r>
              <a:rPr sz="1700" spc="-8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the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spc="85" dirty="0">
                <a:latin typeface="Times New Roman"/>
                <a:cs typeface="Times New Roman"/>
              </a:rPr>
              <a:t>computer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executes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Java</a:t>
            </a:r>
            <a:r>
              <a:rPr sz="1700" spc="-114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statements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one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after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the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spc="95" dirty="0">
                <a:latin typeface="Times New Roman"/>
                <a:cs typeface="Times New Roman"/>
              </a:rPr>
              <a:t>other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70" dirty="0">
                <a:latin typeface="Times New Roman"/>
                <a:cs typeface="Times New Roman"/>
              </a:rPr>
              <a:t> </a:t>
            </a:r>
            <a:r>
              <a:rPr sz="1700" spc="105" dirty="0">
                <a:latin typeface="Times New Roman"/>
                <a:cs typeface="Times New Roman"/>
              </a:rPr>
              <a:t>the</a:t>
            </a:r>
            <a:r>
              <a:rPr sz="1700" spc="-120" dirty="0">
                <a:latin typeface="Times New Roman"/>
                <a:cs typeface="Times New Roman"/>
              </a:rPr>
              <a:t> </a:t>
            </a:r>
            <a:r>
              <a:rPr sz="1700" spc="110" dirty="0">
                <a:latin typeface="Times New Roman"/>
                <a:cs typeface="Times New Roman"/>
              </a:rPr>
              <a:t>order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35" dirty="0">
                <a:latin typeface="Times New Roman"/>
                <a:cs typeface="Times New Roman"/>
              </a:rPr>
              <a:t>which</a:t>
            </a:r>
            <a:endParaRPr sz="1700" dirty="0">
              <a:latin typeface="Times New Roman"/>
              <a:cs typeface="Times New Roman"/>
            </a:endParaRPr>
          </a:p>
          <a:p>
            <a:pPr marL="393700">
              <a:lnSpc>
                <a:spcPts val="2035"/>
              </a:lnSpc>
            </a:pPr>
            <a:r>
              <a:rPr sz="1700" spc="60" dirty="0">
                <a:latin typeface="Times New Roman"/>
                <a:cs typeface="Times New Roman"/>
              </a:rPr>
              <a:t>they’re</a:t>
            </a:r>
            <a:r>
              <a:rPr sz="1700" spc="-145" dirty="0">
                <a:latin typeface="Times New Roman"/>
                <a:cs typeface="Times New Roman"/>
              </a:rPr>
              <a:t> </a:t>
            </a:r>
            <a:r>
              <a:rPr sz="1700" spc="65" dirty="0">
                <a:latin typeface="Times New Roman"/>
                <a:cs typeface="Times New Roman"/>
              </a:rPr>
              <a:t>written.</a:t>
            </a:r>
            <a:endParaRPr sz="1700" dirty="0">
              <a:latin typeface="Times New Roman"/>
              <a:cs typeface="Times New Roman"/>
            </a:endParaRPr>
          </a:p>
          <a:p>
            <a:pPr marL="393065" lvl="1" indent="-171450">
              <a:lnSpc>
                <a:spcPct val="100000"/>
              </a:lnSpc>
              <a:spcBef>
                <a:spcPts val="285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1700" spc="65" dirty="0">
                <a:latin typeface="Times New Roman"/>
                <a:cs typeface="Times New Roman"/>
              </a:rPr>
              <a:t>The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10" dirty="0">
                <a:solidFill>
                  <a:srgbClr val="0000FF"/>
                </a:solidFill>
                <a:latin typeface="Times New Roman"/>
                <a:cs typeface="Times New Roman"/>
              </a:rPr>
              <a:t>activity</a:t>
            </a:r>
            <a:r>
              <a:rPr sz="1700" spc="5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spc="65" dirty="0">
                <a:solidFill>
                  <a:srgbClr val="0000FF"/>
                </a:solidFill>
                <a:latin typeface="Times New Roman"/>
                <a:cs typeface="Times New Roman"/>
              </a:rPr>
              <a:t>diagram</a:t>
            </a:r>
            <a:r>
              <a:rPr sz="1700" spc="2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illustrates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45" dirty="0">
                <a:latin typeface="Times New Roman"/>
                <a:cs typeface="Times New Roman"/>
              </a:rPr>
              <a:t>typical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sequence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structure</a:t>
            </a:r>
            <a:r>
              <a:rPr sz="1700" spc="-18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in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60" dirty="0">
                <a:latin typeface="Times New Roman"/>
                <a:cs typeface="Times New Roman"/>
              </a:rPr>
              <a:t>which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two</a:t>
            </a:r>
            <a:r>
              <a:rPr sz="1700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calculations</a:t>
            </a:r>
            <a:r>
              <a:rPr sz="1700" spc="110" dirty="0">
                <a:latin typeface="Times New Roman"/>
                <a:cs typeface="Times New Roman"/>
              </a:rPr>
              <a:t> </a:t>
            </a:r>
            <a:r>
              <a:rPr sz="1700" spc="114" dirty="0">
                <a:latin typeface="Times New Roman"/>
                <a:cs typeface="Times New Roman"/>
              </a:rPr>
              <a:t>are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performed</a:t>
            </a:r>
            <a:r>
              <a:rPr sz="1700" spc="-55" dirty="0">
                <a:latin typeface="Times New Roman"/>
                <a:cs typeface="Times New Roman"/>
              </a:rPr>
              <a:t> </a:t>
            </a:r>
            <a:r>
              <a:rPr sz="1700" spc="10" dirty="0">
                <a:latin typeface="Times New Roman"/>
                <a:cs typeface="Times New Roman"/>
              </a:rPr>
              <a:t>in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order.</a:t>
            </a:r>
            <a:endParaRPr sz="1700" dirty="0">
              <a:latin typeface="Times New Roman"/>
              <a:cs typeface="Times New Roman"/>
            </a:endParaRPr>
          </a:p>
          <a:p>
            <a:pPr marL="393065" lvl="1" indent="-171450">
              <a:lnSpc>
                <a:spcPct val="100000"/>
              </a:lnSpc>
              <a:spcBef>
                <a:spcPts val="215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1700" dirty="0">
                <a:latin typeface="Times New Roman"/>
                <a:cs typeface="Times New Roman"/>
              </a:rPr>
              <a:t>Java</a:t>
            </a:r>
            <a:r>
              <a:rPr sz="1700" spc="-1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lets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you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have</a:t>
            </a:r>
            <a:r>
              <a:rPr sz="1700" spc="-13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many</a:t>
            </a:r>
            <a:r>
              <a:rPr sz="1700" spc="-8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actions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70" dirty="0">
                <a:latin typeface="Times New Roman"/>
                <a:cs typeface="Times New Roman"/>
              </a:rPr>
              <a:t>as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you</a:t>
            </a:r>
            <a:r>
              <a:rPr sz="1700" spc="-9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want</a:t>
            </a:r>
            <a:r>
              <a:rPr sz="1700" spc="-10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spc="80" dirty="0">
                <a:latin typeface="Times New Roman"/>
                <a:cs typeface="Times New Roman"/>
              </a:rPr>
              <a:t>sequence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spc="75" dirty="0">
                <a:latin typeface="Times New Roman"/>
                <a:cs typeface="Times New Roman"/>
              </a:rPr>
              <a:t>structure.</a:t>
            </a:r>
            <a:endParaRPr sz="1700" dirty="0">
              <a:latin typeface="Times New Roman"/>
              <a:cs typeface="Times New Roman"/>
            </a:endParaRPr>
          </a:p>
          <a:p>
            <a:pPr marL="393065" lvl="1" indent="-171450">
              <a:lnSpc>
                <a:spcPct val="100000"/>
              </a:lnSpc>
              <a:spcBef>
                <a:spcPts val="210"/>
              </a:spcBef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1700" spc="65" dirty="0">
                <a:latin typeface="Times New Roman"/>
                <a:cs typeface="Times New Roman"/>
              </a:rPr>
              <a:t>Anywhere</a:t>
            </a:r>
            <a:r>
              <a:rPr sz="1700" spc="-185" dirty="0">
                <a:latin typeface="Times New Roman"/>
                <a:cs typeface="Times New Roman"/>
              </a:rPr>
              <a:t> </a:t>
            </a:r>
            <a:r>
              <a:rPr sz="1700" spc="90" dirty="0">
                <a:latin typeface="Times New Roman"/>
                <a:cs typeface="Times New Roman"/>
              </a:rPr>
              <a:t>a</a:t>
            </a:r>
            <a:r>
              <a:rPr sz="1700" dirty="0">
                <a:latin typeface="Times New Roman"/>
                <a:cs typeface="Times New Roman"/>
              </a:rPr>
              <a:t> single</a:t>
            </a:r>
            <a:r>
              <a:rPr sz="1700" spc="80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action</a:t>
            </a:r>
            <a:r>
              <a:rPr sz="1700" spc="30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may</a:t>
            </a:r>
            <a:r>
              <a:rPr sz="1700" spc="5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be</a:t>
            </a:r>
            <a:r>
              <a:rPr sz="1700" dirty="0">
                <a:latin typeface="Times New Roman"/>
                <a:cs typeface="Times New Roman"/>
              </a:rPr>
              <a:t> placed,</a:t>
            </a:r>
            <a:r>
              <a:rPr sz="1700" spc="40" dirty="0">
                <a:latin typeface="Times New Roman"/>
                <a:cs typeface="Times New Roman"/>
              </a:rPr>
              <a:t> </a:t>
            </a:r>
            <a:r>
              <a:rPr sz="1700" spc="100" dirty="0">
                <a:latin typeface="Times New Roman"/>
                <a:cs typeface="Times New Roman"/>
              </a:rPr>
              <a:t>we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may </a:t>
            </a:r>
            <a:r>
              <a:rPr sz="1700" dirty="0">
                <a:latin typeface="Times New Roman"/>
                <a:cs typeface="Times New Roman"/>
              </a:rPr>
              <a:t>place </a:t>
            </a:r>
            <a:r>
              <a:rPr sz="1700" spc="70" dirty="0">
                <a:latin typeface="Times New Roman"/>
                <a:cs typeface="Times New Roman"/>
              </a:rPr>
              <a:t>several</a:t>
            </a:r>
            <a:r>
              <a:rPr sz="1700" spc="-95" dirty="0">
                <a:latin typeface="Times New Roman"/>
                <a:cs typeface="Times New Roman"/>
              </a:rPr>
              <a:t> </a:t>
            </a:r>
            <a:r>
              <a:rPr sz="1700" spc="55" dirty="0">
                <a:latin typeface="Times New Roman"/>
                <a:cs typeface="Times New Roman"/>
              </a:rPr>
              <a:t>actions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114" dirty="0">
                <a:latin typeface="Times New Roman"/>
                <a:cs typeface="Times New Roman"/>
              </a:rPr>
              <a:t> </a:t>
            </a:r>
            <a:r>
              <a:rPr sz="1700" spc="50" dirty="0">
                <a:latin typeface="Times New Roman"/>
                <a:cs typeface="Times New Roman"/>
              </a:rPr>
              <a:t>sequence.</a:t>
            </a:r>
            <a:endParaRPr sz="17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47800" y="3581400"/>
            <a:ext cx="4305300" cy="206692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297" y="723547"/>
            <a:ext cx="3186231" cy="27203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30591"/>
            <a:ext cx="216154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2565" indent="-189865">
              <a:lnSpc>
                <a:spcPct val="100000"/>
              </a:lnSpc>
              <a:spcBef>
                <a:spcPts val="125"/>
              </a:spcBef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114" dirty="0">
                <a:latin typeface="Times New Roman"/>
                <a:cs typeface="Times New Roman"/>
              </a:rPr>
              <a:t>Three</a:t>
            </a:r>
            <a:r>
              <a:rPr sz="2450" spc="-25" dirty="0">
                <a:latin typeface="Times New Roman"/>
                <a:cs typeface="Times New Roman"/>
              </a:rPr>
              <a:t> </a:t>
            </a:r>
            <a:r>
              <a:rPr sz="2450" spc="105" dirty="0">
                <a:latin typeface="Times New Roman"/>
                <a:cs typeface="Times New Roman"/>
              </a:rPr>
              <a:t>types</a:t>
            </a:r>
            <a:r>
              <a:rPr sz="2450" spc="-30" dirty="0">
                <a:latin typeface="Times New Roman"/>
                <a:cs typeface="Times New Roman"/>
              </a:rPr>
              <a:t> </a:t>
            </a:r>
            <a:r>
              <a:rPr sz="2450" spc="-25" dirty="0">
                <a:latin typeface="Times New Roman"/>
                <a:cs typeface="Times New Roman"/>
              </a:rPr>
              <a:t>of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987039" y="1450721"/>
            <a:ext cx="2832100" cy="38100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1905">
              <a:lnSpc>
                <a:spcPts val="2910"/>
              </a:lnSpc>
            </a:pPr>
            <a:r>
              <a:rPr sz="2450" spc="80" dirty="0">
                <a:solidFill>
                  <a:srgbClr val="0000FF"/>
                </a:solidFill>
                <a:latin typeface="Times New Roman"/>
                <a:cs typeface="Times New Roman"/>
              </a:rPr>
              <a:t>selection</a:t>
            </a:r>
            <a:r>
              <a:rPr sz="2450" spc="5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50" spc="85" dirty="0">
                <a:solidFill>
                  <a:srgbClr val="0000FF"/>
                </a:solidFill>
                <a:latin typeface="Times New Roman"/>
                <a:cs typeface="Times New Roman"/>
              </a:rPr>
              <a:t>statements</a:t>
            </a:r>
            <a:r>
              <a:rPr sz="2450" spc="85" dirty="0">
                <a:latin typeface="Times New Roman"/>
                <a:cs typeface="Times New Roman"/>
              </a:rPr>
              <a:t>.</a:t>
            </a:r>
            <a:endParaRPr sz="24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1773555"/>
            <a:ext cx="10743565" cy="30460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202565" indent="-189865">
              <a:lnSpc>
                <a:spcPts val="2810"/>
              </a:lnSpc>
              <a:spcBef>
                <a:spcPts val="130"/>
              </a:spcBef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-135" dirty="0">
                <a:latin typeface="Monaco"/>
                <a:cs typeface="Monaco"/>
              </a:rPr>
              <a:t>if</a:t>
            </a:r>
            <a:r>
              <a:rPr sz="2450" spc="-869" dirty="0">
                <a:latin typeface="Monaco"/>
                <a:cs typeface="Monaco"/>
              </a:rPr>
              <a:t> </a:t>
            </a:r>
            <a:r>
              <a:rPr sz="2450" spc="95" dirty="0">
                <a:latin typeface="Times New Roman"/>
                <a:cs typeface="Times New Roman"/>
              </a:rPr>
              <a:t>statement:</a:t>
            </a:r>
            <a:endParaRPr sz="245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255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spc="65" dirty="0">
                <a:latin typeface="Times New Roman"/>
                <a:cs typeface="Times New Roman"/>
              </a:rPr>
              <a:t>Performs</a:t>
            </a:r>
            <a:r>
              <a:rPr sz="2100" spc="-120" dirty="0">
                <a:latin typeface="Times New Roman"/>
                <a:cs typeface="Times New Roman"/>
              </a:rPr>
              <a:t> </a:t>
            </a:r>
            <a:r>
              <a:rPr sz="2100" spc="105" dirty="0">
                <a:latin typeface="Times New Roman"/>
                <a:cs typeface="Times New Roman"/>
              </a:rPr>
              <a:t>an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action,</a:t>
            </a:r>
            <a:r>
              <a:rPr sz="2100" spc="-20" dirty="0">
                <a:latin typeface="Times New Roman"/>
                <a:cs typeface="Times New Roman"/>
              </a:rPr>
              <a:t> </a:t>
            </a:r>
            <a:r>
              <a:rPr sz="2100" spc="-30" dirty="0">
                <a:latin typeface="Times New Roman"/>
                <a:cs typeface="Times New Roman"/>
              </a:rPr>
              <a:t>if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a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condition</a:t>
            </a:r>
            <a:r>
              <a:rPr sz="2100" spc="-9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4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true;</a:t>
            </a:r>
            <a:r>
              <a:rPr sz="2100" spc="10" dirty="0">
                <a:latin typeface="Times New Roman"/>
                <a:cs typeface="Times New Roman"/>
              </a:rPr>
              <a:t> </a:t>
            </a:r>
            <a:r>
              <a:rPr sz="2100" spc="70" dirty="0">
                <a:latin typeface="Times New Roman"/>
                <a:cs typeface="Times New Roman"/>
              </a:rPr>
              <a:t>skips</a:t>
            </a:r>
            <a:r>
              <a:rPr sz="2100" spc="-1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it,</a:t>
            </a:r>
            <a:r>
              <a:rPr sz="2100" spc="60" dirty="0">
                <a:latin typeface="Times New Roman"/>
                <a:cs typeface="Times New Roman"/>
              </a:rPr>
              <a:t> </a:t>
            </a:r>
            <a:r>
              <a:rPr sz="2100" spc="-30" dirty="0">
                <a:latin typeface="Times New Roman"/>
                <a:cs typeface="Times New Roman"/>
              </a:rPr>
              <a:t>if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false.</a:t>
            </a:r>
            <a:endParaRPr sz="210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230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Single-</a:t>
            </a:r>
            <a:r>
              <a:rPr sz="2100" spc="55" dirty="0">
                <a:solidFill>
                  <a:srgbClr val="0000FF"/>
                </a:solidFill>
                <a:latin typeface="Times New Roman"/>
                <a:cs typeface="Times New Roman"/>
              </a:rPr>
              <a:t>selection</a:t>
            </a:r>
            <a:r>
              <a:rPr sz="2100" spc="-18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spc="85" dirty="0">
                <a:solidFill>
                  <a:srgbClr val="0000FF"/>
                </a:solidFill>
                <a:latin typeface="Times New Roman"/>
                <a:cs typeface="Times New Roman"/>
              </a:rPr>
              <a:t>statement</a:t>
            </a:r>
            <a:r>
              <a:rPr sz="2100" spc="85" dirty="0">
                <a:latin typeface="Times New Roman"/>
                <a:cs typeface="Times New Roman"/>
              </a:rPr>
              <a:t>—</a:t>
            </a:r>
            <a:r>
              <a:rPr sz="2100" spc="60" dirty="0">
                <a:latin typeface="Times New Roman"/>
                <a:cs typeface="Times New Roman"/>
              </a:rPr>
              <a:t>selects</a:t>
            </a:r>
            <a:r>
              <a:rPr sz="2100" spc="-50" dirty="0">
                <a:latin typeface="Times New Roman"/>
                <a:cs typeface="Times New Roman"/>
              </a:rPr>
              <a:t> </a:t>
            </a:r>
            <a:r>
              <a:rPr sz="2100" spc="114" dirty="0">
                <a:latin typeface="Times New Roman"/>
                <a:cs typeface="Times New Roman"/>
              </a:rPr>
              <a:t>or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ignores</a:t>
            </a:r>
            <a:r>
              <a:rPr sz="2100" spc="-210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a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50" dirty="0">
                <a:latin typeface="Times New Roman"/>
                <a:cs typeface="Times New Roman"/>
              </a:rPr>
              <a:t>single</a:t>
            </a:r>
            <a:r>
              <a:rPr sz="2100" spc="-185" dirty="0">
                <a:latin typeface="Times New Roman"/>
                <a:cs typeface="Times New Roman"/>
              </a:rPr>
              <a:t> </a:t>
            </a:r>
            <a:r>
              <a:rPr sz="2100" spc="50" dirty="0">
                <a:latin typeface="Times New Roman"/>
                <a:cs typeface="Times New Roman"/>
              </a:rPr>
              <a:t>action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114" dirty="0">
                <a:latin typeface="Times New Roman"/>
                <a:cs typeface="Times New Roman"/>
              </a:rPr>
              <a:t>(or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spc="85" dirty="0">
                <a:latin typeface="Times New Roman"/>
                <a:cs typeface="Times New Roman"/>
              </a:rPr>
              <a:t>group</a:t>
            </a:r>
            <a:r>
              <a:rPr sz="2100" spc="-10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40" dirty="0">
                <a:latin typeface="Times New Roman"/>
                <a:cs typeface="Times New Roman"/>
              </a:rPr>
              <a:t>actions).</a:t>
            </a:r>
            <a:endParaRPr sz="2100">
              <a:latin typeface="Times New Roman"/>
              <a:cs typeface="Times New Roman"/>
            </a:endParaRPr>
          </a:p>
          <a:p>
            <a:pPr marL="202565" indent="-189865">
              <a:lnSpc>
                <a:spcPts val="2650"/>
              </a:lnSpc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-200" dirty="0">
                <a:latin typeface="Monaco"/>
                <a:cs typeface="Monaco"/>
              </a:rPr>
              <a:t>if</a:t>
            </a:r>
            <a:r>
              <a:rPr sz="2450" spc="-200" dirty="0">
                <a:latin typeface="Times New Roman"/>
                <a:cs typeface="Times New Roman"/>
              </a:rPr>
              <a:t>…</a:t>
            </a:r>
            <a:r>
              <a:rPr sz="2450" spc="-200" dirty="0">
                <a:latin typeface="Monaco"/>
                <a:cs typeface="Monaco"/>
              </a:rPr>
              <a:t>else</a:t>
            </a:r>
            <a:r>
              <a:rPr sz="2450" spc="-760" dirty="0">
                <a:latin typeface="Monaco"/>
                <a:cs typeface="Monaco"/>
              </a:rPr>
              <a:t> </a:t>
            </a:r>
            <a:r>
              <a:rPr sz="2450" spc="95" dirty="0">
                <a:latin typeface="Times New Roman"/>
                <a:cs typeface="Times New Roman"/>
              </a:rPr>
              <a:t>statement:</a:t>
            </a:r>
            <a:endParaRPr sz="245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145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spc="65" dirty="0">
                <a:latin typeface="Times New Roman"/>
                <a:cs typeface="Times New Roman"/>
              </a:rPr>
              <a:t>Performs</a:t>
            </a:r>
            <a:r>
              <a:rPr sz="2100" spc="-145" dirty="0">
                <a:latin typeface="Times New Roman"/>
                <a:cs typeface="Times New Roman"/>
              </a:rPr>
              <a:t> </a:t>
            </a:r>
            <a:r>
              <a:rPr sz="2100" spc="105" dirty="0">
                <a:latin typeface="Times New Roman"/>
                <a:cs typeface="Times New Roman"/>
              </a:rPr>
              <a:t>an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action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30" dirty="0">
                <a:latin typeface="Times New Roman"/>
                <a:cs typeface="Times New Roman"/>
              </a:rPr>
              <a:t>if</a:t>
            </a:r>
            <a:r>
              <a:rPr sz="2100" spc="-100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a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condition</a:t>
            </a:r>
            <a:r>
              <a:rPr sz="2100" spc="-114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105" dirty="0">
                <a:latin typeface="Times New Roman"/>
                <a:cs typeface="Times New Roman"/>
              </a:rPr>
              <a:t>true</a:t>
            </a:r>
            <a:r>
              <a:rPr sz="2100" spc="30" dirty="0">
                <a:latin typeface="Times New Roman"/>
                <a:cs typeface="Times New Roman"/>
              </a:rPr>
              <a:t> </a:t>
            </a:r>
            <a:r>
              <a:rPr sz="2100" spc="114" dirty="0">
                <a:latin typeface="Times New Roman"/>
                <a:cs typeface="Times New Roman"/>
              </a:rPr>
              <a:t>and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performs</a:t>
            </a:r>
            <a:r>
              <a:rPr sz="2100" spc="-220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a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65" dirty="0">
                <a:latin typeface="Times New Roman"/>
                <a:cs typeface="Times New Roman"/>
              </a:rPr>
              <a:t>different</a:t>
            </a:r>
            <a:r>
              <a:rPr sz="2100" spc="-175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action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if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75" dirty="0">
                <a:latin typeface="Times New Roman"/>
                <a:cs typeface="Times New Roman"/>
              </a:rPr>
              <a:t>the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condition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-25" dirty="0">
                <a:latin typeface="Times New Roman"/>
                <a:cs typeface="Times New Roman"/>
              </a:rPr>
              <a:t>is</a:t>
            </a:r>
            <a:endParaRPr sz="2100">
              <a:latin typeface="Times New Roman"/>
              <a:cs typeface="Times New Roman"/>
            </a:endParaRPr>
          </a:p>
          <a:p>
            <a:pPr marL="393700">
              <a:lnSpc>
                <a:spcPts val="2140"/>
              </a:lnSpc>
            </a:pPr>
            <a:r>
              <a:rPr sz="2100" spc="-10" dirty="0">
                <a:latin typeface="Times New Roman"/>
                <a:cs typeface="Times New Roman"/>
              </a:rPr>
              <a:t>false.</a:t>
            </a:r>
            <a:endParaRPr sz="210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230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Double-</a:t>
            </a:r>
            <a:r>
              <a:rPr sz="2100" spc="55" dirty="0">
                <a:solidFill>
                  <a:srgbClr val="0000FF"/>
                </a:solidFill>
                <a:latin typeface="Times New Roman"/>
                <a:cs typeface="Times New Roman"/>
              </a:rPr>
              <a:t>selection</a:t>
            </a:r>
            <a:r>
              <a:rPr sz="2100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spc="85" dirty="0">
                <a:solidFill>
                  <a:srgbClr val="0000FF"/>
                </a:solidFill>
                <a:latin typeface="Times New Roman"/>
                <a:cs typeface="Times New Roman"/>
              </a:rPr>
              <a:t>statement</a:t>
            </a:r>
            <a:r>
              <a:rPr sz="2100" spc="85" dirty="0">
                <a:latin typeface="Times New Roman"/>
                <a:cs typeface="Times New Roman"/>
              </a:rPr>
              <a:t>—</a:t>
            </a:r>
            <a:r>
              <a:rPr sz="2100" spc="60" dirty="0">
                <a:latin typeface="Times New Roman"/>
                <a:cs typeface="Times New Roman"/>
              </a:rPr>
              <a:t>selects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100" dirty="0">
                <a:latin typeface="Times New Roman"/>
                <a:cs typeface="Times New Roman"/>
              </a:rPr>
              <a:t>between</a:t>
            </a:r>
            <a:r>
              <a:rPr sz="2100" spc="-95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two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65" dirty="0">
                <a:latin typeface="Times New Roman"/>
                <a:cs typeface="Times New Roman"/>
              </a:rPr>
              <a:t>different</a:t>
            </a:r>
            <a:r>
              <a:rPr sz="2100" spc="-16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actions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114" dirty="0">
                <a:latin typeface="Times New Roman"/>
                <a:cs typeface="Times New Roman"/>
              </a:rPr>
              <a:t>(or</a:t>
            </a:r>
            <a:r>
              <a:rPr sz="2100" spc="-8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groups</a:t>
            </a:r>
            <a:r>
              <a:rPr sz="2100" spc="-12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spc="40" dirty="0">
                <a:latin typeface="Times New Roman"/>
                <a:cs typeface="Times New Roman"/>
              </a:rPr>
              <a:t>actions).</a:t>
            </a:r>
            <a:endParaRPr sz="2100">
              <a:latin typeface="Times New Roman"/>
              <a:cs typeface="Times New Roman"/>
            </a:endParaRPr>
          </a:p>
          <a:p>
            <a:pPr marL="202565" indent="-189865">
              <a:lnSpc>
                <a:spcPts val="2650"/>
              </a:lnSpc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-140" dirty="0">
                <a:latin typeface="Monaco"/>
                <a:cs typeface="Monaco"/>
              </a:rPr>
              <a:t>switch</a:t>
            </a:r>
            <a:r>
              <a:rPr sz="2450" spc="-760" dirty="0">
                <a:latin typeface="Monaco"/>
                <a:cs typeface="Monaco"/>
              </a:rPr>
              <a:t> </a:t>
            </a:r>
            <a:r>
              <a:rPr sz="2450" spc="110" dirty="0">
                <a:latin typeface="Times New Roman"/>
                <a:cs typeface="Times New Roman"/>
              </a:rPr>
              <a:t>statement</a:t>
            </a:r>
            <a:endParaRPr sz="245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255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spc="65" dirty="0">
                <a:latin typeface="Times New Roman"/>
                <a:cs typeface="Times New Roman"/>
              </a:rPr>
              <a:t>Performs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one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70" dirty="0">
                <a:latin typeface="Times New Roman"/>
                <a:cs typeface="Times New Roman"/>
              </a:rPr>
              <a:t>several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actions,</a:t>
            </a:r>
            <a:r>
              <a:rPr sz="2100" spc="-90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based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85" dirty="0">
                <a:latin typeface="Times New Roman"/>
                <a:cs typeface="Times New Roman"/>
              </a:rPr>
              <a:t>on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75" dirty="0">
                <a:latin typeface="Times New Roman"/>
                <a:cs typeface="Times New Roman"/>
              </a:rPr>
              <a:t>the</a:t>
            </a:r>
            <a:r>
              <a:rPr sz="2100" spc="8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value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15" dirty="0">
                <a:latin typeface="Times New Roman"/>
                <a:cs typeface="Times New Roman"/>
              </a:rPr>
              <a:t> </a:t>
            </a:r>
            <a:r>
              <a:rPr sz="2100" spc="105" dirty="0">
                <a:latin typeface="Times New Roman"/>
                <a:cs typeface="Times New Roman"/>
              </a:rPr>
              <a:t>an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expression.</a:t>
            </a:r>
            <a:endParaRPr sz="2100">
              <a:latin typeface="Times New Roman"/>
              <a:cs typeface="Times New Roman"/>
            </a:endParaRPr>
          </a:p>
          <a:p>
            <a:pPr marL="393065" lvl="1" indent="-170815">
              <a:lnSpc>
                <a:spcPts val="2390"/>
              </a:lnSpc>
              <a:buClr>
                <a:srgbClr val="2CA1BE"/>
              </a:buClr>
              <a:buFont typeface="Verdana"/>
              <a:buChar char="◦"/>
              <a:tabLst>
                <a:tab pos="393065" algn="l"/>
              </a:tabLst>
            </a:pPr>
            <a:r>
              <a:rPr sz="2100" dirty="0">
                <a:solidFill>
                  <a:srgbClr val="0000FF"/>
                </a:solidFill>
                <a:latin typeface="Times New Roman"/>
                <a:cs typeface="Times New Roman"/>
              </a:rPr>
              <a:t>Multiple-</a:t>
            </a:r>
            <a:r>
              <a:rPr sz="2100" spc="60" dirty="0">
                <a:solidFill>
                  <a:srgbClr val="0000FF"/>
                </a:solidFill>
                <a:latin typeface="Times New Roman"/>
                <a:cs typeface="Times New Roman"/>
              </a:rPr>
              <a:t>selection</a:t>
            </a:r>
            <a:r>
              <a:rPr sz="2100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spc="85" dirty="0">
                <a:solidFill>
                  <a:srgbClr val="0000FF"/>
                </a:solidFill>
                <a:latin typeface="Times New Roman"/>
                <a:cs typeface="Times New Roman"/>
              </a:rPr>
              <a:t>statement</a:t>
            </a:r>
            <a:r>
              <a:rPr sz="2100" spc="85" dirty="0">
                <a:latin typeface="Times New Roman"/>
                <a:cs typeface="Times New Roman"/>
              </a:rPr>
              <a:t>—</a:t>
            </a:r>
            <a:r>
              <a:rPr sz="2100" spc="60" dirty="0">
                <a:latin typeface="Times New Roman"/>
                <a:cs typeface="Times New Roman"/>
              </a:rPr>
              <a:t>selects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70" dirty="0">
                <a:latin typeface="Times New Roman"/>
                <a:cs typeface="Times New Roman"/>
              </a:rPr>
              <a:t>among</a:t>
            </a:r>
            <a:r>
              <a:rPr sz="2100" spc="-1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many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65" dirty="0">
                <a:latin typeface="Times New Roman"/>
                <a:cs typeface="Times New Roman"/>
              </a:rPr>
              <a:t>different</a:t>
            </a:r>
            <a:r>
              <a:rPr sz="2100" spc="-150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actions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114" dirty="0">
                <a:latin typeface="Times New Roman"/>
                <a:cs typeface="Times New Roman"/>
              </a:rPr>
              <a:t>(or</a:t>
            </a:r>
            <a:r>
              <a:rPr sz="2100" spc="-75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groups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of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40" dirty="0">
                <a:latin typeface="Times New Roman"/>
                <a:cs typeface="Times New Roman"/>
              </a:rPr>
              <a:t>actions).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975" y="405066"/>
            <a:ext cx="31546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23B5A0"/>
                </a:solidFill>
                <a:latin typeface="Arial"/>
                <a:cs typeface="Arial"/>
              </a:rPr>
              <a:t>3.4</a:t>
            </a:r>
            <a:r>
              <a:rPr sz="1800" spc="90" dirty="0">
                <a:solidFill>
                  <a:srgbClr val="23B5A0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3380E6"/>
                </a:solidFill>
                <a:latin typeface="Arial"/>
                <a:cs typeface="Arial"/>
              </a:rPr>
              <a:t>Control</a:t>
            </a:r>
            <a:r>
              <a:rPr sz="1800" spc="-170" dirty="0">
                <a:solidFill>
                  <a:srgbClr val="3380E6"/>
                </a:solidFill>
                <a:latin typeface="Arial"/>
                <a:cs typeface="Arial"/>
              </a:rPr>
              <a:t> </a:t>
            </a:r>
            <a:r>
              <a:rPr sz="1800" spc="-55" dirty="0">
                <a:solidFill>
                  <a:srgbClr val="3380E6"/>
                </a:solidFill>
                <a:latin typeface="Arial"/>
                <a:cs typeface="Arial"/>
              </a:rPr>
              <a:t>Structures</a:t>
            </a:r>
            <a:r>
              <a:rPr sz="1800" spc="160" dirty="0">
                <a:solidFill>
                  <a:srgbClr val="3380E6"/>
                </a:solidFill>
                <a:latin typeface="Arial"/>
                <a:cs typeface="Arial"/>
              </a:rPr>
              <a:t> </a:t>
            </a:r>
            <a:r>
              <a:rPr sz="1800" spc="-10" dirty="0">
                <a:latin typeface="Arial"/>
                <a:cs typeface="Arial"/>
              </a:rPr>
              <a:t>Selection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000" y="1438275"/>
            <a:ext cx="5762625" cy="427672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4425" y="180911"/>
            <a:ext cx="2262251" cy="8715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975" y="279399"/>
            <a:ext cx="2457450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88975" algn="l"/>
              </a:tabLst>
            </a:pPr>
            <a:r>
              <a:rPr spc="-25" dirty="0">
                <a:solidFill>
                  <a:srgbClr val="23B5A0"/>
                </a:solidFill>
                <a:latin typeface="Arial"/>
                <a:cs typeface="Arial"/>
              </a:rPr>
              <a:t>3.5</a:t>
            </a:r>
            <a:r>
              <a:rPr dirty="0">
                <a:solidFill>
                  <a:srgbClr val="23B5A0"/>
                </a:solidFill>
                <a:latin typeface="Arial"/>
                <a:cs typeface="Arial"/>
              </a:rPr>
              <a:t>	</a:t>
            </a:r>
            <a:r>
              <a:rPr spc="405" dirty="0">
                <a:solidFill>
                  <a:srgbClr val="3380E6"/>
                </a:solidFill>
                <a:latin typeface="Arial"/>
                <a:cs typeface="Arial"/>
              </a:rPr>
              <a:t>if1.java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398B5C-3C1B-BFB1-AAF5-F8AFE750F0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1676400"/>
            <a:ext cx="7515437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3800" y="575722"/>
            <a:ext cx="6781800" cy="529167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4425" y="180911"/>
            <a:ext cx="2262251" cy="8715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975" y="279399"/>
            <a:ext cx="2457450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88975" algn="l"/>
              </a:tabLst>
            </a:pPr>
            <a:r>
              <a:rPr spc="-25" dirty="0">
                <a:solidFill>
                  <a:srgbClr val="23B5A0"/>
                </a:solidFill>
                <a:latin typeface="Arial"/>
                <a:cs typeface="Arial"/>
              </a:rPr>
              <a:t>3.5</a:t>
            </a:r>
            <a:r>
              <a:rPr dirty="0">
                <a:solidFill>
                  <a:srgbClr val="23B5A0"/>
                </a:solidFill>
                <a:latin typeface="Arial"/>
                <a:cs typeface="Arial"/>
              </a:rPr>
              <a:t>	</a:t>
            </a:r>
            <a:r>
              <a:rPr spc="405" dirty="0">
                <a:solidFill>
                  <a:srgbClr val="3380E6"/>
                </a:solidFill>
                <a:latin typeface="Arial"/>
                <a:cs typeface="Arial"/>
              </a:rPr>
              <a:t>if2.java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A5B179-6438-4562-B54B-695B783C36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350" y="1993900"/>
            <a:ext cx="5067300" cy="2870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88975" algn="l"/>
                <a:tab pos="2625725" algn="l"/>
                <a:tab pos="3913504" algn="l"/>
              </a:tabLst>
            </a:pPr>
            <a:r>
              <a:rPr spc="-25" dirty="0">
                <a:solidFill>
                  <a:srgbClr val="23B5A0"/>
                </a:solidFill>
                <a:latin typeface="Arial"/>
                <a:cs typeface="Arial"/>
              </a:rPr>
              <a:t>3.5</a:t>
            </a:r>
            <a:r>
              <a:rPr dirty="0">
                <a:solidFill>
                  <a:srgbClr val="23B5A0"/>
                </a:solidFill>
                <a:latin typeface="Arial"/>
                <a:cs typeface="Arial"/>
              </a:rPr>
              <a:t>	</a:t>
            </a:r>
            <a:r>
              <a:rPr spc="400" dirty="0">
                <a:solidFill>
                  <a:srgbClr val="3380E6"/>
                </a:solidFill>
                <a:latin typeface="Arial"/>
                <a:cs typeface="Arial"/>
              </a:rPr>
              <a:t>if3.java</a:t>
            </a:r>
            <a:r>
              <a:rPr dirty="0">
                <a:solidFill>
                  <a:srgbClr val="3380E6"/>
                </a:solidFill>
                <a:latin typeface="Arial"/>
                <a:cs typeface="Arial"/>
              </a:rPr>
              <a:t>	</a:t>
            </a:r>
            <a:r>
              <a:rPr spc="305" dirty="0">
                <a:solidFill>
                  <a:srgbClr val="3380E6"/>
                </a:solidFill>
                <a:latin typeface="Arial"/>
                <a:cs typeface="Arial"/>
              </a:rPr>
              <a:t>(else</a:t>
            </a:r>
            <a:r>
              <a:rPr dirty="0">
                <a:solidFill>
                  <a:srgbClr val="3380E6"/>
                </a:solidFill>
                <a:latin typeface="Arial"/>
                <a:cs typeface="Arial"/>
              </a:rPr>
              <a:t>	</a:t>
            </a:r>
            <a:r>
              <a:rPr spc="730" dirty="0">
                <a:solidFill>
                  <a:srgbClr val="3380E6"/>
                </a:solidFill>
                <a:latin typeface="Arial"/>
                <a:cs typeface="Arial"/>
              </a:rPr>
              <a:t>if)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88975" y="6614792"/>
            <a:ext cx="2542540" cy="13779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898BD4-3107-C927-2AD1-4419EBE08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1619250"/>
            <a:ext cx="53848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58D5-84D1-4E0F-070B-2C6991848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5" y="279399"/>
            <a:ext cx="4829810" cy="469359"/>
          </a:xfrm>
        </p:spPr>
        <p:txBody>
          <a:bodyPr/>
          <a:lstStyle/>
          <a:p>
            <a:r>
              <a:rPr lang="en-DK" dirty="0"/>
              <a:t>øvelse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AEC4F6-6E71-7E04-BCB7-D9CE29926508}"/>
              </a:ext>
            </a:extLst>
          </p:cNvPr>
          <p:cNvSpPr/>
          <p:nvPr/>
        </p:nvSpPr>
        <p:spPr>
          <a:xfrm>
            <a:off x="1905000" y="1371600"/>
            <a:ext cx="5105400" cy="3505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</a:t>
            </a:r>
            <a:r>
              <a:rPr lang="en-DK" dirty="0"/>
              <a:t>raw the if3 flowchat in your group</a:t>
            </a:r>
          </a:p>
        </p:txBody>
      </p:sp>
    </p:spTree>
    <p:extLst>
      <p:ext uri="{BB962C8B-B14F-4D97-AF65-F5344CB8AC3E}">
        <p14:creationId xmlns:p14="http://schemas.microsoft.com/office/powerpoint/2010/main" val="2426847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12" y="714073"/>
            <a:ext cx="7091451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47316" y="1440116"/>
            <a:ext cx="796798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indent="-190500">
              <a:lnSpc>
                <a:spcPts val="2425"/>
              </a:lnSpc>
              <a:buClr>
                <a:srgbClr val="2CA1BE"/>
              </a:buClr>
              <a:buSzPct val="66666"/>
              <a:buFont typeface="Wingdings 3"/>
              <a:buChar char=""/>
              <a:tabLst>
                <a:tab pos="203200" algn="l"/>
              </a:tabLst>
            </a:pPr>
            <a:r>
              <a:rPr lang="da-DK" sz="2100" spc="-65" dirty="0">
                <a:latin typeface="Times New Roman"/>
                <a:cs typeface="Times New Roman"/>
              </a:rPr>
              <a:t> 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590800" y="1447373"/>
            <a:ext cx="3743325" cy="3238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4445">
              <a:lnSpc>
                <a:spcPts val="2470"/>
              </a:lnSpc>
            </a:pPr>
            <a:r>
              <a:rPr sz="2100" spc="60" dirty="0">
                <a:latin typeface="Times New Roman"/>
                <a:cs typeface="Times New Roman"/>
              </a:rPr>
              <a:t>enclose</a:t>
            </a:r>
            <a:r>
              <a:rPr sz="2100" spc="-120" dirty="0">
                <a:latin typeface="Times New Roman"/>
                <a:cs typeface="Times New Roman"/>
              </a:rPr>
              <a:t> </a:t>
            </a:r>
            <a:r>
              <a:rPr sz="2100" spc="75" dirty="0">
                <a:latin typeface="Times New Roman"/>
                <a:cs typeface="Times New Roman"/>
              </a:rPr>
              <a:t>the</a:t>
            </a:r>
            <a:r>
              <a:rPr sz="2100" spc="-30" dirty="0">
                <a:latin typeface="Times New Roman"/>
                <a:cs typeface="Times New Roman"/>
              </a:rPr>
              <a:t> </a:t>
            </a:r>
            <a:r>
              <a:rPr sz="2100" spc="90" dirty="0">
                <a:latin typeface="Times New Roman"/>
                <a:cs typeface="Times New Roman"/>
              </a:rPr>
              <a:t>statements</a:t>
            </a:r>
            <a:r>
              <a:rPr sz="2100" spc="20" dirty="0">
                <a:latin typeface="Times New Roman"/>
                <a:cs typeface="Times New Roman"/>
              </a:rPr>
              <a:t> </a:t>
            </a:r>
            <a:r>
              <a:rPr sz="2100" spc="55" dirty="0">
                <a:latin typeface="Times New Roman"/>
                <a:cs typeface="Times New Roman"/>
              </a:rPr>
              <a:t>in</a:t>
            </a:r>
            <a:r>
              <a:rPr sz="2100" spc="-110" dirty="0">
                <a:latin typeface="Times New Roman"/>
                <a:cs typeface="Times New Roman"/>
              </a:rPr>
              <a:t> </a:t>
            </a:r>
            <a:r>
              <a:rPr sz="2100" spc="45" dirty="0">
                <a:latin typeface="Times New Roman"/>
                <a:cs typeface="Times New Roman"/>
              </a:rPr>
              <a:t>braces.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7316" y="2288857"/>
            <a:ext cx="7263130" cy="17506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indent="-190500">
              <a:lnSpc>
                <a:spcPts val="2425"/>
              </a:lnSpc>
              <a:spcBef>
                <a:spcPts val="100"/>
              </a:spcBef>
              <a:buClr>
                <a:srgbClr val="2CA1BE"/>
              </a:buClr>
              <a:buSzPct val="66666"/>
              <a:buFont typeface="Wingdings 3"/>
              <a:buChar char=""/>
              <a:tabLst>
                <a:tab pos="203200" algn="l"/>
              </a:tabLst>
            </a:pPr>
            <a:endParaRPr sz="2100" dirty="0">
              <a:latin typeface="Times New Roman"/>
              <a:cs typeface="Times New Roman"/>
            </a:endParaRPr>
          </a:p>
          <a:p>
            <a:pPr marL="917575" marR="3124200" indent="-342900">
              <a:lnSpc>
                <a:spcPts val="1500"/>
              </a:lnSpc>
              <a:spcBef>
                <a:spcPts val="409"/>
              </a:spcBef>
            </a:pPr>
            <a:r>
              <a:rPr sz="1550" dirty="0">
                <a:solidFill>
                  <a:srgbClr val="0000FF"/>
                </a:solidFill>
                <a:latin typeface="Monaco"/>
                <a:cs typeface="Monaco"/>
              </a:rPr>
              <a:t>if</a:t>
            </a:r>
            <a:r>
              <a:rPr sz="1550" spc="-12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1550" spc="-45" dirty="0">
                <a:latin typeface="Monaco"/>
                <a:cs typeface="Monaco"/>
              </a:rPr>
              <a:t>(grade</a:t>
            </a:r>
            <a:r>
              <a:rPr sz="1550" spc="-175" dirty="0">
                <a:latin typeface="Monaco"/>
                <a:cs typeface="Monaco"/>
              </a:rPr>
              <a:t> </a:t>
            </a:r>
            <a:r>
              <a:rPr sz="1550" dirty="0">
                <a:latin typeface="Monaco"/>
                <a:cs typeface="Monaco"/>
              </a:rPr>
              <a:t>&gt;=</a:t>
            </a:r>
            <a:r>
              <a:rPr sz="1550" spc="-185" dirty="0">
                <a:latin typeface="Monaco"/>
                <a:cs typeface="Monaco"/>
              </a:rPr>
              <a:t> </a:t>
            </a:r>
            <a:r>
              <a:rPr sz="1550" dirty="0">
                <a:solidFill>
                  <a:srgbClr val="1289FF"/>
                </a:solidFill>
                <a:latin typeface="Monaco"/>
                <a:cs typeface="Monaco"/>
              </a:rPr>
              <a:t>60</a:t>
            </a:r>
            <a:r>
              <a:rPr sz="1550" dirty="0">
                <a:latin typeface="Monaco"/>
                <a:cs typeface="Monaco"/>
              </a:rPr>
              <a:t>)</a:t>
            </a:r>
            <a:r>
              <a:rPr sz="1550" spc="-185" dirty="0">
                <a:latin typeface="Monaco"/>
                <a:cs typeface="Monaco"/>
              </a:rPr>
              <a:t> </a:t>
            </a:r>
            <a:r>
              <a:rPr sz="1550" spc="-50" dirty="0">
                <a:latin typeface="Monaco"/>
                <a:cs typeface="Monaco"/>
              </a:rPr>
              <a:t>{ </a:t>
            </a:r>
            <a:r>
              <a:rPr sz="1550" spc="-60" dirty="0">
                <a:latin typeface="Monaco"/>
                <a:cs typeface="Monaco"/>
              </a:rPr>
              <a:t>System.out.println(</a:t>
            </a:r>
            <a:r>
              <a:rPr sz="1550" spc="-60" dirty="0">
                <a:solidFill>
                  <a:srgbClr val="1289FF"/>
                </a:solidFill>
                <a:latin typeface="Monaco"/>
                <a:cs typeface="Monaco"/>
              </a:rPr>
              <a:t>"Passed"</a:t>
            </a:r>
            <a:r>
              <a:rPr sz="1550" spc="-60" dirty="0">
                <a:latin typeface="Monaco"/>
                <a:cs typeface="Monaco"/>
              </a:rPr>
              <a:t>);</a:t>
            </a:r>
            <a:endParaRPr sz="1550" dirty="0">
              <a:latin typeface="Monaco"/>
              <a:cs typeface="Monaco"/>
            </a:endParaRPr>
          </a:p>
          <a:p>
            <a:pPr marL="574675">
              <a:lnSpc>
                <a:spcPts val="1375"/>
              </a:lnSpc>
            </a:pPr>
            <a:r>
              <a:rPr sz="1550" spc="-50" dirty="0">
                <a:latin typeface="Monaco"/>
                <a:cs typeface="Monaco"/>
              </a:rPr>
              <a:t>}</a:t>
            </a:r>
            <a:endParaRPr sz="1550" dirty="0">
              <a:latin typeface="Monaco"/>
              <a:cs typeface="Monaco"/>
            </a:endParaRPr>
          </a:p>
          <a:p>
            <a:pPr marL="574675">
              <a:lnSpc>
                <a:spcPts val="1540"/>
              </a:lnSpc>
            </a:pPr>
            <a:r>
              <a:rPr sz="1550" spc="-10" dirty="0">
                <a:solidFill>
                  <a:srgbClr val="0000FF"/>
                </a:solidFill>
                <a:latin typeface="Monaco"/>
                <a:cs typeface="Monaco"/>
              </a:rPr>
              <a:t>else</a:t>
            </a:r>
            <a:r>
              <a:rPr sz="1550" spc="-204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sz="2400" spc="-50" dirty="0">
                <a:solidFill>
                  <a:srgbClr val="FF0000"/>
                </a:solidFill>
                <a:latin typeface="Monaco"/>
                <a:cs typeface="Monaco"/>
              </a:rPr>
              <a:t>{</a:t>
            </a:r>
            <a:endParaRPr sz="2400" dirty="0">
              <a:solidFill>
                <a:srgbClr val="FF0000"/>
              </a:solidFill>
              <a:latin typeface="Monaco"/>
              <a:cs typeface="Monaco"/>
            </a:endParaRPr>
          </a:p>
          <a:p>
            <a:pPr marL="917575">
              <a:lnSpc>
                <a:spcPts val="1540"/>
              </a:lnSpc>
            </a:pPr>
            <a:r>
              <a:rPr sz="1550" spc="-30" dirty="0">
                <a:latin typeface="Monaco"/>
                <a:cs typeface="Monaco"/>
              </a:rPr>
              <a:t>System.out.println(</a:t>
            </a:r>
            <a:r>
              <a:rPr sz="1550" spc="-30" dirty="0">
                <a:solidFill>
                  <a:srgbClr val="1289FF"/>
                </a:solidFill>
                <a:latin typeface="Monaco"/>
                <a:cs typeface="Monaco"/>
              </a:rPr>
              <a:t>"Failed"</a:t>
            </a:r>
            <a:r>
              <a:rPr sz="1550" spc="-30" dirty="0">
                <a:latin typeface="Monaco"/>
                <a:cs typeface="Monaco"/>
              </a:rPr>
              <a:t>);</a:t>
            </a:r>
            <a:endParaRPr sz="1550" dirty="0">
              <a:latin typeface="Monaco"/>
              <a:cs typeface="Monaco"/>
            </a:endParaRPr>
          </a:p>
          <a:p>
            <a:pPr marL="917575">
              <a:lnSpc>
                <a:spcPts val="1540"/>
              </a:lnSpc>
            </a:pPr>
            <a:r>
              <a:rPr sz="1550" spc="-60" dirty="0">
                <a:latin typeface="Monaco"/>
                <a:cs typeface="Monaco"/>
              </a:rPr>
              <a:t>System.out.println(</a:t>
            </a:r>
            <a:r>
              <a:rPr sz="1550" spc="-60" dirty="0">
                <a:solidFill>
                  <a:srgbClr val="1289FF"/>
                </a:solidFill>
                <a:latin typeface="Monaco"/>
                <a:cs typeface="Monaco"/>
              </a:rPr>
              <a:t>"You</a:t>
            </a:r>
            <a:r>
              <a:rPr sz="1550" spc="-120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30" dirty="0">
                <a:solidFill>
                  <a:srgbClr val="1289FF"/>
                </a:solidFill>
                <a:latin typeface="Monaco"/>
                <a:cs typeface="Monaco"/>
              </a:rPr>
              <a:t>must</a:t>
            </a:r>
            <a:r>
              <a:rPr sz="1550" spc="-180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30" dirty="0">
                <a:solidFill>
                  <a:srgbClr val="1289FF"/>
                </a:solidFill>
                <a:latin typeface="Monaco"/>
                <a:cs typeface="Monaco"/>
              </a:rPr>
              <a:t>take</a:t>
            </a:r>
            <a:r>
              <a:rPr sz="1550" spc="-180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10" dirty="0">
                <a:solidFill>
                  <a:srgbClr val="1289FF"/>
                </a:solidFill>
                <a:latin typeface="Monaco"/>
                <a:cs typeface="Monaco"/>
              </a:rPr>
              <a:t>this</a:t>
            </a:r>
            <a:r>
              <a:rPr sz="1550" spc="-114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55" dirty="0">
                <a:solidFill>
                  <a:srgbClr val="1289FF"/>
                </a:solidFill>
                <a:latin typeface="Monaco"/>
                <a:cs typeface="Monaco"/>
              </a:rPr>
              <a:t>course</a:t>
            </a:r>
            <a:r>
              <a:rPr sz="1550" spc="-175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10" dirty="0">
                <a:solidFill>
                  <a:srgbClr val="1289FF"/>
                </a:solidFill>
                <a:latin typeface="Monaco"/>
                <a:cs typeface="Monaco"/>
              </a:rPr>
              <a:t>again."</a:t>
            </a:r>
            <a:r>
              <a:rPr sz="1550" spc="-10" dirty="0">
                <a:latin typeface="Monaco"/>
                <a:cs typeface="Monaco"/>
              </a:rPr>
              <a:t>);</a:t>
            </a:r>
            <a:endParaRPr sz="1550" dirty="0">
              <a:latin typeface="Monaco"/>
              <a:cs typeface="Monaco"/>
            </a:endParaRPr>
          </a:p>
          <a:p>
            <a:pPr marL="574675">
              <a:lnSpc>
                <a:spcPts val="1680"/>
              </a:lnSpc>
            </a:pPr>
            <a:r>
              <a:rPr sz="2400" spc="-50" dirty="0">
                <a:solidFill>
                  <a:srgbClr val="FF0000"/>
                </a:solidFill>
                <a:latin typeface="Monaco"/>
                <a:cs typeface="Monaco"/>
              </a:rPr>
              <a:t>}</a:t>
            </a:r>
            <a:endParaRPr sz="2400" dirty="0">
              <a:solidFill>
                <a:srgbClr val="FF0000"/>
              </a:solidFill>
              <a:latin typeface="Monaco"/>
              <a:cs typeface="Monac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07" y="704564"/>
            <a:ext cx="5110260" cy="36715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30591"/>
            <a:ext cx="9911080" cy="38773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2565" indent="-189865">
              <a:lnSpc>
                <a:spcPts val="2505"/>
              </a:lnSpc>
              <a:spcBef>
                <a:spcPts val="125"/>
              </a:spcBef>
              <a:buClr>
                <a:srgbClr val="2CA1BE"/>
              </a:buClr>
              <a:buSzPct val="67391"/>
              <a:buFont typeface="Wingdings 3"/>
              <a:buChar char=""/>
              <a:tabLst>
                <a:tab pos="202565" algn="l"/>
              </a:tabLst>
            </a:pPr>
            <a:r>
              <a:rPr sz="2300" dirty="0">
                <a:latin typeface="Times New Roman"/>
                <a:cs typeface="Times New Roman"/>
              </a:rPr>
              <a:t>Can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spc="100" dirty="0">
                <a:latin typeface="Times New Roman"/>
                <a:cs typeface="Times New Roman"/>
              </a:rPr>
              <a:t>test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65" dirty="0">
                <a:latin typeface="Times New Roman"/>
                <a:cs typeface="Times New Roman"/>
              </a:rPr>
              <a:t>multiple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spc="75" dirty="0">
                <a:latin typeface="Times New Roman"/>
                <a:cs typeface="Times New Roman"/>
              </a:rPr>
              <a:t>cases</a:t>
            </a:r>
            <a:r>
              <a:rPr sz="2300" spc="-140" dirty="0">
                <a:latin typeface="Times New Roman"/>
                <a:cs typeface="Times New Roman"/>
              </a:rPr>
              <a:t> </a:t>
            </a:r>
            <a:r>
              <a:rPr sz="2300" spc="65" dirty="0">
                <a:latin typeface="Times New Roman"/>
                <a:cs typeface="Times New Roman"/>
              </a:rPr>
              <a:t>by</a:t>
            </a:r>
            <a:r>
              <a:rPr sz="2300" spc="-80" dirty="0">
                <a:latin typeface="Times New Roman"/>
                <a:cs typeface="Times New Roman"/>
              </a:rPr>
              <a:t> </a:t>
            </a:r>
            <a:r>
              <a:rPr sz="2300" spc="45" dirty="0">
                <a:latin typeface="Times New Roman"/>
                <a:cs typeface="Times New Roman"/>
              </a:rPr>
              <a:t>placing</a:t>
            </a:r>
            <a:r>
              <a:rPr sz="2300" spc="-170" dirty="0">
                <a:latin typeface="Times New Roman"/>
                <a:cs typeface="Times New Roman"/>
              </a:rPr>
              <a:t> </a:t>
            </a:r>
            <a:r>
              <a:rPr sz="2300" spc="-175" dirty="0">
                <a:latin typeface="Monaco"/>
                <a:cs typeface="Monaco"/>
              </a:rPr>
              <a:t>if</a:t>
            </a:r>
            <a:r>
              <a:rPr sz="2300" spc="-175" dirty="0">
                <a:latin typeface="Times New Roman"/>
                <a:cs typeface="Times New Roman"/>
              </a:rPr>
              <a:t>…</a:t>
            </a:r>
            <a:r>
              <a:rPr sz="2300" spc="-175" dirty="0">
                <a:latin typeface="Monaco"/>
                <a:cs typeface="Monaco"/>
              </a:rPr>
              <a:t>else</a:t>
            </a:r>
            <a:r>
              <a:rPr sz="2300" spc="-919" dirty="0">
                <a:latin typeface="Monaco"/>
                <a:cs typeface="Monaco"/>
              </a:rPr>
              <a:t> </a:t>
            </a:r>
            <a:r>
              <a:rPr sz="2300" spc="100" dirty="0">
                <a:latin typeface="Times New Roman"/>
                <a:cs typeface="Times New Roman"/>
              </a:rPr>
              <a:t>statements</a:t>
            </a:r>
            <a:r>
              <a:rPr sz="2300" spc="15" dirty="0">
                <a:latin typeface="Times New Roman"/>
                <a:cs typeface="Times New Roman"/>
              </a:rPr>
              <a:t> </a:t>
            </a:r>
            <a:r>
              <a:rPr sz="2300" spc="75" dirty="0">
                <a:latin typeface="Times New Roman"/>
                <a:cs typeface="Times New Roman"/>
              </a:rPr>
              <a:t>inside</a:t>
            </a:r>
            <a:r>
              <a:rPr sz="2300" spc="-130" dirty="0">
                <a:latin typeface="Times New Roman"/>
                <a:cs typeface="Times New Roman"/>
              </a:rPr>
              <a:t> </a:t>
            </a:r>
            <a:r>
              <a:rPr sz="2300" spc="110" dirty="0">
                <a:latin typeface="Times New Roman"/>
                <a:cs typeface="Times New Roman"/>
              </a:rPr>
              <a:t>other</a:t>
            </a:r>
            <a:r>
              <a:rPr sz="2300" spc="10" dirty="0">
                <a:latin typeface="Times New Roman"/>
                <a:cs typeface="Times New Roman"/>
              </a:rPr>
              <a:t> </a:t>
            </a:r>
            <a:r>
              <a:rPr sz="2300" spc="-110" dirty="0">
                <a:latin typeface="Monaco"/>
                <a:cs typeface="Monaco"/>
              </a:rPr>
              <a:t>if</a:t>
            </a:r>
            <a:r>
              <a:rPr sz="2300" spc="-110" dirty="0">
                <a:latin typeface="Times New Roman"/>
                <a:cs typeface="Times New Roman"/>
              </a:rPr>
              <a:t>…</a:t>
            </a:r>
            <a:r>
              <a:rPr sz="2300" spc="-110" dirty="0">
                <a:latin typeface="Monaco"/>
                <a:cs typeface="Monaco"/>
              </a:rPr>
              <a:t>else</a:t>
            </a:r>
            <a:endParaRPr sz="2300">
              <a:latin typeface="Monaco"/>
              <a:cs typeface="Monaco"/>
            </a:endParaRPr>
          </a:p>
          <a:p>
            <a:pPr marL="203200">
              <a:lnSpc>
                <a:spcPts val="2365"/>
              </a:lnSpc>
            </a:pPr>
            <a:r>
              <a:rPr sz="2300" spc="100" dirty="0">
                <a:latin typeface="Times New Roman"/>
                <a:cs typeface="Times New Roman"/>
              </a:rPr>
              <a:t>statements</a:t>
            </a:r>
            <a:r>
              <a:rPr sz="2300" spc="20" dirty="0">
                <a:latin typeface="Times New Roman"/>
                <a:cs typeface="Times New Roman"/>
              </a:rPr>
              <a:t> </a:t>
            </a:r>
            <a:r>
              <a:rPr sz="2300" spc="90" dirty="0">
                <a:latin typeface="Times New Roman"/>
                <a:cs typeface="Times New Roman"/>
              </a:rPr>
              <a:t>to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100" dirty="0">
                <a:latin typeface="Times New Roman"/>
                <a:cs typeface="Times New Roman"/>
              </a:rPr>
              <a:t>create</a:t>
            </a:r>
            <a:r>
              <a:rPr sz="2300" spc="-210" dirty="0">
                <a:latin typeface="Times New Roman"/>
                <a:cs typeface="Times New Roman"/>
              </a:rPr>
              <a:t> </a:t>
            </a:r>
            <a:r>
              <a:rPr sz="2300" spc="100" dirty="0">
                <a:solidFill>
                  <a:srgbClr val="0000FF"/>
                </a:solidFill>
                <a:latin typeface="Times New Roman"/>
                <a:cs typeface="Times New Roman"/>
              </a:rPr>
              <a:t>nested</a:t>
            </a:r>
            <a:r>
              <a:rPr sz="2300" spc="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300" i="1" spc="260" dirty="0">
                <a:solidFill>
                  <a:srgbClr val="0000FF"/>
                </a:solidFill>
                <a:latin typeface="Arial"/>
                <a:cs typeface="Arial"/>
              </a:rPr>
              <a:t>if</a:t>
            </a:r>
            <a:r>
              <a:rPr sz="2300" i="1" spc="260" dirty="0">
                <a:solidFill>
                  <a:srgbClr val="0000FF"/>
                </a:solidFill>
                <a:latin typeface="Times New Roman"/>
                <a:cs typeface="Times New Roman"/>
              </a:rPr>
              <a:t>…</a:t>
            </a:r>
            <a:r>
              <a:rPr sz="2300" i="1" spc="260" dirty="0">
                <a:solidFill>
                  <a:srgbClr val="0000FF"/>
                </a:solidFill>
                <a:latin typeface="Arial"/>
                <a:cs typeface="Arial"/>
              </a:rPr>
              <a:t>else</a:t>
            </a:r>
            <a:r>
              <a:rPr sz="2300" i="1" spc="-260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300" i="1" spc="60" dirty="0">
                <a:solidFill>
                  <a:srgbClr val="0000FF"/>
                </a:solidFill>
                <a:latin typeface="Times New Roman"/>
                <a:cs typeface="Times New Roman"/>
              </a:rPr>
              <a:t>statements</a:t>
            </a:r>
            <a:r>
              <a:rPr sz="2300" i="1" spc="60" dirty="0">
                <a:latin typeface="Times New Roman"/>
                <a:cs typeface="Times New Roman"/>
              </a:rPr>
              <a:t>.</a:t>
            </a:r>
            <a:endParaRPr sz="2300">
              <a:latin typeface="Times New Roman"/>
              <a:cs typeface="Times New Roman"/>
            </a:endParaRPr>
          </a:p>
          <a:p>
            <a:pPr marL="202565" indent="-189865">
              <a:lnSpc>
                <a:spcPts val="2575"/>
              </a:lnSpc>
              <a:buClr>
                <a:srgbClr val="2CA1BE"/>
              </a:buClr>
              <a:buSzPct val="67391"/>
              <a:buFont typeface="Wingdings 3"/>
              <a:buChar char=""/>
              <a:tabLst>
                <a:tab pos="202565" algn="l"/>
              </a:tabLst>
            </a:pPr>
            <a:r>
              <a:rPr sz="2300" spc="55" dirty="0">
                <a:latin typeface="Times New Roman"/>
                <a:cs typeface="Times New Roman"/>
              </a:rPr>
              <a:t>Pseudocode:</a:t>
            </a:r>
            <a:endParaRPr sz="2300">
              <a:latin typeface="Times New Roman"/>
              <a:cs typeface="Times New Roman"/>
            </a:endParaRPr>
          </a:p>
          <a:p>
            <a:pPr marL="842010" marR="4843145" indent="-267335">
              <a:lnSpc>
                <a:spcPct val="80000"/>
              </a:lnSpc>
              <a:spcBef>
                <a:spcPts val="390"/>
              </a:spcBef>
            </a:pP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If</a:t>
            </a:r>
            <a:r>
              <a:rPr sz="1800" i="1" spc="-3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student’s</a:t>
            </a:r>
            <a:r>
              <a:rPr sz="1800" i="1" spc="4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50" dirty="0">
                <a:solidFill>
                  <a:srgbClr val="0025CC"/>
                </a:solidFill>
                <a:latin typeface="Times New Roman"/>
                <a:cs typeface="Times New Roman"/>
              </a:rPr>
              <a:t>grade</a:t>
            </a:r>
            <a:r>
              <a:rPr sz="1800" i="1" spc="-19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is</a:t>
            </a:r>
            <a:r>
              <a:rPr sz="1800" i="1" spc="-4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45" dirty="0">
                <a:solidFill>
                  <a:srgbClr val="0025CC"/>
                </a:solidFill>
                <a:latin typeface="Times New Roman"/>
                <a:cs typeface="Times New Roman"/>
              </a:rPr>
              <a:t>greater</a:t>
            </a:r>
            <a:r>
              <a:rPr sz="1800" i="1" spc="-8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70" dirty="0">
                <a:solidFill>
                  <a:srgbClr val="0025CC"/>
                </a:solidFill>
                <a:latin typeface="Times New Roman"/>
                <a:cs typeface="Times New Roman"/>
              </a:rPr>
              <a:t>than</a:t>
            </a:r>
            <a:r>
              <a:rPr sz="1800" i="1" spc="-1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or</a:t>
            </a:r>
            <a:r>
              <a:rPr sz="1800" i="1" spc="-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equal</a:t>
            </a:r>
            <a:r>
              <a:rPr sz="1800" i="1" spc="-5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50" dirty="0">
                <a:solidFill>
                  <a:srgbClr val="0025CC"/>
                </a:solidFill>
                <a:latin typeface="Times New Roman"/>
                <a:cs typeface="Times New Roman"/>
              </a:rPr>
              <a:t>to</a:t>
            </a:r>
            <a:r>
              <a:rPr sz="1800" i="1" spc="4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30" dirty="0">
                <a:solidFill>
                  <a:srgbClr val="0025CC"/>
                </a:solidFill>
                <a:latin typeface="Times New Roman"/>
                <a:cs typeface="Times New Roman"/>
              </a:rPr>
              <a:t>90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Print </a:t>
            </a:r>
            <a:r>
              <a:rPr sz="1800" i="1" spc="-395" dirty="0">
                <a:solidFill>
                  <a:srgbClr val="0025CC"/>
                </a:solidFill>
                <a:latin typeface="Times New Roman"/>
                <a:cs typeface="Times New Roman"/>
              </a:rPr>
              <a:t>“A”</a:t>
            </a:r>
            <a:endParaRPr sz="1800">
              <a:latin typeface="Times New Roman"/>
              <a:cs typeface="Times New Roman"/>
            </a:endParaRPr>
          </a:p>
          <a:p>
            <a:pPr marL="574675">
              <a:lnSpc>
                <a:spcPts val="1510"/>
              </a:lnSpc>
            </a:pPr>
            <a:r>
              <a:rPr sz="1800" i="1" spc="-20" dirty="0">
                <a:solidFill>
                  <a:srgbClr val="0025CC"/>
                </a:solidFill>
                <a:latin typeface="Times New Roman"/>
                <a:cs typeface="Times New Roman"/>
              </a:rPr>
              <a:t>else</a:t>
            </a:r>
            <a:endParaRPr sz="1800">
              <a:latin typeface="Times New Roman"/>
              <a:cs typeface="Times New Roman"/>
            </a:endParaRPr>
          </a:p>
          <a:p>
            <a:pPr marL="1070610" marR="4582795" indent="-228600">
              <a:lnSpc>
                <a:spcPct val="80000"/>
              </a:lnSpc>
              <a:spcBef>
                <a:spcPts val="215"/>
              </a:spcBef>
            </a:pP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If</a:t>
            </a:r>
            <a:r>
              <a:rPr sz="1800" i="1" spc="-3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student’s</a:t>
            </a:r>
            <a:r>
              <a:rPr sz="1800" i="1" spc="3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50" dirty="0">
                <a:solidFill>
                  <a:srgbClr val="0025CC"/>
                </a:solidFill>
                <a:latin typeface="Times New Roman"/>
                <a:cs typeface="Times New Roman"/>
              </a:rPr>
              <a:t>grade</a:t>
            </a:r>
            <a:r>
              <a:rPr sz="1800" i="1" spc="-19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is</a:t>
            </a:r>
            <a:r>
              <a:rPr sz="1800" i="1" spc="-4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45" dirty="0">
                <a:solidFill>
                  <a:srgbClr val="0025CC"/>
                </a:solidFill>
                <a:latin typeface="Times New Roman"/>
                <a:cs typeface="Times New Roman"/>
              </a:rPr>
              <a:t>greater</a:t>
            </a:r>
            <a:r>
              <a:rPr sz="1800" i="1" spc="-9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70" dirty="0">
                <a:solidFill>
                  <a:srgbClr val="0025CC"/>
                </a:solidFill>
                <a:latin typeface="Times New Roman"/>
                <a:cs typeface="Times New Roman"/>
              </a:rPr>
              <a:t>than</a:t>
            </a:r>
            <a:r>
              <a:rPr sz="1800" i="1" spc="-2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or</a:t>
            </a:r>
            <a:r>
              <a:rPr sz="1800" i="1" spc="-1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equal</a:t>
            </a:r>
            <a:r>
              <a:rPr sz="1800" i="1" spc="-6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50" dirty="0">
                <a:solidFill>
                  <a:srgbClr val="0025CC"/>
                </a:solidFill>
                <a:latin typeface="Times New Roman"/>
                <a:cs typeface="Times New Roman"/>
              </a:rPr>
              <a:t>to</a:t>
            </a:r>
            <a:r>
              <a:rPr sz="1800" i="1" spc="3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30" dirty="0">
                <a:solidFill>
                  <a:srgbClr val="0025CC"/>
                </a:solidFill>
                <a:latin typeface="Times New Roman"/>
                <a:cs typeface="Times New Roman"/>
              </a:rPr>
              <a:t>80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Print</a:t>
            </a:r>
            <a:r>
              <a:rPr sz="1800" i="1" spc="2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-25" dirty="0">
                <a:solidFill>
                  <a:srgbClr val="0025CC"/>
                </a:solidFill>
                <a:latin typeface="Times New Roman"/>
                <a:cs typeface="Times New Roman"/>
              </a:rPr>
              <a:t>“B”</a:t>
            </a:r>
            <a:endParaRPr sz="1800">
              <a:latin typeface="Times New Roman"/>
              <a:cs typeface="Times New Roman"/>
            </a:endParaRPr>
          </a:p>
          <a:p>
            <a:pPr marL="842010">
              <a:lnSpc>
                <a:spcPts val="1510"/>
              </a:lnSpc>
            </a:pPr>
            <a:r>
              <a:rPr sz="1800" i="1" spc="-20" dirty="0">
                <a:solidFill>
                  <a:srgbClr val="0025CC"/>
                </a:solidFill>
                <a:latin typeface="Times New Roman"/>
                <a:cs typeface="Times New Roman"/>
              </a:rPr>
              <a:t>else</a:t>
            </a:r>
            <a:endParaRPr sz="1800">
              <a:latin typeface="Times New Roman"/>
              <a:cs typeface="Times New Roman"/>
            </a:endParaRPr>
          </a:p>
          <a:p>
            <a:pPr marL="1299210" marR="4341495" indent="-229235">
              <a:lnSpc>
                <a:spcPct val="80000"/>
              </a:lnSpc>
              <a:spcBef>
                <a:spcPts val="219"/>
              </a:spcBef>
            </a:pP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If</a:t>
            </a:r>
            <a:r>
              <a:rPr sz="1800" i="1" spc="-2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student’s</a:t>
            </a:r>
            <a:r>
              <a:rPr sz="1800" i="1" spc="50" dirty="0">
                <a:solidFill>
                  <a:srgbClr val="0025CC"/>
                </a:solidFill>
                <a:latin typeface="Times New Roman"/>
                <a:cs typeface="Times New Roman"/>
              </a:rPr>
              <a:t> grade</a:t>
            </a:r>
            <a:r>
              <a:rPr sz="1800" i="1" spc="-18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is</a:t>
            </a:r>
            <a:r>
              <a:rPr sz="1800" i="1" spc="-3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45" dirty="0">
                <a:solidFill>
                  <a:srgbClr val="0025CC"/>
                </a:solidFill>
                <a:latin typeface="Times New Roman"/>
                <a:cs typeface="Times New Roman"/>
              </a:rPr>
              <a:t>greater</a:t>
            </a:r>
            <a:r>
              <a:rPr sz="1800" i="1" spc="-8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70" dirty="0">
                <a:solidFill>
                  <a:srgbClr val="0025CC"/>
                </a:solidFill>
                <a:latin typeface="Times New Roman"/>
                <a:cs typeface="Times New Roman"/>
              </a:rPr>
              <a:t>than</a:t>
            </a:r>
            <a:r>
              <a:rPr sz="1800" i="1" spc="-1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or</a:t>
            </a:r>
            <a:r>
              <a:rPr sz="1800" i="1" spc="-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equal</a:t>
            </a:r>
            <a:r>
              <a:rPr sz="1800" i="1" spc="-5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50" dirty="0">
                <a:solidFill>
                  <a:srgbClr val="0025CC"/>
                </a:solidFill>
                <a:latin typeface="Times New Roman"/>
                <a:cs typeface="Times New Roman"/>
              </a:rPr>
              <a:t>to </a:t>
            </a:r>
            <a:r>
              <a:rPr sz="1800" i="1" spc="30" dirty="0">
                <a:solidFill>
                  <a:srgbClr val="0025CC"/>
                </a:solidFill>
                <a:latin typeface="Times New Roman"/>
                <a:cs typeface="Times New Roman"/>
              </a:rPr>
              <a:t>70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Print </a:t>
            </a:r>
            <a:r>
              <a:rPr sz="1800" i="1" spc="-330" dirty="0">
                <a:solidFill>
                  <a:srgbClr val="0025CC"/>
                </a:solidFill>
                <a:latin typeface="Times New Roman"/>
                <a:cs typeface="Times New Roman"/>
              </a:rPr>
              <a:t>“C”</a:t>
            </a:r>
            <a:endParaRPr sz="1800">
              <a:latin typeface="Times New Roman"/>
              <a:cs typeface="Times New Roman"/>
            </a:endParaRPr>
          </a:p>
          <a:p>
            <a:pPr marL="1070610">
              <a:lnSpc>
                <a:spcPts val="1510"/>
              </a:lnSpc>
            </a:pPr>
            <a:r>
              <a:rPr sz="1800" i="1" spc="-20" dirty="0">
                <a:solidFill>
                  <a:srgbClr val="0025CC"/>
                </a:solidFill>
                <a:latin typeface="Times New Roman"/>
                <a:cs typeface="Times New Roman"/>
              </a:rPr>
              <a:t>else</a:t>
            </a:r>
            <a:endParaRPr sz="1800">
              <a:latin typeface="Times New Roman"/>
              <a:cs typeface="Times New Roman"/>
            </a:endParaRPr>
          </a:p>
          <a:p>
            <a:pPr marL="1528445" marR="4125595" indent="-229235">
              <a:lnSpc>
                <a:spcPct val="80000"/>
              </a:lnSpc>
              <a:spcBef>
                <a:spcPts val="215"/>
              </a:spcBef>
            </a:pP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If</a:t>
            </a:r>
            <a:r>
              <a:rPr sz="1800" i="1" spc="-3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student’s</a:t>
            </a:r>
            <a:r>
              <a:rPr sz="1800" i="1" spc="3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50" dirty="0">
                <a:solidFill>
                  <a:srgbClr val="0025CC"/>
                </a:solidFill>
                <a:latin typeface="Times New Roman"/>
                <a:cs typeface="Times New Roman"/>
              </a:rPr>
              <a:t>grade</a:t>
            </a:r>
            <a:r>
              <a:rPr sz="1800" i="1" spc="-19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is</a:t>
            </a:r>
            <a:r>
              <a:rPr sz="1800" i="1" spc="-4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45" dirty="0">
                <a:solidFill>
                  <a:srgbClr val="0025CC"/>
                </a:solidFill>
                <a:latin typeface="Times New Roman"/>
                <a:cs typeface="Times New Roman"/>
              </a:rPr>
              <a:t>greater</a:t>
            </a:r>
            <a:r>
              <a:rPr sz="1800" i="1" spc="-9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70" dirty="0">
                <a:solidFill>
                  <a:srgbClr val="0025CC"/>
                </a:solidFill>
                <a:latin typeface="Times New Roman"/>
                <a:cs typeface="Times New Roman"/>
              </a:rPr>
              <a:t>than</a:t>
            </a:r>
            <a:r>
              <a:rPr sz="1800" i="1" spc="-2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or</a:t>
            </a:r>
            <a:r>
              <a:rPr sz="1800" i="1" spc="-1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equal</a:t>
            </a:r>
            <a:r>
              <a:rPr sz="1800" i="1" spc="-60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50" dirty="0">
                <a:solidFill>
                  <a:srgbClr val="0025CC"/>
                </a:solidFill>
                <a:latin typeface="Times New Roman"/>
                <a:cs typeface="Times New Roman"/>
              </a:rPr>
              <a:t>to</a:t>
            </a:r>
            <a:r>
              <a:rPr sz="1800" i="1" spc="35" dirty="0">
                <a:solidFill>
                  <a:srgbClr val="0025CC"/>
                </a:solidFill>
                <a:latin typeface="Times New Roman"/>
                <a:cs typeface="Times New Roman"/>
              </a:rPr>
              <a:t> </a:t>
            </a:r>
            <a:r>
              <a:rPr sz="1800" i="1" spc="30" dirty="0">
                <a:solidFill>
                  <a:srgbClr val="0025CC"/>
                </a:solidFill>
                <a:latin typeface="Times New Roman"/>
                <a:cs typeface="Times New Roman"/>
              </a:rPr>
              <a:t>60 </a:t>
            </a: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Print </a:t>
            </a:r>
            <a:r>
              <a:rPr sz="1800" i="1" spc="-290" dirty="0">
                <a:solidFill>
                  <a:srgbClr val="0025CC"/>
                </a:solidFill>
                <a:latin typeface="Times New Roman"/>
                <a:cs typeface="Times New Roman"/>
              </a:rPr>
              <a:t>“D”</a:t>
            </a:r>
            <a:endParaRPr sz="1800">
              <a:latin typeface="Times New Roman"/>
              <a:cs typeface="Times New Roman"/>
            </a:endParaRPr>
          </a:p>
          <a:p>
            <a:pPr marL="1299210">
              <a:lnSpc>
                <a:spcPts val="1510"/>
              </a:lnSpc>
            </a:pPr>
            <a:r>
              <a:rPr sz="1800" i="1" spc="-20" dirty="0">
                <a:solidFill>
                  <a:srgbClr val="0025CC"/>
                </a:solidFill>
                <a:latin typeface="Times New Roman"/>
                <a:cs typeface="Times New Roman"/>
              </a:rPr>
              <a:t>else</a:t>
            </a:r>
            <a:endParaRPr sz="1800">
              <a:latin typeface="Times New Roman"/>
              <a:cs typeface="Times New Roman"/>
            </a:endParaRPr>
          </a:p>
          <a:p>
            <a:pPr marL="1528445">
              <a:lnSpc>
                <a:spcPts val="1945"/>
              </a:lnSpc>
            </a:pPr>
            <a:r>
              <a:rPr sz="1800" i="1" dirty="0">
                <a:solidFill>
                  <a:srgbClr val="0025CC"/>
                </a:solidFill>
                <a:latin typeface="Times New Roman"/>
                <a:cs typeface="Times New Roman"/>
              </a:rPr>
              <a:t>Print </a:t>
            </a:r>
            <a:r>
              <a:rPr sz="1800" i="1" spc="-295" dirty="0">
                <a:solidFill>
                  <a:srgbClr val="0025CC"/>
                </a:solidFill>
                <a:latin typeface="Times New Roman"/>
                <a:cs typeface="Times New Roman"/>
              </a:rPr>
              <a:t>“F”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12" y="714073"/>
            <a:ext cx="7091451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147316" y="1091882"/>
            <a:ext cx="7794625" cy="46285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3200" indent="-190500">
              <a:lnSpc>
                <a:spcPct val="100000"/>
              </a:lnSpc>
              <a:spcBef>
                <a:spcPts val="125"/>
              </a:spcBef>
              <a:buClr>
                <a:srgbClr val="2CA1BE"/>
              </a:buClr>
              <a:buSzPct val="67391"/>
              <a:buFont typeface="Wingdings 3"/>
              <a:buChar char=""/>
              <a:tabLst>
                <a:tab pos="203200" algn="l"/>
              </a:tabLst>
            </a:pPr>
            <a:r>
              <a:rPr sz="2300" dirty="0">
                <a:latin typeface="Times New Roman"/>
                <a:cs typeface="Times New Roman"/>
              </a:rPr>
              <a:t>This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pseudocode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55" dirty="0">
                <a:latin typeface="Times New Roman"/>
                <a:cs typeface="Times New Roman"/>
              </a:rPr>
              <a:t>may</a:t>
            </a:r>
            <a:r>
              <a:rPr sz="2300" spc="-65" dirty="0">
                <a:latin typeface="Times New Roman"/>
                <a:cs typeface="Times New Roman"/>
              </a:rPr>
              <a:t> </a:t>
            </a:r>
            <a:r>
              <a:rPr sz="2300" spc="105" dirty="0">
                <a:latin typeface="Times New Roman"/>
                <a:cs typeface="Times New Roman"/>
              </a:rPr>
              <a:t>be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114" dirty="0">
                <a:latin typeface="Times New Roman"/>
                <a:cs typeface="Times New Roman"/>
              </a:rPr>
              <a:t>written</a:t>
            </a:r>
            <a:r>
              <a:rPr sz="2300" spc="-120" dirty="0">
                <a:latin typeface="Times New Roman"/>
                <a:cs typeface="Times New Roman"/>
              </a:rPr>
              <a:t> </a:t>
            </a:r>
            <a:r>
              <a:rPr sz="2300" spc="80" dirty="0">
                <a:latin typeface="Times New Roman"/>
                <a:cs typeface="Times New Roman"/>
              </a:rPr>
              <a:t>in</a:t>
            </a:r>
            <a:r>
              <a:rPr sz="2300" spc="-1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Java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65" dirty="0">
                <a:latin typeface="Times New Roman"/>
                <a:cs typeface="Times New Roman"/>
              </a:rPr>
              <a:t>as</a:t>
            </a:r>
            <a:endParaRPr sz="2300" dirty="0">
              <a:latin typeface="Times New Roman"/>
              <a:cs typeface="Times New Roman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r>
              <a:rPr lang="da-DK" sz="1400" spc="-75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lang="da-DK" sz="1400" spc="-75" dirty="0">
              <a:solidFill>
                <a:srgbClr val="0000FF"/>
              </a:solidFill>
              <a:latin typeface="Monaco"/>
              <a:cs typeface="Monaco"/>
            </a:endParaRPr>
          </a:p>
          <a:p>
            <a:pPr marL="860425" marR="4561205" indent="-285750">
              <a:lnSpc>
                <a:spcPts val="1350"/>
              </a:lnSpc>
              <a:spcBef>
                <a:spcPts val="340"/>
              </a:spcBef>
            </a:pPr>
            <a:endParaRPr sz="1400" dirty="0">
              <a:latin typeface="Monaco"/>
              <a:cs typeface="Monaco"/>
            </a:endParaRPr>
          </a:p>
          <a:p>
            <a:pPr marL="203200" marR="5080" indent="-191135">
              <a:lnSpc>
                <a:spcPct val="79800"/>
              </a:lnSpc>
              <a:spcBef>
                <a:spcPts val="430"/>
              </a:spcBef>
              <a:buClr>
                <a:srgbClr val="2CA1BE"/>
              </a:buClr>
              <a:buSzPct val="67391"/>
              <a:buFont typeface="Wingdings 3"/>
              <a:buChar char=""/>
              <a:tabLst>
                <a:tab pos="203200" algn="l"/>
              </a:tabLst>
            </a:pPr>
            <a:r>
              <a:rPr sz="2300" spc="-30" dirty="0">
                <a:latin typeface="Times New Roman"/>
                <a:cs typeface="Times New Roman"/>
              </a:rPr>
              <a:t>If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-110" dirty="0">
                <a:latin typeface="Monaco"/>
                <a:cs typeface="Monaco"/>
              </a:rPr>
              <a:t>studentGrade</a:t>
            </a:r>
            <a:r>
              <a:rPr sz="2300" spc="-1005" dirty="0">
                <a:latin typeface="Monaco"/>
                <a:cs typeface="Monaco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&gt;=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90</a:t>
            </a:r>
            <a:r>
              <a:rPr lang="da-DK" sz="2300" dirty="0">
                <a:latin typeface="Times New Roman"/>
                <a:cs typeface="Times New Roman"/>
              </a:rPr>
              <a:t> </a:t>
            </a:r>
            <a:r>
              <a:rPr sz="2300" spc="60" dirty="0">
                <a:latin typeface="Times New Roman"/>
                <a:cs typeface="Times New Roman"/>
              </a:rPr>
              <a:t>,</a:t>
            </a:r>
            <a:r>
              <a:rPr sz="2300" spc="55" dirty="0">
                <a:latin typeface="Times New Roman"/>
                <a:cs typeface="Times New Roman"/>
              </a:rPr>
              <a:t> </a:t>
            </a:r>
            <a:r>
              <a:rPr sz="2300" spc="105" dirty="0">
                <a:latin typeface="Times New Roman"/>
                <a:cs typeface="Times New Roman"/>
              </a:rPr>
              <a:t>the</a:t>
            </a:r>
            <a:r>
              <a:rPr sz="2300" spc="50" dirty="0">
                <a:latin typeface="Times New Roman"/>
                <a:cs typeface="Times New Roman"/>
              </a:rPr>
              <a:t> </a:t>
            </a:r>
            <a:r>
              <a:rPr sz="2300" spc="-100" dirty="0">
                <a:latin typeface="Monaco"/>
                <a:cs typeface="Monaco"/>
              </a:rPr>
              <a:t>else</a:t>
            </a:r>
            <a:r>
              <a:rPr sz="2300" spc="-885" dirty="0">
                <a:latin typeface="Monaco"/>
                <a:cs typeface="Monaco"/>
              </a:rPr>
              <a:t> </a:t>
            </a:r>
            <a:r>
              <a:rPr sz="2300" spc="140" dirty="0">
                <a:latin typeface="Times New Roman"/>
                <a:cs typeface="Times New Roman"/>
              </a:rPr>
              <a:t>part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spc="65" dirty="0">
                <a:latin typeface="Times New Roman"/>
                <a:cs typeface="Times New Roman"/>
              </a:rPr>
              <a:t>is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spc="50" dirty="0">
                <a:latin typeface="Times New Roman"/>
                <a:cs typeface="Times New Roman"/>
              </a:rPr>
              <a:t>skipped.</a:t>
            </a:r>
            <a:endParaRPr sz="23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pic>
        <p:nvPicPr>
          <p:cNvPr id="6" name="Picture 5" descr="A computer code with many text&#10;&#10;AI-generated content may be incorrect.">
            <a:extLst>
              <a:ext uri="{FF2B5EF4-FFF2-40B4-BE49-F238E27FC236}">
                <a16:creationId xmlns:a16="http://schemas.microsoft.com/office/drawing/2014/main" id="{6F96BE5D-064D-E766-30E8-699DF2B879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1600200"/>
            <a:ext cx="4876800" cy="343511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student grade&#10;&#10;AI-generated content may be incorrect.">
            <a:extLst>
              <a:ext uri="{FF2B5EF4-FFF2-40B4-BE49-F238E27FC236}">
                <a16:creationId xmlns:a16="http://schemas.microsoft.com/office/drawing/2014/main" id="{E9DAF48E-F255-7EA5-3DEB-729B9D665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600" y="1727200"/>
            <a:ext cx="7670800" cy="3403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B74DF23-5A7D-2052-0F22-FE5BE0E304E1}"/>
              </a:ext>
            </a:extLst>
          </p:cNvPr>
          <p:cNvSpPr/>
          <p:nvPr/>
        </p:nvSpPr>
        <p:spPr>
          <a:xfrm>
            <a:off x="2362200" y="1593780"/>
            <a:ext cx="7772400" cy="3505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dirty="0"/>
              <a:t> </a:t>
            </a:r>
            <a:r>
              <a:rPr lang="en-DK" dirty="0"/>
              <a:t>flowchat in your group</a:t>
            </a:r>
          </a:p>
        </p:txBody>
      </p:sp>
    </p:spTree>
    <p:extLst>
      <p:ext uri="{BB962C8B-B14F-4D97-AF65-F5344CB8AC3E}">
        <p14:creationId xmlns:p14="http://schemas.microsoft.com/office/powerpoint/2010/main" val="22547564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12" y="714073"/>
            <a:ext cx="7091451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68691"/>
            <a:ext cx="10662920" cy="48101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02565" indent="-189865">
              <a:lnSpc>
                <a:spcPts val="2820"/>
              </a:lnSpc>
              <a:spcBef>
                <a:spcPts val="125"/>
              </a:spcBef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50" dirty="0">
                <a:latin typeface="Times New Roman"/>
                <a:cs typeface="Times New Roman"/>
              </a:rPr>
              <a:t>Most</a:t>
            </a:r>
            <a:r>
              <a:rPr sz="2450" spc="-25" dirty="0">
                <a:latin typeface="Times New Roman"/>
                <a:cs typeface="Times New Roman"/>
              </a:rPr>
              <a:t> </a:t>
            </a:r>
            <a:r>
              <a:rPr sz="2450" dirty="0">
                <a:latin typeface="Times New Roman"/>
                <a:cs typeface="Times New Roman"/>
              </a:rPr>
              <a:t>Java</a:t>
            </a:r>
            <a:r>
              <a:rPr sz="2450" spc="-20" dirty="0">
                <a:latin typeface="Times New Roman"/>
                <a:cs typeface="Times New Roman"/>
              </a:rPr>
              <a:t> </a:t>
            </a:r>
            <a:r>
              <a:rPr sz="2450" spc="125" dirty="0">
                <a:latin typeface="Times New Roman"/>
                <a:cs typeface="Times New Roman"/>
              </a:rPr>
              <a:t>programmers</a:t>
            </a:r>
            <a:r>
              <a:rPr sz="2450" spc="130" dirty="0">
                <a:latin typeface="Times New Roman"/>
                <a:cs typeface="Times New Roman"/>
              </a:rPr>
              <a:t> </a:t>
            </a:r>
            <a:r>
              <a:rPr sz="2450" spc="120" dirty="0">
                <a:latin typeface="Times New Roman"/>
                <a:cs typeface="Times New Roman"/>
              </a:rPr>
              <a:t>prefer</a:t>
            </a:r>
            <a:r>
              <a:rPr sz="2450" spc="10" dirty="0">
                <a:latin typeface="Times New Roman"/>
                <a:cs typeface="Times New Roman"/>
              </a:rPr>
              <a:t> </a:t>
            </a:r>
            <a:r>
              <a:rPr sz="2450" spc="114" dirty="0">
                <a:latin typeface="Times New Roman"/>
                <a:cs typeface="Times New Roman"/>
              </a:rPr>
              <a:t>to</a:t>
            </a:r>
            <a:r>
              <a:rPr sz="2450" spc="-50" dirty="0">
                <a:latin typeface="Times New Roman"/>
                <a:cs typeface="Times New Roman"/>
              </a:rPr>
              <a:t> </a:t>
            </a:r>
            <a:r>
              <a:rPr sz="2450" spc="130" dirty="0">
                <a:latin typeface="Times New Roman"/>
                <a:cs typeface="Times New Roman"/>
              </a:rPr>
              <a:t>write</a:t>
            </a:r>
            <a:r>
              <a:rPr sz="2450" spc="-90" dirty="0">
                <a:latin typeface="Times New Roman"/>
                <a:cs typeface="Times New Roman"/>
              </a:rPr>
              <a:t> </a:t>
            </a:r>
            <a:r>
              <a:rPr sz="2450" spc="125" dirty="0">
                <a:latin typeface="Times New Roman"/>
                <a:cs typeface="Times New Roman"/>
              </a:rPr>
              <a:t>the</a:t>
            </a:r>
            <a:r>
              <a:rPr sz="2450" spc="5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preceding</a:t>
            </a:r>
            <a:r>
              <a:rPr sz="2450" spc="35" dirty="0">
                <a:latin typeface="Times New Roman"/>
                <a:cs typeface="Times New Roman"/>
              </a:rPr>
              <a:t> </a:t>
            </a:r>
            <a:r>
              <a:rPr sz="2450" spc="120" dirty="0">
                <a:latin typeface="Times New Roman"/>
                <a:cs typeface="Times New Roman"/>
              </a:rPr>
              <a:t>nested</a:t>
            </a:r>
            <a:r>
              <a:rPr sz="2450" spc="65" dirty="0">
                <a:latin typeface="Times New Roman"/>
                <a:cs typeface="Times New Roman"/>
              </a:rPr>
              <a:t> </a:t>
            </a:r>
            <a:r>
              <a:rPr sz="2450" spc="-25" dirty="0">
                <a:latin typeface="Monaco"/>
                <a:cs typeface="Monaco"/>
              </a:rPr>
              <a:t>if</a:t>
            </a:r>
            <a:r>
              <a:rPr sz="2450" spc="-25" dirty="0">
                <a:latin typeface="Times New Roman"/>
                <a:cs typeface="Times New Roman"/>
              </a:rPr>
              <a:t>…</a:t>
            </a:r>
            <a:r>
              <a:rPr sz="2450" spc="-25" dirty="0">
                <a:latin typeface="Monaco"/>
                <a:cs typeface="Monaco"/>
              </a:rPr>
              <a:t>else</a:t>
            </a:r>
            <a:endParaRPr sz="2450" dirty="0">
              <a:latin typeface="Monaco"/>
              <a:cs typeface="Monaco"/>
            </a:endParaRPr>
          </a:p>
          <a:p>
            <a:pPr marL="203200">
              <a:lnSpc>
                <a:spcPts val="2820"/>
              </a:lnSpc>
            </a:pPr>
            <a:r>
              <a:rPr sz="2450" spc="120" dirty="0">
                <a:latin typeface="Times New Roman"/>
                <a:cs typeface="Times New Roman"/>
              </a:rPr>
              <a:t>statement</a:t>
            </a:r>
            <a:r>
              <a:rPr sz="2450" spc="22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as</a:t>
            </a:r>
            <a:endParaRPr sz="2450" dirty="0">
              <a:latin typeface="Times New Roman"/>
              <a:cs typeface="Times New Roman"/>
            </a:endParaRPr>
          </a:p>
          <a:p>
            <a:pPr marL="918210" marR="7067550" indent="-343535">
              <a:lnSpc>
                <a:spcPts val="1730"/>
              </a:lnSpc>
              <a:spcBef>
                <a:spcPts val="380"/>
              </a:spcBef>
            </a:pPr>
            <a:r>
              <a:rPr lang="en-GB" sz="1550" dirty="0">
                <a:solidFill>
                  <a:srgbClr val="0000FF"/>
                </a:solidFill>
                <a:latin typeface="Monaco"/>
                <a:cs typeface="Monaco"/>
              </a:rPr>
              <a:t>if</a:t>
            </a:r>
            <a:r>
              <a:rPr lang="en-GB" sz="1550" spc="-135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lang="en-GB" sz="1550" spc="-50" dirty="0">
                <a:latin typeface="Monaco"/>
                <a:cs typeface="Monaco"/>
              </a:rPr>
              <a:t>(</a:t>
            </a:r>
            <a:r>
              <a:rPr lang="en-GB" sz="1550" spc="-50" dirty="0" err="1">
                <a:latin typeface="Monaco"/>
                <a:cs typeface="Monaco"/>
              </a:rPr>
              <a:t>studentGrade</a:t>
            </a:r>
            <a:r>
              <a:rPr lang="en-GB" sz="1550" spc="-180" dirty="0">
                <a:latin typeface="Monaco"/>
                <a:cs typeface="Monaco"/>
              </a:rPr>
              <a:t> </a:t>
            </a:r>
            <a:r>
              <a:rPr lang="en-GB" sz="1550" dirty="0">
                <a:latin typeface="Monaco"/>
                <a:cs typeface="Monaco"/>
              </a:rPr>
              <a:t>&gt;=</a:t>
            </a:r>
            <a:r>
              <a:rPr lang="en-GB" sz="1550" spc="-190" dirty="0">
                <a:latin typeface="Monaco"/>
                <a:cs typeface="Monaco"/>
              </a:rPr>
              <a:t> </a:t>
            </a:r>
            <a:r>
              <a:rPr lang="en-GB" sz="1550" dirty="0">
                <a:solidFill>
                  <a:srgbClr val="1289FF"/>
                </a:solidFill>
                <a:latin typeface="Monaco"/>
                <a:cs typeface="Monaco"/>
              </a:rPr>
              <a:t>90</a:t>
            </a:r>
            <a:r>
              <a:rPr lang="en-GB" sz="1550" dirty="0">
                <a:latin typeface="Monaco"/>
                <a:cs typeface="Monaco"/>
              </a:rPr>
              <a:t>)</a:t>
            </a:r>
            <a:r>
              <a:rPr lang="en-GB" sz="1550" spc="-120" dirty="0">
                <a:latin typeface="Monaco"/>
                <a:cs typeface="Monaco"/>
              </a:rPr>
              <a:t> </a:t>
            </a:r>
            <a:r>
              <a:rPr lang="en-GB" sz="1550" spc="-50" dirty="0">
                <a:latin typeface="Monaco"/>
                <a:cs typeface="Monaco"/>
              </a:rPr>
              <a:t>{ </a:t>
            </a:r>
            <a:r>
              <a:rPr lang="en-GB" sz="1550" spc="-60" dirty="0" err="1">
                <a:latin typeface="Monaco"/>
                <a:cs typeface="Monaco"/>
              </a:rPr>
              <a:t>System.out.println</a:t>
            </a:r>
            <a:r>
              <a:rPr lang="en-GB" sz="1550" spc="-60" dirty="0">
                <a:latin typeface="Monaco"/>
                <a:cs typeface="Monaco"/>
              </a:rPr>
              <a:t>(</a:t>
            </a:r>
            <a:r>
              <a:rPr lang="en-GB" sz="1550" spc="-60" dirty="0">
                <a:solidFill>
                  <a:srgbClr val="1289FF"/>
                </a:solidFill>
                <a:latin typeface="Monaco"/>
                <a:cs typeface="Monaco"/>
              </a:rPr>
              <a:t>"A"</a:t>
            </a:r>
            <a:r>
              <a:rPr lang="en-GB" sz="1550" spc="-60" dirty="0">
                <a:latin typeface="Monaco"/>
                <a:cs typeface="Monaco"/>
              </a:rPr>
              <a:t>);</a:t>
            </a:r>
            <a:endParaRPr lang="en-GB" sz="1550" dirty="0">
              <a:latin typeface="Monaco"/>
              <a:cs typeface="Monaco"/>
            </a:endParaRPr>
          </a:p>
          <a:p>
            <a:pPr marL="574675">
              <a:lnSpc>
                <a:spcPts val="1620"/>
              </a:lnSpc>
            </a:pPr>
            <a:r>
              <a:rPr lang="en-GB" sz="1550" spc="-50" dirty="0">
                <a:latin typeface="Monaco"/>
                <a:cs typeface="Monaco"/>
              </a:rPr>
              <a:t>}</a:t>
            </a:r>
            <a:endParaRPr lang="en-GB" sz="1550" dirty="0">
              <a:latin typeface="Monaco"/>
              <a:cs typeface="Monaco"/>
            </a:endParaRPr>
          </a:p>
          <a:p>
            <a:pPr marL="918210" marR="6739255" indent="-343535">
              <a:lnSpc>
                <a:spcPts val="1730"/>
              </a:lnSpc>
              <a:spcBef>
                <a:spcPts val="100"/>
              </a:spcBef>
            </a:pPr>
            <a:r>
              <a:rPr lang="en-GB" sz="1550" spc="-10" dirty="0">
                <a:solidFill>
                  <a:srgbClr val="0000FF"/>
                </a:solidFill>
                <a:latin typeface="Monaco"/>
                <a:cs typeface="Monaco"/>
              </a:rPr>
              <a:t>else</a:t>
            </a:r>
            <a:r>
              <a:rPr lang="en-GB" sz="1550" spc="-18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lang="en-GB" sz="1550" dirty="0">
                <a:solidFill>
                  <a:srgbClr val="0000FF"/>
                </a:solidFill>
                <a:latin typeface="Monaco"/>
                <a:cs typeface="Monaco"/>
              </a:rPr>
              <a:t>if</a:t>
            </a:r>
            <a:r>
              <a:rPr lang="en-GB" sz="1550" spc="-18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lang="en-GB" sz="1550" spc="-55" dirty="0">
                <a:latin typeface="Monaco"/>
                <a:cs typeface="Monaco"/>
              </a:rPr>
              <a:t>(</a:t>
            </a:r>
            <a:r>
              <a:rPr lang="en-GB" sz="1550" spc="-55" dirty="0" err="1">
                <a:latin typeface="Monaco"/>
                <a:cs typeface="Monaco"/>
              </a:rPr>
              <a:t>studentGrade</a:t>
            </a:r>
            <a:r>
              <a:rPr lang="en-GB" sz="1550" spc="-165" dirty="0">
                <a:latin typeface="Monaco"/>
                <a:cs typeface="Monaco"/>
              </a:rPr>
              <a:t> </a:t>
            </a:r>
            <a:r>
              <a:rPr lang="en-GB" sz="1550" dirty="0">
                <a:latin typeface="Monaco"/>
                <a:cs typeface="Monaco"/>
              </a:rPr>
              <a:t>&gt;=</a:t>
            </a:r>
            <a:r>
              <a:rPr lang="en-GB" sz="1550" spc="-175" dirty="0">
                <a:latin typeface="Monaco"/>
                <a:cs typeface="Monaco"/>
              </a:rPr>
              <a:t> </a:t>
            </a:r>
            <a:r>
              <a:rPr lang="en-GB" sz="1550" dirty="0">
                <a:solidFill>
                  <a:srgbClr val="1289FF"/>
                </a:solidFill>
                <a:latin typeface="Monaco"/>
                <a:cs typeface="Monaco"/>
              </a:rPr>
              <a:t>80</a:t>
            </a:r>
            <a:r>
              <a:rPr lang="en-GB" sz="1550" dirty="0">
                <a:latin typeface="Monaco"/>
                <a:cs typeface="Monaco"/>
              </a:rPr>
              <a:t>)</a:t>
            </a:r>
            <a:r>
              <a:rPr lang="en-GB" sz="1550" spc="-180" dirty="0">
                <a:latin typeface="Monaco"/>
                <a:cs typeface="Monaco"/>
              </a:rPr>
              <a:t> </a:t>
            </a:r>
            <a:r>
              <a:rPr lang="en-GB" sz="1550" spc="-50" dirty="0">
                <a:latin typeface="Monaco"/>
                <a:cs typeface="Monaco"/>
              </a:rPr>
              <a:t>{ </a:t>
            </a:r>
            <a:r>
              <a:rPr lang="en-GB" sz="1550" spc="-20" dirty="0" err="1">
                <a:latin typeface="Monaco"/>
                <a:cs typeface="Monaco"/>
              </a:rPr>
              <a:t>System.out.println</a:t>
            </a:r>
            <a:r>
              <a:rPr lang="en-GB" sz="1550" spc="-20" dirty="0">
                <a:latin typeface="Monaco"/>
                <a:cs typeface="Monaco"/>
              </a:rPr>
              <a:t>(</a:t>
            </a:r>
            <a:r>
              <a:rPr lang="en-GB" sz="1550" spc="-20" dirty="0">
                <a:solidFill>
                  <a:srgbClr val="1289FF"/>
                </a:solidFill>
                <a:latin typeface="Monaco"/>
                <a:cs typeface="Monaco"/>
              </a:rPr>
              <a:t>"B"</a:t>
            </a:r>
            <a:r>
              <a:rPr lang="en-GB" sz="1550" spc="-20" dirty="0">
                <a:latin typeface="Monaco"/>
                <a:cs typeface="Monaco"/>
              </a:rPr>
              <a:t>);</a:t>
            </a:r>
            <a:endParaRPr lang="en-GB" sz="1550" dirty="0">
              <a:latin typeface="Monaco"/>
              <a:cs typeface="Monaco"/>
            </a:endParaRPr>
          </a:p>
          <a:p>
            <a:pPr marL="574675">
              <a:lnSpc>
                <a:spcPts val="1625"/>
              </a:lnSpc>
            </a:pPr>
            <a:r>
              <a:rPr lang="en-GB" sz="1550" spc="-50" dirty="0">
                <a:latin typeface="Monaco"/>
                <a:cs typeface="Monaco"/>
              </a:rPr>
              <a:t>}</a:t>
            </a:r>
            <a:endParaRPr lang="en-GB" sz="1550" dirty="0">
              <a:latin typeface="Monaco"/>
              <a:cs typeface="Monaco"/>
            </a:endParaRPr>
          </a:p>
          <a:p>
            <a:pPr marL="918210" marR="6739255" indent="-343535">
              <a:lnSpc>
                <a:spcPts val="1730"/>
              </a:lnSpc>
              <a:spcBef>
                <a:spcPts val="100"/>
              </a:spcBef>
            </a:pPr>
            <a:r>
              <a:rPr lang="en-GB" sz="1550" spc="-10" dirty="0">
                <a:solidFill>
                  <a:srgbClr val="0000FF"/>
                </a:solidFill>
                <a:latin typeface="Monaco"/>
                <a:cs typeface="Monaco"/>
              </a:rPr>
              <a:t>else</a:t>
            </a:r>
            <a:r>
              <a:rPr lang="en-GB" sz="1550" spc="-18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lang="en-GB" sz="1550" dirty="0">
                <a:solidFill>
                  <a:srgbClr val="0000FF"/>
                </a:solidFill>
                <a:latin typeface="Monaco"/>
                <a:cs typeface="Monaco"/>
              </a:rPr>
              <a:t>if</a:t>
            </a:r>
            <a:r>
              <a:rPr lang="en-GB" sz="1550" spc="-18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lang="en-GB" sz="1550" spc="-55" dirty="0">
                <a:latin typeface="Monaco"/>
                <a:cs typeface="Monaco"/>
              </a:rPr>
              <a:t>(</a:t>
            </a:r>
            <a:r>
              <a:rPr lang="en-GB" sz="1550" spc="-55" dirty="0" err="1">
                <a:latin typeface="Monaco"/>
                <a:cs typeface="Monaco"/>
              </a:rPr>
              <a:t>studentGrade</a:t>
            </a:r>
            <a:r>
              <a:rPr lang="en-GB" sz="1550" spc="-165" dirty="0">
                <a:latin typeface="Monaco"/>
                <a:cs typeface="Monaco"/>
              </a:rPr>
              <a:t> </a:t>
            </a:r>
            <a:r>
              <a:rPr lang="en-GB" sz="1550" dirty="0">
                <a:latin typeface="Monaco"/>
                <a:cs typeface="Monaco"/>
              </a:rPr>
              <a:t>&gt;=</a:t>
            </a:r>
            <a:r>
              <a:rPr lang="en-GB" sz="1550" spc="-175" dirty="0">
                <a:latin typeface="Monaco"/>
                <a:cs typeface="Monaco"/>
              </a:rPr>
              <a:t> </a:t>
            </a:r>
            <a:r>
              <a:rPr lang="en-GB" sz="1550" dirty="0">
                <a:solidFill>
                  <a:srgbClr val="1289FF"/>
                </a:solidFill>
                <a:latin typeface="Monaco"/>
                <a:cs typeface="Monaco"/>
              </a:rPr>
              <a:t>70</a:t>
            </a:r>
            <a:r>
              <a:rPr lang="en-GB" sz="1550" dirty="0">
                <a:latin typeface="Monaco"/>
                <a:cs typeface="Monaco"/>
              </a:rPr>
              <a:t>)</a:t>
            </a:r>
            <a:r>
              <a:rPr lang="en-GB" sz="1550" spc="-180" dirty="0">
                <a:latin typeface="Monaco"/>
                <a:cs typeface="Monaco"/>
              </a:rPr>
              <a:t> </a:t>
            </a:r>
            <a:r>
              <a:rPr lang="en-GB" sz="1550" spc="-50" dirty="0">
                <a:latin typeface="Monaco"/>
                <a:cs typeface="Monaco"/>
              </a:rPr>
              <a:t>{ </a:t>
            </a:r>
            <a:r>
              <a:rPr lang="en-GB" sz="1550" spc="-20" dirty="0" err="1">
                <a:latin typeface="Monaco"/>
                <a:cs typeface="Monaco"/>
              </a:rPr>
              <a:t>System.out.println</a:t>
            </a:r>
            <a:r>
              <a:rPr lang="en-GB" sz="1550" spc="-20" dirty="0">
                <a:latin typeface="Monaco"/>
                <a:cs typeface="Monaco"/>
              </a:rPr>
              <a:t>(</a:t>
            </a:r>
            <a:r>
              <a:rPr lang="en-GB" sz="1550" spc="-20" dirty="0">
                <a:solidFill>
                  <a:srgbClr val="1289FF"/>
                </a:solidFill>
                <a:latin typeface="Monaco"/>
                <a:cs typeface="Monaco"/>
              </a:rPr>
              <a:t>"C"</a:t>
            </a:r>
            <a:r>
              <a:rPr lang="en-GB" sz="1550" spc="-20" dirty="0">
                <a:latin typeface="Monaco"/>
                <a:cs typeface="Monaco"/>
              </a:rPr>
              <a:t>);</a:t>
            </a:r>
            <a:endParaRPr lang="en-GB" sz="1550" dirty="0">
              <a:latin typeface="Monaco"/>
              <a:cs typeface="Monaco"/>
            </a:endParaRPr>
          </a:p>
          <a:p>
            <a:pPr marL="574675">
              <a:lnSpc>
                <a:spcPts val="1625"/>
              </a:lnSpc>
            </a:pPr>
            <a:r>
              <a:rPr lang="en-GB" sz="1550" spc="-50" dirty="0">
                <a:latin typeface="Monaco"/>
                <a:cs typeface="Monaco"/>
              </a:rPr>
              <a:t>}</a:t>
            </a:r>
            <a:endParaRPr lang="en-GB" sz="1550" dirty="0">
              <a:latin typeface="Monaco"/>
              <a:cs typeface="Monaco"/>
            </a:endParaRPr>
          </a:p>
          <a:p>
            <a:pPr marL="918210" marR="6739255" indent="-343535">
              <a:lnSpc>
                <a:spcPts val="1730"/>
              </a:lnSpc>
              <a:spcBef>
                <a:spcPts val="100"/>
              </a:spcBef>
            </a:pPr>
            <a:r>
              <a:rPr lang="en-GB" sz="1550" spc="-10" dirty="0">
                <a:solidFill>
                  <a:srgbClr val="0000FF"/>
                </a:solidFill>
                <a:latin typeface="Monaco"/>
                <a:cs typeface="Monaco"/>
              </a:rPr>
              <a:t>else</a:t>
            </a:r>
            <a:r>
              <a:rPr lang="en-GB" sz="1550" spc="-18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lang="en-GB" sz="1550" dirty="0">
                <a:solidFill>
                  <a:srgbClr val="0000FF"/>
                </a:solidFill>
                <a:latin typeface="Monaco"/>
                <a:cs typeface="Monaco"/>
              </a:rPr>
              <a:t>if</a:t>
            </a:r>
            <a:r>
              <a:rPr lang="en-GB" sz="1550" spc="-180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lang="en-GB" sz="1550" spc="-55" dirty="0">
                <a:latin typeface="Monaco"/>
                <a:cs typeface="Monaco"/>
              </a:rPr>
              <a:t>(</a:t>
            </a:r>
            <a:r>
              <a:rPr lang="en-GB" sz="1550" spc="-55" dirty="0" err="1">
                <a:latin typeface="Monaco"/>
                <a:cs typeface="Monaco"/>
              </a:rPr>
              <a:t>studentGrade</a:t>
            </a:r>
            <a:r>
              <a:rPr lang="en-GB" sz="1550" spc="-165" dirty="0">
                <a:latin typeface="Monaco"/>
                <a:cs typeface="Monaco"/>
              </a:rPr>
              <a:t> </a:t>
            </a:r>
            <a:r>
              <a:rPr lang="en-GB" sz="1550" dirty="0">
                <a:latin typeface="Monaco"/>
                <a:cs typeface="Monaco"/>
              </a:rPr>
              <a:t>&gt;=</a:t>
            </a:r>
            <a:r>
              <a:rPr lang="en-GB" sz="1550" spc="-175" dirty="0">
                <a:latin typeface="Monaco"/>
                <a:cs typeface="Monaco"/>
              </a:rPr>
              <a:t> </a:t>
            </a:r>
            <a:r>
              <a:rPr lang="en-GB" sz="1550" dirty="0">
                <a:solidFill>
                  <a:srgbClr val="1289FF"/>
                </a:solidFill>
                <a:latin typeface="Monaco"/>
                <a:cs typeface="Monaco"/>
              </a:rPr>
              <a:t>60</a:t>
            </a:r>
            <a:r>
              <a:rPr lang="en-GB" sz="1550" dirty="0">
                <a:latin typeface="Monaco"/>
                <a:cs typeface="Monaco"/>
              </a:rPr>
              <a:t>)</a:t>
            </a:r>
            <a:r>
              <a:rPr lang="en-GB" sz="1550" spc="-180" dirty="0">
                <a:latin typeface="Monaco"/>
                <a:cs typeface="Monaco"/>
              </a:rPr>
              <a:t> </a:t>
            </a:r>
            <a:r>
              <a:rPr lang="en-GB" sz="1550" spc="-50" dirty="0">
                <a:latin typeface="Monaco"/>
                <a:cs typeface="Monaco"/>
              </a:rPr>
              <a:t>{ </a:t>
            </a:r>
            <a:r>
              <a:rPr lang="en-GB" sz="1550" spc="-20" dirty="0" err="1">
                <a:latin typeface="Monaco"/>
                <a:cs typeface="Monaco"/>
              </a:rPr>
              <a:t>System.out.println</a:t>
            </a:r>
            <a:r>
              <a:rPr lang="en-GB" sz="1550" spc="-20" dirty="0">
                <a:latin typeface="Monaco"/>
                <a:cs typeface="Monaco"/>
              </a:rPr>
              <a:t>(</a:t>
            </a:r>
            <a:r>
              <a:rPr lang="en-GB" sz="1550" spc="-20" dirty="0">
                <a:solidFill>
                  <a:srgbClr val="1289FF"/>
                </a:solidFill>
                <a:latin typeface="Monaco"/>
                <a:cs typeface="Monaco"/>
              </a:rPr>
              <a:t>"D"</a:t>
            </a:r>
            <a:r>
              <a:rPr lang="en-GB" sz="1550" spc="-20" dirty="0">
                <a:latin typeface="Monaco"/>
                <a:cs typeface="Monaco"/>
              </a:rPr>
              <a:t>);</a:t>
            </a:r>
            <a:endParaRPr lang="en-GB" sz="1550" dirty="0">
              <a:latin typeface="Monaco"/>
              <a:cs typeface="Monaco"/>
            </a:endParaRPr>
          </a:p>
          <a:p>
            <a:pPr marL="574675">
              <a:lnSpc>
                <a:spcPts val="1625"/>
              </a:lnSpc>
            </a:pPr>
            <a:r>
              <a:rPr lang="en-GB" sz="1550" spc="-50" dirty="0">
                <a:latin typeface="Monaco"/>
                <a:cs typeface="Monaco"/>
              </a:rPr>
              <a:t>}</a:t>
            </a:r>
            <a:endParaRPr lang="en-GB" sz="1550" dirty="0">
              <a:latin typeface="Monaco"/>
              <a:cs typeface="Monaco"/>
            </a:endParaRPr>
          </a:p>
          <a:p>
            <a:pPr marL="574675">
              <a:lnSpc>
                <a:spcPts val="1730"/>
              </a:lnSpc>
            </a:pPr>
            <a:r>
              <a:rPr lang="en-GB" sz="1550" dirty="0">
                <a:solidFill>
                  <a:srgbClr val="0000FF"/>
                </a:solidFill>
                <a:latin typeface="Monaco"/>
                <a:cs typeface="Monaco"/>
              </a:rPr>
              <a:t>else</a:t>
            </a:r>
            <a:r>
              <a:rPr lang="en-GB" sz="1550" spc="-229" dirty="0">
                <a:solidFill>
                  <a:srgbClr val="0000FF"/>
                </a:solidFill>
                <a:latin typeface="Monaco"/>
                <a:cs typeface="Monaco"/>
              </a:rPr>
              <a:t> </a:t>
            </a:r>
            <a:r>
              <a:rPr lang="en-GB" sz="1550" spc="-50" dirty="0">
                <a:latin typeface="Monaco"/>
                <a:cs typeface="Monaco"/>
              </a:rPr>
              <a:t>{</a:t>
            </a:r>
            <a:endParaRPr lang="en-GB" sz="1550" dirty="0">
              <a:latin typeface="Monaco"/>
              <a:cs typeface="Monaco"/>
            </a:endParaRPr>
          </a:p>
          <a:p>
            <a:pPr marL="918210">
              <a:lnSpc>
                <a:spcPts val="1730"/>
              </a:lnSpc>
            </a:pPr>
            <a:r>
              <a:rPr lang="en-GB" sz="1550" spc="-20" dirty="0" err="1">
                <a:latin typeface="Monaco"/>
                <a:cs typeface="Monaco"/>
              </a:rPr>
              <a:t>System.out.println</a:t>
            </a:r>
            <a:r>
              <a:rPr lang="en-GB" sz="1550" spc="-20" dirty="0">
                <a:latin typeface="Monaco"/>
                <a:cs typeface="Monaco"/>
              </a:rPr>
              <a:t>(</a:t>
            </a:r>
            <a:r>
              <a:rPr lang="en-GB" sz="1550" spc="-20" dirty="0">
                <a:solidFill>
                  <a:srgbClr val="1289FF"/>
                </a:solidFill>
                <a:latin typeface="Monaco"/>
                <a:cs typeface="Monaco"/>
              </a:rPr>
              <a:t>"F"</a:t>
            </a:r>
            <a:r>
              <a:rPr lang="en-GB" sz="1550" spc="-20" dirty="0">
                <a:latin typeface="Monaco"/>
                <a:cs typeface="Monaco"/>
              </a:rPr>
              <a:t>);</a:t>
            </a:r>
            <a:endParaRPr lang="en-GB" sz="1550" dirty="0">
              <a:latin typeface="Monaco"/>
              <a:cs typeface="Monaco"/>
            </a:endParaRPr>
          </a:p>
          <a:p>
            <a:pPr marL="574675">
              <a:lnSpc>
                <a:spcPts val="1795"/>
              </a:lnSpc>
            </a:pPr>
            <a:r>
              <a:rPr lang="en-GB" sz="1550" spc="-50" dirty="0">
                <a:latin typeface="Monaco"/>
                <a:cs typeface="Monaco"/>
              </a:rPr>
              <a:t>}</a:t>
            </a:r>
            <a:endParaRPr lang="en-GB" sz="1550" dirty="0">
              <a:latin typeface="Monaco"/>
              <a:cs typeface="Monaco"/>
            </a:endParaRPr>
          </a:p>
          <a:p>
            <a:pPr marL="202565" indent="-189865">
              <a:lnSpc>
                <a:spcPts val="2825"/>
              </a:lnSpc>
              <a:spcBef>
                <a:spcPts val="95"/>
              </a:spcBef>
              <a:buClr>
                <a:srgbClr val="2CA1BE"/>
              </a:buClr>
              <a:buSzPct val="69387"/>
              <a:buFont typeface="Wingdings 3"/>
              <a:buChar char=""/>
              <a:tabLst>
                <a:tab pos="202565" algn="l"/>
              </a:tabLst>
            </a:pPr>
            <a:r>
              <a:rPr sz="2450" spc="75" dirty="0">
                <a:latin typeface="Times New Roman"/>
                <a:cs typeface="Times New Roman"/>
              </a:rPr>
              <a:t>The</a:t>
            </a:r>
            <a:r>
              <a:rPr sz="2450" spc="-10" dirty="0">
                <a:latin typeface="Times New Roman"/>
                <a:cs typeface="Times New Roman"/>
              </a:rPr>
              <a:t> </a:t>
            </a:r>
            <a:r>
              <a:rPr sz="2450" spc="130" dirty="0">
                <a:latin typeface="Times New Roman"/>
                <a:cs typeface="Times New Roman"/>
              </a:rPr>
              <a:t>two</a:t>
            </a:r>
            <a:r>
              <a:rPr sz="2450" spc="-40" dirty="0">
                <a:latin typeface="Times New Roman"/>
                <a:cs typeface="Times New Roman"/>
              </a:rPr>
              <a:t> </a:t>
            </a:r>
            <a:r>
              <a:rPr sz="2450" spc="100" dirty="0">
                <a:latin typeface="Times New Roman"/>
                <a:cs typeface="Times New Roman"/>
              </a:rPr>
              <a:t>forms</a:t>
            </a:r>
            <a:r>
              <a:rPr sz="2450" spc="-85" dirty="0">
                <a:latin typeface="Times New Roman"/>
                <a:cs typeface="Times New Roman"/>
              </a:rPr>
              <a:t> </a:t>
            </a:r>
            <a:r>
              <a:rPr sz="2450" spc="150" dirty="0">
                <a:latin typeface="Times New Roman"/>
                <a:cs typeface="Times New Roman"/>
              </a:rPr>
              <a:t>are</a:t>
            </a:r>
            <a:r>
              <a:rPr sz="2450" spc="-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identical</a:t>
            </a:r>
            <a:r>
              <a:rPr sz="2450" spc="85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except </a:t>
            </a:r>
            <a:r>
              <a:rPr sz="2450" spc="85" dirty="0">
                <a:latin typeface="Times New Roman"/>
                <a:cs typeface="Times New Roman"/>
              </a:rPr>
              <a:t>for</a:t>
            </a:r>
            <a:r>
              <a:rPr sz="2450" spc="-130" dirty="0">
                <a:latin typeface="Times New Roman"/>
                <a:cs typeface="Times New Roman"/>
              </a:rPr>
              <a:t> </a:t>
            </a:r>
            <a:r>
              <a:rPr sz="2450" spc="125" dirty="0">
                <a:latin typeface="Times New Roman"/>
                <a:cs typeface="Times New Roman"/>
              </a:rPr>
              <a:t>the</a:t>
            </a:r>
            <a:r>
              <a:rPr sz="2450" spc="70" dirty="0">
                <a:latin typeface="Times New Roman"/>
                <a:cs typeface="Times New Roman"/>
              </a:rPr>
              <a:t> </a:t>
            </a:r>
            <a:r>
              <a:rPr sz="2450" spc="65" dirty="0">
                <a:latin typeface="Times New Roman"/>
                <a:cs typeface="Times New Roman"/>
              </a:rPr>
              <a:t>spacing</a:t>
            </a:r>
            <a:r>
              <a:rPr sz="2450" spc="55" dirty="0">
                <a:latin typeface="Times New Roman"/>
                <a:cs typeface="Times New Roman"/>
              </a:rPr>
              <a:t> </a:t>
            </a:r>
            <a:r>
              <a:rPr sz="2450" spc="120" dirty="0">
                <a:latin typeface="Times New Roman"/>
                <a:cs typeface="Times New Roman"/>
              </a:rPr>
              <a:t>and</a:t>
            </a:r>
            <a:r>
              <a:rPr sz="2450" spc="50" dirty="0">
                <a:latin typeface="Times New Roman"/>
                <a:cs typeface="Times New Roman"/>
              </a:rPr>
              <a:t> </a:t>
            </a:r>
            <a:r>
              <a:rPr sz="2450" spc="80" dirty="0">
                <a:latin typeface="Times New Roman"/>
                <a:cs typeface="Times New Roman"/>
              </a:rPr>
              <a:t>indentation,</a:t>
            </a:r>
            <a:r>
              <a:rPr sz="2450" spc="325" dirty="0">
                <a:latin typeface="Times New Roman"/>
                <a:cs typeface="Times New Roman"/>
              </a:rPr>
              <a:t> </a:t>
            </a:r>
            <a:r>
              <a:rPr sz="2450" spc="85" dirty="0">
                <a:latin typeface="Times New Roman"/>
                <a:cs typeface="Times New Roman"/>
              </a:rPr>
              <a:t>which</a:t>
            </a:r>
            <a:r>
              <a:rPr sz="2450" spc="-95" dirty="0">
                <a:latin typeface="Times New Roman"/>
                <a:cs typeface="Times New Roman"/>
              </a:rPr>
              <a:t> </a:t>
            </a:r>
            <a:r>
              <a:rPr sz="2450" spc="100" dirty="0">
                <a:latin typeface="Times New Roman"/>
                <a:cs typeface="Times New Roman"/>
              </a:rPr>
              <a:t>the</a:t>
            </a:r>
            <a:endParaRPr sz="2450" dirty="0">
              <a:latin typeface="Times New Roman"/>
              <a:cs typeface="Times New Roman"/>
            </a:endParaRPr>
          </a:p>
          <a:p>
            <a:pPr marL="203200">
              <a:lnSpc>
                <a:spcPts val="2825"/>
              </a:lnSpc>
            </a:pPr>
            <a:r>
              <a:rPr sz="2450" spc="85" dirty="0">
                <a:latin typeface="Times New Roman"/>
                <a:cs typeface="Times New Roman"/>
              </a:rPr>
              <a:t>compiler</a:t>
            </a:r>
            <a:r>
              <a:rPr sz="2450" spc="15" dirty="0">
                <a:latin typeface="Times New Roman"/>
                <a:cs typeface="Times New Roman"/>
              </a:rPr>
              <a:t> </a:t>
            </a:r>
            <a:r>
              <a:rPr sz="2450" spc="55" dirty="0">
                <a:latin typeface="Times New Roman"/>
                <a:cs typeface="Times New Roman"/>
              </a:rPr>
              <a:t>ignores.</a:t>
            </a:r>
            <a:endParaRPr sz="245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2982" y="2220595"/>
            <a:ext cx="8266035" cy="241681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12" y="714073"/>
            <a:ext cx="7091451" cy="3386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4700" y="1440116"/>
            <a:ext cx="10697845" cy="12208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565" indent="-189865">
              <a:lnSpc>
                <a:spcPts val="2425"/>
              </a:lnSpc>
              <a:spcBef>
                <a:spcPts val="100"/>
              </a:spcBef>
              <a:buClr>
                <a:srgbClr val="2CA1BE"/>
              </a:buClr>
              <a:buSzPct val="66666"/>
              <a:buFont typeface="Wingdings 3"/>
              <a:buChar char=""/>
              <a:tabLst>
                <a:tab pos="202565" algn="l"/>
              </a:tabLst>
            </a:pPr>
            <a:r>
              <a:rPr lang="da-DK" sz="2100" spc="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endParaRPr sz="2100" dirty="0">
              <a:latin typeface="Times New Roman"/>
              <a:cs typeface="Times New Roman"/>
            </a:endParaRPr>
          </a:p>
          <a:p>
            <a:pPr marL="202565" indent="-189865">
              <a:lnSpc>
                <a:spcPts val="2325"/>
              </a:lnSpc>
              <a:buClr>
                <a:srgbClr val="2CA1BE"/>
              </a:buClr>
              <a:buSzPct val="66666"/>
              <a:buFont typeface="Wingdings 3"/>
              <a:buChar char=""/>
              <a:tabLst>
                <a:tab pos="202565" algn="l"/>
              </a:tabLst>
            </a:pPr>
            <a:r>
              <a:rPr sz="2100" spc="90" dirty="0">
                <a:latin typeface="Times New Roman"/>
                <a:cs typeface="Times New Roman"/>
              </a:rPr>
              <a:t>Operands</a:t>
            </a:r>
            <a:r>
              <a:rPr sz="2100" spc="-220" dirty="0">
                <a:latin typeface="Times New Roman"/>
                <a:cs typeface="Times New Roman"/>
              </a:rPr>
              <a:t> </a:t>
            </a:r>
            <a:r>
              <a:rPr sz="2100" spc="120" dirty="0">
                <a:latin typeface="Times New Roman"/>
                <a:cs typeface="Times New Roman"/>
              </a:rPr>
              <a:t>and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spc="-135" dirty="0">
                <a:latin typeface="Monaco"/>
                <a:cs typeface="Monaco"/>
              </a:rPr>
              <a:t>?:</a:t>
            </a:r>
            <a:r>
              <a:rPr sz="2100" spc="-830" dirty="0">
                <a:latin typeface="Monaco"/>
                <a:cs typeface="Monaco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form</a:t>
            </a:r>
            <a:r>
              <a:rPr sz="2100" spc="-80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a</a:t>
            </a:r>
            <a:r>
              <a:rPr sz="2100" spc="-35" dirty="0">
                <a:latin typeface="Times New Roman"/>
                <a:cs typeface="Times New Roman"/>
              </a:rPr>
              <a:t> </a:t>
            </a:r>
            <a:r>
              <a:rPr sz="2100" spc="60" dirty="0">
                <a:solidFill>
                  <a:srgbClr val="0000FF"/>
                </a:solidFill>
                <a:latin typeface="Times New Roman"/>
                <a:cs typeface="Times New Roman"/>
              </a:rPr>
              <a:t>conditional</a:t>
            </a:r>
            <a:r>
              <a:rPr sz="2100" spc="-10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100" spc="70" dirty="0">
                <a:solidFill>
                  <a:srgbClr val="0000FF"/>
                </a:solidFill>
                <a:latin typeface="Times New Roman"/>
                <a:cs typeface="Times New Roman"/>
              </a:rPr>
              <a:t>expression</a:t>
            </a:r>
            <a:r>
              <a:rPr lang="da-DK" sz="2100" spc="70" dirty="0">
                <a:solidFill>
                  <a:srgbClr val="0000FF"/>
                </a:solidFill>
                <a:latin typeface="Times New Roman"/>
                <a:cs typeface="Times New Roman"/>
              </a:rPr>
              <a:t> –</a:t>
            </a:r>
            <a:r>
              <a:rPr lang="en-GB" sz="2400" b="1" dirty="0"/>
              <a:t>ternary operator</a:t>
            </a:r>
            <a:endParaRPr lang="en-GB" sz="2400" dirty="0"/>
          </a:p>
          <a:p>
            <a:pPr marL="202565" indent="-189865">
              <a:lnSpc>
                <a:spcPts val="2325"/>
              </a:lnSpc>
              <a:buClr>
                <a:srgbClr val="2CA1BE"/>
              </a:buClr>
              <a:buSzPct val="66666"/>
              <a:buFont typeface="Wingdings 3"/>
              <a:buChar char=""/>
              <a:tabLst>
                <a:tab pos="202565" algn="l"/>
              </a:tabLst>
            </a:pPr>
            <a:endParaRPr sz="2100" dirty="0">
              <a:latin typeface="Times New Roman"/>
              <a:cs typeface="Times New Roman"/>
            </a:endParaRPr>
          </a:p>
          <a:p>
            <a:pPr marL="202565" indent="-189865">
              <a:lnSpc>
                <a:spcPts val="2175"/>
              </a:lnSpc>
              <a:buClr>
                <a:srgbClr val="2CA1BE"/>
              </a:buClr>
              <a:buSzPct val="66666"/>
              <a:buFont typeface="Wingdings 3"/>
              <a:buChar char=""/>
              <a:tabLst>
                <a:tab pos="202565" algn="l"/>
              </a:tabLst>
            </a:pPr>
            <a:r>
              <a:rPr lang="da-DK" sz="2100" spc="85" dirty="0">
                <a:latin typeface="Times New Roman"/>
                <a:cs typeface="Times New Roman"/>
              </a:rPr>
              <a:t> </a:t>
            </a:r>
            <a:endParaRPr sz="21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77289" y="3793871"/>
            <a:ext cx="6556375" cy="23812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850"/>
              </a:lnSpc>
            </a:pPr>
            <a:r>
              <a:rPr sz="1550" spc="-60" dirty="0">
                <a:latin typeface="Monaco"/>
                <a:cs typeface="Monaco"/>
              </a:rPr>
              <a:t>System.out.println(studentGrade</a:t>
            </a:r>
            <a:r>
              <a:rPr sz="1550" spc="-645" dirty="0">
                <a:latin typeface="Monaco"/>
                <a:cs typeface="Monaco"/>
              </a:rPr>
              <a:t> </a:t>
            </a:r>
            <a:r>
              <a:rPr sz="1550" spc="-55" dirty="0">
                <a:latin typeface="Monaco"/>
                <a:cs typeface="Monaco"/>
              </a:rPr>
              <a:t>&gt;=</a:t>
            </a:r>
            <a:r>
              <a:rPr sz="1550" spc="-655" dirty="0">
                <a:latin typeface="Monaco"/>
                <a:cs typeface="Monaco"/>
              </a:rPr>
              <a:t> </a:t>
            </a:r>
            <a:r>
              <a:rPr sz="1550" spc="-20" dirty="0">
                <a:solidFill>
                  <a:srgbClr val="1289FF"/>
                </a:solidFill>
                <a:latin typeface="Monaco"/>
                <a:cs typeface="Monaco"/>
              </a:rPr>
              <a:t>60</a:t>
            </a:r>
            <a:r>
              <a:rPr sz="1550" spc="-95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dirty="0">
                <a:latin typeface="Monaco"/>
                <a:cs typeface="Monaco"/>
              </a:rPr>
              <a:t>?</a:t>
            </a:r>
            <a:r>
              <a:rPr sz="1550" spc="65" dirty="0">
                <a:latin typeface="Monaco"/>
                <a:cs typeface="Monaco"/>
              </a:rPr>
              <a:t> </a:t>
            </a:r>
            <a:r>
              <a:rPr sz="1550" spc="-40" dirty="0">
                <a:solidFill>
                  <a:srgbClr val="1289FF"/>
                </a:solidFill>
                <a:latin typeface="Monaco"/>
                <a:cs typeface="Monaco"/>
              </a:rPr>
              <a:t>"Passed"</a:t>
            </a:r>
            <a:r>
              <a:rPr sz="1550" spc="-670" dirty="0">
                <a:solidFill>
                  <a:srgbClr val="1289FF"/>
                </a:solidFill>
                <a:latin typeface="Monaco"/>
                <a:cs typeface="Monaco"/>
              </a:rPr>
              <a:t> </a:t>
            </a:r>
            <a:r>
              <a:rPr sz="1550" spc="-70" dirty="0">
                <a:latin typeface="Monaco"/>
                <a:cs typeface="Monaco"/>
              </a:rPr>
              <a:t>:</a:t>
            </a:r>
            <a:r>
              <a:rPr sz="1550" spc="-655" dirty="0">
                <a:latin typeface="Monaco"/>
                <a:cs typeface="Monaco"/>
              </a:rPr>
              <a:t> </a:t>
            </a:r>
            <a:r>
              <a:rPr sz="1550" spc="-10" dirty="0">
                <a:solidFill>
                  <a:srgbClr val="1289FF"/>
                </a:solidFill>
                <a:latin typeface="Monaco"/>
                <a:cs typeface="Monaco"/>
              </a:rPr>
              <a:t>"Failed"</a:t>
            </a:r>
            <a:r>
              <a:rPr sz="1550" spc="-10" dirty="0">
                <a:latin typeface="Monaco"/>
                <a:cs typeface="Monaco"/>
              </a:rPr>
              <a:t>);</a:t>
            </a:r>
            <a:endParaRPr sz="1550">
              <a:latin typeface="Monaco"/>
              <a:cs typeface="Monac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4700" y="3996372"/>
            <a:ext cx="10287635" cy="60325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203200" marR="5080" indent="-190500">
              <a:lnSpc>
                <a:spcPts val="2030"/>
              </a:lnSpc>
              <a:spcBef>
                <a:spcPts val="575"/>
              </a:spcBef>
              <a:buClr>
                <a:srgbClr val="2CA1BE"/>
              </a:buClr>
              <a:buSzPct val="66666"/>
              <a:buFont typeface="Wingdings 3"/>
              <a:buChar char=""/>
              <a:tabLst>
                <a:tab pos="203200" algn="l"/>
              </a:tabLst>
            </a:pPr>
            <a:r>
              <a:rPr sz="2100" dirty="0">
                <a:latin typeface="Times New Roman"/>
                <a:cs typeface="Times New Roman"/>
              </a:rPr>
              <a:t>Evaluates</a:t>
            </a:r>
            <a:r>
              <a:rPr sz="2100" spc="45" dirty="0">
                <a:latin typeface="Times New Roman"/>
                <a:cs typeface="Times New Roman"/>
              </a:rPr>
              <a:t> </a:t>
            </a:r>
            <a:r>
              <a:rPr sz="2100" spc="75" dirty="0">
                <a:latin typeface="Times New Roman"/>
                <a:cs typeface="Times New Roman"/>
              </a:rPr>
              <a:t>to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the string</a:t>
            </a:r>
            <a:r>
              <a:rPr sz="2100" spc="-120" dirty="0">
                <a:latin typeface="Times New Roman"/>
                <a:cs typeface="Times New Roman"/>
              </a:rPr>
              <a:t> </a:t>
            </a:r>
            <a:r>
              <a:rPr sz="2100" spc="-150" dirty="0">
                <a:latin typeface="Monaco"/>
                <a:cs typeface="Monaco"/>
              </a:rPr>
              <a:t>"Passed"</a:t>
            </a:r>
            <a:r>
              <a:rPr sz="2100" spc="-545" dirty="0">
                <a:latin typeface="Monaco"/>
                <a:cs typeface="Monaco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if</a:t>
            </a:r>
            <a:r>
              <a:rPr sz="2100" spc="5" dirty="0">
                <a:latin typeface="Times New Roman"/>
                <a:cs typeface="Times New Roman"/>
              </a:rPr>
              <a:t> </a:t>
            </a:r>
            <a:r>
              <a:rPr sz="2100" spc="75" dirty="0">
                <a:latin typeface="Times New Roman"/>
                <a:cs typeface="Times New Roman"/>
              </a:rPr>
              <a:t>the</a:t>
            </a:r>
            <a:r>
              <a:rPr sz="2100" spc="85" dirty="0">
                <a:latin typeface="Times New Roman"/>
                <a:cs typeface="Times New Roman"/>
              </a:rPr>
              <a:t> </a:t>
            </a:r>
            <a:r>
              <a:rPr sz="2100" spc="-145" dirty="0">
                <a:latin typeface="Monaco"/>
                <a:cs typeface="Monaco"/>
              </a:rPr>
              <a:t>boolean</a:t>
            </a:r>
            <a:r>
              <a:rPr sz="2100" spc="-645" dirty="0">
                <a:latin typeface="Monaco"/>
                <a:cs typeface="Monaco"/>
              </a:rPr>
              <a:t> </a:t>
            </a:r>
            <a:r>
              <a:rPr sz="2100" spc="85" dirty="0">
                <a:latin typeface="Times New Roman"/>
                <a:cs typeface="Times New Roman"/>
              </a:rPr>
              <a:t>expression</a:t>
            </a:r>
            <a:r>
              <a:rPr sz="2100" spc="-60" dirty="0">
                <a:latin typeface="Times New Roman"/>
                <a:cs typeface="Times New Roman"/>
              </a:rPr>
              <a:t> </a:t>
            </a:r>
            <a:r>
              <a:rPr sz="2100" spc="-155" dirty="0">
                <a:latin typeface="Monaco"/>
                <a:cs typeface="Monaco"/>
              </a:rPr>
              <a:t>studentGrade</a:t>
            </a:r>
            <a:r>
              <a:rPr sz="2100" spc="-625" dirty="0">
                <a:latin typeface="Monaco"/>
                <a:cs typeface="Monaco"/>
              </a:rPr>
              <a:t> </a:t>
            </a:r>
            <a:r>
              <a:rPr sz="2100" spc="-135" dirty="0">
                <a:latin typeface="Monaco"/>
                <a:cs typeface="Monaco"/>
              </a:rPr>
              <a:t>&gt;=</a:t>
            </a:r>
            <a:r>
              <a:rPr sz="2100" spc="-720" dirty="0">
                <a:latin typeface="Monaco"/>
                <a:cs typeface="Monaco"/>
              </a:rPr>
              <a:t> </a:t>
            </a:r>
            <a:r>
              <a:rPr sz="2100" spc="-135" dirty="0">
                <a:latin typeface="Monaco"/>
                <a:cs typeface="Monaco"/>
              </a:rPr>
              <a:t>60</a:t>
            </a:r>
            <a:r>
              <a:rPr sz="2100" spc="-805" dirty="0">
                <a:latin typeface="Monaco"/>
                <a:cs typeface="Monaco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40" dirty="0">
                <a:latin typeface="Times New Roman"/>
                <a:cs typeface="Times New Roman"/>
              </a:rPr>
              <a:t> </a:t>
            </a:r>
            <a:r>
              <a:rPr sz="2100" spc="85" dirty="0">
                <a:latin typeface="Times New Roman"/>
                <a:cs typeface="Times New Roman"/>
              </a:rPr>
              <a:t>true </a:t>
            </a:r>
            <a:r>
              <a:rPr sz="2100" spc="120" dirty="0">
                <a:latin typeface="Times New Roman"/>
                <a:cs typeface="Times New Roman"/>
              </a:rPr>
              <a:t>and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spc="75" dirty="0">
                <a:latin typeface="Times New Roman"/>
                <a:cs typeface="Times New Roman"/>
              </a:rPr>
              <a:t>to</a:t>
            </a:r>
            <a:r>
              <a:rPr sz="2100" spc="-55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the</a:t>
            </a:r>
            <a:r>
              <a:rPr sz="2100" spc="40" dirty="0">
                <a:latin typeface="Times New Roman"/>
                <a:cs typeface="Times New Roman"/>
              </a:rPr>
              <a:t> </a:t>
            </a:r>
            <a:r>
              <a:rPr sz="2100" spc="80" dirty="0">
                <a:latin typeface="Times New Roman"/>
                <a:cs typeface="Times New Roman"/>
              </a:rPr>
              <a:t>string</a:t>
            </a:r>
            <a:r>
              <a:rPr sz="2100" spc="-65" dirty="0">
                <a:latin typeface="Times New Roman"/>
                <a:cs typeface="Times New Roman"/>
              </a:rPr>
              <a:t> </a:t>
            </a:r>
            <a:r>
              <a:rPr sz="2100" spc="-150" dirty="0">
                <a:latin typeface="Monaco"/>
                <a:cs typeface="Monaco"/>
              </a:rPr>
              <a:t>"Failed"</a:t>
            </a:r>
            <a:r>
              <a:rPr sz="2100" spc="-670" dirty="0">
                <a:latin typeface="Monaco"/>
                <a:cs typeface="Monaco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if</a:t>
            </a:r>
            <a:r>
              <a:rPr sz="2100" spc="-25" dirty="0">
                <a:latin typeface="Times New Roman"/>
                <a:cs typeface="Times New Roman"/>
              </a:rPr>
              <a:t> </a:t>
            </a:r>
            <a:r>
              <a:rPr sz="2100" spc="60" dirty="0">
                <a:latin typeface="Times New Roman"/>
                <a:cs typeface="Times New Roman"/>
              </a:rPr>
              <a:t>it</a:t>
            </a:r>
            <a:r>
              <a:rPr sz="2100" spc="-105" dirty="0">
                <a:latin typeface="Times New Roman"/>
                <a:cs typeface="Times New Roman"/>
              </a:rPr>
              <a:t> </a:t>
            </a:r>
            <a:r>
              <a:rPr sz="2100" dirty="0">
                <a:latin typeface="Times New Roman"/>
                <a:cs typeface="Times New Roman"/>
              </a:rPr>
              <a:t>is</a:t>
            </a:r>
            <a:r>
              <a:rPr sz="2100" spc="-70" dirty="0">
                <a:latin typeface="Times New Roman"/>
                <a:cs typeface="Times New Roman"/>
              </a:rPr>
              <a:t> </a:t>
            </a:r>
            <a:r>
              <a:rPr sz="2100" spc="-10" dirty="0">
                <a:latin typeface="Times New Roman"/>
                <a:cs typeface="Times New Roman"/>
              </a:rPr>
              <a:t>false.</a:t>
            </a:r>
            <a:endParaRPr sz="21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827" y="733104"/>
            <a:ext cx="3862496" cy="31007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15"/>
              </a:lnSpc>
            </a:pPr>
            <a:r>
              <a:rPr spc="-35" dirty="0"/>
              <a:t>Copyright</a:t>
            </a:r>
            <a:r>
              <a:rPr spc="25" dirty="0"/>
              <a:t> </a:t>
            </a:r>
            <a:r>
              <a:rPr spc="75" dirty="0"/>
              <a:t>©</a:t>
            </a:r>
            <a:r>
              <a:rPr spc="-20" dirty="0"/>
              <a:t> </a:t>
            </a:r>
            <a:r>
              <a:rPr spc="-45" dirty="0"/>
              <a:t>2020</a:t>
            </a:r>
            <a:r>
              <a:rPr spc="-60" dirty="0"/>
              <a:t> </a:t>
            </a:r>
            <a:r>
              <a:rPr spc="-55" dirty="0"/>
              <a:t>Pearson</a:t>
            </a:r>
            <a:r>
              <a:rPr dirty="0"/>
              <a:t> </a:t>
            </a:r>
            <a:r>
              <a:rPr spc="-40" dirty="0"/>
              <a:t>Education</a:t>
            </a:r>
            <a:r>
              <a:rPr spc="60" dirty="0"/>
              <a:t> </a:t>
            </a:r>
            <a:r>
              <a:rPr spc="-25" dirty="0"/>
              <a:t>Ltd.</a:t>
            </a:r>
            <a:r>
              <a:rPr spc="35" dirty="0"/>
              <a:t> </a:t>
            </a:r>
            <a:r>
              <a:rPr spc="-10" dirty="0"/>
              <a:t>All</a:t>
            </a:r>
            <a:r>
              <a:rPr spc="-20" dirty="0"/>
              <a:t> </a:t>
            </a:r>
            <a:r>
              <a:rPr spc="-50" dirty="0"/>
              <a:t>Rights</a:t>
            </a:r>
            <a:r>
              <a:rPr spc="15" dirty="0"/>
              <a:t> </a:t>
            </a:r>
            <a:r>
              <a:rPr spc="-30" dirty="0"/>
              <a:t>Reserved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A65009-E017-0DE3-B025-3ABF6A529C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8824"/>
          <a:stretch>
            <a:fillRect/>
          </a:stretch>
        </p:blipFill>
        <p:spPr>
          <a:xfrm>
            <a:off x="2209800" y="1676400"/>
            <a:ext cx="77724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E83B-CEF5-E5E0-D31A-F5B2EDDA3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5" y="279399"/>
            <a:ext cx="4829810" cy="469359"/>
          </a:xfrm>
        </p:spPr>
        <p:txBody>
          <a:bodyPr/>
          <a:lstStyle/>
          <a:p>
            <a:r>
              <a:rPr lang="en-DK" dirty="0"/>
              <a:t>Switch operator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D50B01-73AF-C61C-7ABE-1A4AB305A893}"/>
              </a:ext>
            </a:extLst>
          </p:cNvPr>
          <p:cNvSpPr txBox="1"/>
          <p:nvPr/>
        </p:nvSpPr>
        <p:spPr>
          <a:xfrm>
            <a:off x="3048000" y="269396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A </a:t>
            </a:r>
            <a:r>
              <a:rPr lang="en-GB" b="1" dirty="0"/>
              <a:t>switch</a:t>
            </a:r>
            <a:r>
              <a:rPr lang="en-GB" dirty="0"/>
              <a:t> (often called a </a:t>
            </a:r>
            <a:r>
              <a:rPr lang="en-GB" i="1" dirty="0"/>
              <a:t>switch statement</a:t>
            </a:r>
            <a:r>
              <a:rPr lang="en-GB" dirty="0"/>
              <a:t>, not operator) is a control-flow structure used in many programming languages .It allows you to choose one action to execute out of many possible options, based on the value of a single expression.</a:t>
            </a:r>
          </a:p>
        </p:txBody>
      </p:sp>
    </p:spTree>
    <p:extLst>
      <p:ext uri="{BB962C8B-B14F-4D97-AF65-F5344CB8AC3E}">
        <p14:creationId xmlns:p14="http://schemas.microsoft.com/office/powerpoint/2010/main" val="34107835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8975" y="6610032"/>
            <a:ext cx="2542540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latin typeface="Times New Roman"/>
                <a:cs typeface="Times New Roman"/>
              </a:rPr>
              <a:t>Copyright</a:t>
            </a:r>
            <a:r>
              <a:rPr sz="750" spc="-2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©</a:t>
            </a:r>
            <a:r>
              <a:rPr sz="750" spc="80" dirty="0">
                <a:latin typeface="Times New Roman"/>
                <a:cs typeface="Times New Roman"/>
              </a:rPr>
              <a:t> </a:t>
            </a:r>
            <a:r>
              <a:rPr sz="750" spc="60" dirty="0">
                <a:latin typeface="Times New Roman"/>
                <a:cs typeface="Times New Roman"/>
              </a:rPr>
              <a:t>2020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Pearson</a:t>
            </a:r>
            <a:r>
              <a:rPr sz="750" spc="75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Education</a:t>
            </a:r>
            <a:r>
              <a:rPr sz="750" spc="70" dirty="0">
                <a:latin typeface="Times New Roman"/>
                <a:cs typeface="Times New Roman"/>
              </a:rPr>
              <a:t> </a:t>
            </a:r>
            <a:r>
              <a:rPr sz="750" spc="-20" dirty="0">
                <a:latin typeface="Times New Roman"/>
                <a:cs typeface="Times New Roman"/>
              </a:rPr>
              <a:t>Ltd.</a:t>
            </a:r>
            <a:r>
              <a:rPr sz="750" spc="20" dirty="0">
                <a:latin typeface="Times New Roman"/>
                <a:cs typeface="Times New Roman"/>
              </a:rPr>
              <a:t> </a:t>
            </a:r>
            <a:r>
              <a:rPr sz="750" spc="-30" dirty="0">
                <a:latin typeface="Times New Roman"/>
                <a:cs typeface="Times New Roman"/>
              </a:rPr>
              <a:t>All</a:t>
            </a:r>
            <a:r>
              <a:rPr sz="750" spc="60" dirty="0">
                <a:latin typeface="Times New Roman"/>
                <a:cs typeface="Times New Roman"/>
              </a:rPr>
              <a:t> </a:t>
            </a:r>
            <a:r>
              <a:rPr sz="750" dirty="0">
                <a:latin typeface="Times New Roman"/>
                <a:cs typeface="Times New Roman"/>
              </a:rPr>
              <a:t>Rights</a:t>
            </a:r>
            <a:r>
              <a:rPr sz="750" spc="-10" dirty="0">
                <a:latin typeface="Times New Roman"/>
                <a:cs typeface="Times New Roman"/>
              </a:rPr>
              <a:t> Reserved</a:t>
            </a:r>
            <a:endParaRPr sz="75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064" y="541515"/>
            <a:ext cx="1177844" cy="29367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192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65" dirty="0"/>
              <a:t>Switch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BBDE37-9C2C-9D85-3AF8-DFE90F97E5FF}"/>
              </a:ext>
            </a:extLst>
          </p:cNvPr>
          <p:cNvSpPr txBox="1"/>
          <p:nvPr/>
        </p:nvSpPr>
        <p:spPr>
          <a:xfrm>
            <a:off x="4025267" y="-228600"/>
            <a:ext cx="5334000" cy="8402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import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java.util.Scanner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public class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SwitchMonth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public static void </a:t>
            </a:r>
            <a:r>
              <a:rPr lang="en-GB" dirty="0">
                <a:solidFill>
                  <a:srgbClr val="00627A"/>
                </a:solidFill>
                <a:effectLst/>
                <a:latin typeface="JetBrains Mono"/>
              </a:rPr>
              <a:t>main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String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[]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args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Scanner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sc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new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Scanner(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in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"Enter a string: 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String input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sc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.nextLine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switch 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00000"/>
                </a:solidFill>
                <a:effectLst/>
                <a:latin typeface="JetBrains Mono"/>
              </a:rPr>
              <a:t>input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"Jan"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"The month is 1"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break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"Feb"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"The month is 2"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break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case 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"Mar"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"The month is 3"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break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lang="en-GB" dirty="0">
                <a:solidFill>
                  <a:srgbClr val="0033B3"/>
                </a:solidFill>
                <a:effectLst/>
                <a:latin typeface="JetBrains Mono"/>
              </a:rPr>
              <a:t>default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: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lang="en-GB" dirty="0" err="1">
                <a:solidFill>
                  <a:srgbClr val="000000"/>
                </a:solidFill>
                <a:effectLst/>
                <a:latin typeface="JetBrains Mono"/>
              </a:rPr>
              <a:t>System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</a:t>
            </a:r>
            <a:r>
              <a:rPr lang="en-GB" i="1" dirty="0" err="1">
                <a:solidFill>
                  <a:srgbClr val="871094"/>
                </a:solidFill>
                <a:effectLst/>
                <a:latin typeface="JetBrains Mono"/>
              </a:rPr>
              <a:t>out</a:t>
            </a:r>
            <a:r>
              <a:rPr lang="en-GB" dirty="0" err="1">
                <a:solidFill>
                  <a:srgbClr val="080808"/>
                </a:solidFill>
                <a:effectLst/>
                <a:latin typeface="JetBrains Mono"/>
              </a:rPr>
              <a:t>.println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lang="en-GB" dirty="0">
                <a:solidFill>
                  <a:srgbClr val="067D17"/>
                </a:solidFill>
                <a:effectLst/>
                <a:latin typeface="JetBrains Mono"/>
              </a:rPr>
              <a:t>"You chose another month!"</a:t>
            </a: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r>
              <a:rPr lang="en-GB" dirty="0"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br>
              <a:rPr lang="en-GB" dirty="0">
                <a:solidFill>
                  <a:srgbClr val="080808"/>
                </a:solidFill>
                <a:effectLst/>
                <a:latin typeface="JetBrains Mono"/>
              </a:rPr>
            </a:br>
            <a:endParaRPr lang="en-GB" dirty="0">
              <a:solidFill>
                <a:srgbClr val="080808"/>
              </a:solidFill>
              <a:effectLst/>
              <a:latin typeface="JetBrains Mon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E170-66A4-4537-8DC1-05D7AA2D7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925" y="279399"/>
            <a:ext cx="4829810" cy="469359"/>
          </a:xfrm>
        </p:spPr>
        <p:txBody>
          <a:bodyPr/>
          <a:lstStyle/>
          <a:p>
            <a:r>
              <a:rPr lang="en-DK" dirty="0"/>
              <a:t>Group 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3111E-80DD-825C-8DB6-BE39B79A6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1384995"/>
          </a:xfrm>
        </p:spPr>
        <p:txBody>
          <a:bodyPr/>
          <a:lstStyle/>
          <a:p>
            <a:r>
              <a:rPr lang="en-GB" dirty="0"/>
              <a:t>C</a:t>
            </a:r>
            <a:r>
              <a:rPr lang="en-DK" dirty="0"/>
              <a:t>omplet this java in your IDE , to switch the 12 month</a:t>
            </a:r>
          </a:p>
          <a:p>
            <a:endParaRPr lang="en-DK" dirty="0"/>
          </a:p>
          <a:p>
            <a:r>
              <a:rPr lang="en-GB" dirty="0"/>
              <a:t>D</a:t>
            </a:r>
            <a:r>
              <a:rPr lang="en-DK" dirty="0"/>
              <a:t>raw a flow diagram based on the program</a:t>
            </a:r>
          </a:p>
          <a:p>
            <a:endParaRPr lang="en-DK" dirty="0"/>
          </a:p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742729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</TotalTime>
  <Words>1345</Words>
  <Application>Microsoft Macintosh PowerPoint</Application>
  <PresentationFormat>Widescreen</PresentationFormat>
  <Paragraphs>147</Paragraphs>
  <Slides>33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3" baseType="lpstr">
      <vt:lpstr>Google Sans</vt:lpstr>
      <vt:lpstr>JetBrains Mono</vt:lpstr>
      <vt:lpstr>Aptos</vt:lpstr>
      <vt:lpstr>Arial</vt:lpstr>
      <vt:lpstr>Calibri</vt:lpstr>
      <vt:lpstr>Monaco</vt:lpstr>
      <vt:lpstr>Times New Roman</vt:lpstr>
      <vt:lpstr>Verdana</vt:lpstr>
      <vt:lpstr>Wingdings 3</vt:lpstr>
      <vt:lpstr>Office Theme</vt:lpstr>
      <vt:lpstr>PowerPoint Presentation</vt:lpstr>
      <vt:lpstr>PowerPoint Presentation</vt:lpstr>
      <vt:lpstr>Truth table       - and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 se more True/ False</vt:lpstr>
      <vt:lpstr>Test what is the output?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3.5 if1.java</vt:lpstr>
      <vt:lpstr>PowerPoint Presentation</vt:lpstr>
      <vt:lpstr>3.5 if2.java</vt:lpstr>
      <vt:lpstr>3.5 if3.java (else if)</vt:lpstr>
      <vt:lpstr>øvelse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Switch operator</vt:lpstr>
      <vt:lpstr>Switch</vt:lpstr>
      <vt:lpstr>Group exercise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Xiaolei Bi</cp:lastModifiedBy>
  <cp:revision>5</cp:revision>
  <dcterms:created xsi:type="dcterms:W3CDTF">2025-09-10T05:39:38Z</dcterms:created>
  <dcterms:modified xsi:type="dcterms:W3CDTF">2025-09-13T06:48:07Z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2022-09-21T00:00:00Z</vt:filetime>
  </property>
  <property fmtid="{D5CDD505-2E9C-101B-9397-08002B2CF9AE}" pid="3" name="LastSaved">
    <vt:filetime>2025-09-10T00:00:00Z</vt:filetime>
  </property>
</Properties>
</file>